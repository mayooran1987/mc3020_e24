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av" ContentType="audio/wav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59" r:id="rId1"/>
  </p:sldMasterIdLst>
  <p:notesMasterIdLst>
    <p:notesMasterId r:id="rId72"/>
  </p:notesMasterIdLst>
  <p:handoutMasterIdLst>
    <p:handoutMasterId r:id="rId73"/>
  </p:handoutMasterIdLst>
  <p:sldIdLst>
    <p:sldId id="256" r:id="rId2"/>
    <p:sldId id="491" r:id="rId3"/>
    <p:sldId id="489" r:id="rId4"/>
    <p:sldId id="495" r:id="rId5"/>
    <p:sldId id="496" r:id="rId6"/>
    <p:sldId id="490" r:id="rId7"/>
    <p:sldId id="492" r:id="rId8"/>
    <p:sldId id="257" r:id="rId9"/>
    <p:sldId id="458" r:id="rId10"/>
    <p:sldId id="459" r:id="rId11"/>
    <p:sldId id="460" r:id="rId12"/>
    <p:sldId id="317" r:id="rId13"/>
    <p:sldId id="446" r:id="rId14"/>
    <p:sldId id="272" r:id="rId15"/>
    <p:sldId id="301" r:id="rId16"/>
    <p:sldId id="424" r:id="rId17"/>
    <p:sldId id="423" r:id="rId18"/>
    <p:sldId id="461" r:id="rId19"/>
    <p:sldId id="462" r:id="rId20"/>
    <p:sldId id="508" r:id="rId21"/>
    <p:sldId id="510" r:id="rId22"/>
    <p:sldId id="512" r:id="rId23"/>
    <p:sldId id="464" r:id="rId24"/>
    <p:sldId id="465" r:id="rId25"/>
    <p:sldId id="511" r:id="rId26"/>
    <p:sldId id="513" r:id="rId27"/>
    <p:sldId id="501" r:id="rId28"/>
    <p:sldId id="506" r:id="rId29"/>
    <p:sldId id="387" r:id="rId30"/>
    <p:sldId id="388" r:id="rId31"/>
    <p:sldId id="389" r:id="rId32"/>
    <p:sldId id="390" r:id="rId33"/>
    <p:sldId id="384" r:id="rId34"/>
    <p:sldId id="385" r:id="rId35"/>
    <p:sldId id="386" r:id="rId36"/>
    <p:sldId id="371" r:id="rId37"/>
    <p:sldId id="372" r:id="rId38"/>
    <p:sldId id="377" r:id="rId39"/>
    <p:sldId id="373" r:id="rId40"/>
    <p:sldId id="374" r:id="rId41"/>
    <p:sldId id="375" r:id="rId42"/>
    <p:sldId id="354" r:id="rId43"/>
    <p:sldId id="358" r:id="rId44"/>
    <p:sldId id="366" r:id="rId45"/>
    <p:sldId id="367" r:id="rId46"/>
    <p:sldId id="369" r:id="rId47"/>
    <p:sldId id="362" r:id="rId48"/>
    <p:sldId id="379" r:id="rId49"/>
    <p:sldId id="363" r:id="rId50"/>
    <p:sldId id="262" r:id="rId51"/>
    <p:sldId id="263" r:id="rId52"/>
    <p:sldId id="468" r:id="rId53"/>
    <p:sldId id="469" r:id="rId54"/>
    <p:sldId id="264" r:id="rId55"/>
    <p:sldId id="341" r:id="rId56"/>
    <p:sldId id="342" r:id="rId57"/>
    <p:sldId id="343" r:id="rId58"/>
    <p:sldId id="344" r:id="rId59"/>
    <p:sldId id="448" r:id="rId60"/>
    <p:sldId id="345" r:id="rId61"/>
    <p:sldId id="347" r:id="rId62"/>
    <p:sldId id="348" r:id="rId63"/>
    <p:sldId id="364" r:id="rId64"/>
    <p:sldId id="514" r:id="rId65"/>
    <p:sldId id="515" r:id="rId66"/>
    <p:sldId id="427" r:id="rId67"/>
    <p:sldId id="428" r:id="rId68"/>
    <p:sldId id="516" r:id="rId69"/>
    <p:sldId id="478" r:id="rId70"/>
    <p:sldId id="365" r:id="rId71"/>
  </p:sldIdLst>
  <p:sldSz cx="9144000" cy="6858000" type="screen4x3"/>
  <p:notesSz cx="7099300" cy="10234613"/>
  <p:kinsoku lang="ja-JP" invalStChars="、。，．・：；？！゛゜ヽヾゝゞ々ー’”）〕］｝〉》」』】°‰′″℃￠％ぁぃぅぇぉっゃゅょゎァィゥェォッャュョヮヵヶ!%),.:;?]}｡｣､･ｧｨｩｪｫｬｭｮｯｰﾞﾟ" invalEndChars="‘“（〔［｛〈《「『【￥＄$([\{｢￡"/>
  <p:defaultTextStyle>
    <a:defPPr>
      <a:defRPr lang="en-AU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24">
          <p15:clr>
            <a:srgbClr val="A4A3A4"/>
          </p15:clr>
        </p15:guide>
        <p15:guide id="2" pos="2236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279F"/>
    <a:srgbClr val="FF3300"/>
    <a:srgbClr val="DCBEDC"/>
    <a:srgbClr val="F2BEA4"/>
    <a:srgbClr val="FFFFFF"/>
    <a:srgbClr val="000000"/>
    <a:srgbClr val="9900CC"/>
    <a:srgbClr val="9966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48AE0C7-CD6F-4711-835E-23F5C2FBD93B}" v="10" dt="2026-03-16T06:44:44.198"/>
    <p1510:client id="{F84E1CA7-E064-4C52-AAE0-2F148C2695A7}" v="1" dt="2026-03-16T06:47:11.08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15620"/>
    <p:restoredTop sz="94660"/>
  </p:normalViewPr>
  <p:slideViewPr>
    <p:cSldViewPr>
      <p:cViewPr varScale="1">
        <p:scale>
          <a:sx n="64" d="100"/>
          <a:sy n="64" d="100"/>
        </p:scale>
        <p:origin x="2118" y="28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  <p:sld r:id="rId2" collapse="1"/>
      <p:sld r:id="rId3" collapse="1"/>
      <p:sld r:id="rId4" collapse="1"/>
      <p:sld r:id="rId5" collapse="1"/>
      <p:sld r:id="rId6" collapse="1"/>
      <p:sld r:id="rId7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3084"/>
    </p:cViewPr>
  </p:sorterViewPr>
  <p:notesViewPr>
    <p:cSldViewPr>
      <p:cViewPr>
        <p:scale>
          <a:sx n="50" d="100"/>
          <a:sy n="50" d="100"/>
        </p:scale>
        <p:origin x="-1253" y="-53"/>
      </p:cViewPr>
      <p:guideLst>
        <p:guide orient="horz" pos="3224"/>
        <p:guide pos="2236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presProps" Target="presProps.xml"/><Relationship Id="rId79" Type="http://schemas.microsoft.com/office/2015/10/relationships/revisionInfo" Target="revisionInfo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handoutMaster" Target="handoutMasters/handoutMaster1.xml"/><Relationship Id="rId78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theme" Target="theme/theme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/Relationships>
</file>

<file path=ppt/_rels/viewProps.xml.rels><?xml version="1.0" encoding="UTF-8" standalone="yes"?>
<Relationships xmlns="http://schemas.openxmlformats.org/package/2006/relationships"><Relationship Id="rId3" Type="http://schemas.openxmlformats.org/officeDocument/2006/relationships/slide" Target="slides/slide39.xml"/><Relationship Id="rId7" Type="http://schemas.openxmlformats.org/officeDocument/2006/relationships/slide" Target="slides/slide49.xml"/><Relationship Id="rId2" Type="http://schemas.openxmlformats.org/officeDocument/2006/relationships/slide" Target="slides/slide37.xml"/><Relationship Id="rId1" Type="http://schemas.openxmlformats.org/officeDocument/2006/relationships/slide" Target="slides/slide9.xml"/><Relationship Id="rId6" Type="http://schemas.openxmlformats.org/officeDocument/2006/relationships/slide" Target="slides/slide48.xml"/><Relationship Id="rId5" Type="http://schemas.openxmlformats.org/officeDocument/2006/relationships/slide" Target="slides/slide45.xml"/><Relationship Id="rId4" Type="http://schemas.openxmlformats.org/officeDocument/2006/relationships/slide" Target="slides/slide4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hevarajah Mayooran" userId="028ced5d-c088-4edf-a4ff-720435ef9709" providerId="ADAL" clId="{5E94C263-6E4F-447D-97C0-6DDC56D14666}"/>
    <pc:docChg chg="modSld">
      <pc:chgData name="Thevarajah Mayooran" userId="028ced5d-c088-4edf-a4ff-720435ef9709" providerId="ADAL" clId="{5E94C263-6E4F-447D-97C0-6DDC56D14666}" dt="2026-03-16T06:47:11.085" v="3" actId="1076"/>
      <pc:docMkLst>
        <pc:docMk/>
      </pc:docMkLst>
      <pc:sldChg chg="modSp mod">
        <pc:chgData name="Thevarajah Mayooran" userId="028ced5d-c088-4edf-a4ff-720435ef9709" providerId="ADAL" clId="{5E94C263-6E4F-447D-97C0-6DDC56D14666}" dt="2026-03-16T06:47:11.085" v="3" actId="1076"/>
        <pc:sldMkLst>
          <pc:docMk/>
          <pc:sldMk cId="0" sldId="256"/>
        </pc:sldMkLst>
        <pc:spChg chg="mod">
          <ac:chgData name="Thevarajah Mayooran" userId="028ced5d-c088-4edf-a4ff-720435ef9709" providerId="ADAL" clId="{5E94C263-6E4F-447D-97C0-6DDC56D14666}" dt="2026-03-16T06:47:11.085" v="3" actId="1076"/>
          <ac:spMkLst>
            <pc:docMk/>
            <pc:sldMk cId="0" sldId="256"/>
            <ac:spMk id="2" creationId="{1432FC4D-332E-4C16-D97B-8FB8B8D08133}"/>
          </ac:spMkLst>
        </pc:spChg>
        <pc:spChg chg="mod">
          <ac:chgData name="Thevarajah Mayooran" userId="028ced5d-c088-4edf-a4ff-720435ef9709" providerId="ADAL" clId="{5E94C263-6E4F-447D-97C0-6DDC56D14666}" dt="2026-03-16T06:47:04.689" v="2" actId="14100"/>
          <ac:spMkLst>
            <pc:docMk/>
            <pc:sldMk cId="0" sldId="256"/>
            <ac:spMk id="3075" creationId="{75942F56-7ACC-CF3D-121A-19413935F05B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ChangeArrowheads="1"/>
          </p:cNvSpPr>
          <p:nvPr/>
        </p:nvSpPr>
        <p:spPr bwMode="auto">
          <a:xfrm>
            <a:off x="6626225" y="9802813"/>
            <a:ext cx="400050" cy="33813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8009" tIns="48144" rIns="98009" bIns="48144" anchor="ctr">
            <a:spAutoFit/>
          </a:bodyPr>
          <a:lstStyle/>
          <a:p>
            <a:pPr algn="r" defTabSz="990600"/>
            <a:fld id="{CCAEB7A9-444D-4B17-9D86-34A5F44EC94F}" type="slidenum">
              <a:rPr lang="en-AU" sz="1500">
                <a:latin typeface="Book Antiqua" pitchFamily="18" charset="0"/>
              </a:rPr>
              <a:pPr algn="r" defTabSz="990600"/>
              <a:t>‹#›</a:t>
            </a:fld>
            <a:endParaRPr lang="en-AU" sz="1500">
              <a:latin typeface="Book Antiqua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1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9040" tIns="49520" rIns="99040" bIns="49520" numCol="1" anchor="t" anchorCtr="0" compatLnSpc="1">
            <a:prstTxWarp prst="textNoShape">
              <a:avLst/>
            </a:prstTxWarp>
          </a:bodyPr>
          <a:lstStyle>
            <a:lvl1pPr defTabSz="990600">
              <a:defRPr sz="1300"/>
            </a:lvl1pPr>
          </a:lstStyle>
          <a:p>
            <a:endParaRPr lang="en-AU"/>
          </a:p>
        </p:txBody>
      </p:sp>
      <p:sp>
        <p:nvSpPr>
          <p:cNvPr id="14541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2725" y="0"/>
            <a:ext cx="3076575" cy="51117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9040" tIns="49520" rIns="99040" bIns="49520" numCol="1" anchor="t" anchorCtr="0" compatLnSpc="1">
            <a:prstTxWarp prst="textNoShape">
              <a:avLst/>
            </a:prstTxWarp>
          </a:bodyPr>
          <a:lstStyle>
            <a:lvl1pPr algn="r" defTabSz="990600">
              <a:defRPr sz="1300"/>
            </a:lvl1pPr>
          </a:lstStyle>
          <a:p>
            <a:endParaRPr lang="en-AU"/>
          </a:p>
        </p:txBody>
      </p:sp>
      <p:sp>
        <p:nvSpPr>
          <p:cNvPr id="14541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0600" y="768350"/>
            <a:ext cx="5118100" cy="38385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14541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46150" y="4862513"/>
            <a:ext cx="5207000" cy="460375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9040" tIns="49520" rIns="99040" bIns="495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</a:p>
        </p:txBody>
      </p:sp>
      <p:sp>
        <p:nvSpPr>
          <p:cNvPr id="14541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3438"/>
            <a:ext cx="3076575" cy="51117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9040" tIns="49520" rIns="99040" bIns="49520" numCol="1" anchor="b" anchorCtr="0" compatLnSpc="1">
            <a:prstTxWarp prst="textNoShape">
              <a:avLst/>
            </a:prstTxWarp>
          </a:bodyPr>
          <a:lstStyle>
            <a:lvl1pPr defTabSz="990600">
              <a:defRPr sz="1300"/>
            </a:lvl1pPr>
          </a:lstStyle>
          <a:p>
            <a:endParaRPr lang="en-AU"/>
          </a:p>
        </p:txBody>
      </p:sp>
      <p:sp>
        <p:nvSpPr>
          <p:cNvPr id="14541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2725" y="9723438"/>
            <a:ext cx="3076575" cy="51117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9040" tIns="49520" rIns="99040" bIns="49520" numCol="1" anchor="b" anchorCtr="0" compatLnSpc="1">
            <a:prstTxWarp prst="textNoShape">
              <a:avLst/>
            </a:prstTxWarp>
          </a:bodyPr>
          <a:lstStyle>
            <a:lvl1pPr algn="r" defTabSz="990600">
              <a:defRPr sz="1300"/>
            </a:lvl1pPr>
          </a:lstStyle>
          <a:p>
            <a:fld id="{3B62C4AD-6626-404F-9198-83830A6F4930}" type="slidenum">
              <a:rPr lang="en-AU"/>
              <a:pPr/>
              <a:t>‹#›</a:t>
            </a:fld>
            <a:endParaRPr lang="en-A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7">
            <a:extLst>
              <a:ext uri="{FF2B5EF4-FFF2-40B4-BE49-F238E27FC236}">
                <a16:creationId xmlns:a16="http://schemas.microsoft.com/office/drawing/2014/main" id="{92C48F01-F1A0-5B58-65C1-0F7273925F8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281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1281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1281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1281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1281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128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128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128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128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C14223D0-B0AE-4A22-825E-0D5220DD9D84}" type="slidenum">
              <a:rPr lang="en-US" altLang="en-US"/>
              <a:pPr eaLnBrk="1" hangingPunct="1">
                <a:spcBef>
                  <a:spcPct val="0"/>
                </a:spcBef>
              </a:pPr>
              <a:t>1</a:t>
            </a:fld>
            <a:endParaRPr lang="en-US" altLang="en-US"/>
          </a:p>
        </p:txBody>
      </p:sp>
      <p:sp>
        <p:nvSpPr>
          <p:cNvPr id="61443" name="Rectangle 2">
            <a:extLst>
              <a:ext uri="{FF2B5EF4-FFF2-40B4-BE49-F238E27FC236}">
                <a16:creationId xmlns:a16="http://schemas.microsoft.com/office/drawing/2014/main" id="{F93DA36F-EB2A-5AE4-C2B0-2F7D2E491F2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44" name="Rectangle 3">
            <a:extLst>
              <a:ext uri="{FF2B5EF4-FFF2-40B4-BE49-F238E27FC236}">
                <a16:creationId xmlns:a16="http://schemas.microsoft.com/office/drawing/2014/main" id="{C03D78CB-74B6-FB48-FBE5-6277D042F50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th-TH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7">
            <a:extLst>
              <a:ext uri="{FF2B5EF4-FFF2-40B4-BE49-F238E27FC236}">
                <a16:creationId xmlns:a16="http://schemas.microsoft.com/office/drawing/2014/main" id="{39D17DC0-35AB-2EC9-A724-0030772874D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281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1281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1281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1281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1281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128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128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128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128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54481155-3990-4103-823F-37E2821E5262}" type="slidenum">
              <a:rPr lang="en-US" altLang="en-US"/>
              <a:pPr eaLnBrk="1" hangingPunct="1">
                <a:spcBef>
                  <a:spcPct val="0"/>
                </a:spcBef>
              </a:pPr>
              <a:t>5</a:t>
            </a:fld>
            <a:endParaRPr lang="en-US" altLang="en-US"/>
          </a:p>
        </p:txBody>
      </p:sp>
      <p:sp>
        <p:nvSpPr>
          <p:cNvPr id="62467" name="Rectangle 2">
            <a:extLst>
              <a:ext uri="{FF2B5EF4-FFF2-40B4-BE49-F238E27FC236}">
                <a16:creationId xmlns:a16="http://schemas.microsoft.com/office/drawing/2014/main" id="{39B184C6-AB78-47B8-8A34-268FD91E707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2468" name="Rectangle 3">
            <a:extLst>
              <a:ext uri="{FF2B5EF4-FFF2-40B4-BE49-F238E27FC236}">
                <a16:creationId xmlns:a16="http://schemas.microsoft.com/office/drawing/2014/main" id="{8A3858F8-2778-FDB9-F4E8-BB119471E6B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Econometric models require seasonally adjusted data.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7">
            <a:extLst>
              <a:ext uri="{FF2B5EF4-FFF2-40B4-BE49-F238E27FC236}">
                <a16:creationId xmlns:a16="http://schemas.microsoft.com/office/drawing/2014/main" id="{76D50C87-27F3-6213-3ECD-D4AA6D66BE5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281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1281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1281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1281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1281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128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128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128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128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F95133FB-1BDF-4A62-82A4-B836AF8F92B9}" type="slidenum">
              <a:rPr lang="en-US" altLang="en-US"/>
              <a:pPr eaLnBrk="1" hangingPunct="1">
                <a:spcBef>
                  <a:spcPct val="0"/>
                </a:spcBef>
              </a:pPr>
              <a:t>7</a:t>
            </a:fld>
            <a:endParaRPr lang="en-US" altLang="en-US"/>
          </a:p>
        </p:txBody>
      </p:sp>
      <p:sp>
        <p:nvSpPr>
          <p:cNvPr id="63491" name="Rectangle 2">
            <a:extLst>
              <a:ext uri="{FF2B5EF4-FFF2-40B4-BE49-F238E27FC236}">
                <a16:creationId xmlns:a16="http://schemas.microsoft.com/office/drawing/2014/main" id="{B8BBFA04-189E-D819-2248-774BAA853CB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27125" y="703263"/>
            <a:ext cx="4632325" cy="3473450"/>
          </a:xfrm>
          <a:ln/>
        </p:spPr>
      </p:sp>
      <p:sp>
        <p:nvSpPr>
          <p:cNvPr id="63492" name="Rectangle 3">
            <a:extLst>
              <a:ext uri="{FF2B5EF4-FFF2-40B4-BE49-F238E27FC236}">
                <a16:creationId xmlns:a16="http://schemas.microsoft.com/office/drawing/2014/main" id="{337CC413-FD00-AF21-B25A-B2772504CDE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th-TH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7">
            <a:extLst>
              <a:ext uri="{FF2B5EF4-FFF2-40B4-BE49-F238E27FC236}">
                <a16:creationId xmlns:a16="http://schemas.microsoft.com/office/drawing/2014/main" id="{A24E9EB6-E237-08AB-796A-BD62238FE46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281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1281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1281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1281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1281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128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128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128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128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2F64EAE0-ED7C-4CD7-9AF2-C10C95B738BB}" type="slidenum">
              <a:rPr lang="en-US" altLang="en-US"/>
              <a:pPr eaLnBrk="1" hangingPunct="1">
                <a:spcBef>
                  <a:spcPct val="0"/>
                </a:spcBef>
              </a:pPr>
              <a:t>20</a:t>
            </a:fld>
            <a:endParaRPr lang="en-US" altLang="en-US"/>
          </a:p>
        </p:txBody>
      </p:sp>
      <p:sp>
        <p:nvSpPr>
          <p:cNvPr id="64515" name="Rectangle 2">
            <a:extLst>
              <a:ext uri="{FF2B5EF4-FFF2-40B4-BE49-F238E27FC236}">
                <a16:creationId xmlns:a16="http://schemas.microsoft.com/office/drawing/2014/main" id="{42B7836C-E5AE-96F0-6A9D-370DD0BD1EC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4516" name="Rectangle 3">
            <a:extLst>
              <a:ext uri="{FF2B5EF4-FFF2-40B4-BE49-F238E27FC236}">
                <a16:creationId xmlns:a16="http://schemas.microsoft.com/office/drawing/2014/main" id="{B9F0B4A9-6BF9-FFBA-B9AD-2886A90C242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Econometric models require seasonally adjusted data.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7">
            <a:extLst>
              <a:ext uri="{FF2B5EF4-FFF2-40B4-BE49-F238E27FC236}">
                <a16:creationId xmlns:a16="http://schemas.microsoft.com/office/drawing/2014/main" id="{E42F54EB-6C1C-B5CC-EC66-6023072F516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281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1281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1281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1281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1281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128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128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128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128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3625DA38-DAB0-41C9-9D4C-E7E79E75CA92}" type="slidenum">
              <a:rPr lang="en-US" altLang="en-US"/>
              <a:pPr eaLnBrk="1" hangingPunct="1">
                <a:spcBef>
                  <a:spcPct val="0"/>
                </a:spcBef>
              </a:pPr>
              <a:t>27</a:t>
            </a:fld>
            <a:endParaRPr lang="en-US" altLang="en-US"/>
          </a:p>
        </p:txBody>
      </p:sp>
      <p:sp>
        <p:nvSpPr>
          <p:cNvPr id="65539" name="Rectangle 2">
            <a:extLst>
              <a:ext uri="{FF2B5EF4-FFF2-40B4-BE49-F238E27FC236}">
                <a16:creationId xmlns:a16="http://schemas.microsoft.com/office/drawing/2014/main" id="{0FA8B6C4-560C-101B-5899-8AB0ADC7ACD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28713" y="695325"/>
            <a:ext cx="4625975" cy="3470275"/>
          </a:xfrm>
          <a:ln/>
        </p:spPr>
      </p:sp>
      <p:sp>
        <p:nvSpPr>
          <p:cNvPr id="65540" name="Rectangle 3">
            <a:extLst>
              <a:ext uri="{FF2B5EF4-FFF2-40B4-BE49-F238E27FC236}">
                <a16:creationId xmlns:a16="http://schemas.microsoft.com/office/drawing/2014/main" id="{3A6F1CEB-5F0E-A2B3-FC97-23D8C38543E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th-TH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227343F-5751-42E5-A8B9-4C88138CE177}" type="slidenum">
              <a:rPr lang="en-AU"/>
              <a:pPr/>
              <a:t>29</a:t>
            </a:fld>
            <a:endParaRPr lang="en-AU"/>
          </a:p>
        </p:txBody>
      </p:sp>
      <p:sp>
        <p:nvSpPr>
          <p:cNvPr id="4352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00125" y="774700"/>
            <a:ext cx="5099050" cy="3824288"/>
          </a:xfrm>
          <a:ln w="12700" cap="flat">
            <a:solidFill>
              <a:schemeClr val="tx1"/>
            </a:solidFill>
          </a:ln>
        </p:spPr>
      </p:sp>
      <p:sp>
        <p:nvSpPr>
          <p:cNvPr id="4352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6150" y="4865688"/>
            <a:ext cx="5207000" cy="4308475"/>
          </a:xfrm>
          <a:noFill/>
          <a:ln/>
        </p:spPr>
        <p:txBody>
          <a:bodyPr lIns="98026" tIns="48153" rIns="98026" bIns="48153"/>
          <a:lstStyle/>
          <a:p>
            <a:r>
              <a:rPr lang="en-AU"/>
              <a:t>Refer to Section 21.7 Pages 696-698 Selvanathan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0AFB216-57B6-4E69-95F0-47ABE65E9C96}" type="slidenum">
              <a:rPr lang="en-AU"/>
              <a:pPr/>
              <a:t>31</a:t>
            </a:fld>
            <a:endParaRPr lang="en-AU"/>
          </a:p>
        </p:txBody>
      </p:sp>
      <p:sp>
        <p:nvSpPr>
          <p:cNvPr id="4382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00125" y="774700"/>
            <a:ext cx="5099050" cy="3824288"/>
          </a:xfrm>
          <a:ln w="12700" cap="flat">
            <a:solidFill>
              <a:schemeClr val="tx1"/>
            </a:solidFill>
          </a:ln>
        </p:spPr>
      </p:sp>
      <p:sp>
        <p:nvSpPr>
          <p:cNvPr id="4382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6150" y="4865688"/>
            <a:ext cx="5207000" cy="4308475"/>
          </a:xfrm>
          <a:noFill/>
          <a:ln/>
        </p:spPr>
        <p:txBody>
          <a:bodyPr lIns="98026" tIns="48153" rIns="98026" bIns="48153"/>
          <a:lstStyle/>
          <a:p>
            <a:r>
              <a:rPr lang="en-AU"/>
              <a:t>Refer  to Section 21.9 Page 705 Selvanathan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B391DCF-8E2E-4E3E-9592-7E264AE98E1A}" type="slidenum">
              <a:rPr lang="en-AU"/>
              <a:pPr/>
              <a:t>32</a:t>
            </a:fld>
            <a:endParaRPr lang="en-AU"/>
          </a:p>
        </p:txBody>
      </p:sp>
      <p:sp>
        <p:nvSpPr>
          <p:cNvPr id="4403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00125" y="774700"/>
            <a:ext cx="5099050" cy="3824288"/>
          </a:xfrm>
          <a:ln w="12700" cap="flat">
            <a:solidFill>
              <a:schemeClr val="tx1"/>
            </a:solidFill>
          </a:ln>
        </p:spPr>
      </p:sp>
      <p:sp>
        <p:nvSpPr>
          <p:cNvPr id="4403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6150" y="4865688"/>
            <a:ext cx="5207000" cy="4308475"/>
          </a:xfrm>
          <a:ln/>
        </p:spPr>
        <p:txBody>
          <a:bodyPr lIns="98026" tIns="48153" rIns="98026" bIns="48153"/>
          <a:lstStyle/>
          <a:p>
            <a:endParaRPr lang="en-GB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801C0FD-ABD9-4C67-A4D0-2709FC2CB8CB}" type="slidenum">
              <a:rPr lang="en-AU"/>
              <a:pPr/>
              <a:t>33</a:t>
            </a:fld>
            <a:endParaRPr lang="en-AU"/>
          </a:p>
        </p:txBody>
      </p:sp>
      <p:sp>
        <p:nvSpPr>
          <p:cNvPr id="4280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00125" y="774700"/>
            <a:ext cx="5099050" cy="3824288"/>
          </a:xfrm>
          <a:ln w="12700" cap="flat">
            <a:solidFill>
              <a:schemeClr val="tx1"/>
            </a:solidFill>
          </a:ln>
        </p:spPr>
      </p:sp>
      <p:sp>
        <p:nvSpPr>
          <p:cNvPr id="4280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6150" y="4865688"/>
            <a:ext cx="5207000" cy="4308475"/>
          </a:xfrm>
          <a:noFill/>
          <a:ln/>
        </p:spPr>
        <p:txBody>
          <a:bodyPr lIns="98026" tIns="48153" rIns="98026" bIns="48153"/>
          <a:lstStyle/>
          <a:p>
            <a:r>
              <a:rPr lang="en-AU"/>
              <a:t>Refer to Section 21.6 Pages 688 Selvanathan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D5BA26E-2D83-4075-9121-B4E9F15F9C6C}" type="slidenum">
              <a:rPr lang="en-AU"/>
              <a:pPr/>
              <a:t>34</a:t>
            </a:fld>
            <a:endParaRPr lang="en-AU"/>
          </a:p>
        </p:txBody>
      </p:sp>
      <p:sp>
        <p:nvSpPr>
          <p:cNvPr id="4300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00125" y="774700"/>
            <a:ext cx="5099050" cy="3824288"/>
          </a:xfrm>
          <a:ln w="12700" cap="flat">
            <a:solidFill>
              <a:schemeClr val="tx1"/>
            </a:solidFill>
          </a:ln>
        </p:spPr>
      </p:sp>
      <p:sp>
        <p:nvSpPr>
          <p:cNvPr id="4300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6150" y="4865688"/>
            <a:ext cx="5207000" cy="4308475"/>
          </a:xfrm>
          <a:noFill/>
          <a:ln/>
        </p:spPr>
        <p:txBody>
          <a:bodyPr lIns="98026" tIns="48153" rIns="98026" bIns="48153"/>
          <a:lstStyle/>
          <a:p>
            <a:r>
              <a:rPr lang="en-AU"/>
              <a:t>Refer to Section 21.6 Pages 689-691 Selvanathan 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290D173-5039-44CB-8251-A593F25D1358}" type="slidenum">
              <a:rPr lang="en-AU"/>
              <a:pPr/>
              <a:t>35</a:t>
            </a:fld>
            <a:endParaRPr lang="en-AU"/>
          </a:p>
        </p:txBody>
      </p:sp>
      <p:sp>
        <p:nvSpPr>
          <p:cNvPr id="4321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00125" y="774700"/>
            <a:ext cx="5099050" cy="3824288"/>
          </a:xfrm>
          <a:ln w="12700" cap="flat">
            <a:solidFill>
              <a:schemeClr val="tx1"/>
            </a:solidFill>
          </a:ln>
        </p:spPr>
      </p:sp>
      <p:sp>
        <p:nvSpPr>
          <p:cNvPr id="4321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6150" y="4865688"/>
            <a:ext cx="5207000" cy="4308475"/>
          </a:xfrm>
          <a:ln/>
        </p:spPr>
        <p:txBody>
          <a:bodyPr lIns="98026" tIns="48153" rIns="98026" bIns="48153"/>
          <a:lstStyle/>
          <a:p>
            <a:endParaRPr lang="en-GB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2F8DA39-59BA-48E9-9EE3-C861A469C72C}" type="slidenum">
              <a:rPr lang="en-AU"/>
              <a:pPr/>
              <a:t>36</a:t>
            </a:fld>
            <a:endParaRPr lang="en-AU"/>
          </a:p>
        </p:txBody>
      </p:sp>
      <p:sp>
        <p:nvSpPr>
          <p:cNvPr id="406530" name="Rectangle 2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000125" y="774700"/>
            <a:ext cx="5099050" cy="3824288"/>
          </a:xfrm>
          <a:prstGeom prst="rect">
            <a:avLst/>
          </a:prstGeom>
          <a:noFill/>
          <a:ln w="12700" cap="flat">
            <a:solidFill>
              <a:schemeClr val="tx1"/>
            </a:solidFill>
            <a:miter lim="800000"/>
            <a:headEnd/>
            <a:tailEnd/>
          </a:ln>
        </p:spPr>
      </p:sp>
      <p:sp>
        <p:nvSpPr>
          <p:cNvPr id="40653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46150" y="4865688"/>
            <a:ext cx="5207000" cy="4308475"/>
          </a:xfrm>
          <a:prstGeom prst="rect">
            <a:avLst/>
          </a:prstGeom>
          <a:noFill/>
          <a:ln w="12700">
            <a:miter lim="800000"/>
            <a:headEnd/>
            <a:tailEnd/>
          </a:ln>
        </p:spPr>
        <p:txBody>
          <a:bodyPr lIns="98009" tIns="48144" rIns="98009" bIns="48144"/>
          <a:lstStyle/>
          <a:p>
            <a:endParaRPr lang="en-GB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BF11937-4E80-4690-AAA3-FD91F25E20B2}" type="slidenum">
              <a:rPr lang="en-AU"/>
              <a:pPr/>
              <a:t>37</a:t>
            </a:fld>
            <a:endParaRPr lang="en-AU"/>
          </a:p>
        </p:txBody>
      </p:sp>
      <p:sp>
        <p:nvSpPr>
          <p:cNvPr id="408578" name="Rectangle 2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000125" y="774700"/>
            <a:ext cx="5099050" cy="3824288"/>
          </a:xfrm>
          <a:prstGeom prst="rect">
            <a:avLst/>
          </a:prstGeom>
          <a:noFill/>
          <a:ln w="12700" cap="flat">
            <a:solidFill>
              <a:schemeClr val="tx1"/>
            </a:solidFill>
            <a:miter lim="800000"/>
            <a:headEnd/>
            <a:tailEnd/>
          </a:ln>
        </p:spPr>
      </p:sp>
      <p:sp>
        <p:nvSpPr>
          <p:cNvPr id="40857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46150" y="4865688"/>
            <a:ext cx="5207000" cy="4308475"/>
          </a:xfrm>
          <a:prstGeom prst="rect">
            <a:avLst/>
          </a:prstGeom>
          <a:noFill/>
          <a:ln w="12700">
            <a:miter lim="800000"/>
            <a:headEnd/>
            <a:tailEnd/>
          </a:ln>
        </p:spPr>
        <p:txBody>
          <a:bodyPr lIns="98009" tIns="48144" rIns="98009" bIns="48144"/>
          <a:lstStyle/>
          <a:p>
            <a:endParaRPr lang="en-GB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B1084BE-8718-41BE-B41C-184A5311985B}" type="slidenum">
              <a:rPr lang="en-AU"/>
              <a:pPr/>
              <a:t>39</a:t>
            </a:fld>
            <a:endParaRPr lang="en-AU"/>
          </a:p>
        </p:txBody>
      </p:sp>
      <p:sp>
        <p:nvSpPr>
          <p:cNvPr id="410626" name="Rectangle 2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000125" y="774700"/>
            <a:ext cx="5099050" cy="3824288"/>
          </a:xfrm>
          <a:prstGeom prst="rect">
            <a:avLst/>
          </a:prstGeom>
          <a:noFill/>
          <a:ln w="12700" cap="flat">
            <a:solidFill>
              <a:schemeClr val="tx1"/>
            </a:solidFill>
            <a:miter lim="800000"/>
            <a:headEnd/>
            <a:tailEnd/>
          </a:ln>
        </p:spPr>
      </p:sp>
      <p:sp>
        <p:nvSpPr>
          <p:cNvPr id="4106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46150" y="4865688"/>
            <a:ext cx="5207000" cy="4308475"/>
          </a:xfrm>
          <a:prstGeom prst="rect">
            <a:avLst/>
          </a:prstGeom>
          <a:noFill/>
          <a:ln w="12700">
            <a:miter lim="800000"/>
            <a:headEnd/>
            <a:tailEnd/>
          </a:ln>
        </p:spPr>
        <p:txBody>
          <a:bodyPr lIns="98009" tIns="48144" rIns="98009" bIns="48144"/>
          <a:lstStyle/>
          <a:p>
            <a:endParaRPr lang="en-GB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0EFE2F0-DCBD-43E9-977A-9DB4737BC8F3}" type="slidenum">
              <a:rPr lang="en-AU"/>
              <a:pPr/>
              <a:t>41</a:t>
            </a:fld>
            <a:endParaRPr lang="en-AU"/>
          </a:p>
        </p:txBody>
      </p:sp>
      <p:sp>
        <p:nvSpPr>
          <p:cNvPr id="413698" name="Rectangle 2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000125" y="774700"/>
            <a:ext cx="5099050" cy="3824288"/>
          </a:xfrm>
          <a:prstGeom prst="rect">
            <a:avLst/>
          </a:prstGeom>
          <a:noFill/>
          <a:ln w="12700" cap="flat">
            <a:solidFill>
              <a:schemeClr val="tx1"/>
            </a:solidFill>
            <a:miter lim="800000"/>
            <a:headEnd/>
            <a:tailEnd/>
          </a:ln>
        </p:spPr>
      </p:sp>
      <p:sp>
        <p:nvSpPr>
          <p:cNvPr id="41369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46150" y="4865688"/>
            <a:ext cx="5207000" cy="4308475"/>
          </a:xfrm>
          <a:prstGeom prst="rect">
            <a:avLst/>
          </a:prstGeom>
          <a:noFill/>
          <a:ln w="12700">
            <a:miter lim="800000"/>
            <a:headEnd/>
            <a:tailEnd/>
          </a:ln>
        </p:spPr>
        <p:txBody>
          <a:bodyPr lIns="98009" tIns="48144" rIns="98009" bIns="48144"/>
          <a:lstStyle/>
          <a:p>
            <a:r>
              <a:rPr lang="en-AU"/>
              <a:t>Adjust the seasonal indexex so that they sum to the number of seasons (quarters = 4, month = 12 etc.)</a:t>
            </a:r>
          </a:p>
          <a:p>
            <a:r>
              <a:rPr lang="en-AU"/>
              <a:t>Adjusted season index</a:t>
            </a:r>
          </a:p>
          <a:p>
            <a:r>
              <a:rPr lang="en-AU"/>
              <a:t>= (seasonal index./ sum of all seasonal indexes.)  x number of seasons 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3B4351C-8CF7-4CB3-83C3-81164066ABE0}" type="slidenum">
              <a:rPr lang="en-AU"/>
              <a:pPr/>
              <a:t>42</a:t>
            </a:fld>
            <a:endParaRPr lang="en-AU"/>
          </a:p>
        </p:txBody>
      </p:sp>
      <p:sp>
        <p:nvSpPr>
          <p:cNvPr id="373762" name="Rectangle 2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000125" y="774700"/>
            <a:ext cx="5099050" cy="3824288"/>
          </a:xfrm>
          <a:prstGeom prst="rect">
            <a:avLst/>
          </a:prstGeom>
          <a:noFill/>
          <a:ln w="12700" cap="flat">
            <a:solidFill>
              <a:schemeClr val="tx1"/>
            </a:solidFill>
            <a:miter lim="800000"/>
            <a:headEnd/>
            <a:tailEnd/>
          </a:ln>
        </p:spPr>
      </p:sp>
      <p:sp>
        <p:nvSpPr>
          <p:cNvPr id="37376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46150" y="4865688"/>
            <a:ext cx="5207000" cy="4308475"/>
          </a:xfrm>
          <a:prstGeom prst="rect">
            <a:avLst/>
          </a:prstGeom>
          <a:noFill/>
          <a:ln w="12700">
            <a:miter lim="800000"/>
            <a:headEnd/>
            <a:tailEnd/>
          </a:ln>
        </p:spPr>
        <p:txBody>
          <a:bodyPr lIns="98009" tIns="48144" rIns="98009" bIns="48144"/>
          <a:lstStyle/>
          <a:p>
            <a:r>
              <a:rPr lang="en-AU"/>
              <a:t>Refer to Section 21.9 Pages 705 - 710 Selvanathan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B34CE3B-3AD0-422F-ADEE-80E533A1A232}" type="slidenum">
              <a:rPr lang="en-AU"/>
              <a:pPr/>
              <a:t>43</a:t>
            </a:fld>
            <a:endParaRPr lang="en-AU"/>
          </a:p>
        </p:txBody>
      </p:sp>
      <p:sp>
        <p:nvSpPr>
          <p:cNvPr id="381954" name="Rectangle 2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000125" y="774700"/>
            <a:ext cx="5099050" cy="3824288"/>
          </a:xfrm>
          <a:prstGeom prst="rect">
            <a:avLst/>
          </a:prstGeom>
          <a:noFill/>
          <a:ln w="12700" cap="flat">
            <a:solidFill>
              <a:schemeClr val="tx1"/>
            </a:solidFill>
            <a:miter lim="800000"/>
            <a:headEnd/>
            <a:tailEnd/>
          </a:ln>
        </p:spPr>
      </p:sp>
      <p:sp>
        <p:nvSpPr>
          <p:cNvPr id="38195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46150" y="4865688"/>
            <a:ext cx="5207000" cy="4308475"/>
          </a:xfrm>
          <a:prstGeom prst="rect">
            <a:avLst/>
          </a:prstGeom>
          <a:noFill/>
          <a:ln w="12700">
            <a:miter lim="800000"/>
            <a:headEnd/>
            <a:tailEnd/>
          </a:ln>
        </p:spPr>
        <p:txBody>
          <a:bodyPr lIns="98009" tIns="48144" rIns="98009" bIns="48144"/>
          <a:lstStyle/>
          <a:p>
            <a:r>
              <a:rPr lang="en-AU"/>
              <a:t>Refer to Section 21.9 Pages 705 - 710 Selvanathan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3CDB663-E4EA-480C-96FB-0FE8A98518CF}" type="slidenum">
              <a:rPr lang="en-AU"/>
              <a:pPr/>
              <a:t>44</a:t>
            </a:fld>
            <a:endParaRPr lang="en-AU"/>
          </a:p>
        </p:txBody>
      </p:sp>
      <p:sp>
        <p:nvSpPr>
          <p:cNvPr id="396290" name="Rectangle 2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000125" y="774700"/>
            <a:ext cx="5099050" cy="3824288"/>
          </a:xfrm>
          <a:prstGeom prst="rect">
            <a:avLst/>
          </a:prstGeom>
          <a:noFill/>
          <a:ln w="12700" cap="flat">
            <a:solidFill>
              <a:schemeClr val="tx1"/>
            </a:solidFill>
            <a:miter lim="800000"/>
            <a:headEnd/>
            <a:tailEnd/>
          </a:ln>
        </p:spPr>
      </p:sp>
      <p:sp>
        <p:nvSpPr>
          <p:cNvPr id="39629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46150" y="4865688"/>
            <a:ext cx="5207000" cy="4308475"/>
          </a:xfrm>
          <a:prstGeom prst="rect">
            <a:avLst/>
          </a:prstGeom>
          <a:noFill/>
          <a:ln w="12700">
            <a:miter lim="800000"/>
            <a:headEnd/>
            <a:tailEnd/>
          </a:ln>
        </p:spPr>
        <p:txBody>
          <a:bodyPr lIns="98009" tIns="48144" rIns="98009" bIns="48144"/>
          <a:lstStyle/>
          <a:p>
            <a:endParaRPr lang="en-GB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3F4F234-9185-4698-8BDC-116AB5BBC5AB}" type="slidenum">
              <a:rPr lang="en-AU"/>
              <a:pPr/>
              <a:t>45</a:t>
            </a:fld>
            <a:endParaRPr lang="en-AU"/>
          </a:p>
        </p:txBody>
      </p:sp>
      <p:sp>
        <p:nvSpPr>
          <p:cNvPr id="398338" name="Rectangle 2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000125" y="774700"/>
            <a:ext cx="5099050" cy="3824288"/>
          </a:xfrm>
          <a:prstGeom prst="rect">
            <a:avLst/>
          </a:prstGeom>
          <a:noFill/>
          <a:ln w="12700" cap="flat">
            <a:solidFill>
              <a:schemeClr val="tx1"/>
            </a:solidFill>
            <a:miter lim="800000"/>
            <a:headEnd/>
            <a:tailEnd/>
          </a:ln>
        </p:spPr>
      </p:sp>
      <p:sp>
        <p:nvSpPr>
          <p:cNvPr id="39833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46150" y="4865688"/>
            <a:ext cx="5207000" cy="4308475"/>
          </a:xfrm>
          <a:prstGeom prst="rect">
            <a:avLst/>
          </a:prstGeom>
          <a:noFill/>
          <a:ln w="12700">
            <a:miter lim="800000"/>
            <a:headEnd/>
            <a:tailEnd/>
          </a:ln>
        </p:spPr>
        <p:txBody>
          <a:bodyPr lIns="98009" tIns="48144" rIns="98009" bIns="48144"/>
          <a:lstStyle/>
          <a:p>
            <a:endParaRPr lang="en-GB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F13DB62-4864-4414-9FD8-8BE6798E2753}" type="slidenum">
              <a:rPr lang="en-AU"/>
              <a:pPr/>
              <a:t>47</a:t>
            </a:fld>
            <a:endParaRPr lang="en-AU"/>
          </a:p>
        </p:txBody>
      </p:sp>
      <p:sp>
        <p:nvSpPr>
          <p:cNvPr id="389122" name="Rectangle 2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000125" y="774700"/>
            <a:ext cx="5099050" cy="3824288"/>
          </a:xfrm>
          <a:prstGeom prst="rect">
            <a:avLst/>
          </a:prstGeom>
          <a:noFill/>
          <a:ln w="12700" cap="flat">
            <a:solidFill>
              <a:schemeClr val="tx1"/>
            </a:solidFill>
            <a:miter lim="800000"/>
            <a:headEnd/>
            <a:tailEnd/>
          </a:ln>
        </p:spPr>
      </p:sp>
      <p:sp>
        <p:nvSpPr>
          <p:cNvPr id="38912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46150" y="4865688"/>
            <a:ext cx="5207000" cy="4308475"/>
          </a:xfrm>
          <a:prstGeom prst="rect">
            <a:avLst/>
          </a:prstGeom>
          <a:noFill/>
          <a:ln w="12700">
            <a:miter lim="800000"/>
            <a:headEnd/>
            <a:tailEnd/>
          </a:ln>
        </p:spPr>
        <p:txBody>
          <a:bodyPr lIns="98009" tIns="48144" rIns="98009" bIns="48144"/>
          <a:lstStyle/>
          <a:p>
            <a:r>
              <a:rPr lang="en-AU"/>
              <a:t>Refer to Section 21.9 Pages 705 - 710 Selvanathan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B6B7EE6-7191-47F1-9D7D-AFCF470B4C05}" type="slidenum">
              <a:rPr lang="en-AU"/>
              <a:pPr/>
              <a:t>48</a:t>
            </a:fld>
            <a:endParaRPr lang="en-AU"/>
          </a:p>
        </p:txBody>
      </p:sp>
      <p:sp>
        <p:nvSpPr>
          <p:cNvPr id="420866" name="Rectangle 2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000125" y="774700"/>
            <a:ext cx="5099050" cy="3824288"/>
          </a:xfrm>
          <a:prstGeom prst="rect">
            <a:avLst/>
          </a:prstGeom>
          <a:noFill/>
          <a:ln w="12700" cap="flat">
            <a:solidFill>
              <a:schemeClr val="tx1"/>
            </a:solidFill>
            <a:miter lim="800000"/>
            <a:headEnd/>
            <a:tailEnd/>
          </a:ln>
        </p:spPr>
      </p:sp>
      <p:sp>
        <p:nvSpPr>
          <p:cNvPr id="42086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46150" y="4865688"/>
            <a:ext cx="5207000" cy="4308475"/>
          </a:xfrm>
          <a:prstGeom prst="rect">
            <a:avLst/>
          </a:prstGeom>
          <a:noFill/>
          <a:ln w="12700">
            <a:miter lim="800000"/>
            <a:headEnd/>
            <a:tailEnd/>
          </a:ln>
        </p:spPr>
        <p:txBody>
          <a:bodyPr lIns="98009" tIns="48144" rIns="98009" bIns="48144"/>
          <a:lstStyle/>
          <a:p>
            <a:endParaRPr lang="en-GB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EAF3FAC-E9B0-4AC1-AB1A-AA1116BA6455}" type="slidenum">
              <a:rPr lang="en-AU"/>
              <a:pPr/>
              <a:t>70</a:t>
            </a:fld>
            <a:endParaRPr lang="en-AU"/>
          </a:p>
        </p:txBody>
      </p:sp>
      <p:sp>
        <p:nvSpPr>
          <p:cNvPr id="394242" name="Rectangle 2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000125" y="774700"/>
            <a:ext cx="5099050" cy="3824288"/>
          </a:xfrm>
          <a:prstGeom prst="rect">
            <a:avLst/>
          </a:prstGeom>
          <a:noFill/>
          <a:ln w="12700" cap="flat">
            <a:solidFill>
              <a:schemeClr val="tx1"/>
            </a:solidFill>
            <a:miter lim="800000"/>
            <a:headEnd/>
            <a:tailEnd/>
          </a:ln>
        </p:spPr>
      </p:sp>
      <p:sp>
        <p:nvSpPr>
          <p:cNvPr id="39424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46150" y="4865688"/>
            <a:ext cx="5207000" cy="4308475"/>
          </a:xfrm>
          <a:prstGeom prst="rect">
            <a:avLst/>
          </a:prstGeom>
          <a:noFill/>
          <a:ln w="12700">
            <a:miter lim="800000"/>
            <a:headEnd/>
            <a:tailEnd/>
          </a:ln>
        </p:spPr>
        <p:txBody>
          <a:bodyPr lIns="98009" tIns="48144" rIns="98009" bIns="48144"/>
          <a:lstStyle/>
          <a:p>
            <a:endParaRPr lang="en-GB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IDS, Faculty of Engineering, University of Jaffna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1878A7B-9D51-4B9B-B11E-0124CB8798FB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IDS, Faculty of Engineering, University of Jaffna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5DDD8D9-3642-43D5-804E-450C415A914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IDS, Faculty of Engineering, University of Jaffna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5BCABDC-91D1-4936-8E03-9409A7DF6941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IDS, Faculty of Engineering, University of Jaffna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07FDE25-D1AE-4DD7-8283-2173BE942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IDS, Faculty of Engineering, University of Jaffna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9C9279B-E85A-4055-A37A-2A685496B65B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IDS, Faculty of Engineering, University of Jaffna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DEC7171-5E41-4BB8-875D-93829F53E399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IDS, Faculty of Engineering, University of Jaffna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A367048-B401-46A2-BC7D-23EF45AC274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IDS, Faculty of Engineering, University of Jaffna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EE9130D-E31F-473F-991F-1C56A46CBB8E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IDS, Faculty of Engineering, University of Jaffna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E0E539D-E160-4929-A17C-AB95A248A4D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IDS, Faculty of Engineering, University of Jaffna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A4B5049-4A75-4B45-9F9D-865B8E27BF20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IDS, Faculty of Engineering, University of Jaffna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8C5392B-C06C-4B96-A7CE-8CC835CBB666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 and Content ov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7772400" cy="1981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4114800"/>
            <a:ext cx="7772400" cy="1981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r>
              <a:rPr lang="en-GB"/>
              <a:t>IDS, Faculty of Engineering, University of Jaffna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fld id="{0E3802AB-78DC-448A-9B53-535E12762D8E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x" preserve="1">
  <p:cSld name="Title, Content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r>
              <a:rPr lang="en-GB"/>
              <a:t>IDS, Faculty of Engineering, University of Jaffna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fld id="{2992E581-F328-4B9B-A5E4-11838F51BD83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304800"/>
            <a:ext cx="7772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838200" y="1905000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00600" y="1905000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65">
            <a:extLst>
              <a:ext uri="{FF2B5EF4-FFF2-40B4-BE49-F238E27FC236}">
                <a16:creationId xmlns:a16="http://schemas.microsoft.com/office/drawing/2014/main" id="{FCD56283-49C3-1552-5587-14FAEFEF40B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6">
            <a:extLst>
              <a:ext uri="{FF2B5EF4-FFF2-40B4-BE49-F238E27FC236}">
                <a16:creationId xmlns:a16="http://schemas.microsoft.com/office/drawing/2014/main" id="{F4F6E9A5-2AAA-40D7-0017-CBDE1BDB068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ja-JP"/>
              <a:t>IDS, Faculty of Engineering, University of Jaffna</a:t>
            </a:r>
            <a:endParaRPr lang="en-US" altLang="ja-JP"/>
          </a:p>
        </p:txBody>
      </p:sp>
      <p:sp>
        <p:nvSpPr>
          <p:cNvPr id="7" name="Rectangle 67">
            <a:extLst>
              <a:ext uri="{FF2B5EF4-FFF2-40B4-BE49-F238E27FC236}">
                <a16:creationId xmlns:a16="http://schemas.microsoft.com/office/drawing/2014/main" id="{806D2F57-A019-DE4E-082E-C50EF5A628F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16A2D5E-E4B1-4477-94BA-31DFBD48694F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633823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4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2314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314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/>
          </a:p>
        </p:txBody>
      </p:sp>
      <p:sp>
        <p:nvSpPr>
          <p:cNvPr id="2314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r>
              <a:rPr lang="en-GB"/>
              <a:t>IDS, Faculty of Engineering, University of Jaffna</a:t>
            </a:r>
            <a:endParaRPr lang="en-US"/>
          </a:p>
        </p:txBody>
      </p:sp>
      <p:sp>
        <p:nvSpPr>
          <p:cNvPr id="2314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15302BAE-59CC-400B-81D6-A2DA2044A5E6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  <p:sldLayoutId id="2147483672" r:id="rId13"/>
    <p:sldLayoutId id="2147483673" r:id="rId14"/>
  </p:sldLayoutIdLst>
  <p:hf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hyperlink" Target="mailto:mayooran@eng.jfn.ac.lk" TargetMode="External"/><Relationship Id="rId5" Type="http://schemas.openxmlformats.org/officeDocument/2006/relationships/image" Target="../media/image2.wmf"/><Relationship Id="rId4" Type="http://schemas.openxmlformats.org/officeDocument/2006/relationships/oleObject" Target="../embeddings/oleObject1.bin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wmf"/><Relationship Id="rId5" Type="http://schemas.openxmlformats.org/officeDocument/2006/relationships/image" Target="../media/image8.wmf"/><Relationship Id="rId4" Type="http://schemas.openxmlformats.org/officeDocument/2006/relationships/image" Target="../media/image7.wmf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emf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emf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emf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wmf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emf"/><Relationship Id="rId4" Type="http://schemas.openxmlformats.org/officeDocument/2006/relationships/image" Target="../media/image16.emf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9.bin"/><Relationship Id="rId3" Type="http://schemas.openxmlformats.org/officeDocument/2006/relationships/oleObject" Target="../embeddings/oleObject7.bin"/><Relationship Id="rId7" Type="http://schemas.openxmlformats.org/officeDocument/2006/relationships/image" Target="../media/image20.em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6" Type="http://schemas.openxmlformats.org/officeDocument/2006/relationships/oleObject" Target="../embeddings/oleObject8.bin"/><Relationship Id="rId5" Type="http://schemas.openxmlformats.org/officeDocument/2006/relationships/image" Target="../media/image19.wmf"/><Relationship Id="rId4" Type="http://schemas.openxmlformats.org/officeDocument/2006/relationships/image" Target="../media/image18.emf"/><Relationship Id="rId9" Type="http://schemas.openxmlformats.org/officeDocument/2006/relationships/image" Target="../media/image21.emf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2.bin"/><Relationship Id="rId13" Type="http://schemas.openxmlformats.org/officeDocument/2006/relationships/image" Target="../media/image26.emf"/><Relationship Id="rId3" Type="http://schemas.openxmlformats.org/officeDocument/2006/relationships/audio" Target="../media/audio1.wav"/><Relationship Id="rId7" Type="http://schemas.openxmlformats.org/officeDocument/2006/relationships/image" Target="../media/image23.wmf"/><Relationship Id="rId12" Type="http://schemas.openxmlformats.org/officeDocument/2006/relationships/oleObject" Target="../embeddings/oleObject14.bin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Relationship Id="rId6" Type="http://schemas.openxmlformats.org/officeDocument/2006/relationships/oleObject" Target="../embeddings/oleObject11.bin"/><Relationship Id="rId11" Type="http://schemas.openxmlformats.org/officeDocument/2006/relationships/image" Target="../media/image25.emf"/><Relationship Id="rId5" Type="http://schemas.openxmlformats.org/officeDocument/2006/relationships/image" Target="../media/image22.wmf"/><Relationship Id="rId10" Type="http://schemas.openxmlformats.org/officeDocument/2006/relationships/oleObject" Target="../embeddings/oleObject13.bin"/><Relationship Id="rId4" Type="http://schemas.openxmlformats.org/officeDocument/2006/relationships/oleObject" Target="../embeddings/oleObject10.bin"/><Relationship Id="rId9" Type="http://schemas.openxmlformats.org/officeDocument/2006/relationships/image" Target="../media/image24.wmf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5.bin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wmf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emf"/><Relationship Id="rId3" Type="http://schemas.openxmlformats.org/officeDocument/2006/relationships/oleObject" Target="../embeddings/oleObject16.bin"/><Relationship Id="rId7" Type="http://schemas.openxmlformats.org/officeDocument/2006/relationships/oleObject" Target="../embeddings/oleObject18.bin"/><Relationship Id="rId12" Type="http://schemas.openxmlformats.org/officeDocument/2006/relationships/image" Target="../media/image30.emf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emf"/><Relationship Id="rId11" Type="http://schemas.openxmlformats.org/officeDocument/2006/relationships/oleObject" Target="../embeddings/oleObject20.bin"/><Relationship Id="rId5" Type="http://schemas.openxmlformats.org/officeDocument/2006/relationships/oleObject" Target="../embeddings/oleObject17.bin"/><Relationship Id="rId10" Type="http://schemas.openxmlformats.org/officeDocument/2006/relationships/image" Target="../media/image29.emf"/><Relationship Id="rId4" Type="http://schemas.openxmlformats.org/officeDocument/2006/relationships/image" Target="../media/image22.wmf"/><Relationship Id="rId9" Type="http://schemas.openxmlformats.org/officeDocument/2006/relationships/oleObject" Target="../embeddings/oleObject19.bin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1.bin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wmf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emf"/><Relationship Id="rId3" Type="http://schemas.openxmlformats.org/officeDocument/2006/relationships/oleObject" Target="../embeddings/oleObject22.bin"/><Relationship Id="rId7" Type="http://schemas.openxmlformats.org/officeDocument/2006/relationships/oleObject" Target="../embeddings/oleObject24.bin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6.emf"/><Relationship Id="rId5" Type="http://schemas.openxmlformats.org/officeDocument/2006/relationships/oleObject" Target="../embeddings/oleObject23.bin"/><Relationship Id="rId4" Type="http://schemas.openxmlformats.org/officeDocument/2006/relationships/image" Target="../media/image22.wmf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emf"/><Relationship Id="rId2" Type="http://schemas.openxmlformats.org/officeDocument/2006/relationships/oleObject" Target="../embeddings/oleObject25.bin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32.emf"/><Relationship Id="rId4" Type="http://schemas.openxmlformats.org/officeDocument/2006/relationships/oleObject" Target="../embeddings/oleObject26.bin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emf"/><Relationship Id="rId3" Type="http://schemas.openxmlformats.org/officeDocument/2006/relationships/oleObject" Target="../embeddings/oleObject27.bin"/><Relationship Id="rId7" Type="http://schemas.openxmlformats.org/officeDocument/2006/relationships/oleObject" Target="../embeddings/oleObject29.bin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34.emf"/><Relationship Id="rId5" Type="http://schemas.openxmlformats.org/officeDocument/2006/relationships/oleObject" Target="../embeddings/oleObject28.bin"/><Relationship Id="rId10" Type="http://schemas.openxmlformats.org/officeDocument/2006/relationships/image" Target="../media/image36.emf"/><Relationship Id="rId4" Type="http://schemas.openxmlformats.org/officeDocument/2006/relationships/image" Target="../media/image33.emf"/><Relationship Id="rId9" Type="http://schemas.openxmlformats.org/officeDocument/2006/relationships/oleObject" Target="../embeddings/oleObject30.bin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emf"/><Relationship Id="rId2" Type="http://schemas.openxmlformats.org/officeDocument/2006/relationships/oleObject" Target="../embeddings/oleObject31.bin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8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2.bin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9.emf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wmf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3.bin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wmf"/><Relationship Id="rId5" Type="http://schemas.openxmlformats.org/officeDocument/2006/relationships/oleObject" Target="../embeddings/oleObject34.bin"/><Relationship Id="rId4" Type="http://schemas.openxmlformats.org/officeDocument/2006/relationships/image" Target="../media/image23.wmf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emf"/><Relationship Id="rId3" Type="http://schemas.openxmlformats.org/officeDocument/2006/relationships/oleObject" Target="../embeddings/oleObject35.bin"/><Relationship Id="rId7" Type="http://schemas.openxmlformats.org/officeDocument/2006/relationships/oleObject" Target="../embeddings/oleObject37.bin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34.emf"/><Relationship Id="rId5" Type="http://schemas.openxmlformats.org/officeDocument/2006/relationships/oleObject" Target="../embeddings/oleObject36.bin"/><Relationship Id="rId10" Type="http://schemas.openxmlformats.org/officeDocument/2006/relationships/image" Target="../media/image32.emf"/><Relationship Id="rId4" Type="http://schemas.openxmlformats.org/officeDocument/2006/relationships/image" Target="../media/image22.wmf"/><Relationship Id="rId9" Type="http://schemas.openxmlformats.org/officeDocument/2006/relationships/oleObject" Target="../embeddings/oleObject38.bin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9.bin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5.emf"/><Relationship Id="rId5" Type="http://schemas.openxmlformats.org/officeDocument/2006/relationships/oleObject" Target="../embeddings/oleObject40.bin"/><Relationship Id="rId4" Type="http://schemas.openxmlformats.org/officeDocument/2006/relationships/image" Target="../media/image41.emf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emf"/><Relationship Id="rId2" Type="http://schemas.openxmlformats.org/officeDocument/2006/relationships/oleObject" Target="../embeddings/oleObject41.bin"/><Relationship Id="rId1" Type="http://schemas.openxmlformats.org/officeDocument/2006/relationships/slideLayout" Target="../slideLayouts/slideLayout6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2.bin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wmf"/><Relationship Id="rId5" Type="http://schemas.openxmlformats.org/officeDocument/2006/relationships/oleObject" Target="../embeddings/oleObject43.bin"/><Relationship Id="rId4" Type="http://schemas.openxmlformats.org/officeDocument/2006/relationships/image" Target="../media/image23.wmf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4.bin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5.emf"/><Relationship Id="rId5" Type="http://schemas.openxmlformats.org/officeDocument/2006/relationships/oleObject" Target="../embeddings/oleObject45.bin"/><Relationship Id="rId4" Type="http://schemas.openxmlformats.org/officeDocument/2006/relationships/image" Target="../media/image41.emf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wmf"/><Relationship Id="rId2" Type="http://schemas.openxmlformats.org/officeDocument/2006/relationships/image" Target="../media/image43.wmf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6.bin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6.wmf"/><Relationship Id="rId5" Type="http://schemas.openxmlformats.org/officeDocument/2006/relationships/oleObject" Target="../embeddings/oleObject47.bin"/><Relationship Id="rId4" Type="http://schemas.openxmlformats.org/officeDocument/2006/relationships/image" Target="../media/image45.wmf"/></Relationships>
</file>

<file path=ppt/slides/_rels/slide5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emf"/><Relationship Id="rId3" Type="http://schemas.openxmlformats.org/officeDocument/2006/relationships/oleObject" Target="../embeddings/oleObject48.bin"/><Relationship Id="rId7" Type="http://schemas.openxmlformats.org/officeDocument/2006/relationships/oleObject" Target="../embeddings/oleObject50.bin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8.emf"/><Relationship Id="rId5" Type="http://schemas.openxmlformats.org/officeDocument/2006/relationships/oleObject" Target="../embeddings/oleObject49.bin"/><Relationship Id="rId4" Type="http://schemas.openxmlformats.org/officeDocument/2006/relationships/image" Target="../media/image47.emf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1.bin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0.emf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2.bin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1.emf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3.bin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2.emf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emf"/><Relationship Id="rId3" Type="http://schemas.openxmlformats.org/officeDocument/2006/relationships/oleObject" Target="../embeddings/oleObject54.bin"/><Relationship Id="rId7" Type="http://schemas.openxmlformats.org/officeDocument/2006/relationships/oleObject" Target="../embeddings/oleObject56.bin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4.emf"/><Relationship Id="rId5" Type="http://schemas.openxmlformats.org/officeDocument/2006/relationships/oleObject" Target="../embeddings/oleObject55.bin"/><Relationship Id="rId4" Type="http://schemas.openxmlformats.org/officeDocument/2006/relationships/image" Target="../media/image53.emf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7.bin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6.emf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8.bin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7.emf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9.bin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9.emf"/><Relationship Id="rId5" Type="http://schemas.openxmlformats.org/officeDocument/2006/relationships/oleObject" Target="../embeddings/oleObject60.bin"/><Relationship Id="rId4" Type="http://schemas.openxmlformats.org/officeDocument/2006/relationships/image" Target="../media/image58.wmf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1.bin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0.emf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2.bin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1.emf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3.bin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2.emf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wmf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1095">
            <a:extLst>
              <a:ext uri="{FF2B5EF4-FFF2-40B4-BE49-F238E27FC236}">
                <a16:creationId xmlns:a16="http://schemas.microsoft.com/office/drawing/2014/main" id="{1E9F7B12-515A-0636-9860-63ECFF73EAE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CD63D6E4-6938-4D52-9974-805E54939889}" type="slidenum">
              <a:rPr lang="en-US" altLang="en-US" sz="14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</a:t>
            </a:fld>
            <a:endParaRPr lang="en-US" altLang="en-US" sz="1400"/>
          </a:p>
        </p:txBody>
      </p:sp>
      <p:sp>
        <p:nvSpPr>
          <p:cNvPr id="3075" name="Rectangle 2">
            <a:extLst>
              <a:ext uri="{FF2B5EF4-FFF2-40B4-BE49-F238E27FC236}">
                <a16:creationId xmlns:a16="http://schemas.microsoft.com/office/drawing/2014/main" id="{75942F56-7ACC-CF3D-121A-19413935F05B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499932" y="1268760"/>
            <a:ext cx="7958268" cy="2520280"/>
          </a:xfrm>
        </p:spPr>
        <p:txBody>
          <a:bodyPr/>
          <a:lstStyle/>
          <a:p>
            <a:pPr eaLnBrk="1" hangingPunct="1"/>
            <a:r>
              <a:rPr lang="en-GB" altLang="en-US" b="1" dirty="0">
                <a:solidFill>
                  <a:srgbClr val="C00000"/>
                </a:solidFill>
              </a:rPr>
              <a:t>Introduction to Time Series Analysis</a:t>
            </a:r>
            <a:endParaRPr lang="en-US" altLang="en-US" b="1" dirty="0">
              <a:solidFill>
                <a:srgbClr val="C00000"/>
              </a:solidFill>
            </a:endParaRPr>
          </a:p>
        </p:txBody>
      </p:sp>
      <p:graphicFrame>
        <p:nvGraphicFramePr>
          <p:cNvPr id="198660" name="Object 4">
            <a:hlinkClick r:id="" action="ppaction://ole?verb=0"/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02415360"/>
              </p:ext>
            </p:extLst>
          </p:nvPr>
        </p:nvGraphicFramePr>
        <p:xfrm>
          <a:off x="7797800" y="548680"/>
          <a:ext cx="977900" cy="167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lip" r:id="rId4" imgW="2881080" imgH="4101840" progId="">
                  <p:embed/>
                </p:oleObj>
              </mc:Choice>
              <mc:Fallback>
                <p:oleObj name="Clip" r:id="rId4" imgW="2881080" imgH="4101840" progId="">
                  <p:embed/>
                  <p:pic>
                    <p:nvPicPr>
                      <p:cNvPr id="198660" name="Object 4">
                        <a:hlinkClick r:id="" action="ppaction://ole?verb=0"/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97800" y="548680"/>
                        <a:ext cx="977900" cy="167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3">
            <a:extLst>
              <a:ext uri="{FF2B5EF4-FFF2-40B4-BE49-F238E27FC236}">
                <a16:creationId xmlns:a16="http://schemas.microsoft.com/office/drawing/2014/main" id="{1432FC4D-332E-4C16-D97B-8FB8B8D081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1600" y="3061320"/>
            <a:ext cx="6400800" cy="289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700">
                <a:solidFill>
                  <a:schemeClr val="tx1"/>
                </a:solidFill>
                <a:latin typeface="Georgia" panose="02040502050405020303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"/>
              <a:defRPr sz="2200">
                <a:solidFill>
                  <a:schemeClr val="tx2"/>
                </a:solidFill>
                <a:latin typeface="Georgia" panose="02040502050405020303" pitchFamily="18" charset="0"/>
              </a:defRPr>
            </a:lvl2pPr>
            <a:lvl3pPr marL="1143000" indent="-228600">
              <a:spcBef>
                <a:spcPct val="20000"/>
              </a:spcBef>
              <a:buClr>
                <a:srgbClr val="8CADAE"/>
              </a:buClr>
              <a:buSzPct val="75000"/>
              <a:buFont typeface="Wingdings 2" panose="05020102010507070707" pitchFamily="18" charset="2"/>
              <a:buChar char=""/>
              <a:defRPr sz="2000">
                <a:solidFill>
                  <a:schemeClr val="tx1"/>
                </a:solidFill>
                <a:latin typeface="Georgia" panose="02040502050405020303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C7B70"/>
              </a:buClr>
              <a:buSzPct val="70000"/>
              <a:buFont typeface="Wingdings" panose="05000000000000000000" pitchFamily="2" charset="2"/>
              <a:buChar char=""/>
              <a:defRPr sz="2000">
                <a:solidFill>
                  <a:schemeClr val="tx2"/>
                </a:solidFill>
                <a:latin typeface="Georgia" panose="02040502050405020303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8FB08C"/>
              </a:buClr>
              <a:buChar char="•"/>
              <a:defRPr sz="2000">
                <a:solidFill>
                  <a:schemeClr val="tx1"/>
                </a:solidFill>
                <a:latin typeface="Georgia" panose="02040502050405020303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FB08C"/>
              </a:buClr>
              <a:buChar char="•"/>
              <a:defRPr sz="2000">
                <a:solidFill>
                  <a:schemeClr val="tx1"/>
                </a:solidFill>
                <a:latin typeface="Georgia" panose="02040502050405020303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FB08C"/>
              </a:buClr>
              <a:buChar char="•"/>
              <a:defRPr sz="2000">
                <a:solidFill>
                  <a:schemeClr val="tx1"/>
                </a:solidFill>
                <a:latin typeface="Georgia" panose="02040502050405020303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FB08C"/>
              </a:buClr>
              <a:buChar char="•"/>
              <a:defRPr sz="2000">
                <a:solidFill>
                  <a:schemeClr val="tx1"/>
                </a:solidFill>
                <a:latin typeface="Georgia" panose="02040502050405020303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FB08C"/>
              </a:buClr>
              <a:buChar char="•"/>
              <a:defRPr sz="2000">
                <a:solidFill>
                  <a:schemeClr val="tx1"/>
                </a:solidFill>
                <a:latin typeface="Georgia" panose="02040502050405020303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 b="1" dirty="0">
              <a:solidFill>
                <a:srgbClr val="00279F"/>
              </a:solidFill>
              <a:latin typeface="Bookman Old Style" panose="02050604050505020204" pitchFamily="18" charset="0"/>
              <a:cs typeface="Arabic Typesetting" panose="03020402040406030203" pitchFamily="66" charset="-78"/>
            </a:endParaRP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dirty="0">
                <a:solidFill>
                  <a:srgbClr val="00279F"/>
                </a:solidFill>
                <a:latin typeface="Bookman Old Style" panose="02050604050505020204" pitchFamily="18" charset="0"/>
                <a:cs typeface="Arabic Typesetting" panose="03020402040406030203" pitchFamily="66" charset="-78"/>
              </a:rPr>
              <a:t> Dr T. Mayooran,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dirty="0">
                <a:solidFill>
                  <a:srgbClr val="00279F"/>
                </a:solidFill>
                <a:latin typeface="Bookman Old Style" panose="02050604050505020204" pitchFamily="18" charset="0"/>
                <a:cs typeface="Arabic Typesetting" panose="03020402040406030203" pitchFamily="66" charset="-78"/>
              </a:rPr>
              <a:t>Senior Lecturer, 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dirty="0">
                <a:solidFill>
                  <a:srgbClr val="00279F"/>
                </a:solidFill>
                <a:latin typeface="Bookman Old Style" panose="02050604050505020204" pitchFamily="18" charset="0"/>
                <a:cs typeface="Arabic Typesetting" panose="03020402040406030203" pitchFamily="66" charset="-78"/>
              </a:rPr>
              <a:t>Department of Interdisciplinary Studies,</a:t>
            </a:r>
          </a:p>
          <a:p>
            <a:pPr algn="ctr"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dirty="0">
                <a:solidFill>
                  <a:srgbClr val="00279F"/>
                </a:solidFill>
                <a:latin typeface="Bookman Old Style" panose="02050604050505020204" pitchFamily="18" charset="0"/>
                <a:cs typeface="Arabic Typesetting" panose="03020402040406030203" pitchFamily="66" charset="-78"/>
              </a:rPr>
              <a:t>Faculty of Engineering,</a:t>
            </a:r>
          </a:p>
          <a:p>
            <a:pPr algn="ctr"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dirty="0">
                <a:solidFill>
                  <a:srgbClr val="00279F"/>
                </a:solidFill>
                <a:latin typeface="Bookman Old Style" panose="02050604050505020204" pitchFamily="18" charset="0"/>
                <a:cs typeface="Arabic Typesetting" panose="03020402040406030203" pitchFamily="66" charset="-78"/>
              </a:rPr>
              <a:t>University of Jaffna</a:t>
            </a:r>
            <a:r>
              <a:rPr lang="en-US" altLang="en-US" sz="2400" b="1" dirty="0">
                <a:solidFill>
                  <a:srgbClr val="00279F"/>
                </a:solidFill>
                <a:latin typeface="Bookman Old Style" panose="02050604050505020204" pitchFamily="18" charset="0"/>
                <a:cs typeface="Arabic Typesetting" panose="03020402040406030203" pitchFamily="66" charset="-78"/>
              </a:rPr>
              <a:t>.</a:t>
            </a:r>
          </a:p>
          <a:p>
            <a:pPr algn="ctr"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dirty="0">
                <a:solidFill>
                  <a:srgbClr val="00279F"/>
                </a:solidFill>
                <a:latin typeface="Bookman Old Style" panose="02050604050505020204" pitchFamily="18" charset="0"/>
                <a:cs typeface="Arabic Typesetting" panose="03020402040406030203" pitchFamily="66" charset="-78"/>
              </a:rPr>
              <a:t>Email: </a:t>
            </a:r>
            <a:r>
              <a:rPr lang="en-US" altLang="en-US" sz="2400" dirty="0">
                <a:solidFill>
                  <a:srgbClr val="00279F"/>
                </a:solidFill>
                <a:latin typeface="Bookman Old Style" panose="02050604050505020204" pitchFamily="18" charset="0"/>
                <a:cs typeface="Arabic Typesetting" panose="03020402040406030203" pitchFamily="66" charset="-78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mayooran@eng.jfn.ac.lk</a:t>
            </a:r>
            <a:endParaRPr lang="en-US" altLang="en-US" sz="2400" dirty="0">
              <a:solidFill>
                <a:srgbClr val="00279F"/>
              </a:solidFill>
              <a:latin typeface="Bookman Old Style" panose="02050604050505020204" pitchFamily="18" charset="0"/>
              <a:cs typeface="Arabic Typesetting" panose="03020402040406030203" pitchFamily="66" charset="-78"/>
            </a:endParaRP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b="1" dirty="0">
                <a:solidFill>
                  <a:srgbClr val="00279F"/>
                </a:solidFill>
                <a:latin typeface="Bookman Old Style" panose="02050604050505020204" pitchFamily="18" charset="0"/>
                <a:cs typeface="Arabic Typesetting" panose="03020402040406030203" pitchFamily="66" charset="-78"/>
              </a:rPr>
              <a:t>	</a:t>
            </a:r>
            <a:r>
              <a:rPr lang="en-US" altLang="en-US" sz="2400" b="1" dirty="0">
                <a:solidFill>
                  <a:srgbClr val="00279F"/>
                </a:solidFill>
                <a:latin typeface="Bookman Old Style" panose="02050604050505020204" pitchFamily="18" charset="0"/>
                <a:cs typeface="Tahoma" panose="020B0604030504040204" pitchFamily="34" charset="0"/>
              </a:rPr>
              <a:t>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Slide Number Placeholder 5">
            <a:extLst>
              <a:ext uri="{FF2B5EF4-FFF2-40B4-BE49-F238E27FC236}">
                <a16:creationId xmlns:a16="http://schemas.microsoft.com/office/drawing/2014/main" id="{582A0EBC-BFBB-8D71-9224-F971529B7B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0BFA2EED-CB4A-49E2-9965-ED871E6BF396}" type="slidenum">
              <a:rPr lang="en-US" altLang="en-US" sz="14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2</a:t>
            </a:fld>
            <a:endParaRPr lang="en-US" altLang="en-US" sz="1400"/>
          </a:p>
        </p:txBody>
      </p:sp>
      <p:sp>
        <p:nvSpPr>
          <p:cNvPr id="4099" name="Rectangle 2">
            <a:extLst>
              <a:ext uri="{FF2B5EF4-FFF2-40B4-BE49-F238E27FC236}">
                <a16:creationId xmlns:a16="http://schemas.microsoft.com/office/drawing/2014/main" id="{C2679D62-3DA8-4F1D-EEB3-E20CACFB08F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600" dirty="0">
                <a:solidFill>
                  <a:srgbClr val="C00000"/>
                </a:solidFill>
              </a:rPr>
              <a:t>Module objectives</a:t>
            </a:r>
            <a:endParaRPr lang="th-TH" altLang="en-US" dirty="0">
              <a:solidFill>
                <a:srgbClr val="C00000"/>
              </a:solidFill>
            </a:endParaRPr>
          </a:p>
        </p:txBody>
      </p:sp>
      <p:sp>
        <p:nvSpPr>
          <p:cNvPr id="4100" name="Rectangle 3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5EA626CC-2BB3-D42D-F3FA-6CC71387CA9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Introduce time series</a:t>
            </a:r>
          </a:p>
          <a:p>
            <a:pPr eaLnBrk="1" hangingPunct="1"/>
            <a:r>
              <a:rPr lang="en-US" altLang="en-US"/>
              <a:t>Components of time series</a:t>
            </a:r>
          </a:p>
          <a:p>
            <a:pPr eaLnBrk="1" hangingPunct="1"/>
            <a:r>
              <a:rPr lang="en-US" altLang="en-US"/>
              <a:t>Deseasonalising a time series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th-TH" altLang="en-US">
              <a:cs typeface="Tahoma" panose="020B0604030504040204" pitchFamily="34" charset="0"/>
            </a:endParaRPr>
          </a:p>
        </p:txBody>
      </p:sp>
      <p:sp>
        <p:nvSpPr>
          <p:cNvPr id="4101" name="Footer Placeholder 4">
            <a:extLst>
              <a:ext uri="{FF2B5EF4-FFF2-40B4-BE49-F238E27FC236}">
                <a16:creationId xmlns:a16="http://schemas.microsoft.com/office/drawing/2014/main" id="{DC6B2AB8-1E18-C5E1-B7E8-96143A515E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GB" altLang="ja-JP" sz="1400"/>
              <a:t>IDS, Faculty of Engineering, University of Jaffna</a:t>
            </a:r>
            <a:endParaRPr lang="en-US" altLang="ja-JP" sz="14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Slide Number Placeholder 5">
            <a:extLst>
              <a:ext uri="{FF2B5EF4-FFF2-40B4-BE49-F238E27FC236}">
                <a16:creationId xmlns:a16="http://schemas.microsoft.com/office/drawing/2014/main" id="{3A11774B-BCD2-5EB3-9114-534ADB62B2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137D656A-B905-4CA5-BDDE-A3481D5E8D5D}" type="slidenum">
              <a:rPr lang="en-US" altLang="en-US" sz="14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3</a:t>
            </a:fld>
            <a:endParaRPr lang="en-US" altLang="en-US" sz="1400"/>
          </a:p>
        </p:txBody>
      </p:sp>
      <p:sp>
        <p:nvSpPr>
          <p:cNvPr id="5123" name="Rectangle 2">
            <a:extLst>
              <a:ext uri="{FF2B5EF4-FFF2-40B4-BE49-F238E27FC236}">
                <a16:creationId xmlns:a16="http://schemas.microsoft.com/office/drawing/2014/main" id="{40310BDD-C06E-C455-8D20-4218A34E194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7772400" cy="766763"/>
          </a:xfrm>
        </p:spPr>
        <p:txBody>
          <a:bodyPr/>
          <a:lstStyle/>
          <a:p>
            <a:pPr eaLnBrk="1" hangingPunct="1"/>
            <a:r>
              <a:rPr lang="en-US" altLang="en-US" sz="3600" dirty="0">
                <a:solidFill>
                  <a:srgbClr val="C00000"/>
                </a:solidFill>
              </a:rPr>
              <a:t>What is a time series?</a:t>
            </a:r>
            <a:endParaRPr lang="th-TH" altLang="en-US" sz="3600" dirty="0">
              <a:solidFill>
                <a:srgbClr val="C00000"/>
              </a:solidFill>
            </a:endParaRPr>
          </a:p>
        </p:txBody>
      </p:sp>
      <p:sp>
        <p:nvSpPr>
          <p:cNvPr id="5124" name="Rectangle 3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15DAE0A1-B6AA-8CDA-F61E-B596B59CB35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8200" y="1190625"/>
            <a:ext cx="7772400" cy="4559300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en-US" sz="2400" dirty="0">
                <a:solidFill>
                  <a:srgbClr val="0033CC"/>
                </a:solidFill>
                <a:ea typeface="Gungsuh" panose="02030600000101010101" pitchFamily="18" charset="-127"/>
                <a:cs typeface="Tahoma" panose="020B0604030504040204" pitchFamily="34" charset="0"/>
              </a:rPr>
              <a:t>Essentially, Time Series is a sequence of numerical data obtained at regular time intervals.</a:t>
            </a:r>
            <a:r>
              <a:rPr lang="en-US" altLang="en-US" sz="2400" dirty="0">
                <a:ea typeface="Gungsuh" panose="02030600000101010101" pitchFamily="18" charset="-127"/>
                <a:cs typeface="Tahoma" panose="020B0604030504040204" pitchFamily="34" charset="0"/>
              </a:rPr>
              <a:t> 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altLang="en-US" sz="2400" dirty="0">
              <a:ea typeface="Gungsuh" panose="02030600000101010101" pitchFamily="18" charset="-127"/>
              <a:cs typeface="Tahoma" panose="020B0604030504040204" pitchFamily="34" charset="0"/>
            </a:endParaRPr>
          </a:p>
          <a:p>
            <a:pPr eaLnBrk="1" hangingPunct="1">
              <a:lnSpc>
                <a:spcPct val="80000"/>
              </a:lnSpc>
            </a:pPr>
            <a:r>
              <a:rPr lang="en-US" altLang="en-US" sz="2400" dirty="0">
                <a:ea typeface="Gungsuh" panose="02030600000101010101" pitchFamily="18" charset="-127"/>
                <a:cs typeface="Tahoma" panose="020B0604030504040204" pitchFamily="34" charset="0"/>
              </a:rPr>
              <a:t>Occurs in many areas:  economics, finance, environment, medicine and Engineering.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altLang="en-US" sz="2400" dirty="0">
              <a:ea typeface="Gungsuh" panose="02030600000101010101" pitchFamily="18" charset="-127"/>
              <a:cs typeface="Tahoma" panose="020B0604030504040204" pitchFamily="34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en-US" sz="2800" dirty="0">
                <a:ea typeface="Gungsuh" panose="02030600000101010101" pitchFamily="18" charset="-127"/>
                <a:cs typeface="Tahoma" panose="020B0604030504040204" pitchFamily="34" charset="0"/>
              </a:rPr>
              <a:t>The aims of time series analysis are 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 dirty="0">
                <a:ea typeface="Gungsuh" panose="02030600000101010101" pitchFamily="18" charset="-127"/>
                <a:cs typeface="Tahoma" panose="020B0604030504040204" pitchFamily="34" charset="0"/>
              </a:rPr>
              <a:t>to describe and summarize time series data, 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 dirty="0">
                <a:ea typeface="Gungsuh" panose="02030600000101010101" pitchFamily="18" charset="-127"/>
                <a:cs typeface="Tahoma" panose="020B0604030504040204" pitchFamily="34" charset="0"/>
              </a:rPr>
              <a:t>fit models, and make forecasts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altLang="en-US" sz="2400" dirty="0">
              <a:ea typeface="Gungsuh" panose="02030600000101010101" pitchFamily="18" charset="-127"/>
              <a:cs typeface="Tahoma" panose="020B0604030504040204" pitchFamily="34" charset="0"/>
            </a:endParaRPr>
          </a:p>
          <a:p>
            <a:pPr eaLnBrk="1" hangingPunct="1">
              <a:lnSpc>
                <a:spcPct val="80000"/>
              </a:lnSpc>
            </a:pPr>
            <a:endParaRPr lang="en-US" altLang="en-US" sz="2400" dirty="0">
              <a:ea typeface="Gungsuh" panose="02030600000101010101" pitchFamily="18" charset="-127"/>
              <a:cs typeface="Tahoma" panose="020B0604030504040204" pitchFamily="34" charset="0"/>
            </a:endParaRPr>
          </a:p>
          <a:p>
            <a:pPr eaLnBrk="1" hangingPunct="1">
              <a:lnSpc>
                <a:spcPct val="80000"/>
              </a:lnSpc>
            </a:pPr>
            <a:endParaRPr lang="en-US" altLang="en-US" sz="2400" dirty="0">
              <a:ea typeface="Gungsuh" panose="02030600000101010101" pitchFamily="18" charset="-127"/>
              <a:cs typeface="Tahoma" panose="020B0604030504040204" pitchFamily="34" charset="0"/>
            </a:endParaRPr>
          </a:p>
          <a:p>
            <a:pPr eaLnBrk="1" hangingPunct="1">
              <a:lnSpc>
                <a:spcPct val="80000"/>
              </a:lnSpc>
            </a:pPr>
            <a:endParaRPr lang="en-US" altLang="en-US" sz="2400" dirty="0">
              <a:ea typeface="Gungsuh" panose="02030600000101010101" pitchFamily="18" charset="-127"/>
              <a:cs typeface="Tahoma" panose="020B0604030504040204" pitchFamily="34" charset="0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br>
              <a:rPr lang="en-US" altLang="en-US" sz="2400" dirty="0">
                <a:ea typeface="Gungsuh" panose="02030600000101010101" pitchFamily="18" charset="-127"/>
                <a:cs typeface="Tahoma" panose="020B0604030504040204" pitchFamily="34" charset="0"/>
              </a:rPr>
            </a:br>
            <a:endParaRPr lang="en-US" altLang="en-US" sz="2400" dirty="0">
              <a:ea typeface="Gungsuh" panose="02030600000101010101" pitchFamily="18" charset="-127"/>
              <a:cs typeface="Tahoma" panose="020B0604030504040204" pitchFamily="34" charset="0"/>
            </a:endParaRPr>
          </a:p>
          <a:p>
            <a:pPr eaLnBrk="1" hangingPunct="1">
              <a:lnSpc>
                <a:spcPct val="80000"/>
              </a:lnSpc>
            </a:pPr>
            <a:endParaRPr lang="en-US" altLang="en-US" sz="1600" dirty="0">
              <a:ea typeface="Gungsuh" panose="02030600000101010101" pitchFamily="18" charset="-127"/>
              <a:cs typeface="Tahoma" panose="020B0604030504040204" pitchFamily="34" charset="0"/>
            </a:endParaRPr>
          </a:p>
        </p:txBody>
      </p:sp>
      <p:sp>
        <p:nvSpPr>
          <p:cNvPr id="5125" name="Footer Placeholder 4">
            <a:extLst>
              <a:ext uri="{FF2B5EF4-FFF2-40B4-BE49-F238E27FC236}">
                <a16:creationId xmlns:a16="http://schemas.microsoft.com/office/drawing/2014/main" id="{3DB2E678-E9C6-0654-1A9E-949CE196AE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GB" altLang="ja-JP" sz="1400"/>
              <a:t>IDS, Faculty of Engineering, University of Jaffna</a:t>
            </a:r>
            <a:endParaRPr lang="en-US" altLang="ja-JP" sz="14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Number Placeholder 5">
            <a:extLst>
              <a:ext uri="{FF2B5EF4-FFF2-40B4-BE49-F238E27FC236}">
                <a16:creationId xmlns:a16="http://schemas.microsoft.com/office/drawing/2014/main" id="{2AFB40C2-33EA-3FFE-A60E-4C11338DC6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A2D55343-E030-4861-B2D1-12EB93ECE0B1}" type="slidenum">
              <a:rPr lang="en-US" altLang="en-US" sz="14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4</a:t>
            </a:fld>
            <a:endParaRPr lang="en-US" altLang="en-US" sz="1400"/>
          </a:p>
        </p:txBody>
      </p:sp>
      <p:sp>
        <p:nvSpPr>
          <p:cNvPr id="6147" name="Rectangle 2">
            <a:extLst>
              <a:ext uri="{FF2B5EF4-FFF2-40B4-BE49-F238E27FC236}">
                <a16:creationId xmlns:a16="http://schemas.microsoft.com/office/drawing/2014/main" id="{3C8AB3DE-0ABF-881E-8BE6-E1E710C426E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0"/>
            <a:ext cx="7848600" cy="1752600"/>
          </a:xfrm>
        </p:spPr>
        <p:txBody>
          <a:bodyPr/>
          <a:lstStyle/>
          <a:p>
            <a:pPr eaLnBrk="1" hangingPunct="1"/>
            <a:r>
              <a:rPr lang="en-US" altLang="en-US" sz="3600" dirty="0">
                <a:solidFill>
                  <a:srgbClr val="C00000"/>
                </a:solidFill>
              </a:rPr>
              <a:t>Why are time series data different from other data?</a:t>
            </a:r>
          </a:p>
        </p:txBody>
      </p:sp>
      <p:sp>
        <p:nvSpPr>
          <p:cNvPr id="6148" name="Rectangle 3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854C7D4E-888F-F06E-171E-12178275FF3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sz="2800"/>
              <a:t>Data are not independent</a:t>
            </a:r>
          </a:p>
          <a:p>
            <a:pPr lvl="1" eaLnBrk="1" hangingPunct="1"/>
            <a:r>
              <a:rPr lang="en-US" altLang="en-US" sz="2400"/>
              <a:t>Much of the statistical theory relies on the data being independent and identically distributed</a:t>
            </a:r>
          </a:p>
          <a:p>
            <a:pPr eaLnBrk="1" hangingPunct="1"/>
            <a:r>
              <a:rPr lang="en-US" altLang="en-US" sz="2800"/>
              <a:t>Large samples sizes are good, but long time series are not always the best</a:t>
            </a:r>
          </a:p>
          <a:p>
            <a:pPr lvl="1" eaLnBrk="1" hangingPunct="1"/>
            <a:r>
              <a:rPr lang="en-US" altLang="en-US" sz="2400"/>
              <a:t>Series often change with time, so bigger isn’t always better</a:t>
            </a:r>
          </a:p>
        </p:txBody>
      </p:sp>
      <p:sp>
        <p:nvSpPr>
          <p:cNvPr id="6149" name="Footer Placeholder 4">
            <a:extLst>
              <a:ext uri="{FF2B5EF4-FFF2-40B4-BE49-F238E27FC236}">
                <a16:creationId xmlns:a16="http://schemas.microsoft.com/office/drawing/2014/main" id="{769ECBCB-94FC-4582-F509-069103A518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GB" altLang="ja-JP" sz="1400"/>
              <a:t>IDS, Faculty of Engineering, University of Jaffna</a:t>
            </a:r>
            <a:endParaRPr lang="en-US" altLang="ja-JP" sz="1400"/>
          </a:p>
        </p:txBody>
      </p:sp>
    </p:spTree>
  </p:cSld>
  <p:clrMapOvr>
    <a:masterClrMapping/>
  </p:clrMapOvr>
  <p:transition>
    <p:dissolv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Slide Number Placeholder 5">
            <a:extLst>
              <a:ext uri="{FF2B5EF4-FFF2-40B4-BE49-F238E27FC236}">
                <a16:creationId xmlns:a16="http://schemas.microsoft.com/office/drawing/2014/main" id="{77604C7B-8137-AE47-D206-B64F5D76DA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1EDD620C-2657-43CF-B5D3-1A33A6D94A9E}" type="slidenum">
              <a:rPr lang="en-US" altLang="en-US" sz="14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5</a:t>
            </a:fld>
            <a:endParaRPr lang="en-US" altLang="en-US" sz="1400"/>
          </a:p>
        </p:txBody>
      </p:sp>
      <p:sp>
        <p:nvSpPr>
          <p:cNvPr id="7171" name="Rectangle 2">
            <a:extLst>
              <a:ext uri="{FF2B5EF4-FFF2-40B4-BE49-F238E27FC236}">
                <a16:creationId xmlns:a16="http://schemas.microsoft.com/office/drawing/2014/main" id="{44D08723-1EFF-425C-507D-0168C2A3AB1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3400" y="152400"/>
            <a:ext cx="8305800" cy="1600200"/>
          </a:xfrm>
        </p:spPr>
        <p:txBody>
          <a:bodyPr/>
          <a:lstStyle/>
          <a:p>
            <a:pPr eaLnBrk="1" hangingPunct="1"/>
            <a:r>
              <a:rPr lang="en-US" altLang="en-US" sz="3600"/>
              <a:t>What Are Users Looking for in an Economic Time Series?</a:t>
            </a:r>
          </a:p>
        </p:txBody>
      </p:sp>
      <p:sp>
        <p:nvSpPr>
          <p:cNvPr id="7172" name="Rectangle 3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C3C0433D-0CFF-6EB4-C8B5-B9345A540C1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/>
              <a:t>Important features of economic indicator series include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/>
              <a:t>Direction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/>
              <a:t>Turning points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3200"/>
              <a:t>In addition, we want to see if the series is increasing/decreasing more slowly/faster than it was before</a:t>
            </a:r>
          </a:p>
        </p:txBody>
      </p:sp>
      <p:sp>
        <p:nvSpPr>
          <p:cNvPr id="7173" name="Footer Placeholder 4">
            <a:extLst>
              <a:ext uri="{FF2B5EF4-FFF2-40B4-BE49-F238E27FC236}">
                <a16:creationId xmlns:a16="http://schemas.microsoft.com/office/drawing/2014/main" id="{DD639AC7-49B2-AAD4-7769-A43701280A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GB" altLang="ja-JP" sz="1400"/>
              <a:t>IDS, Faculty of Engineering, University of Jaffna</a:t>
            </a:r>
            <a:endParaRPr lang="en-US" altLang="ja-JP" sz="1400"/>
          </a:p>
        </p:txBody>
      </p:sp>
    </p:spTree>
  </p:cSld>
  <p:clrMapOvr>
    <a:masterClrMapping/>
  </p:clrMapOvr>
  <p:transition>
    <p:dissolv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Slide Number Placeholder 5">
            <a:extLst>
              <a:ext uri="{FF2B5EF4-FFF2-40B4-BE49-F238E27FC236}">
                <a16:creationId xmlns:a16="http://schemas.microsoft.com/office/drawing/2014/main" id="{89F2F5F4-4BAB-41E1-ADF9-F2654CA16E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639F648D-B8E3-4124-BA9F-1DE7B72465E9}" type="slidenum">
              <a:rPr lang="en-US" altLang="en-US" sz="14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6</a:t>
            </a:fld>
            <a:endParaRPr lang="en-US" altLang="en-US" sz="1400"/>
          </a:p>
        </p:txBody>
      </p:sp>
      <p:sp>
        <p:nvSpPr>
          <p:cNvPr id="8195" name="Rectangle 2">
            <a:extLst>
              <a:ext uri="{FF2B5EF4-FFF2-40B4-BE49-F238E27FC236}">
                <a16:creationId xmlns:a16="http://schemas.microsoft.com/office/drawing/2014/main" id="{8244DC0C-C6A8-C4A9-09DF-C7E2F7D9750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600"/>
              <a:t>When should time series analysis best be used?</a:t>
            </a:r>
            <a:endParaRPr lang="th-TH" altLang="en-US" sz="3600"/>
          </a:p>
        </p:txBody>
      </p:sp>
      <p:sp>
        <p:nvSpPr>
          <p:cNvPr id="8196" name="Rectangle 3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E7353AAE-3EA3-FC41-3B79-CD1F8D48DD0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en-US" sz="2000"/>
              <a:t>We do not assume the existence of deterministic model governing the behaviour of the system considered.</a:t>
            </a:r>
            <a:br>
              <a:rPr lang="en-US" altLang="en-US" sz="2000"/>
            </a:br>
            <a:endParaRPr lang="en-US" altLang="en-US" sz="2000"/>
          </a:p>
          <a:p>
            <a:pPr eaLnBrk="1" hangingPunct="1">
              <a:lnSpc>
                <a:spcPct val="80000"/>
              </a:lnSpc>
            </a:pPr>
            <a:r>
              <a:rPr lang="en-US" altLang="en-US" sz="2000"/>
              <a:t>Instances where deterministic factors are not readily available and the accuracy of the estimate can be compromised on the need..(be careful!)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altLang="en-US" sz="2000"/>
          </a:p>
          <a:p>
            <a:pPr eaLnBrk="1" hangingPunct="1">
              <a:lnSpc>
                <a:spcPct val="80000"/>
              </a:lnSpc>
            </a:pPr>
            <a:r>
              <a:rPr lang="en-US" altLang="en-US" sz="2000"/>
              <a:t>We will only consider univariate time series </a:t>
            </a:r>
            <a:br>
              <a:rPr lang="en-US" altLang="en-US" sz="2000"/>
            </a:br>
            <a:endParaRPr lang="th-TH" altLang="en-US" sz="2000"/>
          </a:p>
        </p:txBody>
      </p:sp>
      <p:sp>
        <p:nvSpPr>
          <p:cNvPr id="8197" name="Footer Placeholder 4">
            <a:extLst>
              <a:ext uri="{FF2B5EF4-FFF2-40B4-BE49-F238E27FC236}">
                <a16:creationId xmlns:a16="http://schemas.microsoft.com/office/drawing/2014/main" id="{53F5EE26-3D78-D423-5142-121291BF38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GB" altLang="ja-JP" sz="1400"/>
              <a:t>IDS, Faculty of Engineering, University of Jaffna</a:t>
            </a:r>
            <a:endParaRPr lang="en-US" altLang="ja-JP" sz="14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Slide Number Placeholder 5">
            <a:extLst>
              <a:ext uri="{FF2B5EF4-FFF2-40B4-BE49-F238E27FC236}">
                <a16:creationId xmlns:a16="http://schemas.microsoft.com/office/drawing/2014/main" id="{34AE7483-25F7-459F-9A4B-20317AC7BE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C0B8DE46-33AF-4637-BA37-38A39A599464}" type="slidenum">
              <a:rPr lang="en-US" altLang="en-US" sz="14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7</a:t>
            </a:fld>
            <a:endParaRPr lang="en-US" altLang="en-US" sz="1400"/>
          </a:p>
        </p:txBody>
      </p:sp>
      <p:sp>
        <p:nvSpPr>
          <p:cNvPr id="9219" name="Rectangle 2">
            <a:extLst>
              <a:ext uri="{FF2B5EF4-FFF2-40B4-BE49-F238E27FC236}">
                <a16:creationId xmlns:a16="http://schemas.microsoft.com/office/drawing/2014/main" id="{F87A40D9-446A-3856-7A0D-5DA3F34D4FD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90600" y="190500"/>
            <a:ext cx="7162800" cy="1143000"/>
          </a:xfrm>
          <a:noFill/>
        </p:spPr>
        <p:txBody>
          <a:bodyPr lIns="90488" tIns="44450" rIns="90488" bIns="44450" anchor="ctr"/>
          <a:lstStyle/>
          <a:p>
            <a:pPr eaLnBrk="1" hangingPunct="1"/>
            <a:r>
              <a:rPr lang="en-US" altLang="en-US" sz="3600"/>
              <a:t>Forecasting Horizons</a:t>
            </a:r>
          </a:p>
        </p:txBody>
      </p:sp>
      <p:sp>
        <p:nvSpPr>
          <p:cNvPr id="9220" name="Rectangle 3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3B7D3AA2-5E5F-E044-FB6B-8AB6E6C4793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90600" y="1447800"/>
            <a:ext cx="7659688" cy="3617913"/>
          </a:xfrm>
          <a:noFill/>
        </p:spPr>
        <p:txBody>
          <a:bodyPr lIns="90488" tIns="44450" rIns="90488" bIns="44450"/>
          <a:lstStyle/>
          <a:p>
            <a:pPr eaLnBrk="1" hangingPunct="1"/>
            <a:r>
              <a:rPr lang="en-US" altLang="en-US" sz="2000">
                <a:solidFill>
                  <a:schemeClr val="tx2"/>
                </a:solidFill>
              </a:rPr>
              <a:t>Long Term</a:t>
            </a:r>
          </a:p>
          <a:p>
            <a:pPr lvl="1" eaLnBrk="1" hangingPunct="1"/>
            <a:r>
              <a:rPr lang="en-US" altLang="en-US" sz="2000"/>
              <a:t>5+ years into the future</a:t>
            </a:r>
          </a:p>
          <a:p>
            <a:pPr lvl="1" eaLnBrk="1" hangingPunct="1"/>
            <a:r>
              <a:rPr lang="en-US" altLang="en-US" sz="2000"/>
              <a:t>R&amp;D, plant location, product planning</a:t>
            </a:r>
          </a:p>
          <a:p>
            <a:pPr lvl="1" eaLnBrk="1" hangingPunct="1"/>
            <a:r>
              <a:rPr lang="en-US" altLang="en-US" sz="2000"/>
              <a:t>Principally judgement-based</a:t>
            </a:r>
          </a:p>
          <a:p>
            <a:pPr eaLnBrk="1" hangingPunct="1"/>
            <a:r>
              <a:rPr lang="en-US" altLang="en-US" sz="2000">
                <a:solidFill>
                  <a:schemeClr val="tx2"/>
                </a:solidFill>
              </a:rPr>
              <a:t>Medium Term</a:t>
            </a:r>
          </a:p>
          <a:p>
            <a:pPr lvl="1" eaLnBrk="1" hangingPunct="1"/>
            <a:r>
              <a:rPr lang="en-US" altLang="en-US" sz="2000"/>
              <a:t>1 season to 2 years</a:t>
            </a:r>
          </a:p>
          <a:p>
            <a:pPr lvl="1" eaLnBrk="1" hangingPunct="1"/>
            <a:r>
              <a:rPr lang="en-US" altLang="en-US" sz="2000"/>
              <a:t>Aggregate planning, capacity planning, sales forecasts</a:t>
            </a:r>
          </a:p>
          <a:p>
            <a:pPr lvl="1" eaLnBrk="1" hangingPunct="1"/>
            <a:r>
              <a:rPr lang="en-US" altLang="en-US" sz="2000"/>
              <a:t>Mixture of quantitative methods and judgement</a:t>
            </a:r>
          </a:p>
          <a:p>
            <a:pPr eaLnBrk="1" hangingPunct="1"/>
            <a:r>
              <a:rPr lang="en-US" altLang="en-US" sz="2000">
                <a:solidFill>
                  <a:schemeClr val="tx2"/>
                </a:solidFill>
              </a:rPr>
              <a:t>Short Term</a:t>
            </a:r>
          </a:p>
          <a:p>
            <a:pPr lvl="1" eaLnBrk="1" hangingPunct="1"/>
            <a:r>
              <a:rPr lang="en-US" altLang="en-US" sz="2000"/>
              <a:t>1 day to 1 year, less than 1 season</a:t>
            </a:r>
          </a:p>
          <a:p>
            <a:pPr lvl="1" eaLnBrk="1" hangingPunct="1"/>
            <a:r>
              <a:rPr lang="en-US" altLang="en-US" sz="2000"/>
              <a:t>Demand forecasting, staffing levels, purchasing, inventory levels</a:t>
            </a:r>
          </a:p>
          <a:p>
            <a:pPr lvl="1" eaLnBrk="1" hangingPunct="1"/>
            <a:r>
              <a:rPr lang="en-US" altLang="en-US" sz="2000"/>
              <a:t>Quantitative methods</a:t>
            </a:r>
          </a:p>
        </p:txBody>
      </p:sp>
      <p:sp>
        <p:nvSpPr>
          <p:cNvPr id="9221" name="Footer Placeholder 4">
            <a:extLst>
              <a:ext uri="{FF2B5EF4-FFF2-40B4-BE49-F238E27FC236}">
                <a16:creationId xmlns:a16="http://schemas.microsoft.com/office/drawing/2014/main" id="{E0E26D8A-DF96-D99B-661A-854B08A7AB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GB" altLang="ja-JP" sz="1400"/>
              <a:t>IDS, Faculty of Engineering, University of Jaffna</a:t>
            </a:r>
            <a:endParaRPr lang="en-US" altLang="ja-JP" sz="1400"/>
          </a:p>
        </p:txBody>
      </p:sp>
    </p:spTree>
  </p:cSld>
  <p:clrMapOvr>
    <a:masterClrMapping/>
  </p:clrMapOvr>
  <p:transition>
    <p:pull dir="r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Slide Number Placeholder 5">
            <a:extLst>
              <a:ext uri="{FF2B5EF4-FFF2-40B4-BE49-F238E27FC236}">
                <a16:creationId xmlns:a16="http://schemas.microsoft.com/office/drawing/2014/main" id="{02C3F6AD-43BC-C7CE-E4E2-A9441841B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F01E883A-9078-4F4A-9D61-516ABD5458DE}" type="slidenum">
              <a:rPr lang="en-US" altLang="en-US" sz="14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8</a:t>
            </a:fld>
            <a:endParaRPr lang="en-US" altLang="en-US" sz="1400"/>
          </a:p>
        </p:txBody>
      </p:sp>
      <p:sp>
        <p:nvSpPr>
          <p:cNvPr id="10243" name="Rectangle 2">
            <a:extLst>
              <a:ext uri="{FF2B5EF4-FFF2-40B4-BE49-F238E27FC236}">
                <a16:creationId xmlns:a16="http://schemas.microsoft.com/office/drawing/2014/main" id="{99D7A734-12A4-0AAC-944F-D3F420D7D99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42950" y="0"/>
            <a:ext cx="7772400" cy="1143000"/>
          </a:xfrm>
        </p:spPr>
        <p:txBody>
          <a:bodyPr/>
          <a:lstStyle/>
          <a:p>
            <a:pPr eaLnBrk="1" hangingPunct="1"/>
            <a:r>
              <a:rPr lang="en-US" altLang="en-US" sz="3600"/>
              <a:t>Examples of Time series data</a:t>
            </a:r>
          </a:p>
        </p:txBody>
      </p:sp>
      <p:sp>
        <p:nvSpPr>
          <p:cNvPr id="10244" name="Rectangle 3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C44DECF7-FEF1-1248-D275-490C1C93DE4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42950" y="1552575"/>
            <a:ext cx="7772400" cy="4795838"/>
          </a:xfrm>
        </p:spPr>
        <p:txBody>
          <a:bodyPr/>
          <a:lstStyle/>
          <a:p>
            <a:pPr eaLnBrk="1" hangingPunct="1"/>
            <a:r>
              <a:rPr lang="en-US" altLang="en-US">
                <a:solidFill>
                  <a:srgbClr val="0033CC"/>
                </a:solidFill>
                <a:latin typeface="Gungsuh" panose="02030600000101010101" pitchFamily="18" charset="-127"/>
                <a:ea typeface="Gungsuh" panose="02030600000101010101" pitchFamily="18" charset="-127"/>
              </a:rPr>
              <a:t>Number of babies born in each hour</a:t>
            </a:r>
          </a:p>
          <a:p>
            <a:pPr eaLnBrk="1" hangingPunct="1"/>
            <a:r>
              <a:rPr lang="en-US" altLang="en-US">
                <a:solidFill>
                  <a:srgbClr val="0033CC"/>
                </a:solidFill>
                <a:latin typeface="Gungsuh" panose="02030600000101010101" pitchFamily="18" charset="-127"/>
                <a:ea typeface="Gungsuh" panose="02030600000101010101" pitchFamily="18" charset="-127"/>
              </a:rPr>
              <a:t>Daily closing price of a stock.</a:t>
            </a:r>
          </a:p>
          <a:p>
            <a:pPr eaLnBrk="1" hangingPunct="1"/>
            <a:r>
              <a:rPr lang="en-US" altLang="en-US">
                <a:solidFill>
                  <a:srgbClr val="0033CC"/>
                </a:solidFill>
                <a:latin typeface="Gungsuh" panose="02030600000101010101" pitchFamily="18" charset="-127"/>
                <a:ea typeface="Gungsuh" panose="02030600000101010101" pitchFamily="18" charset="-127"/>
              </a:rPr>
              <a:t>The monthly trade balance of Japan for each year.</a:t>
            </a:r>
          </a:p>
          <a:p>
            <a:pPr eaLnBrk="1" hangingPunct="1"/>
            <a:r>
              <a:rPr lang="en-US" altLang="en-US">
                <a:solidFill>
                  <a:srgbClr val="0033CC"/>
                </a:solidFill>
                <a:latin typeface="Gungsuh" panose="02030600000101010101" pitchFamily="18" charset="-127"/>
                <a:ea typeface="Gungsuh" panose="02030600000101010101" pitchFamily="18" charset="-127"/>
              </a:rPr>
              <a:t>GDP of the country, measured each year.</a:t>
            </a:r>
          </a:p>
          <a:p>
            <a:pPr eaLnBrk="1" hangingPunct="1"/>
            <a:endParaRPr lang="en-US" altLang="en-US">
              <a:solidFill>
                <a:srgbClr val="0033CC"/>
              </a:solidFill>
              <a:latin typeface="Batang" panose="02030600000101010101" pitchFamily="18" charset="-127"/>
              <a:ea typeface="Batang" panose="02030600000101010101" pitchFamily="18" charset="-127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>
              <a:solidFill>
                <a:schemeClr val="tx2"/>
              </a:solidFill>
            </a:endParaRP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 sz="2800"/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 sz="2800"/>
          </a:p>
        </p:txBody>
      </p:sp>
      <p:sp>
        <p:nvSpPr>
          <p:cNvPr id="10245" name="Footer Placeholder 4">
            <a:extLst>
              <a:ext uri="{FF2B5EF4-FFF2-40B4-BE49-F238E27FC236}">
                <a16:creationId xmlns:a16="http://schemas.microsoft.com/office/drawing/2014/main" id="{5A5DED2F-09A0-21A2-F55C-6BEB64403A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GB" altLang="ja-JP" sz="1400"/>
              <a:t>IDS, Faculty of Engineering, University of Jaffna</a:t>
            </a:r>
            <a:endParaRPr lang="en-US" altLang="ja-JP" sz="14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Slide Number Placeholder 6">
            <a:extLst>
              <a:ext uri="{FF2B5EF4-FFF2-40B4-BE49-F238E27FC236}">
                <a16:creationId xmlns:a16="http://schemas.microsoft.com/office/drawing/2014/main" id="{94AA4358-5FBE-229C-8DD0-CD9B33A2E6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21AE880C-FCC1-4845-8865-D8128860EEF8}" type="slidenum">
              <a:rPr lang="en-US" altLang="en-US" sz="14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9</a:t>
            </a:fld>
            <a:endParaRPr lang="en-US" altLang="en-US" sz="1400"/>
          </a:p>
        </p:txBody>
      </p:sp>
      <p:sp>
        <p:nvSpPr>
          <p:cNvPr id="11267" name="Rectangle 2">
            <a:extLst>
              <a:ext uri="{FF2B5EF4-FFF2-40B4-BE49-F238E27FC236}">
                <a16:creationId xmlns:a16="http://schemas.microsoft.com/office/drawing/2014/main" id="{722606EA-89A0-BF7B-DF88-AFB86742C30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ja-JP" sz="3600">
                <a:ea typeface="MS PGothic" panose="020B0600070205080204" pitchFamily="34" charset="-128"/>
              </a:rPr>
              <a:t>Time Series example</a:t>
            </a:r>
          </a:p>
        </p:txBody>
      </p:sp>
      <p:sp>
        <p:nvSpPr>
          <p:cNvPr id="11268" name="Rectangle 3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F5DD0EDA-E3A2-6A5A-5687-0A25F2E6D9E2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905000"/>
            <a:ext cx="2949575" cy="4114800"/>
          </a:xfrm>
        </p:spPr>
        <p:txBody>
          <a:bodyPr/>
          <a:lstStyle/>
          <a:p>
            <a:pPr eaLnBrk="1" hangingPunct="1"/>
            <a:r>
              <a:rPr lang="en-US" altLang="ja-JP" sz="2800">
                <a:ea typeface="MS PGothic" panose="020B0600070205080204" pitchFamily="34" charset="-128"/>
              </a:rPr>
              <a:t>How the data (x) and time (t) is recorded and presented</a:t>
            </a:r>
          </a:p>
        </p:txBody>
      </p:sp>
      <p:grpSp>
        <p:nvGrpSpPr>
          <p:cNvPr id="11269" name="Group 6">
            <a:extLst>
              <a:ext uri="{FF2B5EF4-FFF2-40B4-BE49-F238E27FC236}">
                <a16:creationId xmlns:a16="http://schemas.microsoft.com/office/drawing/2014/main" id="{D4B8FFE6-9B93-E016-9E7E-6AC6BA1C0C1E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4038600" y="1762125"/>
            <a:ext cx="4176713" cy="4354513"/>
            <a:chOff x="2544" y="1104"/>
            <a:chExt cx="2631" cy="3160"/>
          </a:xfrm>
        </p:grpSpPr>
        <p:sp>
          <p:nvSpPr>
            <p:cNvPr id="11271" name="AutoShape 5">
              <a:extLst>
                <a:ext uri="{FF2B5EF4-FFF2-40B4-BE49-F238E27FC236}">
                  <a16:creationId xmlns:a16="http://schemas.microsoft.com/office/drawing/2014/main" id="{9D79F499-ED80-CBFF-BBFC-A0AD47064EA7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2544" y="1104"/>
              <a:ext cx="2628" cy="3120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NZ"/>
            </a:p>
          </p:txBody>
        </p:sp>
        <p:sp>
          <p:nvSpPr>
            <p:cNvPr id="11272" name="Rectangle 7">
              <a:extLst>
                <a:ext uri="{FF2B5EF4-FFF2-40B4-BE49-F238E27FC236}">
                  <a16:creationId xmlns:a16="http://schemas.microsoft.com/office/drawing/2014/main" id="{77317A48-8BEF-1D13-1516-DD0C05BD50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79" y="1114"/>
              <a:ext cx="1685" cy="2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600" b="1">
                  <a:solidFill>
                    <a:srgbClr val="000000"/>
                  </a:solidFill>
                  <a:latin typeface="Arial Narrow" panose="020B0606020202030204" pitchFamily="34" charset="0"/>
                </a:rPr>
                <a:t>Exports, 1989-1998</a:t>
              </a:r>
              <a:endParaRPr lang="en-US" altLang="en-US" sz="2400"/>
            </a:p>
          </p:txBody>
        </p:sp>
        <p:sp>
          <p:nvSpPr>
            <p:cNvPr id="11273" name="Rectangle 8">
              <a:extLst>
                <a:ext uri="{FF2B5EF4-FFF2-40B4-BE49-F238E27FC236}">
                  <a16:creationId xmlns:a16="http://schemas.microsoft.com/office/drawing/2014/main" id="{975FCE7F-2F62-073F-BBFB-2CBB90C106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41" y="1369"/>
              <a:ext cx="142" cy="2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600" b="1">
                  <a:solidFill>
                    <a:srgbClr val="000000"/>
                  </a:solidFill>
                  <a:latin typeface="Arial Narrow" panose="020B0606020202030204" pitchFamily="34" charset="0"/>
                </a:rPr>
                <a:t>t</a:t>
              </a:r>
              <a:endParaRPr lang="en-US" altLang="en-US" sz="2400"/>
            </a:p>
          </p:txBody>
        </p:sp>
        <p:sp>
          <p:nvSpPr>
            <p:cNvPr id="11274" name="Rectangle 9">
              <a:extLst>
                <a:ext uri="{FF2B5EF4-FFF2-40B4-BE49-F238E27FC236}">
                  <a16:creationId xmlns:a16="http://schemas.microsoft.com/office/drawing/2014/main" id="{2FA0718E-39ED-B93A-EBB7-3508AD0276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16" y="1369"/>
              <a:ext cx="465" cy="2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600" b="1">
                  <a:solidFill>
                    <a:srgbClr val="000000"/>
                  </a:solidFill>
                  <a:latin typeface="Arial Narrow" panose="020B0606020202030204" pitchFamily="34" charset="0"/>
                </a:rPr>
                <a:t>Year</a:t>
              </a:r>
              <a:endParaRPr lang="en-US" altLang="en-US" sz="2400"/>
            </a:p>
          </p:txBody>
        </p:sp>
        <p:sp>
          <p:nvSpPr>
            <p:cNvPr id="11275" name="Rectangle 10">
              <a:extLst>
                <a:ext uri="{FF2B5EF4-FFF2-40B4-BE49-F238E27FC236}">
                  <a16:creationId xmlns:a16="http://schemas.microsoft.com/office/drawing/2014/main" id="{7B632438-C0D8-F5EE-E168-C73AA6A024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64" y="1369"/>
              <a:ext cx="650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600" b="1">
                  <a:solidFill>
                    <a:srgbClr val="000000"/>
                  </a:solidFill>
                  <a:latin typeface="Arial Narrow" panose="020B0606020202030204" pitchFamily="34" charset="0"/>
                </a:rPr>
                <a:t>x=Value</a:t>
              </a:r>
              <a:endParaRPr lang="en-US" altLang="en-US" sz="2400"/>
            </a:p>
          </p:txBody>
        </p:sp>
        <p:sp>
          <p:nvSpPr>
            <p:cNvPr id="11276" name="Rectangle 11">
              <a:extLst>
                <a:ext uri="{FF2B5EF4-FFF2-40B4-BE49-F238E27FC236}">
                  <a16:creationId xmlns:a16="http://schemas.microsoft.com/office/drawing/2014/main" id="{925EDFDC-B210-28BC-1C4B-7FEBF86D5B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20" y="1645"/>
              <a:ext cx="517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600" b="1">
                  <a:solidFill>
                    <a:srgbClr val="000000"/>
                  </a:solidFill>
                  <a:latin typeface="Arial Narrow" panose="020B0606020202030204" pitchFamily="34" charset="0"/>
                </a:rPr>
                <a:t>1</a:t>
              </a:r>
              <a:endParaRPr lang="en-US" altLang="en-US" sz="2400"/>
            </a:p>
          </p:txBody>
        </p:sp>
        <p:sp>
          <p:nvSpPr>
            <p:cNvPr id="11277" name="Rectangle 12">
              <a:extLst>
                <a:ext uri="{FF2B5EF4-FFF2-40B4-BE49-F238E27FC236}">
                  <a16:creationId xmlns:a16="http://schemas.microsoft.com/office/drawing/2014/main" id="{38F4BAAE-2DC9-9EE3-B88B-329B93643A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99" y="1645"/>
              <a:ext cx="478" cy="2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600" b="1">
                  <a:solidFill>
                    <a:srgbClr val="000000"/>
                  </a:solidFill>
                  <a:latin typeface="Arial Narrow" panose="020B0606020202030204" pitchFamily="34" charset="0"/>
                </a:rPr>
                <a:t>1989</a:t>
              </a:r>
              <a:endParaRPr lang="en-US" altLang="en-US" sz="2400"/>
            </a:p>
          </p:txBody>
        </p:sp>
        <p:sp>
          <p:nvSpPr>
            <p:cNvPr id="11278" name="Rectangle 13">
              <a:extLst>
                <a:ext uri="{FF2B5EF4-FFF2-40B4-BE49-F238E27FC236}">
                  <a16:creationId xmlns:a16="http://schemas.microsoft.com/office/drawing/2014/main" id="{4BE9AB55-310D-CD83-A1C0-2828F53F91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50" y="1645"/>
              <a:ext cx="625" cy="2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600" b="1">
                  <a:solidFill>
                    <a:srgbClr val="000000"/>
                  </a:solidFill>
                  <a:latin typeface="Arial Narrow" panose="020B0606020202030204" pitchFamily="34" charset="0"/>
                </a:rPr>
                <a:t>44,320</a:t>
              </a:r>
              <a:endParaRPr lang="en-US" altLang="en-US" sz="2400"/>
            </a:p>
          </p:txBody>
        </p:sp>
        <p:sp>
          <p:nvSpPr>
            <p:cNvPr id="11279" name="Rectangle 14">
              <a:extLst>
                <a:ext uri="{FF2B5EF4-FFF2-40B4-BE49-F238E27FC236}">
                  <a16:creationId xmlns:a16="http://schemas.microsoft.com/office/drawing/2014/main" id="{3AACE6B3-2AB6-E380-D76E-D96FC62440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2" y="1645"/>
              <a:ext cx="324" cy="2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600" b="1">
                  <a:solidFill>
                    <a:srgbClr val="000000"/>
                  </a:solidFill>
                  <a:latin typeface="Arial Narrow" panose="020B0606020202030204" pitchFamily="34" charset="0"/>
                </a:rPr>
                <a:t>     </a:t>
              </a:r>
              <a:endParaRPr lang="en-US" altLang="en-US" sz="2400"/>
            </a:p>
          </p:txBody>
        </p:sp>
        <p:sp>
          <p:nvSpPr>
            <p:cNvPr id="11280" name="Rectangle 15">
              <a:extLst>
                <a:ext uri="{FF2B5EF4-FFF2-40B4-BE49-F238E27FC236}">
                  <a16:creationId xmlns:a16="http://schemas.microsoft.com/office/drawing/2014/main" id="{033C6CD3-2FF8-E2C3-7759-815B6B0C1E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42" y="1645"/>
              <a:ext cx="132" cy="2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600" b="1">
                  <a:solidFill>
                    <a:srgbClr val="000000"/>
                  </a:solidFill>
                  <a:latin typeface="Arial Narrow" panose="020B0606020202030204" pitchFamily="34" charset="0"/>
                </a:rPr>
                <a:t> </a:t>
              </a:r>
              <a:endParaRPr lang="en-US" altLang="en-US" sz="2400"/>
            </a:p>
          </p:txBody>
        </p:sp>
        <p:sp>
          <p:nvSpPr>
            <p:cNvPr id="11281" name="Rectangle 16">
              <a:extLst>
                <a:ext uri="{FF2B5EF4-FFF2-40B4-BE49-F238E27FC236}">
                  <a16:creationId xmlns:a16="http://schemas.microsoft.com/office/drawing/2014/main" id="{C60C4CC1-8203-A62E-5CC1-F427285025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03" y="1903"/>
              <a:ext cx="534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600" b="1">
                  <a:solidFill>
                    <a:srgbClr val="000000"/>
                  </a:solidFill>
                  <a:latin typeface="Arial Narrow" panose="020B0606020202030204" pitchFamily="34" charset="0"/>
                </a:rPr>
                <a:t>2</a:t>
              </a:r>
              <a:endParaRPr lang="en-US" altLang="en-US" sz="2400"/>
            </a:p>
          </p:txBody>
        </p:sp>
        <p:sp>
          <p:nvSpPr>
            <p:cNvPr id="11282" name="Rectangle 17">
              <a:extLst>
                <a:ext uri="{FF2B5EF4-FFF2-40B4-BE49-F238E27FC236}">
                  <a16:creationId xmlns:a16="http://schemas.microsoft.com/office/drawing/2014/main" id="{F769FE31-B047-4709-57E4-29C938CBB2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99" y="1903"/>
              <a:ext cx="478" cy="2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600" b="1">
                  <a:solidFill>
                    <a:srgbClr val="000000"/>
                  </a:solidFill>
                  <a:latin typeface="Arial Narrow" panose="020B0606020202030204" pitchFamily="34" charset="0"/>
                </a:rPr>
                <a:t>1990</a:t>
              </a:r>
              <a:endParaRPr lang="en-US" altLang="en-US" sz="2400"/>
            </a:p>
          </p:txBody>
        </p:sp>
        <p:sp>
          <p:nvSpPr>
            <p:cNvPr id="11283" name="Rectangle 18">
              <a:extLst>
                <a:ext uri="{FF2B5EF4-FFF2-40B4-BE49-F238E27FC236}">
                  <a16:creationId xmlns:a16="http://schemas.microsoft.com/office/drawing/2014/main" id="{0FE94809-4AEF-F791-580C-7CAD987939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50" y="1903"/>
              <a:ext cx="625" cy="2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600" b="1">
                  <a:solidFill>
                    <a:srgbClr val="000000"/>
                  </a:solidFill>
                  <a:latin typeface="Arial Narrow" panose="020B0606020202030204" pitchFamily="34" charset="0"/>
                </a:rPr>
                <a:t>52,865</a:t>
              </a:r>
              <a:endParaRPr lang="en-US" altLang="en-US" sz="2400"/>
            </a:p>
          </p:txBody>
        </p:sp>
        <p:sp>
          <p:nvSpPr>
            <p:cNvPr id="11284" name="Rectangle 19">
              <a:extLst>
                <a:ext uri="{FF2B5EF4-FFF2-40B4-BE49-F238E27FC236}">
                  <a16:creationId xmlns:a16="http://schemas.microsoft.com/office/drawing/2014/main" id="{1CD78743-95B8-FF6D-C12C-C4116ED9DC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2" y="1903"/>
              <a:ext cx="324" cy="2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600" b="1">
                  <a:solidFill>
                    <a:srgbClr val="000000"/>
                  </a:solidFill>
                  <a:latin typeface="Arial Narrow" panose="020B0606020202030204" pitchFamily="34" charset="0"/>
                </a:rPr>
                <a:t>     </a:t>
              </a:r>
              <a:endParaRPr lang="en-US" altLang="en-US" sz="2400"/>
            </a:p>
          </p:txBody>
        </p:sp>
        <p:sp>
          <p:nvSpPr>
            <p:cNvPr id="11285" name="Rectangle 20">
              <a:extLst>
                <a:ext uri="{FF2B5EF4-FFF2-40B4-BE49-F238E27FC236}">
                  <a16:creationId xmlns:a16="http://schemas.microsoft.com/office/drawing/2014/main" id="{30DF780F-B667-039B-12AD-E438B85269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42" y="1903"/>
              <a:ext cx="132" cy="2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600" b="1">
                  <a:solidFill>
                    <a:srgbClr val="000000"/>
                  </a:solidFill>
                  <a:latin typeface="Arial Narrow" panose="020B0606020202030204" pitchFamily="34" charset="0"/>
                </a:rPr>
                <a:t> </a:t>
              </a:r>
              <a:endParaRPr lang="en-US" altLang="en-US" sz="2400"/>
            </a:p>
          </p:txBody>
        </p:sp>
        <p:sp>
          <p:nvSpPr>
            <p:cNvPr id="11286" name="Rectangle 21">
              <a:extLst>
                <a:ext uri="{FF2B5EF4-FFF2-40B4-BE49-F238E27FC236}">
                  <a16:creationId xmlns:a16="http://schemas.microsoft.com/office/drawing/2014/main" id="{5332821C-AA17-D2EE-F8FD-A3B1BEF5A9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03" y="2161"/>
              <a:ext cx="534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600" b="1">
                  <a:solidFill>
                    <a:srgbClr val="000000"/>
                  </a:solidFill>
                  <a:latin typeface="Arial Narrow" panose="020B0606020202030204" pitchFamily="34" charset="0"/>
                </a:rPr>
                <a:t>3</a:t>
              </a:r>
              <a:endParaRPr lang="en-US" altLang="en-US" sz="2400"/>
            </a:p>
          </p:txBody>
        </p:sp>
        <p:sp>
          <p:nvSpPr>
            <p:cNvPr id="11287" name="Rectangle 22">
              <a:extLst>
                <a:ext uri="{FF2B5EF4-FFF2-40B4-BE49-F238E27FC236}">
                  <a16:creationId xmlns:a16="http://schemas.microsoft.com/office/drawing/2014/main" id="{4B11AA56-D7AD-E91F-10FC-838CD459C0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99" y="2161"/>
              <a:ext cx="478" cy="2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600" b="1">
                  <a:solidFill>
                    <a:srgbClr val="000000"/>
                  </a:solidFill>
                  <a:latin typeface="Arial Narrow" panose="020B0606020202030204" pitchFamily="34" charset="0"/>
                </a:rPr>
                <a:t>1991</a:t>
              </a:r>
              <a:endParaRPr lang="en-US" altLang="en-US" sz="2400"/>
            </a:p>
          </p:txBody>
        </p:sp>
        <p:sp>
          <p:nvSpPr>
            <p:cNvPr id="11288" name="Rectangle 23">
              <a:extLst>
                <a:ext uri="{FF2B5EF4-FFF2-40B4-BE49-F238E27FC236}">
                  <a16:creationId xmlns:a16="http://schemas.microsoft.com/office/drawing/2014/main" id="{F77B3051-2B90-110D-4976-BAE7C90C72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50" y="2161"/>
              <a:ext cx="625" cy="2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600" b="1">
                  <a:solidFill>
                    <a:srgbClr val="000000"/>
                  </a:solidFill>
                  <a:latin typeface="Arial Narrow" panose="020B0606020202030204" pitchFamily="34" charset="0"/>
                </a:rPr>
                <a:t>53,092</a:t>
              </a:r>
              <a:endParaRPr lang="en-US" altLang="en-US" sz="2400"/>
            </a:p>
          </p:txBody>
        </p:sp>
        <p:sp>
          <p:nvSpPr>
            <p:cNvPr id="11289" name="Rectangle 24">
              <a:extLst>
                <a:ext uri="{FF2B5EF4-FFF2-40B4-BE49-F238E27FC236}">
                  <a16:creationId xmlns:a16="http://schemas.microsoft.com/office/drawing/2014/main" id="{713683F7-678C-5CDA-7CD1-7FC8300DC9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2" y="2161"/>
              <a:ext cx="324" cy="2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600" b="1">
                  <a:solidFill>
                    <a:srgbClr val="000000"/>
                  </a:solidFill>
                  <a:latin typeface="Arial Narrow" panose="020B0606020202030204" pitchFamily="34" charset="0"/>
                </a:rPr>
                <a:t>     </a:t>
              </a:r>
              <a:endParaRPr lang="en-US" altLang="en-US" sz="2400"/>
            </a:p>
          </p:txBody>
        </p:sp>
        <p:sp>
          <p:nvSpPr>
            <p:cNvPr id="11290" name="Rectangle 25">
              <a:extLst>
                <a:ext uri="{FF2B5EF4-FFF2-40B4-BE49-F238E27FC236}">
                  <a16:creationId xmlns:a16="http://schemas.microsoft.com/office/drawing/2014/main" id="{E644BC6B-7057-08F8-385F-21BC8FECE8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42" y="2161"/>
              <a:ext cx="132" cy="2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600" b="1">
                  <a:solidFill>
                    <a:srgbClr val="000000"/>
                  </a:solidFill>
                  <a:latin typeface="Arial Narrow" panose="020B0606020202030204" pitchFamily="34" charset="0"/>
                </a:rPr>
                <a:t> </a:t>
              </a:r>
              <a:endParaRPr lang="en-US" altLang="en-US" sz="2400"/>
            </a:p>
          </p:txBody>
        </p:sp>
        <p:sp>
          <p:nvSpPr>
            <p:cNvPr id="11291" name="Rectangle 26">
              <a:extLst>
                <a:ext uri="{FF2B5EF4-FFF2-40B4-BE49-F238E27FC236}">
                  <a16:creationId xmlns:a16="http://schemas.microsoft.com/office/drawing/2014/main" id="{225F97D6-15A3-A7F5-156A-876A3EE76A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86" y="2419"/>
              <a:ext cx="551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600" b="1">
                  <a:solidFill>
                    <a:srgbClr val="000000"/>
                  </a:solidFill>
                  <a:latin typeface="Arial Narrow" panose="020B0606020202030204" pitchFamily="34" charset="0"/>
                </a:rPr>
                <a:t>4</a:t>
              </a:r>
              <a:endParaRPr lang="en-US" altLang="en-US" sz="2400"/>
            </a:p>
          </p:txBody>
        </p:sp>
        <p:sp>
          <p:nvSpPr>
            <p:cNvPr id="11292" name="Rectangle 27">
              <a:extLst>
                <a:ext uri="{FF2B5EF4-FFF2-40B4-BE49-F238E27FC236}">
                  <a16:creationId xmlns:a16="http://schemas.microsoft.com/office/drawing/2014/main" id="{8A1E8CBE-2E24-745F-A684-455707BA29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99" y="2419"/>
              <a:ext cx="478" cy="2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600" b="1">
                  <a:solidFill>
                    <a:srgbClr val="000000"/>
                  </a:solidFill>
                  <a:latin typeface="Arial Narrow" panose="020B0606020202030204" pitchFamily="34" charset="0"/>
                </a:rPr>
                <a:t>1992</a:t>
              </a:r>
              <a:endParaRPr lang="en-US" altLang="en-US" sz="2400"/>
            </a:p>
          </p:txBody>
        </p:sp>
        <p:sp>
          <p:nvSpPr>
            <p:cNvPr id="11293" name="Rectangle 28">
              <a:extLst>
                <a:ext uri="{FF2B5EF4-FFF2-40B4-BE49-F238E27FC236}">
                  <a16:creationId xmlns:a16="http://schemas.microsoft.com/office/drawing/2014/main" id="{2E52024B-6D5B-B3F2-6ECD-10F826631C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50" y="2419"/>
              <a:ext cx="625" cy="2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600" b="1">
                  <a:solidFill>
                    <a:srgbClr val="000000"/>
                  </a:solidFill>
                  <a:latin typeface="Arial Narrow" panose="020B0606020202030204" pitchFamily="34" charset="0"/>
                </a:rPr>
                <a:t>39,424</a:t>
              </a:r>
              <a:endParaRPr lang="en-US" altLang="en-US" sz="2400"/>
            </a:p>
          </p:txBody>
        </p:sp>
        <p:sp>
          <p:nvSpPr>
            <p:cNvPr id="11294" name="Rectangle 29">
              <a:extLst>
                <a:ext uri="{FF2B5EF4-FFF2-40B4-BE49-F238E27FC236}">
                  <a16:creationId xmlns:a16="http://schemas.microsoft.com/office/drawing/2014/main" id="{71834F39-3D88-AF91-9F49-4AB6E064FD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2" y="2419"/>
              <a:ext cx="324" cy="2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600" b="1">
                  <a:solidFill>
                    <a:srgbClr val="000000"/>
                  </a:solidFill>
                  <a:latin typeface="Arial Narrow" panose="020B0606020202030204" pitchFamily="34" charset="0"/>
                </a:rPr>
                <a:t>     </a:t>
              </a:r>
              <a:endParaRPr lang="en-US" altLang="en-US" sz="2400"/>
            </a:p>
          </p:txBody>
        </p:sp>
        <p:sp>
          <p:nvSpPr>
            <p:cNvPr id="11295" name="Rectangle 30">
              <a:extLst>
                <a:ext uri="{FF2B5EF4-FFF2-40B4-BE49-F238E27FC236}">
                  <a16:creationId xmlns:a16="http://schemas.microsoft.com/office/drawing/2014/main" id="{7BB856CF-DD27-CE57-5203-D23A9D2BAD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42" y="2419"/>
              <a:ext cx="132" cy="2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600" b="1">
                  <a:solidFill>
                    <a:srgbClr val="000000"/>
                  </a:solidFill>
                  <a:latin typeface="Arial Narrow" panose="020B0606020202030204" pitchFamily="34" charset="0"/>
                </a:rPr>
                <a:t> </a:t>
              </a:r>
              <a:endParaRPr lang="en-US" altLang="en-US" sz="2400"/>
            </a:p>
          </p:txBody>
        </p:sp>
        <p:sp>
          <p:nvSpPr>
            <p:cNvPr id="11296" name="Rectangle 31">
              <a:extLst>
                <a:ext uri="{FF2B5EF4-FFF2-40B4-BE49-F238E27FC236}">
                  <a16:creationId xmlns:a16="http://schemas.microsoft.com/office/drawing/2014/main" id="{A9EAF179-E075-70B5-3475-B9BFD3CAB4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03" y="2677"/>
              <a:ext cx="534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600" b="1">
                  <a:solidFill>
                    <a:srgbClr val="000000"/>
                  </a:solidFill>
                  <a:latin typeface="Arial Narrow" panose="020B0606020202030204" pitchFamily="34" charset="0"/>
                </a:rPr>
                <a:t>5</a:t>
              </a:r>
              <a:endParaRPr lang="en-US" altLang="en-US" sz="2400"/>
            </a:p>
          </p:txBody>
        </p:sp>
        <p:sp>
          <p:nvSpPr>
            <p:cNvPr id="11297" name="Rectangle 32">
              <a:extLst>
                <a:ext uri="{FF2B5EF4-FFF2-40B4-BE49-F238E27FC236}">
                  <a16:creationId xmlns:a16="http://schemas.microsoft.com/office/drawing/2014/main" id="{915ACD75-3172-FD34-A207-00F72274E6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99" y="2677"/>
              <a:ext cx="478" cy="2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600" b="1">
                  <a:solidFill>
                    <a:srgbClr val="000000"/>
                  </a:solidFill>
                  <a:latin typeface="Arial Narrow" panose="020B0606020202030204" pitchFamily="34" charset="0"/>
                </a:rPr>
                <a:t>1993</a:t>
              </a:r>
              <a:endParaRPr lang="en-US" altLang="en-US" sz="2400"/>
            </a:p>
          </p:txBody>
        </p:sp>
        <p:sp>
          <p:nvSpPr>
            <p:cNvPr id="11298" name="Rectangle 33">
              <a:extLst>
                <a:ext uri="{FF2B5EF4-FFF2-40B4-BE49-F238E27FC236}">
                  <a16:creationId xmlns:a16="http://schemas.microsoft.com/office/drawing/2014/main" id="{4AAD144D-A785-5641-01D9-8089706112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50" y="2677"/>
              <a:ext cx="625" cy="2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600" b="1">
                  <a:solidFill>
                    <a:srgbClr val="000000"/>
                  </a:solidFill>
                  <a:latin typeface="Arial Narrow" panose="020B0606020202030204" pitchFamily="34" charset="0"/>
                </a:rPr>
                <a:t>34,444</a:t>
              </a:r>
              <a:endParaRPr lang="en-US" altLang="en-US" sz="2400"/>
            </a:p>
          </p:txBody>
        </p:sp>
        <p:sp>
          <p:nvSpPr>
            <p:cNvPr id="11299" name="Rectangle 34">
              <a:extLst>
                <a:ext uri="{FF2B5EF4-FFF2-40B4-BE49-F238E27FC236}">
                  <a16:creationId xmlns:a16="http://schemas.microsoft.com/office/drawing/2014/main" id="{F1493A09-B46A-10DD-9ACD-8F6195E2BD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2" y="2677"/>
              <a:ext cx="324" cy="2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600" b="1">
                  <a:solidFill>
                    <a:srgbClr val="000000"/>
                  </a:solidFill>
                  <a:latin typeface="Arial Narrow" panose="020B0606020202030204" pitchFamily="34" charset="0"/>
                </a:rPr>
                <a:t>     </a:t>
              </a:r>
              <a:endParaRPr lang="en-US" altLang="en-US" sz="2400"/>
            </a:p>
          </p:txBody>
        </p:sp>
        <p:sp>
          <p:nvSpPr>
            <p:cNvPr id="11300" name="Rectangle 35">
              <a:extLst>
                <a:ext uri="{FF2B5EF4-FFF2-40B4-BE49-F238E27FC236}">
                  <a16:creationId xmlns:a16="http://schemas.microsoft.com/office/drawing/2014/main" id="{7BDB9937-88E3-CE01-C437-AB5F2C2250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42" y="2677"/>
              <a:ext cx="132" cy="2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600" b="1">
                  <a:solidFill>
                    <a:srgbClr val="000000"/>
                  </a:solidFill>
                  <a:latin typeface="Arial Narrow" panose="020B0606020202030204" pitchFamily="34" charset="0"/>
                </a:rPr>
                <a:t> </a:t>
              </a:r>
              <a:endParaRPr lang="en-US" altLang="en-US" sz="2400"/>
            </a:p>
          </p:txBody>
        </p:sp>
        <p:sp>
          <p:nvSpPr>
            <p:cNvPr id="11301" name="Rectangle 36">
              <a:extLst>
                <a:ext uri="{FF2B5EF4-FFF2-40B4-BE49-F238E27FC236}">
                  <a16:creationId xmlns:a16="http://schemas.microsoft.com/office/drawing/2014/main" id="{770BBED4-5851-1BD6-9FE6-45083CD550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97" y="2935"/>
              <a:ext cx="540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600" b="1">
                  <a:solidFill>
                    <a:srgbClr val="000000"/>
                  </a:solidFill>
                  <a:latin typeface="Arial Narrow" panose="020B0606020202030204" pitchFamily="34" charset="0"/>
                </a:rPr>
                <a:t>6</a:t>
              </a:r>
              <a:endParaRPr lang="en-US" altLang="en-US" sz="2400"/>
            </a:p>
          </p:txBody>
        </p:sp>
        <p:sp>
          <p:nvSpPr>
            <p:cNvPr id="11302" name="Rectangle 37">
              <a:extLst>
                <a:ext uri="{FF2B5EF4-FFF2-40B4-BE49-F238E27FC236}">
                  <a16:creationId xmlns:a16="http://schemas.microsoft.com/office/drawing/2014/main" id="{09B6DA77-AD26-BA0A-6CB5-4D5F765D67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99" y="2935"/>
              <a:ext cx="478" cy="2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600" b="1">
                  <a:solidFill>
                    <a:srgbClr val="000000"/>
                  </a:solidFill>
                  <a:latin typeface="Arial Narrow" panose="020B0606020202030204" pitchFamily="34" charset="0"/>
                </a:rPr>
                <a:t>1994</a:t>
              </a:r>
              <a:endParaRPr lang="en-US" altLang="en-US" sz="2400"/>
            </a:p>
          </p:txBody>
        </p:sp>
        <p:sp>
          <p:nvSpPr>
            <p:cNvPr id="11303" name="Rectangle 38">
              <a:extLst>
                <a:ext uri="{FF2B5EF4-FFF2-40B4-BE49-F238E27FC236}">
                  <a16:creationId xmlns:a16="http://schemas.microsoft.com/office/drawing/2014/main" id="{38FD4679-5F07-18A9-8D11-0E071393BD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50" y="2935"/>
              <a:ext cx="625" cy="2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600" b="1">
                  <a:solidFill>
                    <a:srgbClr val="000000"/>
                  </a:solidFill>
                  <a:latin typeface="Arial Narrow" panose="020B0606020202030204" pitchFamily="34" charset="0"/>
                </a:rPr>
                <a:t>47,870</a:t>
              </a:r>
              <a:endParaRPr lang="en-US" altLang="en-US" sz="2400"/>
            </a:p>
          </p:txBody>
        </p:sp>
        <p:sp>
          <p:nvSpPr>
            <p:cNvPr id="11304" name="Rectangle 39">
              <a:extLst>
                <a:ext uri="{FF2B5EF4-FFF2-40B4-BE49-F238E27FC236}">
                  <a16:creationId xmlns:a16="http://schemas.microsoft.com/office/drawing/2014/main" id="{1439BAB9-D75D-CAE8-DB3B-2C872632DF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2" y="2935"/>
              <a:ext cx="324" cy="2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600" b="1">
                  <a:solidFill>
                    <a:srgbClr val="000000"/>
                  </a:solidFill>
                  <a:latin typeface="Arial Narrow" panose="020B0606020202030204" pitchFamily="34" charset="0"/>
                </a:rPr>
                <a:t>     </a:t>
              </a:r>
              <a:endParaRPr lang="en-US" altLang="en-US" sz="2400"/>
            </a:p>
          </p:txBody>
        </p:sp>
        <p:sp>
          <p:nvSpPr>
            <p:cNvPr id="11305" name="Rectangle 40">
              <a:extLst>
                <a:ext uri="{FF2B5EF4-FFF2-40B4-BE49-F238E27FC236}">
                  <a16:creationId xmlns:a16="http://schemas.microsoft.com/office/drawing/2014/main" id="{9EBBBB59-9ED6-F771-4210-7EEFF0A6F4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42" y="2935"/>
              <a:ext cx="132" cy="2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600" b="1">
                  <a:solidFill>
                    <a:srgbClr val="000000"/>
                  </a:solidFill>
                  <a:latin typeface="Arial Narrow" panose="020B0606020202030204" pitchFamily="34" charset="0"/>
                </a:rPr>
                <a:t> </a:t>
              </a:r>
              <a:endParaRPr lang="en-US" altLang="en-US" sz="2400"/>
            </a:p>
          </p:txBody>
        </p:sp>
        <p:sp>
          <p:nvSpPr>
            <p:cNvPr id="11306" name="Rectangle 41">
              <a:extLst>
                <a:ext uri="{FF2B5EF4-FFF2-40B4-BE49-F238E27FC236}">
                  <a16:creationId xmlns:a16="http://schemas.microsoft.com/office/drawing/2014/main" id="{4B924C83-32B9-1B09-81AB-17C8A3E9AC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74" y="3192"/>
              <a:ext cx="563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600" b="1">
                  <a:solidFill>
                    <a:srgbClr val="000000"/>
                  </a:solidFill>
                  <a:latin typeface="Arial Narrow" panose="020B0606020202030204" pitchFamily="34" charset="0"/>
                </a:rPr>
                <a:t>7</a:t>
              </a:r>
              <a:endParaRPr lang="en-US" altLang="en-US" sz="2400"/>
            </a:p>
          </p:txBody>
        </p:sp>
        <p:sp>
          <p:nvSpPr>
            <p:cNvPr id="11307" name="Rectangle 42">
              <a:extLst>
                <a:ext uri="{FF2B5EF4-FFF2-40B4-BE49-F238E27FC236}">
                  <a16:creationId xmlns:a16="http://schemas.microsoft.com/office/drawing/2014/main" id="{198ACEFF-83DC-0281-0631-E76F51445B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99" y="3192"/>
              <a:ext cx="478" cy="2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600" b="1">
                  <a:solidFill>
                    <a:srgbClr val="000000"/>
                  </a:solidFill>
                  <a:latin typeface="Arial Narrow" panose="020B0606020202030204" pitchFamily="34" charset="0"/>
                </a:rPr>
                <a:t>1995</a:t>
              </a:r>
              <a:endParaRPr lang="en-US" altLang="en-US" sz="2400"/>
            </a:p>
          </p:txBody>
        </p:sp>
        <p:sp>
          <p:nvSpPr>
            <p:cNvPr id="11308" name="Rectangle 43">
              <a:extLst>
                <a:ext uri="{FF2B5EF4-FFF2-40B4-BE49-F238E27FC236}">
                  <a16:creationId xmlns:a16="http://schemas.microsoft.com/office/drawing/2014/main" id="{7F718F31-5FE4-016E-8939-97D50EC26A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50" y="3192"/>
              <a:ext cx="625" cy="2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600" b="1">
                  <a:solidFill>
                    <a:srgbClr val="000000"/>
                  </a:solidFill>
                  <a:latin typeface="Arial Narrow" panose="020B0606020202030204" pitchFamily="34" charset="0"/>
                </a:rPr>
                <a:t>49,805</a:t>
              </a:r>
              <a:endParaRPr lang="en-US" altLang="en-US" sz="2400"/>
            </a:p>
          </p:txBody>
        </p:sp>
        <p:sp>
          <p:nvSpPr>
            <p:cNvPr id="11309" name="Rectangle 44">
              <a:extLst>
                <a:ext uri="{FF2B5EF4-FFF2-40B4-BE49-F238E27FC236}">
                  <a16:creationId xmlns:a16="http://schemas.microsoft.com/office/drawing/2014/main" id="{57067CD1-904A-2C22-AA67-5F7B1A9C13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2" y="3192"/>
              <a:ext cx="324" cy="2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600" b="1">
                  <a:solidFill>
                    <a:srgbClr val="000000"/>
                  </a:solidFill>
                  <a:latin typeface="Arial Narrow" panose="020B0606020202030204" pitchFamily="34" charset="0"/>
                </a:rPr>
                <a:t>     </a:t>
              </a:r>
              <a:endParaRPr lang="en-US" altLang="en-US" sz="2400"/>
            </a:p>
          </p:txBody>
        </p:sp>
        <p:sp>
          <p:nvSpPr>
            <p:cNvPr id="11310" name="Rectangle 45">
              <a:extLst>
                <a:ext uri="{FF2B5EF4-FFF2-40B4-BE49-F238E27FC236}">
                  <a16:creationId xmlns:a16="http://schemas.microsoft.com/office/drawing/2014/main" id="{88C6365C-7D8E-21F6-FF32-FEBE7511AB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42" y="3192"/>
              <a:ext cx="132" cy="2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600" b="1">
                  <a:solidFill>
                    <a:srgbClr val="000000"/>
                  </a:solidFill>
                  <a:latin typeface="Arial Narrow" panose="020B0606020202030204" pitchFamily="34" charset="0"/>
                </a:rPr>
                <a:t> </a:t>
              </a:r>
              <a:endParaRPr lang="en-US" altLang="en-US" sz="2400"/>
            </a:p>
          </p:txBody>
        </p:sp>
        <p:sp>
          <p:nvSpPr>
            <p:cNvPr id="11311" name="Rectangle 46">
              <a:extLst>
                <a:ext uri="{FF2B5EF4-FFF2-40B4-BE49-F238E27FC236}">
                  <a16:creationId xmlns:a16="http://schemas.microsoft.com/office/drawing/2014/main" id="{27BC124F-4E42-AD41-D740-3B2EAD318E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80" y="3450"/>
              <a:ext cx="557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600" b="1">
                  <a:solidFill>
                    <a:srgbClr val="000000"/>
                  </a:solidFill>
                  <a:latin typeface="Arial Narrow" panose="020B0606020202030204" pitchFamily="34" charset="0"/>
                </a:rPr>
                <a:t>8</a:t>
              </a:r>
              <a:endParaRPr lang="en-US" altLang="en-US" sz="2400"/>
            </a:p>
          </p:txBody>
        </p:sp>
        <p:sp>
          <p:nvSpPr>
            <p:cNvPr id="11312" name="Rectangle 47">
              <a:extLst>
                <a:ext uri="{FF2B5EF4-FFF2-40B4-BE49-F238E27FC236}">
                  <a16:creationId xmlns:a16="http://schemas.microsoft.com/office/drawing/2014/main" id="{C98292CD-695E-F62F-2B08-C91DC13429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99" y="3450"/>
              <a:ext cx="478" cy="2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600" b="1">
                  <a:solidFill>
                    <a:srgbClr val="000000"/>
                  </a:solidFill>
                  <a:latin typeface="Arial Narrow" panose="020B0606020202030204" pitchFamily="34" charset="0"/>
                </a:rPr>
                <a:t>1996</a:t>
              </a:r>
              <a:endParaRPr lang="en-US" altLang="en-US" sz="2400"/>
            </a:p>
          </p:txBody>
        </p:sp>
        <p:sp>
          <p:nvSpPr>
            <p:cNvPr id="11313" name="Rectangle 48">
              <a:extLst>
                <a:ext uri="{FF2B5EF4-FFF2-40B4-BE49-F238E27FC236}">
                  <a16:creationId xmlns:a16="http://schemas.microsoft.com/office/drawing/2014/main" id="{6BA5D4BB-1E16-9021-01E1-27E9EC909E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50" y="3450"/>
              <a:ext cx="625" cy="2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600" b="1">
                  <a:solidFill>
                    <a:srgbClr val="000000"/>
                  </a:solidFill>
                  <a:latin typeface="Arial Narrow" panose="020B0606020202030204" pitchFamily="34" charset="0"/>
                </a:rPr>
                <a:t>59,404</a:t>
              </a:r>
              <a:endParaRPr lang="en-US" altLang="en-US" sz="2400"/>
            </a:p>
          </p:txBody>
        </p:sp>
        <p:sp>
          <p:nvSpPr>
            <p:cNvPr id="11314" name="Rectangle 49">
              <a:extLst>
                <a:ext uri="{FF2B5EF4-FFF2-40B4-BE49-F238E27FC236}">
                  <a16:creationId xmlns:a16="http://schemas.microsoft.com/office/drawing/2014/main" id="{D481E9AF-72E7-D27E-403D-EEA2750ABF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2" y="3450"/>
              <a:ext cx="324" cy="2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600" b="1">
                  <a:solidFill>
                    <a:srgbClr val="000000"/>
                  </a:solidFill>
                  <a:latin typeface="Arial Narrow" panose="020B0606020202030204" pitchFamily="34" charset="0"/>
                </a:rPr>
                <a:t>     </a:t>
              </a:r>
              <a:endParaRPr lang="en-US" altLang="en-US" sz="2400"/>
            </a:p>
          </p:txBody>
        </p:sp>
        <p:sp>
          <p:nvSpPr>
            <p:cNvPr id="11315" name="Rectangle 50">
              <a:extLst>
                <a:ext uri="{FF2B5EF4-FFF2-40B4-BE49-F238E27FC236}">
                  <a16:creationId xmlns:a16="http://schemas.microsoft.com/office/drawing/2014/main" id="{2E3AA2E5-36EA-E1E7-C56F-2CFE066E91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42" y="3450"/>
              <a:ext cx="132" cy="2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600" b="1">
                  <a:solidFill>
                    <a:srgbClr val="000000"/>
                  </a:solidFill>
                  <a:latin typeface="Arial Narrow" panose="020B0606020202030204" pitchFamily="34" charset="0"/>
                </a:rPr>
                <a:t> </a:t>
              </a:r>
              <a:endParaRPr lang="en-US" altLang="en-US" sz="2400"/>
            </a:p>
          </p:txBody>
        </p:sp>
        <p:sp>
          <p:nvSpPr>
            <p:cNvPr id="11316" name="Rectangle 51">
              <a:extLst>
                <a:ext uri="{FF2B5EF4-FFF2-40B4-BE49-F238E27FC236}">
                  <a16:creationId xmlns:a16="http://schemas.microsoft.com/office/drawing/2014/main" id="{73FA8639-84D7-7C9E-82A5-19B605CE44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92" y="3708"/>
              <a:ext cx="545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600" b="1">
                  <a:solidFill>
                    <a:srgbClr val="000000"/>
                  </a:solidFill>
                  <a:latin typeface="Arial Narrow" panose="020B0606020202030204" pitchFamily="34" charset="0"/>
                </a:rPr>
                <a:t>9</a:t>
              </a:r>
              <a:endParaRPr lang="en-US" altLang="en-US" sz="2400"/>
            </a:p>
          </p:txBody>
        </p:sp>
        <p:sp>
          <p:nvSpPr>
            <p:cNvPr id="11317" name="Rectangle 52">
              <a:extLst>
                <a:ext uri="{FF2B5EF4-FFF2-40B4-BE49-F238E27FC236}">
                  <a16:creationId xmlns:a16="http://schemas.microsoft.com/office/drawing/2014/main" id="{4D8C016A-8DDF-843B-B50F-D7B057A9D3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99" y="3708"/>
              <a:ext cx="478" cy="2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600" b="1">
                  <a:solidFill>
                    <a:srgbClr val="000000"/>
                  </a:solidFill>
                  <a:latin typeface="Arial Narrow" panose="020B0606020202030204" pitchFamily="34" charset="0"/>
                </a:rPr>
                <a:t>1997</a:t>
              </a:r>
              <a:endParaRPr lang="en-US" altLang="en-US" sz="2400"/>
            </a:p>
          </p:txBody>
        </p:sp>
        <p:sp>
          <p:nvSpPr>
            <p:cNvPr id="11318" name="Rectangle 53">
              <a:extLst>
                <a:ext uri="{FF2B5EF4-FFF2-40B4-BE49-F238E27FC236}">
                  <a16:creationId xmlns:a16="http://schemas.microsoft.com/office/drawing/2014/main" id="{7135724E-A00A-6052-6BE9-7B5418FF8C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50" y="3708"/>
              <a:ext cx="625" cy="2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600" b="1">
                  <a:solidFill>
                    <a:srgbClr val="000000"/>
                  </a:solidFill>
                  <a:latin typeface="Arial Narrow" panose="020B0606020202030204" pitchFamily="34" charset="0"/>
                </a:rPr>
                <a:t>70,214</a:t>
              </a:r>
              <a:endParaRPr lang="en-US" altLang="en-US" sz="2400"/>
            </a:p>
          </p:txBody>
        </p:sp>
        <p:sp>
          <p:nvSpPr>
            <p:cNvPr id="11319" name="Rectangle 54">
              <a:extLst>
                <a:ext uri="{FF2B5EF4-FFF2-40B4-BE49-F238E27FC236}">
                  <a16:creationId xmlns:a16="http://schemas.microsoft.com/office/drawing/2014/main" id="{1135AD7A-2BCD-0811-16B3-4CC7774849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2" y="3708"/>
              <a:ext cx="324" cy="2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600" b="1">
                  <a:solidFill>
                    <a:srgbClr val="000000"/>
                  </a:solidFill>
                  <a:latin typeface="Arial Narrow" panose="020B0606020202030204" pitchFamily="34" charset="0"/>
                </a:rPr>
                <a:t>     </a:t>
              </a:r>
              <a:endParaRPr lang="en-US" altLang="en-US" sz="2400"/>
            </a:p>
          </p:txBody>
        </p:sp>
        <p:sp>
          <p:nvSpPr>
            <p:cNvPr id="11320" name="Rectangle 55">
              <a:extLst>
                <a:ext uri="{FF2B5EF4-FFF2-40B4-BE49-F238E27FC236}">
                  <a16:creationId xmlns:a16="http://schemas.microsoft.com/office/drawing/2014/main" id="{E657C0D0-4EC5-623F-909E-7FCEDEA501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42" y="3708"/>
              <a:ext cx="132" cy="2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600" b="1">
                  <a:solidFill>
                    <a:srgbClr val="000000"/>
                  </a:solidFill>
                  <a:latin typeface="Arial Narrow" panose="020B0606020202030204" pitchFamily="34" charset="0"/>
                </a:rPr>
                <a:t> </a:t>
              </a:r>
              <a:endParaRPr lang="en-US" altLang="en-US" sz="2400"/>
            </a:p>
          </p:txBody>
        </p:sp>
        <p:sp>
          <p:nvSpPr>
            <p:cNvPr id="11321" name="Rectangle 56">
              <a:extLst>
                <a:ext uri="{FF2B5EF4-FFF2-40B4-BE49-F238E27FC236}">
                  <a16:creationId xmlns:a16="http://schemas.microsoft.com/office/drawing/2014/main" id="{ED787B3A-680A-E4A1-3609-5E4D077B05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57" y="3966"/>
              <a:ext cx="583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600" b="1">
                  <a:solidFill>
                    <a:srgbClr val="000000"/>
                  </a:solidFill>
                  <a:latin typeface="Arial Narrow" panose="020B0606020202030204" pitchFamily="34" charset="0"/>
                </a:rPr>
                <a:t>10</a:t>
              </a:r>
              <a:endParaRPr lang="en-US" altLang="en-US" sz="2400"/>
            </a:p>
          </p:txBody>
        </p:sp>
        <p:sp>
          <p:nvSpPr>
            <p:cNvPr id="11322" name="Rectangle 57">
              <a:extLst>
                <a:ext uri="{FF2B5EF4-FFF2-40B4-BE49-F238E27FC236}">
                  <a16:creationId xmlns:a16="http://schemas.microsoft.com/office/drawing/2014/main" id="{EAE8198D-F5E2-81CA-1A6F-A750C3DE44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99" y="3966"/>
              <a:ext cx="478" cy="2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600" b="1">
                  <a:solidFill>
                    <a:srgbClr val="000000"/>
                  </a:solidFill>
                  <a:latin typeface="Arial Narrow" panose="020B0606020202030204" pitchFamily="34" charset="0"/>
                </a:rPr>
                <a:t>1998</a:t>
              </a:r>
              <a:endParaRPr lang="en-US" altLang="en-US" sz="2400"/>
            </a:p>
          </p:txBody>
        </p:sp>
        <p:sp>
          <p:nvSpPr>
            <p:cNvPr id="11323" name="Rectangle 58">
              <a:extLst>
                <a:ext uri="{FF2B5EF4-FFF2-40B4-BE49-F238E27FC236}">
                  <a16:creationId xmlns:a16="http://schemas.microsoft.com/office/drawing/2014/main" id="{DFD000EE-BEB6-B881-E87E-B9C3699E78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50" y="3966"/>
              <a:ext cx="625" cy="2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600" b="1">
                  <a:solidFill>
                    <a:srgbClr val="000000"/>
                  </a:solidFill>
                  <a:latin typeface="Arial Narrow" panose="020B0606020202030204" pitchFamily="34" charset="0"/>
                </a:rPr>
                <a:t>74,626</a:t>
              </a:r>
              <a:endParaRPr lang="en-US" altLang="en-US" sz="2400"/>
            </a:p>
          </p:txBody>
        </p:sp>
        <p:sp>
          <p:nvSpPr>
            <p:cNvPr id="11324" name="Rectangle 59">
              <a:extLst>
                <a:ext uri="{FF2B5EF4-FFF2-40B4-BE49-F238E27FC236}">
                  <a16:creationId xmlns:a16="http://schemas.microsoft.com/office/drawing/2014/main" id="{FEC328B1-FE76-08BA-E2CF-4D7AE3F785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2" y="3966"/>
              <a:ext cx="324" cy="2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600" b="1">
                  <a:solidFill>
                    <a:srgbClr val="000000"/>
                  </a:solidFill>
                  <a:latin typeface="Arial Narrow" panose="020B0606020202030204" pitchFamily="34" charset="0"/>
                </a:rPr>
                <a:t>     </a:t>
              </a:r>
              <a:endParaRPr lang="en-US" altLang="en-US" sz="2400"/>
            </a:p>
          </p:txBody>
        </p:sp>
        <p:sp>
          <p:nvSpPr>
            <p:cNvPr id="11325" name="Rectangle 60">
              <a:extLst>
                <a:ext uri="{FF2B5EF4-FFF2-40B4-BE49-F238E27FC236}">
                  <a16:creationId xmlns:a16="http://schemas.microsoft.com/office/drawing/2014/main" id="{38C34066-BE9E-FBA6-0E8F-EC7000D6EA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42" y="3966"/>
              <a:ext cx="132" cy="2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600" b="1">
                  <a:solidFill>
                    <a:srgbClr val="000000"/>
                  </a:solidFill>
                  <a:latin typeface="Arial Narrow" panose="020B0606020202030204" pitchFamily="34" charset="0"/>
                </a:rPr>
                <a:t> </a:t>
              </a:r>
              <a:endParaRPr lang="en-US" altLang="en-US" sz="2400"/>
            </a:p>
          </p:txBody>
        </p:sp>
        <p:sp>
          <p:nvSpPr>
            <p:cNvPr id="11326" name="Line 61">
              <a:extLst>
                <a:ext uri="{FF2B5EF4-FFF2-40B4-BE49-F238E27FC236}">
                  <a16:creationId xmlns:a16="http://schemas.microsoft.com/office/drawing/2014/main" id="{DF92C384-32EC-7C8E-DA95-A26C1D335F2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76" y="1372"/>
              <a:ext cx="1" cy="245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NZ"/>
            </a:p>
          </p:txBody>
        </p:sp>
        <p:sp>
          <p:nvSpPr>
            <p:cNvPr id="11327" name="Rectangle 62">
              <a:extLst>
                <a:ext uri="{FF2B5EF4-FFF2-40B4-BE49-F238E27FC236}">
                  <a16:creationId xmlns:a16="http://schemas.microsoft.com/office/drawing/2014/main" id="{0C6284B2-3403-D884-CF4C-3C4BE274CC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76" y="1372"/>
              <a:ext cx="10" cy="245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800"/>
            </a:p>
          </p:txBody>
        </p:sp>
        <p:sp>
          <p:nvSpPr>
            <p:cNvPr id="11328" name="Line 63">
              <a:extLst>
                <a:ext uri="{FF2B5EF4-FFF2-40B4-BE49-F238E27FC236}">
                  <a16:creationId xmlns:a16="http://schemas.microsoft.com/office/drawing/2014/main" id="{19932955-4F3C-FB34-4E16-17593E586B5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08" y="1372"/>
              <a:ext cx="1" cy="245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NZ"/>
            </a:p>
          </p:txBody>
        </p:sp>
        <p:sp>
          <p:nvSpPr>
            <p:cNvPr id="11329" name="Rectangle 64">
              <a:extLst>
                <a:ext uri="{FF2B5EF4-FFF2-40B4-BE49-F238E27FC236}">
                  <a16:creationId xmlns:a16="http://schemas.microsoft.com/office/drawing/2014/main" id="{7D3CC1DF-E0DA-E45F-2FD1-E16B5D73EF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1372"/>
              <a:ext cx="10" cy="245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800"/>
            </a:p>
          </p:txBody>
        </p:sp>
        <p:sp>
          <p:nvSpPr>
            <p:cNvPr id="11330" name="Line 65">
              <a:extLst>
                <a:ext uri="{FF2B5EF4-FFF2-40B4-BE49-F238E27FC236}">
                  <a16:creationId xmlns:a16="http://schemas.microsoft.com/office/drawing/2014/main" id="{C2641941-901A-2292-09C0-0791E334F7B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49" y="1362"/>
              <a:ext cx="2620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NZ"/>
            </a:p>
          </p:txBody>
        </p:sp>
        <p:sp>
          <p:nvSpPr>
            <p:cNvPr id="11331" name="Rectangle 66">
              <a:extLst>
                <a:ext uri="{FF2B5EF4-FFF2-40B4-BE49-F238E27FC236}">
                  <a16:creationId xmlns:a16="http://schemas.microsoft.com/office/drawing/2014/main" id="{2DAA8A35-C9A2-FED6-771A-860E014708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49" y="1362"/>
              <a:ext cx="2620" cy="10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800"/>
            </a:p>
          </p:txBody>
        </p:sp>
        <p:sp>
          <p:nvSpPr>
            <p:cNvPr id="11332" name="Rectangle 67">
              <a:extLst>
                <a:ext uri="{FF2B5EF4-FFF2-40B4-BE49-F238E27FC236}">
                  <a16:creationId xmlns:a16="http://schemas.microsoft.com/office/drawing/2014/main" id="{5C87AA2E-5F1D-72B3-396B-7B4DA85846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49" y="1617"/>
              <a:ext cx="2620" cy="10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800"/>
            </a:p>
          </p:txBody>
        </p:sp>
        <p:sp>
          <p:nvSpPr>
            <p:cNvPr id="11333" name="Rectangle 68">
              <a:extLst>
                <a:ext uri="{FF2B5EF4-FFF2-40B4-BE49-F238E27FC236}">
                  <a16:creationId xmlns:a16="http://schemas.microsoft.com/office/drawing/2014/main" id="{6C4D15AC-0FF8-2F79-6954-ED970C3956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49" y="1637"/>
              <a:ext cx="2620" cy="11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800"/>
            </a:p>
          </p:txBody>
        </p:sp>
      </p:grpSp>
      <p:sp>
        <p:nvSpPr>
          <p:cNvPr id="11270" name="Footer Placeholder 68">
            <a:extLst>
              <a:ext uri="{FF2B5EF4-FFF2-40B4-BE49-F238E27FC236}">
                <a16:creationId xmlns:a16="http://schemas.microsoft.com/office/drawing/2014/main" id="{80B5A636-45D3-C0FA-F6D5-6847CB95A3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GB" altLang="ja-JP" sz="1400"/>
              <a:t>IDS, Faculty of Engineering, University of Jaffna</a:t>
            </a:r>
            <a:endParaRPr lang="en-US" altLang="ja-JP" sz="14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Slide Number Placeholder 6">
            <a:extLst>
              <a:ext uri="{FF2B5EF4-FFF2-40B4-BE49-F238E27FC236}">
                <a16:creationId xmlns:a16="http://schemas.microsoft.com/office/drawing/2014/main" id="{0C1B23DA-2AC2-89F8-5E3B-0CF2EE25E2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C305D485-4F37-4B32-A467-41A1558ED2DB}" type="slidenum">
              <a:rPr lang="en-US" altLang="en-US" sz="14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10</a:t>
            </a:fld>
            <a:endParaRPr lang="en-US" altLang="en-US" sz="1400"/>
          </a:p>
        </p:txBody>
      </p:sp>
      <p:sp>
        <p:nvSpPr>
          <p:cNvPr id="12291" name="Rectangle 2">
            <a:extLst>
              <a:ext uri="{FF2B5EF4-FFF2-40B4-BE49-F238E27FC236}">
                <a16:creationId xmlns:a16="http://schemas.microsoft.com/office/drawing/2014/main" id="{4749FAF1-3D44-0BA7-A08C-5A6C22AE4DF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ja-JP" sz="3600">
                <a:ea typeface="MS PGothic" panose="020B0600070205080204" pitchFamily="34" charset="-128"/>
              </a:rPr>
              <a:t>Time Series</a:t>
            </a:r>
          </a:p>
        </p:txBody>
      </p:sp>
      <p:sp>
        <p:nvSpPr>
          <p:cNvPr id="12292" name="Rectangle 3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F90316B5-8F51-4D88-775D-0C6898AD3844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905000"/>
            <a:ext cx="2949575" cy="4114800"/>
          </a:xfrm>
        </p:spPr>
        <p:txBody>
          <a:bodyPr/>
          <a:lstStyle/>
          <a:p>
            <a:pPr eaLnBrk="1" hangingPunct="1"/>
            <a:r>
              <a:rPr lang="en-US" altLang="ja-JP" sz="2800">
                <a:ea typeface="MS PGothic" panose="020B0600070205080204" pitchFamily="34" charset="-128"/>
              </a:rPr>
              <a:t>Coordinates (t,x) is established in the 2 axis</a:t>
            </a:r>
          </a:p>
          <a:p>
            <a:pPr eaLnBrk="1" hangingPunct="1"/>
            <a:r>
              <a:rPr lang="en-US" altLang="ja-JP" sz="2800">
                <a:ea typeface="MS PGothic" panose="020B0600070205080204" pitchFamily="34" charset="-128"/>
              </a:rPr>
              <a:t>(1, </a:t>
            </a:r>
            <a:r>
              <a:rPr lang="en-US" altLang="en-US" sz="2600" b="1">
                <a:solidFill>
                  <a:srgbClr val="000000"/>
                </a:solidFill>
                <a:latin typeface="Arial Narrow" panose="020B0606020202030204" pitchFamily="34" charset="0"/>
              </a:rPr>
              <a:t>44,320)</a:t>
            </a:r>
            <a:endParaRPr lang="en-US" altLang="ja-JP" sz="2800">
              <a:ea typeface="MS PGothic" panose="020B0600070205080204" pitchFamily="34" charset="-128"/>
            </a:endParaRPr>
          </a:p>
          <a:p>
            <a:pPr eaLnBrk="1" hangingPunct="1"/>
            <a:r>
              <a:rPr lang="en-US" altLang="ja-JP" sz="2800">
                <a:ea typeface="MS PGothic" panose="020B0600070205080204" pitchFamily="34" charset="-128"/>
              </a:rPr>
              <a:t>(2, </a:t>
            </a:r>
            <a:r>
              <a:rPr lang="en-US" altLang="en-US" sz="2600" b="1">
                <a:solidFill>
                  <a:srgbClr val="000000"/>
                </a:solidFill>
                <a:latin typeface="Arial Narrow" panose="020B0606020202030204" pitchFamily="34" charset="0"/>
              </a:rPr>
              <a:t>52,865)</a:t>
            </a:r>
            <a:endParaRPr lang="en-US" altLang="ja-JP" sz="2800">
              <a:ea typeface="MS PGothic" panose="020B0600070205080204" pitchFamily="34" charset="-128"/>
            </a:endParaRPr>
          </a:p>
          <a:p>
            <a:pPr eaLnBrk="1" hangingPunct="1"/>
            <a:r>
              <a:rPr lang="en-US" altLang="ja-JP" sz="2800">
                <a:ea typeface="MS PGothic" panose="020B0600070205080204" pitchFamily="34" charset="-128"/>
              </a:rPr>
              <a:t>(3, </a:t>
            </a:r>
            <a:r>
              <a:rPr lang="en-US" altLang="en-US" sz="2600" b="1">
                <a:solidFill>
                  <a:srgbClr val="000000"/>
                </a:solidFill>
                <a:latin typeface="Arial Narrow" panose="020B0606020202030204" pitchFamily="34" charset="0"/>
              </a:rPr>
              <a:t>53,092)</a:t>
            </a:r>
            <a:endParaRPr lang="en-US" altLang="ja-JP" sz="2800">
              <a:ea typeface="MS PGothic" panose="020B0600070205080204" pitchFamily="34" charset="-128"/>
            </a:endParaRPr>
          </a:p>
          <a:p>
            <a:pPr eaLnBrk="1" hangingPunct="1"/>
            <a:r>
              <a:rPr lang="en-US" altLang="ja-JP" sz="2800">
                <a:ea typeface="MS PGothic" panose="020B0600070205080204" pitchFamily="34" charset="-128"/>
              </a:rPr>
              <a:t>etc.. </a:t>
            </a:r>
          </a:p>
        </p:txBody>
      </p:sp>
      <p:pic>
        <p:nvPicPr>
          <p:cNvPr id="12293" name="Picture 4">
            <a:extLst>
              <a:ext uri="{FF2B5EF4-FFF2-40B4-BE49-F238E27FC236}">
                <a16:creationId xmlns:a16="http://schemas.microsoft.com/office/drawing/2014/main" id="{CD5970BD-F993-1FF0-5E1D-798723F5E6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7563" y="1349375"/>
            <a:ext cx="5600700" cy="4570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294" name="Footer Placeholder 5">
            <a:extLst>
              <a:ext uri="{FF2B5EF4-FFF2-40B4-BE49-F238E27FC236}">
                <a16:creationId xmlns:a16="http://schemas.microsoft.com/office/drawing/2014/main" id="{DF68D992-C37C-078B-9900-59696FC89D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GB" altLang="ja-JP" sz="1400"/>
              <a:t>IDS, Faculty of Engineering, University of Jaffna</a:t>
            </a:r>
            <a:endParaRPr lang="en-US" altLang="ja-JP" sz="14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Slide Number Placeholder 6">
            <a:extLst>
              <a:ext uri="{FF2B5EF4-FFF2-40B4-BE49-F238E27FC236}">
                <a16:creationId xmlns:a16="http://schemas.microsoft.com/office/drawing/2014/main" id="{03032935-8138-F5AE-E6B7-49A0F36949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B33F43CA-213A-4286-B377-9C3F0C654B4E}" type="slidenum">
              <a:rPr lang="en-US" altLang="en-US" sz="14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11</a:t>
            </a:fld>
            <a:endParaRPr lang="en-US" altLang="en-US" sz="1400"/>
          </a:p>
        </p:txBody>
      </p:sp>
      <p:sp>
        <p:nvSpPr>
          <p:cNvPr id="13315" name="Rectangle 2">
            <a:extLst>
              <a:ext uri="{FF2B5EF4-FFF2-40B4-BE49-F238E27FC236}">
                <a16:creationId xmlns:a16="http://schemas.microsoft.com/office/drawing/2014/main" id="{4745B83F-E4AF-34A9-76D6-6C70645C346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ja-JP" sz="3600">
                <a:ea typeface="MS PGothic" panose="020B0600070205080204" pitchFamily="34" charset="-128"/>
              </a:rPr>
              <a:t>Time Series</a:t>
            </a:r>
          </a:p>
        </p:txBody>
      </p:sp>
      <p:sp>
        <p:nvSpPr>
          <p:cNvPr id="13316" name="Rectangle 3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5113CBE7-4E09-021B-464F-C4E29C2906FF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981200"/>
            <a:ext cx="2667000" cy="3597275"/>
          </a:xfrm>
        </p:spPr>
        <p:txBody>
          <a:bodyPr/>
          <a:lstStyle/>
          <a:p>
            <a:pPr eaLnBrk="1" hangingPunct="1"/>
            <a:r>
              <a:rPr lang="en-US" altLang="ja-JP" sz="2400">
                <a:ea typeface="MS PGothic" panose="020B0600070205080204" pitchFamily="34" charset="-128"/>
              </a:rPr>
              <a:t>A graphical representation of time series.</a:t>
            </a:r>
          </a:p>
          <a:p>
            <a:pPr eaLnBrk="1" hangingPunct="1"/>
            <a:r>
              <a:rPr lang="en-US" altLang="ja-JP" sz="2400">
                <a:ea typeface="MS PGothic" panose="020B0600070205080204" pitchFamily="34" charset="-128"/>
              </a:rPr>
              <a:t>We use x as a function of t: x= f(t)</a:t>
            </a:r>
          </a:p>
          <a:p>
            <a:pPr eaLnBrk="1" hangingPunct="1"/>
            <a:r>
              <a:rPr lang="en-US" altLang="ja-JP" sz="2400">
                <a:ea typeface="MS PGothic" panose="020B0600070205080204" pitchFamily="34" charset="-128"/>
              </a:rPr>
              <a:t>Data points connected by a curve</a:t>
            </a:r>
          </a:p>
        </p:txBody>
      </p:sp>
      <p:pic>
        <p:nvPicPr>
          <p:cNvPr id="13317" name="Picture 4">
            <a:extLst>
              <a:ext uri="{FF2B5EF4-FFF2-40B4-BE49-F238E27FC236}">
                <a16:creationId xmlns:a16="http://schemas.microsoft.com/office/drawing/2014/main" id="{5A26DF2E-27FC-2672-BB62-DA5ABFEC10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1800" y="1981200"/>
            <a:ext cx="5962650" cy="4189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318" name="Footer Placeholder 5">
            <a:extLst>
              <a:ext uri="{FF2B5EF4-FFF2-40B4-BE49-F238E27FC236}">
                <a16:creationId xmlns:a16="http://schemas.microsoft.com/office/drawing/2014/main" id="{BD56498D-F00B-1B7F-0876-9DABCD322B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GB" altLang="ja-JP" sz="1400"/>
              <a:t>IDS, Faculty of Engineering, University of Jaffna</a:t>
            </a:r>
            <a:endParaRPr lang="en-US" altLang="ja-JP" sz="14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Slide Number Placeholder 5">
            <a:extLst>
              <a:ext uri="{FF2B5EF4-FFF2-40B4-BE49-F238E27FC236}">
                <a16:creationId xmlns:a16="http://schemas.microsoft.com/office/drawing/2014/main" id="{B0F2AA45-6FFE-83E6-DDFF-80C411B54C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C6229423-99EA-4620-BF8A-A9791BAC07DA}" type="slidenum">
              <a:rPr lang="en-US" altLang="en-US" sz="14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12</a:t>
            </a:fld>
            <a:endParaRPr lang="en-US" altLang="en-US" sz="1400"/>
          </a:p>
        </p:txBody>
      </p:sp>
      <p:sp>
        <p:nvSpPr>
          <p:cNvPr id="14339" name="Rectangle 2">
            <a:extLst>
              <a:ext uri="{FF2B5EF4-FFF2-40B4-BE49-F238E27FC236}">
                <a16:creationId xmlns:a16="http://schemas.microsoft.com/office/drawing/2014/main" id="{F1E0E6FD-B36D-0219-C18E-9702D4D633C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92200" y="307975"/>
            <a:ext cx="7772400" cy="1143000"/>
          </a:xfrm>
        </p:spPr>
        <p:txBody>
          <a:bodyPr/>
          <a:lstStyle/>
          <a:p>
            <a:pPr eaLnBrk="1" hangingPunct="1"/>
            <a:r>
              <a:rPr lang="en-US" altLang="en-US" sz="3200" b="1">
                <a:solidFill>
                  <a:srgbClr val="FF3399"/>
                </a:solidFill>
              </a:rPr>
              <a:t>Importance of time series analysis</a:t>
            </a:r>
            <a:br>
              <a:rPr lang="en-US" altLang="en-US" sz="3200" b="1">
                <a:solidFill>
                  <a:srgbClr val="FF3399"/>
                </a:solidFill>
              </a:rPr>
            </a:br>
            <a:endParaRPr lang="mn-MN" altLang="en-US" sz="3200" b="1">
              <a:solidFill>
                <a:srgbClr val="FF3399"/>
              </a:solidFill>
            </a:endParaRPr>
          </a:p>
        </p:txBody>
      </p:sp>
      <p:sp>
        <p:nvSpPr>
          <p:cNvPr id="14340" name="Rectangle 3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712311B8-EB29-FF47-F232-1E2237ADCFE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50900" y="1497013"/>
            <a:ext cx="7772400" cy="4114800"/>
          </a:xfrm>
        </p:spPr>
        <p:txBody>
          <a:bodyPr/>
          <a:lstStyle/>
          <a:p>
            <a:pPr lvl="1" eaLnBrk="1" hangingPunct="1">
              <a:lnSpc>
                <a:spcPct val="90000"/>
              </a:lnSpc>
            </a:pPr>
            <a:r>
              <a:rPr lang="en-US" altLang="en-US">
                <a:solidFill>
                  <a:srgbClr val="FF3399"/>
                </a:solidFill>
              </a:rPr>
              <a:t>Understand the past</a:t>
            </a:r>
            <a:r>
              <a:rPr lang="en-US" altLang="en-US">
                <a:solidFill>
                  <a:schemeClr val="accent2"/>
                </a:solidFill>
              </a:rPr>
              <a:t>.</a:t>
            </a:r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/>
              <a:t>	What happened over the last years, months?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>
                <a:solidFill>
                  <a:srgbClr val="FF3399"/>
                </a:solidFill>
              </a:rPr>
              <a:t>Forecast the future.</a:t>
            </a:r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>
                <a:solidFill>
                  <a:schemeClr val="accent2"/>
                </a:solidFill>
              </a:rPr>
              <a:t>	</a:t>
            </a:r>
            <a:r>
              <a:rPr lang="en-US" altLang="en-US"/>
              <a:t>Government wants to know future of unemployment rate, percentage increase in cost of living etc.</a:t>
            </a:r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/>
              <a:t>	For companies to predict the demand for their product etc.</a:t>
            </a:r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en-US">
              <a:solidFill>
                <a:schemeClr val="accent2"/>
              </a:solidFill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mn-MN" altLang="en-US" sz="2800"/>
          </a:p>
        </p:txBody>
      </p:sp>
      <p:pic>
        <p:nvPicPr>
          <p:cNvPr id="14341" name="Picture 4" descr="PE07677_">
            <a:extLst>
              <a:ext uri="{FF2B5EF4-FFF2-40B4-BE49-F238E27FC236}">
                <a16:creationId xmlns:a16="http://schemas.microsoft.com/office/drawing/2014/main" id="{727F70C8-40C0-848E-2205-8C1EE515E1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911725"/>
            <a:ext cx="1712913" cy="1717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342" name="Footer Placeholder 5">
            <a:extLst>
              <a:ext uri="{FF2B5EF4-FFF2-40B4-BE49-F238E27FC236}">
                <a16:creationId xmlns:a16="http://schemas.microsoft.com/office/drawing/2014/main" id="{34BD6669-A282-8247-9783-212B26187E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GB" altLang="ja-JP" sz="1400"/>
              <a:t>IDS, Faculty of Engineering, University of Jaffna</a:t>
            </a:r>
            <a:endParaRPr lang="en-US" altLang="ja-JP" sz="14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Slide Number Placeholder 5">
            <a:extLst>
              <a:ext uri="{FF2B5EF4-FFF2-40B4-BE49-F238E27FC236}">
                <a16:creationId xmlns:a16="http://schemas.microsoft.com/office/drawing/2014/main" id="{8BFAB147-F252-ADEC-5F10-2AC98385F9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BCC08E69-9959-4F14-9A08-D367E084D20C}" type="slidenum">
              <a:rPr lang="en-US" altLang="en-US" sz="14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13</a:t>
            </a:fld>
            <a:endParaRPr lang="en-US" altLang="en-US" sz="1400"/>
          </a:p>
        </p:txBody>
      </p:sp>
      <p:sp>
        <p:nvSpPr>
          <p:cNvPr id="15363" name="Rectangle 2">
            <a:extLst>
              <a:ext uri="{FF2B5EF4-FFF2-40B4-BE49-F238E27FC236}">
                <a16:creationId xmlns:a16="http://schemas.microsoft.com/office/drawing/2014/main" id="{70937D6B-FA42-208B-5CC3-B4BD22DE369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defTabSz="852488" eaLnBrk="1" hangingPunct="1"/>
            <a:r>
              <a:rPr lang="en-US" altLang="en-US" sz="3600"/>
              <a:t>Time-Series Components</a:t>
            </a:r>
          </a:p>
        </p:txBody>
      </p:sp>
      <p:pic>
        <p:nvPicPr>
          <p:cNvPr id="15364" name="Picture 3">
            <a:extLst>
              <a:ext uri="{FF2B5EF4-FFF2-40B4-BE49-F238E27FC236}">
                <a16:creationId xmlns:a16="http://schemas.microsoft.com/office/drawing/2014/main" id="{3DC56FEF-93A2-7132-BA98-96676FD1BDD0}"/>
              </a:ext>
            </a:extLst>
          </p:cNvPr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18250" y="2279650"/>
            <a:ext cx="2349500" cy="1054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5365" name="Group 4">
            <a:extLst>
              <a:ext uri="{FF2B5EF4-FFF2-40B4-BE49-F238E27FC236}">
                <a16:creationId xmlns:a16="http://schemas.microsoft.com/office/drawing/2014/main" id="{18C0F5DE-93CC-32AF-5431-0E66EC657AFC}"/>
              </a:ext>
            </a:extLst>
          </p:cNvPr>
          <p:cNvGrpSpPr>
            <a:grpSpLocks/>
          </p:cNvGrpSpPr>
          <p:nvPr/>
        </p:nvGrpSpPr>
        <p:grpSpPr bwMode="auto">
          <a:xfrm>
            <a:off x="2890838" y="2774950"/>
            <a:ext cx="3865562" cy="1939925"/>
            <a:chOff x="1821" y="1748"/>
            <a:chExt cx="2435" cy="1222"/>
          </a:xfrm>
        </p:grpSpPr>
        <p:sp>
          <p:nvSpPr>
            <p:cNvPr id="15375" name="Freeform 5">
              <a:extLst>
                <a:ext uri="{FF2B5EF4-FFF2-40B4-BE49-F238E27FC236}">
                  <a16:creationId xmlns:a16="http://schemas.microsoft.com/office/drawing/2014/main" id="{63ABDEBF-C364-29D4-6FD5-1D279D29C977}"/>
                </a:ext>
              </a:extLst>
            </p:cNvPr>
            <p:cNvSpPr>
              <a:spLocks/>
            </p:cNvSpPr>
            <p:nvPr/>
          </p:nvSpPr>
          <p:spPr bwMode="auto">
            <a:xfrm>
              <a:off x="1821" y="1748"/>
              <a:ext cx="2435" cy="1222"/>
            </a:xfrm>
            <a:custGeom>
              <a:avLst/>
              <a:gdLst>
                <a:gd name="T0" fmla="*/ 1368 w 2435"/>
                <a:gd name="T1" fmla="*/ 214 h 1222"/>
                <a:gd name="T2" fmla="*/ 1215 w 2435"/>
                <a:gd name="T3" fmla="*/ 8 h 1222"/>
                <a:gd name="T4" fmla="*/ 1022 w 2435"/>
                <a:gd name="T5" fmla="*/ 283 h 1222"/>
                <a:gd name="T6" fmla="*/ 624 w 2435"/>
                <a:gd name="T7" fmla="*/ 2 h 1222"/>
                <a:gd name="T8" fmla="*/ 657 w 2435"/>
                <a:gd name="T9" fmla="*/ 304 h 1222"/>
                <a:gd name="T10" fmla="*/ 194 w 2435"/>
                <a:gd name="T11" fmla="*/ 236 h 1222"/>
                <a:gd name="T12" fmla="*/ 446 w 2435"/>
                <a:gd name="T13" fmla="*/ 525 h 1222"/>
                <a:gd name="T14" fmla="*/ 0 w 2435"/>
                <a:gd name="T15" fmla="*/ 518 h 1222"/>
                <a:gd name="T16" fmla="*/ 325 w 2435"/>
                <a:gd name="T17" fmla="*/ 765 h 1222"/>
                <a:gd name="T18" fmla="*/ 67 w 2435"/>
                <a:gd name="T19" fmla="*/ 882 h 1222"/>
                <a:gd name="T20" fmla="*/ 443 w 2435"/>
                <a:gd name="T21" fmla="*/ 993 h 1222"/>
                <a:gd name="T22" fmla="*/ 406 w 2435"/>
                <a:gd name="T23" fmla="*/ 1221 h 1222"/>
                <a:gd name="T24" fmla="*/ 740 w 2435"/>
                <a:gd name="T25" fmla="*/ 1049 h 1222"/>
                <a:gd name="T26" fmla="*/ 844 w 2435"/>
                <a:gd name="T27" fmla="*/ 1183 h 1222"/>
                <a:gd name="T28" fmla="*/ 1005 w 2435"/>
                <a:gd name="T29" fmla="*/ 1053 h 1222"/>
                <a:gd name="T30" fmla="*/ 1173 w 2435"/>
                <a:gd name="T31" fmla="*/ 1194 h 1222"/>
                <a:gd name="T32" fmla="*/ 1277 w 2435"/>
                <a:gd name="T33" fmla="*/ 1011 h 1222"/>
                <a:gd name="T34" fmla="*/ 1555 w 2435"/>
                <a:gd name="T35" fmla="*/ 1173 h 1222"/>
                <a:gd name="T36" fmla="*/ 1567 w 2435"/>
                <a:gd name="T37" fmla="*/ 962 h 1222"/>
                <a:gd name="T38" fmla="*/ 2008 w 2435"/>
                <a:gd name="T39" fmla="*/ 1149 h 1222"/>
                <a:gd name="T40" fmla="*/ 1785 w 2435"/>
                <a:gd name="T41" fmla="*/ 866 h 1222"/>
                <a:gd name="T42" fmla="*/ 2005 w 2435"/>
                <a:gd name="T43" fmla="*/ 842 h 1222"/>
                <a:gd name="T44" fmla="*/ 1893 w 2435"/>
                <a:gd name="T45" fmla="*/ 685 h 1222"/>
                <a:gd name="T46" fmla="*/ 2434 w 2435"/>
                <a:gd name="T47" fmla="*/ 608 h 1222"/>
                <a:gd name="T48" fmla="*/ 1870 w 2435"/>
                <a:gd name="T49" fmla="*/ 477 h 1222"/>
                <a:gd name="T50" fmla="*/ 2095 w 2435"/>
                <a:gd name="T51" fmla="*/ 289 h 1222"/>
                <a:gd name="T52" fmla="*/ 1680 w 2435"/>
                <a:gd name="T53" fmla="*/ 383 h 1222"/>
                <a:gd name="T54" fmla="*/ 1793 w 2435"/>
                <a:gd name="T55" fmla="*/ 0 h 1222"/>
                <a:gd name="T56" fmla="*/ 1368 w 2435"/>
                <a:gd name="T57" fmla="*/ 214 h 1222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w 2435"/>
                <a:gd name="T88" fmla="*/ 0 h 1222"/>
                <a:gd name="T89" fmla="*/ 2435 w 2435"/>
                <a:gd name="T90" fmla="*/ 1222 h 1222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T87" t="T88" r="T89" b="T90"/>
              <a:pathLst>
                <a:path w="2435" h="1222">
                  <a:moveTo>
                    <a:pt x="1368" y="214"/>
                  </a:moveTo>
                  <a:lnTo>
                    <a:pt x="1215" y="8"/>
                  </a:lnTo>
                  <a:lnTo>
                    <a:pt x="1022" y="283"/>
                  </a:lnTo>
                  <a:lnTo>
                    <a:pt x="624" y="2"/>
                  </a:lnTo>
                  <a:lnTo>
                    <a:pt x="657" y="304"/>
                  </a:lnTo>
                  <a:lnTo>
                    <a:pt x="194" y="236"/>
                  </a:lnTo>
                  <a:lnTo>
                    <a:pt x="446" y="525"/>
                  </a:lnTo>
                  <a:lnTo>
                    <a:pt x="0" y="518"/>
                  </a:lnTo>
                  <a:lnTo>
                    <a:pt x="325" y="765"/>
                  </a:lnTo>
                  <a:lnTo>
                    <a:pt x="67" y="882"/>
                  </a:lnTo>
                  <a:lnTo>
                    <a:pt x="443" y="993"/>
                  </a:lnTo>
                  <a:lnTo>
                    <a:pt x="406" y="1221"/>
                  </a:lnTo>
                  <a:lnTo>
                    <a:pt x="740" y="1049"/>
                  </a:lnTo>
                  <a:lnTo>
                    <a:pt x="844" y="1183"/>
                  </a:lnTo>
                  <a:lnTo>
                    <a:pt x="1005" y="1053"/>
                  </a:lnTo>
                  <a:lnTo>
                    <a:pt x="1173" y="1194"/>
                  </a:lnTo>
                  <a:lnTo>
                    <a:pt x="1277" y="1011"/>
                  </a:lnTo>
                  <a:lnTo>
                    <a:pt x="1555" y="1173"/>
                  </a:lnTo>
                  <a:lnTo>
                    <a:pt x="1567" y="962"/>
                  </a:lnTo>
                  <a:lnTo>
                    <a:pt x="2008" y="1149"/>
                  </a:lnTo>
                  <a:lnTo>
                    <a:pt x="1785" y="866"/>
                  </a:lnTo>
                  <a:lnTo>
                    <a:pt x="2005" y="842"/>
                  </a:lnTo>
                  <a:lnTo>
                    <a:pt x="1893" y="685"/>
                  </a:lnTo>
                  <a:lnTo>
                    <a:pt x="2434" y="608"/>
                  </a:lnTo>
                  <a:lnTo>
                    <a:pt x="1870" y="477"/>
                  </a:lnTo>
                  <a:lnTo>
                    <a:pt x="2095" y="289"/>
                  </a:lnTo>
                  <a:lnTo>
                    <a:pt x="1680" y="383"/>
                  </a:lnTo>
                  <a:lnTo>
                    <a:pt x="1793" y="0"/>
                  </a:lnTo>
                  <a:lnTo>
                    <a:pt x="1368" y="214"/>
                  </a:lnTo>
                </a:path>
              </a:pathLst>
            </a:custGeom>
            <a:solidFill>
              <a:schemeClr val="accent2"/>
            </a:solidFill>
            <a:ln w="12700" cap="rnd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en-NZ"/>
            </a:p>
          </p:txBody>
        </p:sp>
        <p:sp>
          <p:nvSpPr>
            <p:cNvPr id="15376" name="Rectangle 6">
              <a:extLst>
                <a:ext uri="{FF2B5EF4-FFF2-40B4-BE49-F238E27FC236}">
                  <a16:creationId xmlns:a16="http://schemas.microsoft.com/office/drawing/2014/main" id="{9BC5D042-5040-06B6-82DE-B150B21A7501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720000">
              <a:off x="2452" y="2091"/>
              <a:ext cx="975" cy="62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800"/>
            </a:p>
          </p:txBody>
        </p:sp>
      </p:grpSp>
      <p:sp>
        <p:nvSpPr>
          <p:cNvPr id="15366" name="Rectangle 7">
            <a:extLst>
              <a:ext uri="{FF2B5EF4-FFF2-40B4-BE49-F238E27FC236}">
                <a16:creationId xmlns:a16="http://schemas.microsoft.com/office/drawing/2014/main" id="{6A8BBB35-E541-D67E-33D8-DA05D6B8D1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30588" y="3430588"/>
            <a:ext cx="2740025" cy="638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3600" b="1">
                <a:solidFill>
                  <a:srgbClr val="000000"/>
                </a:solidFill>
                <a:latin typeface="Times New Roman" panose="02020603050405020304" pitchFamily="18" charset="0"/>
              </a:rPr>
              <a:t>Time-Series</a:t>
            </a:r>
          </a:p>
        </p:txBody>
      </p:sp>
      <p:sp>
        <p:nvSpPr>
          <p:cNvPr id="15367" name="Rectangle 8">
            <a:extLst>
              <a:ext uri="{FF2B5EF4-FFF2-40B4-BE49-F238E27FC236}">
                <a16:creationId xmlns:a16="http://schemas.microsoft.com/office/drawing/2014/main" id="{1C0DE0F9-42AC-6AF3-7935-66EF50CF20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77000" y="2438400"/>
            <a:ext cx="1901825" cy="576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b="1">
                <a:solidFill>
                  <a:schemeClr val="hlink"/>
                </a:solidFill>
                <a:latin typeface="Times New Roman" panose="02020603050405020304" pitchFamily="18" charset="0"/>
              </a:rPr>
              <a:t>Cyclical</a:t>
            </a:r>
          </a:p>
        </p:txBody>
      </p:sp>
      <p:pic>
        <p:nvPicPr>
          <p:cNvPr id="15368" name="Picture 9">
            <a:extLst>
              <a:ext uri="{FF2B5EF4-FFF2-40B4-BE49-F238E27FC236}">
                <a16:creationId xmlns:a16="http://schemas.microsoft.com/office/drawing/2014/main" id="{C4EDC809-A780-D262-6198-DCDA01419060}"/>
              </a:ext>
            </a:extLst>
          </p:cNvPr>
          <p:cNvPicPr>
            <a:picLocks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42050" y="4565650"/>
            <a:ext cx="2349500" cy="1054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369" name="Rectangle 10">
            <a:extLst>
              <a:ext uri="{FF2B5EF4-FFF2-40B4-BE49-F238E27FC236}">
                <a16:creationId xmlns:a16="http://schemas.microsoft.com/office/drawing/2014/main" id="{85B53574-9F15-1F80-A9B3-61B5150D6F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53200" y="4800600"/>
            <a:ext cx="1673225" cy="576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b="1">
                <a:solidFill>
                  <a:srgbClr val="009800"/>
                </a:solidFill>
                <a:latin typeface="Times New Roman" panose="02020603050405020304" pitchFamily="18" charset="0"/>
              </a:rPr>
              <a:t>Random</a:t>
            </a:r>
          </a:p>
        </p:txBody>
      </p:sp>
      <p:pic>
        <p:nvPicPr>
          <p:cNvPr id="15370" name="Picture 11">
            <a:extLst>
              <a:ext uri="{FF2B5EF4-FFF2-40B4-BE49-F238E27FC236}">
                <a16:creationId xmlns:a16="http://schemas.microsoft.com/office/drawing/2014/main" id="{F3F817FB-C17C-571F-4782-30BB13C94B58}"/>
              </a:ext>
            </a:extLst>
          </p:cNvPr>
          <p:cNvPicPr>
            <a:picLocks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9450" y="2279650"/>
            <a:ext cx="2349500" cy="1054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371" name="Rectangle 12">
            <a:extLst>
              <a:ext uri="{FF2B5EF4-FFF2-40B4-BE49-F238E27FC236}">
                <a16:creationId xmlns:a16="http://schemas.microsoft.com/office/drawing/2014/main" id="{C53D740C-5E49-3C7D-8B7F-2015254660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2438400"/>
            <a:ext cx="2054225" cy="576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b="1">
                <a:solidFill>
                  <a:srgbClr val="023D42"/>
                </a:solidFill>
                <a:latin typeface="Times New Roman" panose="02020603050405020304" pitchFamily="18" charset="0"/>
              </a:rPr>
              <a:t>Trend</a:t>
            </a:r>
          </a:p>
        </p:txBody>
      </p:sp>
      <p:pic>
        <p:nvPicPr>
          <p:cNvPr id="15372" name="Picture 13">
            <a:extLst>
              <a:ext uri="{FF2B5EF4-FFF2-40B4-BE49-F238E27FC236}">
                <a16:creationId xmlns:a16="http://schemas.microsoft.com/office/drawing/2014/main" id="{75B0BEF1-8A97-F4CF-A98C-D6E252555BA4}"/>
              </a:ext>
            </a:extLst>
          </p:cNvPr>
          <p:cNvPicPr>
            <a:picLocks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9450" y="4565650"/>
            <a:ext cx="2349500" cy="1054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373" name="Rectangle 14">
            <a:extLst>
              <a:ext uri="{FF2B5EF4-FFF2-40B4-BE49-F238E27FC236}">
                <a16:creationId xmlns:a16="http://schemas.microsoft.com/office/drawing/2014/main" id="{4CE0C790-3B63-ED4F-AEFF-DB8A7FEAEA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4800600"/>
            <a:ext cx="2054225" cy="576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b="1">
                <a:solidFill>
                  <a:srgbClr val="FF5757"/>
                </a:solidFill>
                <a:latin typeface="Times New Roman" panose="02020603050405020304" pitchFamily="18" charset="0"/>
              </a:rPr>
              <a:t>Seasonal</a:t>
            </a:r>
          </a:p>
        </p:txBody>
      </p:sp>
      <p:sp>
        <p:nvSpPr>
          <p:cNvPr id="15374" name="Footer Placeholder 15">
            <a:extLst>
              <a:ext uri="{FF2B5EF4-FFF2-40B4-BE49-F238E27FC236}">
                <a16:creationId xmlns:a16="http://schemas.microsoft.com/office/drawing/2014/main" id="{D8167309-3CCE-CA75-B31F-001236B4EC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GB" altLang="ja-JP" sz="1400"/>
              <a:t>IDS, Faculty of Engineering, University of Jaffna</a:t>
            </a:r>
            <a:endParaRPr lang="en-US" altLang="ja-JP" sz="14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Slide Number Placeholder 5">
            <a:extLst>
              <a:ext uri="{FF2B5EF4-FFF2-40B4-BE49-F238E27FC236}">
                <a16:creationId xmlns:a16="http://schemas.microsoft.com/office/drawing/2014/main" id="{461D4226-DDA8-FF98-ECBA-59E9103AC4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BC8B31DA-079F-412B-B9AC-2D49044EBA84}" type="slidenum">
              <a:rPr lang="en-US" altLang="en-US" sz="14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14</a:t>
            </a:fld>
            <a:endParaRPr lang="en-US" altLang="en-US" sz="1400"/>
          </a:p>
        </p:txBody>
      </p:sp>
      <p:sp>
        <p:nvSpPr>
          <p:cNvPr id="16387" name="Rectangle 2">
            <a:extLst>
              <a:ext uri="{FF2B5EF4-FFF2-40B4-BE49-F238E27FC236}">
                <a16:creationId xmlns:a16="http://schemas.microsoft.com/office/drawing/2014/main" id="{B9CBC57C-3016-B5AA-E393-E24CC1128D1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600"/>
              <a:t>Components of Time Series</a:t>
            </a:r>
          </a:p>
        </p:txBody>
      </p:sp>
      <p:sp>
        <p:nvSpPr>
          <p:cNvPr id="16388" name="Rectangle 3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91A797D8-E8B3-027C-A31E-A1F3DBB3BDE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Trend (T</a:t>
            </a:r>
            <a:r>
              <a:rPr lang="en-US" altLang="en-US" sz="2400">
                <a:latin typeface="Times New Roman" panose="02020603050405020304" pitchFamily="18" charset="0"/>
              </a:rPr>
              <a:t>t </a:t>
            </a:r>
            <a:r>
              <a:rPr lang="en-US" altLang="en-US"/>
              <a:t>)</a:t>
            </a:r>
          </a:p>
          <a:p>
            <a:pPr eaLnBrk="1" hangingPunct="1"/>
            <a:r>
              <a:rPr lang="en-US" altLang="en-US"/>
              <a:t>Seasonal variation (S</a:t>
            </a:r>
            <a:r>
              <a:rPr lang="en-US" altLang="en-US" sz="2400">
                <a:latin typeface="Times New Roman" panose="02020603050405020304" pitchFamily="18" charset="0"/>
              </a:rPr>
              <a:t>t </a:t>
            </a:r>
            <a:r>
              <a:rPr lang="en-US" altLang="en-US"/>
              <a:t>)</a:t>
            </a:r>
          </a:p>
          <a:p>
            <a:pPr eaLnBrk="1" hangingPunct="1"/>
            <a:r>
              <a:rPr lang="en-US" altLang="en-US"/>
              <a:t>Cyclical variation ( C</a:t>
            </a:r>
            <a:r>
              <a:rPr lang="en-US" altLang="en-US" sz="2400">
                <a:latin typeface="Times New Roman" panose="02020603050405020304" pitchFamily="18" charset="0"/>
              </a:rPr>
              <a:t>t </a:t>
            </a:r>
            <a:r>
              <a:rPr lang="en-US" altLang="en-US"/>
              <a:t>)</a:t>
            </a:r>
          </a:p>
          <a:p>
            <a:pPr eaLnBrk="1" hangingPunct="1"/>
            <a:r>
              <a:rPr lang="en-US" altLang="en-US"/>
              <a:t>Random variation (R</a:t>
            </a:r>
            <a:r>
              <a:rPr lang="en-US" altLang="en-US" sz="2400">
                <a:latin typeface="Times New Roman" panose="02020603050405020304" pitchFamily="18" charset="0"/>
              </a:rPr>
              <a:t>t </a:t>
            </a:r>
            <a:r>
              <a:rPr lang="en-US" altLang="en-US"/>
              <a:t> )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/>
              <a:t>	or irregular</a:t>
            </a:r>
          </a:p>
        </p:txBody>
      </p:sp>
      <p:sp>
        <p:nvSpPr>
          <p:cNvPr id="16389" name="Footer Placeholder 4">
            <a:extLst>
              <a:ext uri="{FF2B5EF4-FFF2-40B4-BE49-F238E27FC236}">
                <a16:creationId xmlns:a16="http://schemas.microsoft.com/office/drawing/2014/main" id="{7F76CBFD-0F0E-C911-872C-34C66C41F4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GB" altLang="ja-JP" sz="1400"/>
              <a:t>IDS, Faculty of Engineering, University of Jaffna</a:t>
            </a:r>
            <a:endParaRPr lang="en-US" altLang="ja-JP" sz="14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Slide Number Placeholder 5">
            <a:extLst>
              <a:ext uri="{FF2B5EF4-FFF2-40B4-BE49-F238E27FC236}">
                <a16:creationId xmlns:a16="http://schemas.microsoft.com/office/drawing/2014/main" id="{B5397584-6947-E11B-7CDB-3946420C3A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D1C37467-37F8-4312-90F1-409D8D54D05A}" type="slidenum">
              <a:rPr lang="en-US" altLang="en-US" sz="14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15</a:t>
            </a:fld>
            <a:endParaRPr lang="en-US" altLang="en-US" sz="1400"/>
          </a:p>
        </p:txBody>
      </p:sp>
      <p:sp>
        <p:nvSpPr>
          <p:cNvPr id="17411" name="Rectangle 2">
            <a:extLst>
              <a:ext uri="{FF2B5EF4-FFF2-40B4-BE49-F238E27FC236}">
                <a16:creationId xmlns:a16="http://schemas.microsoft.com/office/drawing/2014/main" id="{ADB8A8AE-9445-DC3F-1C57-C21399F3101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68388" y="190500"/>
            <a:ext cx="7772400" cy="1143000"/>
          </a:xfrm>
        </p:spPr>
        <p:txBody>
          <a:bodyPr/>
          <a:lstStyle/>
          <a:p>
            <a:pPr eaLnBrk="1" hangingPunct="1"/>
            <a:br>
              <a:rPr lang="en-US" altLang="en-US" sz="4000" dirty="0">
                <a:solidFill>
                  <a:schemeClr val="tx1"/>
                </a:solidFill>
              </a:rPr>
            </a:br>
            <a:br>
              <a:rPr lang="en-US" altLang="en-US" sz="4000" dirty="0">
                <a:solidFill>
                  <a:schemeClr val="tx1"/>
                </a:solidFill>
              </a:rPr>
            </a:br>
            <a:r>
              <a:rPr lang="en-US" altLang="en-US" sz="4000" dirty="0">
                <a:solidFill>
                  <a:schemeClr val="tx1"/>
                </a:solidFill>
              </a:rPr>
              <a:t> </a:t>
            </a:r>
            <a:br>
              <a:rPr lang="en-US" altLang="en-US" sz="4000" dirty="0">
                <a:solidFill>
                  <a:schemeClr val="tx1"/>
                </a:solidFill>
              </a:rPr>
            </a:br>
            <a:br>
              <a:rPr lang="en-US" altLang="en-US" sz="4000" dirty="0">
                <a:solidFill>
                  <a:schemeClr val="tx1"/>
                </a:solidFill>
              </a:rPr>
            </a:br>
            <a:r>
              <a:rPr lang="en-GB" altLang="en-US" sz="4000" dirty="0">
                <a:solidFill>
                  <a:schemeClr val="tx1"/>
                </a:solidFill>
              </a:rPr>
              <a:t> Components of Time Series</a:t>
            </a:r>
            <a:br>
              <a:rPr lang="en-GB" altLang="en-US" sz="4000" dirty="0">
                <a:solidFill>
                  <a:schemeClr val="tx1"/>
                </a:solidFill>
              </a:rPr>
            </a:br>
            <a:r>
              <a:rPr lang="en-GB" altLang="en-US" sz="4000" dirty="0">
                <a:solidFill>
                  <a:schemeClr val="tx1"/>
                </a:solidFill>
              </a:rPr>
              <a:t>              Trend (Tt ) </a:t>
            </a:r>
            <a:br>
              <a:rPr lang="en-US" altLang="en-US" sz="4000" dirty="0">
                <a:solidFill>
                  <a:schemeClr val="tx1"/>
                </a:solidFill>
              </a:rPr>
            </a:br>
            <a:br>
              <a:rPr lang="en-US" altLang="en-US" sz="4000" dirty="0">
                <a:solidFill>
                  <a:schemeClr val="tx1"/>
                </a:solidFill>
              </a:rPr>
            </a:br>
            <a:br>
              <a:rPr lang="en-US" altLang="en-US" sz="4000" dirty="0">
                <a:solidFill>
                  <a:schemeClr val="tx1"/>
                </a:solidFill>
              </a:rPr>
            </a:br>
            <a:br>
              <a:rPr lang="en-US" altLang="en-US" sz="4000" dirty="0">
                <a:solidFill>
                  <a:schemeClr val="tx1"/>
                </a:solidFill>
              </a:rPr>
            </a:br>
            <a:endParaRPr lang="en-US" altLang="en-US" sz="4000" dirty="0">
              <a:solidFill>
                <a:schemeClr val="tx1"/>
              </a:solidFill>
            </a:endParaRPr>
          </a:p>
        </p:txBody>
      </p:sp>
      <p:sp>
        <p:nvSpPr>
          <p:cNvPr id="17412" name="Rectangle 3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D6A93486-30F0-EAEC-1448-F1A0F94B3F6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1626393"/>
            <a:ext cx="7772400" cy="4329113"/>
          </a:xfrm>
        </p:spPr>
        <p:txBody>
          <a:bodyPr/>
          <a:lstStyle/>
          <a:p>
            <a:pPr eaLnBrk="1" hangingPunct="1">
              <a:lnSpc>
                <a:spcPct val="110000"/>
              </a:lnSpc>
            </a:pPr>
            <a:r>
              <a:rPr lang="en-US" altLang="en-US" dirty="0">
                <a:solidFill>
                  <a:srgbClr val="FF3399"/>
                </a:solidFill>
              </a:rPr>
              <a:t>Trend</a:t>
            </a:r>
            <a:r>
              <a:rPr lang="en-US" altLang="en-US" dirty="0"/>
              <a:t>: the long-term patterns or movements in the data.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en-US" dirty="0"/>
              <a:t>Overall or persistent, long-term upward or downward pattern of movement.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en-US" dirty="0"/>
              <a:t>The trend of a time series is not always linear.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dirty="0"/>
              <a:t>  </a:t>
            </a:r>
            <a:endParaRPr lang="mn-MN" altLang="en-US" dirty="0"/>
          </a:p>
        </p:txBody>
      </p:sp>
      <p:sp>
        <p:nvSpPr>
          <p:cNvPr id="17413" name="Footer Placeholder 4">
            <a:extLst>
              <a:ext uri="{FF2B5EF4-FFF2-40B4-BE49-F238E27FC236}">
                <a16:creationId xmlns:a16="http://schemas.microsoft.com/office/drawing/2014/main" id="{8BF87A7A-05D0-7095-728A-BE94FC1DA4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GB" altLang="ja-JP" sz="1400"/>
              <a:t>IDS, Faculty of Engineering, University of Jaffna</a:t>
            </a:r>
            <a:endParaRPr lang="en-US" altLang="ja-JP" sz="14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Slide Number Placeholder 5">
            <a:extLst>
              <a:ext uri="{FF2B5EF4-FFF2-40B4-BE49-F238E27FC236}">
                <a16:creationId xmlns:a16="http://schemas.microsoft.com/office/drawing/2014/main" id="{9B0FE6E1-BE56-FCF1-169F-F92931D7A8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3CDDE08E-5452-4117-A128-9090A972CD2B}" type="slidenum">
              <a:rPr lang="en-US" altLang="en-US" sz="14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16</a:t>
            </a:fld>
            <a:endParaRPr lang="en-US" altLang="en-US" sz="1400"/>
          </a:p>
        </p:txBody>
      </p:sp>
      <p:sp>
        <p:nvSpPr>
          <p:cNvPr id="18435" name="Rectangle 2">
            <a:extLst>
              <a:ext uri="{FF2B5EF4-FFF2-40B4-BE49-F238E27FC236}">
                <a16:creationId xmlns:a16="http://schemas.microsoft.com/office/drawing/2014/main" id="{68405498-57C5-CD7F-3531-F5A37DFD910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600" dirty="0">
                <a:solidFill>
                  <a:srgbClr val="C00000"/>
                </a:solidFill>
              </a:rPr>
              <a:t>Seasonal variation (S</a:t>
            </a:r>
            <a:r>
              <a:rPr lang="en-US" altLang="en-US" sz="3600" dirty="0">
                <a:solidFill>
                  <a:srgbClr val="C00000"/>
                </a:solidFill>
                <a:latin typeface="Times New Roman" panose="02020603050405020304" pitchFamily="18" charset="0"/>
              </a:rPr>
              <a:t>t </a:t>
            </a:r>
            <a:r>
              <a:rPr lang="en-US" altLang="en-US" sz="3600" dirty="0">
                <a:solidFill>
                  <a:srgbClr val="C00000"/>
                </a:solidFill>
              </a:rPr>
              <a:t>)</a:t>
            </a:r>
          </a:p>
        </p:txBody>
      </p:sp>
      <p:sp>
        <p:nvSpPr>
          <p:cNvPr id="18436" name="Rectangle 3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C60FEB5F-DD9B-8621-0E84-E0A322A8D04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8200" y="1528763"/>
            <a:ext cx="7772400" cy="4491037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dirty="0"/>
              <a:t>Regular periodic fluctuations that occur within year.</a:t>
            </a:r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en-US" altLang="en-US" dirty="0">
                <a:solidFill>
                  <a:srgbClr val="FF3399"/>
                </a:solidFill>
              </a:rPr>
              <a:t>Examples: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dirty="0"/>
              <a:t>Consumption of heating oil, which is high in winter, and low in other seasons of year.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dirty="0"/>
              <a:t>Gasoline consumption, which is high in summer when most people go on vacation.</a:t>
            </a:r>
          </a:p>
          <a:p>
            <a:pPr eaLnBrk="1" hangingPunct="1">
              <a:lnSpc>
                <a:spcPct val="90000"/>
              </a:lnSpc>
            </a:pPr>
            <a:endParaRPr lang="mn-MN" altLang="en-US" dirty="0"/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en-US" dirty="0"/>
          </a:p>
        </p:txBody>
      </p:sp>
      <p:sp>
        <p:nvSpPr>
          <p:cNvPr id="18437" name="Rectangle 4">
            <a:extLst>
              <a:ext uri="{FF2B5EF4-FFF2-40B4-BE49-F238E27FC236}">
                <a16:creationId xmlns:a16="http://schemas.microsoft.com/office/drawing/2014/main" id="{B59C8471-F6EA-3C8E-63E1-96CA0F0F5C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6738" y="195263"/>
            <a:ext cx="74993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3600" dirty="0">
                <a:solidFill>
                  <a:srgbClr val="C00000"/>
                </a:solidFill>
              </a:rPr>
              <a:t>Components of Time Series</a:t>
            </a:r>
            <a:r>
              <a:rPr lang="ru-RU" altLang="en-US" sz="2800" dirty="0">
                <a:solidFill>
                  <a:srgbClr val="C00000"/>
                </a:solidFill>
                <a:latin typeface="Times New Roman" panose="02020603050405020304" pitchFamily="18" charset="0"/>
              </a:rPr>
              <a:t> 		</a:t>
            </a:r>
            <a:endParaRPr lang="en-US" altLang="en-US" sz="2800" dirty="0">
              <a:solidFill>
                <a:srgbClr val="C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8438" name="Footer Placeholder 5">
            <a:extLst>
              <a:ext uri="{FF2B5EF4-FFF2-40B4-BE49-F238E27FC236}">
                <a16:creationId xmlns:a16="http://schemas.microsoft.com/office/drawing/2014/main" id="{930FC0F0-E362-85A0-7E40-2B063B98EC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GB" altLang="ja-JP" sz="1400"/>
              <a:t>IDS, Faculty of Engineering, University of Jaffna</a:t>
            </a:r>
            <a:endParaRPr lang="en-US" altLang="ja-JP" sz="14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Slide Number Placeholder 3">
            <a:extLst>
              <a:ext uri="{FF2B5EF4-FFF2-40B4-BE49-F238E27FC236}">
                <a16:creationId xmlns:a16="http://schemas.microsoft.com/office/drawing/2014/main" id="{8429A30F-E588-E625-4C32-49B0ECC0C7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37EF6788-548B-430F-B7AD-627C554F3481}" type="slidenum">
              <a:rPr lang="en-US" altLang="en-US" sz="14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17</a:t>
            </a:fld>
            <a:endParaRPr lang="en-US" altLang="en-US" sz="1400"/>
          </a:p>
        </p:txBody>
      </p:sp>
      <p:graphicFrame>
        <p:nvGraphicFramePr>
          <p:cNvPr id="19459" name="Object 2">
            <a:extLst>
              <a:ext uri="{FF2B5EF4-FFF2-40B4-BE49-F238E27FC236}">
                <a16:creationId xmlns:a16="http://schemas.microsoft.com/office/drawing/2014/main" id="{6A788250-B890-65B7-B1DF-29C1D6D40E3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22350" y="1839913"/>
          <a:ext cx="7232650" cy="3446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hart" r:id="rId3" imgW="4724716" imgH="1714928" progId="Excel.Chart.8">
                  <p:embed/>
                </p:oleObj>
              </mc:Choice>
              <mc:Fallback>
                <p:oleObj name="Chart" r:id="rId3" imgW="4724716" imgH="1714928" progId="Excel.Chart.8">
                  <p:embed/>
                  <p:pic>
                    <p:nvPicPr>
                      <p:cNvPr id="19459" name="Object 2">
                        <a:extLst>
                          <a:ext uri="{FF2B5EF4-FFF2-40B4-BE49-F238E27FC236}">
                            <a16:creationId xmlns:a16="http://schemas.microsoft.com/office/drawing/2014/main" id="{6A788250-B890-65B7-B1DF-29C1D6D40E3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22350" y="1839913"/>
                        <a:ext cx="7232650" cy="34464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60" name="Text Box 3">
            <a:extLst>
              <a:ext uri="{FF2B5EF4-FFF2-40B4-BE49-F238E27FC236}">
                <a16:creationId xmlns:a16="http://schemas.microsoft.com/office/drawing/2014/main" id="{D9437E61-1FDC-5B45-D1A5-6D4367B632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46250" y="496888"/>
            <a:ext cx="5857875" cy="144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buClrTx/>
              <a:buSzTx/>
              <a:buFontTx/>
              <a:buNone/>
            </a:pPr>
            <a:r>
              <a:rPr lang="en-US" altLang="en-US" sz="4400" dirty="0">
                <a:solidFill>
                  <a:srgbClr val="C00000"/>
                </a:solidFill>
                <a:latin typeface="Times New Roman" panose="02020603050405020304" pitchFamily="18" charset="0"/>
              </a:rPr>
              <a:t>Seasonal variation (S</a:t>
            </a:r>
            <a:r>
              <a:rPr lang="en-US" altLang="en-US" sz="2400" dirty="0">
                <a:solidFill>
                  <a:srgbClr val="C00000"/>
                </a:solidFill>
                <a:latin typeface="Times New Roman" panose="02020603050405020304" pitchFamily="18" charset="0"/>
              </a:rPr>
              <a:t>t </a:t>
            </a:r>
            <a:r>
              <a:rPr lang="en-US" altLang="en-US" sz="4400" dirty="0">
                <a:solidFill>
                  <a:srgbClr val="C00000"/>
                </a:solidFill>
                <a:latin typeface="Times New Roman" panose="02020603050405020304" pitchFamily="18" charset="0"/>
              </a:rPr>
              <a:t>)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4400" dirty="0">
              <a:latin typeface="Times New Roman" panose="02020603050405020304" pitchFamily="18" charset="0"/>
            </a:endParaRPr>
          </a:p>
        </p:txBody>
      </p:sp>
      <p:sp>
        <p:nvSpPr>
          <p:cNvPr id="19461" name="Text Box 4">
            <a:extLst>
              <a:ext uri="{FF2B5EF4-FFF2-40B4-BE49-F238E27FC236}">
                <a16:creationId xmlns:a16="http://schemas.microsoft.com/office/drawing/2014/main" id="{68A55327-82EE-4FE0-7648-84F28E178A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27288" y="5364163"/>
            <a:ext cx="184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GB" altLang="en-US" sz="2400">
              <a:latin typeface="Times New Roman" panose="02020603050405020304" pitchFamily="18" charset="0"/>
            </a:endParaRPr>
          </a:p>
        </p:txBody>
      </p:sp>
      <p:sp>
        <p:nvSpPr>
          <p:cNvPr id="19462" name="Text Box 5">
            <a:extLst>
              <a:ext uri="{FF2B5EF4-FFF2-40B4-BE49-F238E27FC236}">
                <a16:creationId xmlns:a16="http://schemas.microsoft.com/office/drawing/2014/main" id="{D9155FDA-916A-DB4D-6BE8-C796E1AB99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54338" y="1898650"/>
            <a:ext cx="12160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Summer</a:t>
            </a:r>
          </a:p>
        </p:txBody>
      </p:sp>
      <p:sp>
        <p:nvSpPr>
          <p:cNvPr id="19463" name="Rectangle 6">
            <a:extLst>
              <a:ext uri="{FF2B5EF4-FFF2-40B4-BE49-F238E27FC236}">
                <a16:creationId xmlns:a16="http://schemas.microsoft.com/office/drawing/2014/main" id="{774990C5-2E01-BF8B-EF14-BEA040F52F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75025" y="4757738"/>
            <a:ext cx="10287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Winter</a:t>
            </a:r>
          </a:p>
        </p:txBody>
      </p:sp>
      <p:sp>
        <p:nvSpPr>
          <p:cNvPr id="19464" name="Rectangle 7">
            <a:extLst>
              <a:ext uri="{FF2B5EF4-FFF2-40B4-BE49-F238E27FC236}">
                <a16:creationId xmlns:a16="http://schemas.microsoft.com/office/drawing/2014/main" id="{D05B72CC-69B8-7464-CBAD-69AF79CC32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16688" y="4832350"/>
            <a:ext cx="10287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Winter</a:t>
            </a:r>
          </a:p>
        </p:txBody>
      </p:sp>
      <p:sp>
        <p:nvSpPr>
          <p:cNvPr id="19465" name="Text Box 8">
            <a:extLst>
              <a:ext uri="{FF2B5EF4-FFF2-40B4-BE49-F238E27FC236}">
                <a16:creationId xmlns:a16="http://schemas.microsoft.com/office/drawing/2014/main" id="{DB93C075-1524-C677-A04D-FCEDB28175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38300" y="4927600"/>
            <a:ext cx="533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mn-MN" altLang="en-US" sz="2400">
              <a:latin typeface="Times New Roman" panose="02020603050405020304" pitchFamily="18" charset="0"/>
            </a:endParaRPr>
          </a:p>
        </p:txBody>
      </p:sp>
      <p:sp>
        <p:nvSpPr>
          <p:cNvPr id="19466" name="Text Box 9">
            <a:extLst>
              <a:ext uri="{FF2B5EF4-FFF2-40B4-BE49-F238E27FC236}">
                <a16:creationId xmlns:a16="http://schemas.microsoft.com/office/drawing/2014/main" id="{568BBB40-AC89-D1F1-99F5-29BCB25411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65813" y="1995488"/>
            <a:ext cx="12747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Summer</a:t>
            </a:r>
          </a:p>
        </p:txBody>
      </p:sp>
      <p:sp>
        <p:nvSpPr>
          <p:cNvPr id="19467" name="Rectangle 11">
            <a:extLst>
              <a:ext uri="{FF2B5EF4-FFF2-40B4-BE49-F238E27FC236}">
                <a16:creationId xmlns:a16="http://schemas.microsoft.com/office/drawing/2014/main" id="{93640100-3A94-7700-2442-D52355A93F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2038" y="0"/>
            <a:ext cx="6647974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3600" dirty="0">
                <a:solidFill>
                  <a:srgbClr val="C00000"/>
                </a:solidFill>
                <a:latin typeface="+mj-lt"/>
              </a:rPr>
              <a:t>Components of Time Series</a:t>
            </a:r>
            <a:r>
              <a:rPr lang="ru-RU" altLang="en-US" sz="2800" dirty="0">
                <a:solidFill>
                  <a:srgbClr val="C00000"/>
                </a:solidFill>
                <a:latin typeface="+mj-lt"/>
              </a:rPr>
              <a:t> 		</a:t>
            </a:r>
            <a:endParaRPr lang="en-US" altLang="en-US" sz="2800" dirty="0">
              <a:solidFill>
                <a:srgbClr val="C00000"/>
              </a:solidFill>
              <a:latin typeface="+mj-lt"/>
            </a:endParaRPr>
          </a:p>
        </p:txBody>
      </p:sp>
      <p:sp>
        <p:nvSpPr>
          <p:cNvPr id="19468" name="Line 12">
            <a:extLst>
              <a:ext uri="{FF2B5EF4-FFF2-40B4-BE49-F238E27FC236}">
                <a16:creationId xmlns:a16="http://schemas.microsoft.com/office/drawing/2014/main" id="{B25FB330-D1B0-E2AE-03B5-22BF2A258B9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901950" y="4692650"/>
            <a:ext cx="14288" cy="4619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NZ"/>
          </a:p>
        </p:txBody>
      </p:sp>
      <p:sp>
        <p:nvSpPr>
          <p:cNvPr id="19469" name="Line 13">
            <a:extLst>
              <a:ext uri="{FF2B5EF4-FFF2-40B4-BE49-F238E27FC236}">
                <a16:creationId xmlns:a16="http://schemas.microsoft.com/office/drawing/2014/main" id="{922924A4-A4D1-0D6E-78B7-CCDDE023367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905500" y="4794250"/>
            <a:ext cx="14288" cy="4619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NZ"/>
          </a:p>
        </p:txBody>
      </p:sp>
      <p:sp>
        <p:nvSpPr>
          <p:cNvPr id="19470" name="Line 14">
            <a:extLst>
              <a:ext uri="{FF2B5EF4-FFF2-40B4-BE49-F238E27FC236}">
                <a16:creationId xmlns:a16="http://schemas.microsoft.com/office/drawing/2014/main" id="{2EB2289D-98A0-9843-B7CE-550C2C39E6F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429125" y="4762500"/>
            <a:ext cx="14288" cy="4619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NZ"/>
          </a:p>
        </p:txBody>
      </p:sp>
      <p:sp>
        <p:nvSpPr>
          <p:cNvPr id="19471" name="Line 15">
            <a:extLst>
              <a:ext uri="{FF2B5EF4-FFF2-40B4-BE49-F238E27FC236}">
                <a16:creationId xmlns:a16="http://schemas.microsoft.com/office/drawing/2014/main" id="{90801623-766E-6A17-575C-2DDBFCAB95B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454900" y="4819650"/>
            <a:ext cx="14288" cy="4619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NZ"/>
          </a:p>
        </p:txBody>
      </p:sp>
      <p:sp>
        <p:nvSpPr>
          <p:cNvPr id="19472" name="Line 16">
            <a:extLst>
              <a:ext uri="{FF2B5EF4-FFF2-40B4-BE49-F238E27FC236}">
                <a16:creationId xmlns:a16="http://schemas.microsoft.com/office/drawing/2014/main" id="{981B2E50-6787-436F-4BC9-3A9BF065EEC0}"/>
              </a:ext>
            </a:extLst>
          </p:cNvPr>
          <p:cNvSpPr>
            <a:spLocks noChangeShapeType="1"/>
          </p:cNvSpPr>
          <p:nvPr/>
        </p:nvSpPr>
        <p:spPr bwMode="auto">
          <a:xfrm>
            <a:off x="2755900" y="5300663"/>
            <a:ext cx="0" cy="1587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NZ"/>
          </a:p>
        </p:txBody>
      </p:sp>
      <p:sp>
        <p:nvSpPr>
          <p:cNvPr id="19473" name="Freeform 17">
            <a:extLst>
              <a:ext uri="{FF2B5EF4-FFF2-40B4-BE49-F238E27FC236}">
                <a16:creationId xmlns:a16="http://schemas.microsoft.com/office/drawing/2014/main" id="{D108A02A-85D6-4BC8-1A02-E6BD8E6D9118}"/>
              </a:ext>
            </a:extLst>
          </p:cNvPr>
          <p:cNvSpPr>
            <a:spLocks/>
          </p:cNvSpPr>
          <p:nvPr/>
        </p:nvSpPr>
        <p:spPr bwMode="auto">
          <a:xfrm>
            <a:off x="4306888" y="5289550"/>
            <a:ext cx="160337" cy="254000"/>
          </a:xfrm>
          <a:custGeom>
            <a:avLst/>
            <a:gdLst>
              <a:gd name="T0" fmla="*/ 0 w 101"/>
              <a:gd name="T1" fmla="*/ 2147483647 h 160"/>
              <a:gd name="T2" fmla="*/ 2147483647 w 101"/>
              <a:gd name="T3" fmla="*/ 2147483647 h 160"/>
              <a:gd name="T4" fmla="*/ 2147483647 w 101"/>
              <a:gd name="T5" fmla="*/ 2147483647 h 160"/>
              <a:gd name="T6" fmla="*/ 2147483647 w 101"/>
              <a:gd name="T7" fmla="*/ 2147483647 h 160"/>
              <a:gd name="T8" fmla="*/ 0 60000 65536"/>
              <a:gd name="T9" fmla="*/ 0 60000 65536"/>
              <a:gd name="T10" fmla="*/ 0 60000 65536"/>
              <a:gd name="T11" fmla="*/ 0 60000 65536"/>
              <a:gd name="T12" fmla="*/ 0 w 101"/>
              <a:gd name="T13" fmla="*/ 0 h 160"/>
              <a:gd name="T14" fmla="*/ 101 w 101"/>
              <a:gd name="T15" fmla="*/ 160 h 16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01" h="160">
                <a:moveTo>
                  <a:pt x="0" y="49"/>
                </a:moveTo>
                <a:cubicBezTo>
                  <a:pt x="49" y="24"/>
                  <a:pt x="99" y="0"/>
                  <a:pt x="100" y="15"/>
                </a:cubicBezTo>
                <a:cubicBezTo>
                  <a:pt x="101" y="30"/>
                  <a:pt x="8" y="122"/>
                  <a:pt x="8" y="141"/>
                </a:cubicBezTo>
                <a:cubicBezTo>
                  <a:pt x="8" y="160"/>
                  <a:pt x="81" y="135"/>
                  <a:pt x="100" y="132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en-NZ"/>
          </a:p>
        </p:txBody>
      </p:sp>
      <p:sp>
        <p:nvSpPr>
          <p:cNvPr id="19474" name="Freeform 18">
            <a:extLst>
              <a:ext uri="{FF2B5EF4-FFF2-40B4-BE49-F238E27FC236}">
                <a16:creationId xmlns:a16="http://schemas.microsoft.com/office/drawing/2014/main" id="{50824E3A-6F52-65DC-34C8-9D9CE1413F8E}"/>
              </a:ext>
            </a:extLst>
          </p:cNvPr>
          <p:cNvSpPr>
            <a:spLocks/>
          </p:cNvSpPr>
          <p:nvPr/>
        </p:nvSpPr>
        <p:spPr bwMode="auto">
          <a:xfrm>
            <a:off x="5778500" y="5316538"/>
            <a:ext cx="187325" cy="222250"/>
          </a:xfrm>
          <a:custGeom>
            <a:avLst/>
            <a:gdLst>
              <a:gd name="T0" fmla="*/ 0 w 118"/>
              <a:gd name="T1" fmla="*/ 2147483647 h 140"/>
              <a:gd name="T2" fmla="*/ 2147483647 w 118"/>
              <a:gd name="T3" fmla="*/ 2147483647 h 140"/>
              <a:gd name="T4" fmla="*/ 2147483647 w 118"/>
              <a:gd name="T5" fmla="*/ 2147483647 h 140"/>
              <a:gd name="T6" fmla="*/ 2147483647 w 118"/>
              <a:gd name="T7" fmla="*/ 2147483647 h 140"/>
              <a:gd name="T8" fmla="*/ 2147483647 w 118"/>
              <a:gd name="T9" fmla="*/ 2147483647 h 14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18"/>
              <a:gd name="T16" fmla="*/ 0 h 140"/>
              <a:gd name="T17" fmla="*/ 118 w 118"/>
              <a:gd name="T18" fmla="*/ 140 h 14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18" h="140">
                <a:moveTo>
                  <a:pt x="0" y="24"/>
                </a:moveTo>
                <a:cubicBezTo>
                  <a:pt x="46" y="12"/>
                  <a:pt x="92" y="0"/>
                  <a:pt x="100" y="7"/>
                </a:cubicBezTo>
                <a:cubicBezTo>
                  <a:pt x="108" y="14"/>
                  <a:pt x="47" y="51"/>
                  <a:pt x="50" y="65"/>
                </a:cubicBezTo>
                <a:cubicBezTo>
                  <a:pt x="53" y="79"/>
                  <a:pt x="118" y="78"/>
                  <a:pt x="117" y="90"/>
                </a:cubicBezTo>
                <a:cubicBezTo>
                  <a:pt x="116" y="102"/>
                  <a:pt x="55" y="132"/>
                  <a:pt x="41" y="14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en-NZ"/>
          </a:p>
        </p:txBody>
      </p:sp>
      <p:sp>
        <p:nvSpPr>
          <p:cNvPr id="19475" name="Freeform 19">
            <a:extLst>
              <a:ext uri="{FF2B5EF4-FFF2-40B4-BE49-F238E27FC236}">
                <a16:creationId xmlns:a16="http://schemas.microsoft.com/office/drawing/2014/main" id="{0C9BFD56-819D-1290-DDC7-F1A81F7BAECE}"/>
              </a:ext>
            </a:extLst>
          </p:cNvPr>
          <p:cNvSpPr>
            <a:spLocks/>
          </p:cNvSpPr>
          <p:nvPr/>
        </p:nvSpPr>
        <p:spPr bwMode="auto">
          <a:xfrm>
            <a:off x="7273925" y="5354638"/>
            <a:ext cx="200025" cy="185737"/>
          </a:xfrm>
          <a:custGeom>
            <a:avLst/>
            <a:gdLst>
              <a:gd name="T0" fmla="*/ 2147483647 w 126"/>
              <a:gd name="T1" fmla="*/ 0 h 117"/>
              <a:gd name="T2" fmla="*/ 2147483647 w 126"/>
              <a:gd name="T3" fmla="*/ 2147483647 h 117"/>
              <a:gd name="T4" fmla="*/ 2147483647 w 126"/>
              <a:gd name="T5" fmla="*/ 2147483647 h 117"/>
              <a:gd name="T6" fmla="*/ 0 60000 65536"/>
              <a:gd name="T7" fmla="*/ 0 60000 65536"/>
              <a:gd name="T8" fmla="*/ 0 60000 65536"/>
              <a:gd name="T9" fmla="*/ 0 w 126"/>
              <a:gd name="T10" fmla="*/ 0 h 117"/>
              <a:gd name="T11" fmla="*/ 126 w 126"/>
              <a:gd name="T12" fmla="*/ 117 h 11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26" h="117">
                <a:moveTo>
                  <a:pt x="118" y="0"/>
                </a:moveTo>
                <a:cubicBezTo>
                  <a:pt x="59" y="41"/>
                  <a:pt x="0" y="83"/>
                  <a:pt x="1" y="100"/>
                </a:cubicBezTo>
                <a:cubicBezTo>
                  <a:pt x="2" y="117"/>
                  <a:pt x="98" y="100"/>
                  <a:pt x="126" y="10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en-NZ"/>
          </a:p>
        </p:txBody>
      </p:sp>
      <p:sp>
        <p:nvSpPr>
          <p:cNvPr id="19476" name="Line 20">
            <a:extLst>
              <a:ext uri="{FF2B5EF4-FFF2-40B4-BE49-F238E27FC236}">
                <a16:creationId xmlns:a16="http://schemas.microsoft.com/office/drawing/2014/main" id="{F8831970-603D-24FF-07C5-7DF73E6993B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394575" y="5367338"/>
            <a:ext cx="39688" cy="2111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NZ"/>
          </a:p>
        </p:txBody>
      </p:sp>
      <p:sp>
        <p:nvSpPr>
          <p:cNvPr id="19477" name="Footer Placeholder 20">
            <a:extLst>
              <a:ext uri="{FF2B5EF4-FFF2-40B4-BE49-F238E27FC236}">
                <a16:creationId xmlns:a16="http://schemas.microsoft.com/office/drawing/2014/main" id="{986692B7-F7C9-1D18-8227-3CF5987D32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GB" altLang="ja-JP" sz="1400"/>
              <a:t>IDS, Faculty of Engineering, University of Jaffna</a:t>
            </a:r>
            <a:endParaRPr lang="en-US" altLang="ja-JP" sz="14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Slide Number Placeholder 5">
            <a:extLst>
              <a:ext uri="{FF2B5EF4-FFF2-40B4-BE49-F238E27FC236}">
                <a16:creationId xmlns:a16="http://schemas.microsoft.com/office/drawing/2014/main" id="{774B8EED-54CE-AB1E-37DE-EFACEA0BEB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31BDC880-E579-424A-9357-14FD8F8CD139}" type="slidenum">
              <a:rPr lang="en-US" altLang="en-US" sz="14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18</a:t>
            </a:fld>
            <a:endParaRPr lang="en-US" altLang="en-US" sz="1400"/>
          </a:p>
        </p:txBody>
      </p:sp>
      <p:sp>
        <p:nvSpPr>
          <p:cNvPr id="20483" name="Rectangle 2">
            <a:extLst>
              <a:ext uri="{FF2B5EF4-FFF2-40B4-BE49-F238E27FC236}">
                <a16:creationId xmlns:a16="http://schemas.microsoft.com/office/drawing/2014/main" id="{016B1D2D-A0CB-0851-D442-B33A195F228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Example</a:t>
            </a:r>
          </a:p>
        </p:txBody>
      </p:sp>
      <p:graphicFrame>
        <p:nvGraphicFramePr>
          <p:cNvPr id="20484" name="Object 3">
            <a:extLst>
              <a:ext uri="{FF2B5EF4-FFF2-40B4-BE49-F238E27FC236}">
                <a16:creationId xmlns:a16="http://schemas.microsoft.com/office/drawing/2014/main" id="{0569CF24-03D0-0ABA-FC5C-7CDDD24A14C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0" y="1225550"/>
          <a:ext cx="8991600" cy="5105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3" imgW="9648931" imgH="7286800" progId="Excel.Sheet.8">
                  <p:embed/>
                </p:oleObj>
              </mc:Choice>
              <mc:Fallback>
                <p:oleObj name="Worksheet" r:id="rId3" imgW="9648931" imgH="7286800" progId="Excel.Sheet.8">
                  <p:embed/>
                  <p:pic>
                    <p:nvPicPr>
                      <p:cNvPr id="20484" name="Object 3">
                        <a:extLst>
                          <a:ext uri="{FF2B5EF4-FFF2-40B4-BE49-F238E27FC236}">
                            <a16:creationId xmlns:a16="http://schemas.microsoft.com/office/drawing/2014/main" id="{0569CF24-03D0-0ABA-FC5C-7CDDD24A14C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1225550"/>
                        <a:ext cx="8991600" cy="5105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485" name="Footer Placeholder 4">
            <a:extLst>
              <a:ext uri="{FF2B5EF4-FFF2-40B4-BE49-F238E27FC236}">
                <a16:creationId xmlns:a16="http://schemas.microsoft.com/office/drawing/2014/main" id="{276F04FC-AF69-770F-704E-C6B516BB1A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GB" altLang="ja-JP" sz="1400"/>
              <a:t>IDS, Faculty of Engineering, University of Jaffna</a:t>
            </a:r>
            <a:endParaRPr lang="en-US" altLang="ja-JP" sz="14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Slide Number Placeholder 5">
            <a:extLst>
              <a:ext uri="{FF2B5EF4-FFF2-40B4-BE49-F238E27FC236}">
                <a16:creationId xmlns:a16="http://schemas.microsoft.com/office/drawing/2014/main" id="{FAF0F114-FFD3-44D8-1F85-9CA523065F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A0C3B054-368E-47C1-8157-08B2AACA01E1}" type="slidenum">
              <a:rPr lang="en-US" altLang="en-US" sz="14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19</a:t>
            </a:fld>
            <a:endParaRPr lang="en-US" altLang="en-US" sz="1400"/>
          </a:p>
        </p:txBody>
      </p:sp>
      <p:sp>
        <p:nvSpPr>
          <p:cNvPr id="21507" name="Rectangle 2">
            <a:extLst>
              <a:ext uri="{FF2B5EF4-FFF2-40B4-BE49-F238E27FC236}">
                <a16:creationId xmlns:a16="http://schemas.microsoft.com/office/drawing/2014/main" id="{8E0A8CF3-27AB-D00C-6766-0127588F1BD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600"/>
              <a:t>Seasonal Components Removed</a:t>
            </a:r>
          </a:p>
        </p:txBody>
      </p:sp>
      <p:graphicFrame>
        <p:nvGraphicFramePr>
          <p:cNvPr id="21508" name="Object 3">
            <a:extLst>
              <a:ext uri="{FF2B5EF4-FFF2-40B4-BE49-F238E27FC236}">
                <a16:creationId xmlns:a16="http://schemas.microsoft.com/office/drawing/2014/main" id="{327B1312-DA70-4A00-1E4E-B4081884572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0" y="1112838"/>
          <a:ext cx="9144000" cy="5029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3" imgW="9649054" imgH="7439254" progId="Excel.Sheet.8">
                  <p:embed/>
                </p:oleObj>
              </mc:Choice>
              <mc:Fallback>
                <p:oleObj name="Worksheet" r:id="rId3" imgW="9649054" imgH="7439254" progId="Excel.Sheet.8">
                  <p:embed/>
                  <p:pic>
                    <p:nvPicPr>
                      <p:cNvPr id="21508" name="Object 3">
                        <a:extLst>
                          <a:ext uri="{FF2B5EF4-FFF2-40B4-BE49-F238E27FC236}">
                            <a16:creationId xmlns:a16="http://schemas.microsoft.com/office/drawing/2014/main" id="{327B1312-DA70-4A00-1E4E-B4081884572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1112838"/>
                        <a:ext cx="9144000" cy="5029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509" name="Footer Placeholder 4">
            <a:extLst>
              <a:ext uri="{FF2B5EF4-FFF2-40B4-BE49-F238E27FC236}">
                <a16:creationId xmlns:a16="http://schemas.microsoft.com/office/drawing/2014/main" id="{830DC04E-6219-CF82-BC23-B0516E26A4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GB" altLang="ja-JP" sz="1400"/>
              <a:t>IDS, Faculty of Engineering, University of Jaffna</a:t>
            </a:r>
            <a:endParaRPr lang="en-US" altLang="ja-JP" sz="14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Slide Number Placeholder 5">
            <a:extLst>
              <a:ext uri="{FF2B5EF4-FFF2-40B4-BE49-F238E27FC236}">
                <a16:creationId xmlns:a16="http://schemas.microsoft.com/office/drawing/2014/main" id="{E85E71FD-F468-DEDF-2176-5FCB710CFD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BA9E4E11-200A-4A9F-8EE2-F746B10D2CA5}" type="slidenum">
              <a:rPr lang="en-US" altLang="en-US" sz="14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20</a:t>
            </a:fld>
            <a:endParaRPr lang="en-US" altLang="en-US" sz="1400"/>
          </a:p>
        </p:txBody>
      </p:sp>
      <p:sp>
        <p:nvSpPr>
          <p:cNvPr id="22531" name="Rectangle 2">
            <a:extLst>
              <a:ext uri="{FF2B5EF4-FFF2-40B4-BE49-F238E27FC236}">
                <a16:creationId xmlns:a16="http://schemas.microsoft.com/office/drawing/2014/main" id="{6B491679-DC39-CFE5-D6EA-598F50259B5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152400"/>
            <a:ext cx="7848600" cy="1600200"/>
          </a:xfrm>
        </p:spPr>
        <p:txBody>
          <a:bodyPr/>
          <a:lstStyle/>
          <a:p>
            <a:pPr eaLnBrk="1" hangingPunct="1"/>
            <a:r>
              <a:rPr lang="en-US" altLang="en-US" sz="3600"/>
              <a:t>Why Do Users Want Seasonally Adjusted Data?</a:t>
            </a:r>
          </a:p>
        </p:txBody>
      </p:sp>
      <p:sp>
        <p:nvSpPr>
          <p:cNvPr id="22532" name="Rectangle 3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3FFCF136-1DDE-408D-20A1-5DCB99D8D30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endParaRPr lang="en-US" altLang="en-US"/>
          </a:p>
          <a:p>
            <a:pPr eaLnBrk="1" hangingPunct="1">
              <a:lnSpc>
                <a:spcPct val="90000"/>
              </a:lnSpc>
            </a:pPr>
            <a:endParaRPr lang="en-US" altLang="en-US"/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/>
              <a:t>	Seasonal movements can make features difficult or impossible to see</a:t>
            </a:r>
          </a:p>
        </p:txBody>
      </p:sp>
      <p:sp>
        <p:nvSpPr>
          <p:cNvPr id="22533" name="Footer Placeholder 4">
            <a:extLst>
              <a:ext uri="{FF2B5EF4-FFF2-40B4-BE49-F238E27FC236}">
                <a16:creationId xmlns:a16="http://schemas.microsoft.com/office/drawing/2014/main" id="{44BE2905-D563-3AB1-4D0D-477BCFB95E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GB" altLang="ja-JP" sz="1400"/>
              <a:t>IDS, Faculty of Engineering, University of Jaffna</a:t>
            </a:r>
            <a:endParaRPr lang="en-US" altLang="ja-JP" sz="1400"/>
          </a:p>
        </p:txBody>
      </p:sp>
    </p:spTree>
  </p:cSld>
  <p:clrMapOvr>
    <a:masterClrMapping/>
  </p:clrMapOvr>
  <p:transition>
    <p:dissolv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Slide Number Placeholder 5">
            <a:extLst>
              <a:ext uri="{FF2B5EF4-FFF2-40B4-BE49-F238E27FC236}">
                <a16:creationId xmlns:a16="http://schemas.microsoft.com/office/drawing/2014/main" id="{E46742D0-B293-B7C9-8910-C94E271A0B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4EB4D39A-C348-4D77-BE3B-151FCF75C25D}" type="slidenum">
              <a:rPr lang="en-US" altLang="en-US" sz="14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21</a:t>
            </a:fld>
            <a:endParaRPr lang="en-US" altLang="en-US" sz="1400"/>
          </a:p>
        </p:txBody>
      </p:sp>
      <p:sp>
        <p:nvSpPr>
          <p:cNvPr id="23555" name="Rectangle 2">
            <a:extLst>
              <a:ext uri="{FF2B5EF4-FFF2-40B4-BE49-F238E27FC236}">
                <a16:creationId xmlns:a16="http://schemas.microsoft.com/office/drawing/2014/main" id="{6F59D8BD-92F1-3F02-ADBD-409FFA0E0D2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600"/>
              <a:t>Causes of Seasonal Effects</a:t>
            </a:r>
          </a:p>
        </p:txBody>
      </p:sp>
      <p:sp>
        <p:nvSpPr>
          <p:cNvPr id="23556" name="Rectangle 3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A7349D2F-7711-9F0D-03EE-4B7CCAD18F9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8200" y="1905000"/>
            <a:ext cx="7086600" cy="4114800"/>
          </a:xfrm>
        </p:spPr>
        <p:txBody>
          <a:bodyPr/>
          <a:lstStyle/>
          <a:p>
            <a:pPr eaLnBrk="1" hangingPunct="1"/>
            <a:r>
              <a:rPr lang="en-US" altLang="en-US"/>
              <a:t>Possible causes are</a:t>
            </a:r>
          </a:p>
          <a:p>
            <a:pPr lvl="1" eaLnBrk="1" hangingPunct="1"/>
            <a:r>
              <a:rPr lang="en-US" altLang="en-US"/>
              <a:t>Natural factors</a:t>
            </a:r>
          </a:p>
          <a:p>
            <a:pPr lvl="1" eaLnBrk="1" hangingPunct="1"/>
            <a:r>
              <a:rPr lang="en-US" altLang="en-US"/>
              <a:t>Administrative or legal measures</a:t>
            </a:r>
          </a:p>
          <a:p>
            <a:pPr lvl="1" eaLnBrk="1" hangingPunct="1"/>
            <a:r>
              <a:rPr lang="en-US" altLang="en-US"/>
              <a:t>Social/cultural/religious traditions (e.g., fixed holidays, timing of vacations)</a:t>
            </a:r>
          </a:p>
          <a:p>
            <a:pPr eaLnBrk="1" hangingPunct="1"/>
            <a:endParaRPr lang="en-US" altLang="en-US"/>
          </a:p>
        </p:txBody>
      </p:sp>
      <p:sp>
        <p:nvSpPr>
          <p:cNvPr id="23557" name="Footer Placeholder 4">
            <a:extLst>
              <a:ext uri="{FF2B5EF4-FFF2-40B4-BE49-F238E27FC236}">
                <a16:creationId xmlns:a16="http://schemas.microsoft.com/office/drawing/2014/main" id="{ED45E6F5-86C0-EDAF-DE6F-57F3A65CA9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GB" altLang="ja-JP" sz="1400"/>
              <a:t>IDS, Faculty of Engineering, University of Jaffna</a:t>
            </a:r>
            <a:endParaRPr lang="en-US" altLang="ja-JP" sz="1400"/>
          </a:p>
        </p:txBody>
      </p:sp>
    </p:spTree>
  </p:cSld>
  <p:clrMapOvr>
    <a:masterClrMapping/>
  </p:clrMapOvr>
  <p:transition>
    <p:dissolv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Slide Number Placeholder 3">
            <a:extLst>
              <a:ext uri="{FF2B5EF4-FFF2-40B4-BE49-F238E27FC236}">
                <a16:creationId xmlns:a16="http://schemas.microsoft.com/office/drawing/2014/main" id="{5A9B3ACD-B1CD-6780-73EF-E3571E7DB8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16D98E07-3D39-4F8B-BA00-E286E9064F36}" type="slidenum">
              <a:rPr lang="en-US" altLang="en-US" sz="14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22</a:t>
            </a:fld>
            <a:endParaRPr lang="en-US" altLang="en-US" sz="1400"/>
          </a:p>
        </p:txBody>
      </p:sp>
      <p:sp>
        <p:nvSpPr>
          <p:cNvPr id="24579" name="Rectangle 2">
            <a:extLst>
              <a:ext uri="{FF2B5EF4-FFF2-40B4-BE49-F238E27FC236}">
                <a16:creationId xmlns:a16="http://schemas.microsoft.com/office/drawing/2014/main" id="{A84CEC95-2394-9316-D313-32D5A0D5AE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0725" y="396875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3600">
                <a:solidFill>
                  <a:schemeClr val="tx2"/>
                </a:solidFill>
              </a:rPr>
              <a:t>Components of Time Series</a:t>
            </a:r>
            <a:r>
              <a:rPr lang="ru-RU" altLang="en-US" sz="2800">
                <a:latin typeface="Times New Roman" panose="02020603050405020304" pitchFamily="18" charset="0"/>
              </a:rPr>
              <a:t> </a:t>
            </a:r>
            <a:br>
              <a:rPr lang="en-US" altLang="en-US" sz="4000">
                <a:latin typeface="Times New Roman" panose="02020603050405020304" pitchFamily="18" charset="0"/>
              </a:rPr>
            </a:br>
            <a:r>
              <a:rPr lang="en-US" altLang="en-US" sz="4000">
                <a:latin typeface="Times New Roman" panose="02020603050405020304" pitchFamily="18" charset="0"/>
              </a:rPr>
              <a:t>Cyclical variation ( C</a:t>
            </a:r>
            <a:r>
              <a:rPr lang="en-US" altLang="en-US" sz="2400">
                <a:latin typeface="Times New Roman" panose="02020603050405020304" pitchFamily="18" charset="0"/>
              </a:rPr>
              <a:t>t </a:t>
            </a:r>
            <a:r>
              <a:rPr lang="en-US" altLang="en-US" sz="4000">
                <a:latin typeface="Times New Roman" panose="02020603050405020304" pitchFamily="18" charset="0"/>
              </a:rPr>
              <a:t>)</a:t>
            </a:r>
            <a:br>
              <a:rPr lang="en-US" altLang="en-US" sz="4000">
                <a:latin typeface="Times New Roman" panose="02020603050405020304" pitchFamily="18" charset="0"/>
              </a:rPr>
            </a:br>
            <a:r>
              <a:rPr lang="ru-RU" altLang="en-US" sz="2800">
                <a:latin typeface="Times New Roman" panose="02020603050405020304" pitchFamily="18" charset="0"/>
              </a:rPr>
              <a:t>		</a:t>
            </a:r>
            <a:endParaRPr lang="en-US" altLang="en-US" sz="2800">
              <a:latin typeface="Times New Roman" panose="02020603050405020304" pitchFamily="18" charset="0"/>
            </a:endParaRPr>
          </a:p>
        </p:txBody>
      </p:sp>
      <p:sp>
        <p:nvSpPr>
          <p:cNvPr id="24580" name="Rectangle 3">
            <a:extLst>
              <a:ext uri="{FF2B5EF4-FFF2-40B4-BE49-F238E27FC236}">
                <a16:creationId xmlns:a16="http://schemas.microsoft.com/office/drawing/2014/main" id="{930EA5A3-0396-9858-1CC9-8ADEAA4B62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0725" y="1768475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buClrTx/>
              <a:buSzTx/>
              <a:buFontTx/>
              <a:buChar char="•"/>
            </a:pPr>
            <a:r>
              <a:rPr lang="en-US" altLang="en-US">
                <a:latin typeface="Times New Roman" panose="02020603050405020304" pitchFamily="18" charset="0"/>
              </a:rPr>
              <a:t>Cyclical variations are similar to seasonal variations. Cycles are often irregular both in height of peak and duration. </a:t>
            </a:r>
          </a:p>
          <a:p>
            <a:pPr eaLnBrk="1" hangingPunct="1">
              <a:buClrTx/>
              <a:buSzTx/>
              <a:buFontTx/>
              <a:buChar char="•"/>
            </a:pPr>
            <a:r>
              <a:rPr lang="en-US" altLang="en-US">
                <a:solidFill>
                  <a:srgbClr val="FF3399"/>
                </a:solidFill>
                <a:latin typeface="Times New Roman" panose="02020603050405020304" pitchFamily="18" charset="0"/>
              </a:rPr>
              <a:t>Examples: </a:t>
            </a:r>
          </a:p>
          <a:p>
            <a:pPr eaLnBrk="1" hangingPunct="1">
              <a:buClrTx/>
              <a:buSzTx/>
              <a:buFontTx/>
              <a:buChar char="•"/>
            </a:pPr>
            <a:r>
              <a:rPr lang="en-US" altLang="en-US">
                <a:latin typeface="Times New Roman" panose="02020603050405020304" pitchFamily="18" charset="0"/>
              </a:rPr>
              <a:t>Long-term product demand cycles.</a:t>
            </a:r>
          </a:p>
          <a:p>
            <a:pPr eaLnBrk="1" hangingPunct="1">
              <a:buClrTx/>
              <a:buSzTx/>
              <a:buFontTx/>
              <a:buChar char="•"/>
            </a:pPr>
            <a:r>
              <a:rPr lang="en-US" altLang="en-US">
                <a:latin typeface="Times New Roman" panose="02020603050405020304" pitchFamily="18" charset="0"/>
              </a:rPr>
              <a:t>Cycles in the monetary and financial sectors. (Important for economists!)</a:t>
            </a:r>
          </a:p>
        </p:txBody>
      </p:sp>
      <p:sp>
        <p:nvSpPr>
          <p:cNvPr id="24581" name="Footer Placeholder 4">
            <a:extLst>
              <a:ext uri="{FF2B5EF4-FFF2-40B4-BE49-F238E27FC236}">
                <a16:creationId xmlns:a16="http://schemas.microsoft.com/office/drawing/2014/main" id="{9F80EA7F-8B5D-F042-0669-5B89933CBD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GB" altLang="ja-JP" sz="1400"/>
              <a:t>IDS, Faculty of Engineering, University of Jaffna</a:t>
            </a:r>
            <a:endParaRPr lang="en-US" altLang="ja-JP" sz="14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Slide Number Placeholder 5">
            <a:extLst>
              <a:ext uri="{FF2B5EF4-FFF2-40B4-BE49-F238E27FC236}">
                <a16:creationId xmlns:a16="http://schemas.microsoft.com/office/drawing/2014/main" id="{70DBC19C-4916-6675-DEF3-E0FE3CFC4B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326B05E0-FA85-40E9-A5BD-7F06AEEB0E74}" type="slidenum">
              <a:rPr lang="en-US" altLang="en-US" sz="14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23</a:t>
            </a:fld>
            <a:endParaRPr lang="en-US" altLang="en-US" sz="1400"/>
          </a:p>
        </p:txBody>
      </p:sp>
      <p:sp>
        <p:nvSpPr>
          <p:cNvPr id="25603" name="Rectangle 2">
            <a:extLst>
              <a:ext uri="{FF2B5EF4-FFF2-40B4-BE49-F238E27FC236}">
                <a16:creationId xmlns:a16="http://schemas.microsoft.com/office/drawing/2014/main" id="{3079B0CD-EF08-7BB1-9DC9-6D2E7E66C89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defTabSz="852488" eaLnBrk="1" hangingPunct="1"/>
            <a:r>
              <a:rPr lang="en-US" altLang="en-US" sz="3600">
                <a:solidFill>
                  <a:srgbClr val="0033CC"/>
                </a:solidFill>
              </a:rPr>
              <a:t>Cyclical Component</a:t>
            </a:r>
          </a:p>
        </p:txBody>
      </p:sp>
      <p:sp>
        <p:nvSpPr>
          <p:cNvPr id="25604" name="Rectangle 3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6FC15150-E0B0-3E6A-5A80-94E30BF4A84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8200" y="1676400"/>
            <a:ext cx="8077200" cy="2266950"/>
          </a:xfrm>
        </p:spPr>
        <p:txBody>
          <a:bodyPr/>
          <a:lstStyle/>
          <a:p>
            <a:pPr marL="320675" indent="-320675" defTabSz="852488" eaLnBrk="1" hangingPunct="1"/>
            <a:r>
              <a:rPr lang="en-US" altLang="en-US">
                <a:solidFill>
                  <a:srgbClr val="0033CC"/>
                </a:solidFill>
              </a:rPr>
              <a:t>Long-term wave-like patterns</a:t>
            </a:r>
          </a:p>
          <a:p>
            <a:pPr marL="320675" indent="-320675" defTabSz="852488" eaLnBrk="1" hangingPunct="1"/>
            <a:r>
              <a:rPr lang="en-US" altLang="en-US">
                <a:solidFill>
                  <a:srgbClr val="0033CC"/>
                </a:solidFill>
              </a:rPr>
              <a:t>Regularly occur but may vary in length</a:t>
            </a:r>
          </a:p>
          <a:p>
            <a:pPr marL="320675" indent="-320675" defTabSz="852488" eaLnBrk="1" hangingPunct="1"/>
            <a:r>
              <a:rPr lang="en-US" altLang="en-US">
                <a:solidFill>
                  <a:srgbClr val="0033CC"/>
                </a:solidFill>
              </a:rPr>
              <a:t>Often measured peak to peak or trough to trough</a:t>
            </a:r>
          </a:p>
        </p:txBody>
      </p:sp>
      <p:sp>
        <p:nvSpPr>
          <p:cNvPr id="25605" name="Line 4">
            <a:extLst>
              <a:ext uri="{FF2B5EF4-FFF2-40B4-BE49-F238E27FC236}">
                <a16:creationId xmlns:a16="http://schemas.microsoft.com/office/drawing/2014/main" id="{189B28E4-F5DB-342A-5DCF-76744874C57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976438" y="4267200"/>
            <a:ext cx="4762" cy="1982788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NZ"/>
          </a:p>
        </p:txBody>
      </p:sp>
      <p:sp>
        <p:nvSpPr>
          <p:cNvPr id="25606" name="Line 5">
            <a:extLst>
              <a:ext uri="{FF2B5EF4-FFF2-40B4-BE49-F238E27FC236}">
                <a16:creationId xmlns:a16="http://schemas.microsoft.com/office/drawing/2014/main" id="{F94F9767-8851-AF45-0832-FB5170946FF7}"/>
              </a:ext>
            </a:extLst>
          </p:cNvPr>
          <p:cNvSpPr>
            <a:spLocks noChangeShapeType="1"/>
          </p:cNvSpPr>
          <p:nvPr/>
        </p:nvSpPr>
        <p:spPr bwMode="auto">
          <a:xfrm>
            <a:off x="1981200" y="6248400"/>
            <a:ext cx="5475288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NZ"/>
          </a:p>
        </p:txBody>
      </p:sp>
      <p:sp>
        <p:nvSpPr>
          <p:cNvPr id="25607" name="Rectangle 6">
            <a:extLst>
              <a:ext uri="{FF2B5EF4-FFF2-40B4-BE49-F238E27FC236}">
                <a16:creationId xmlns:a16="http://schemas.microsoft.com/office/drawing/2014/main" id="{E4783E8B-59DA-97CC-DA76-8ED03B1FBF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5400" y="3810000"/>
            <a:ext cx="1069975" cy="454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400">
                <a:solidFill>
                  <a:srgbClr val="0033CC"/>
                </a:solidFill>
                <a:latin typeface="Arial" panose="020B0604020202020204" pitchFamily="34" charset="0"/>
              </a:rPr>
              <a:t>Sales</a:t>
            </a:r>
          </a:p>
        </p:txBody>
      </p:sp>
      <p:sp>
        <p:nvSpPr>
          <p:cNvPr id="25608" name="Oval 7">
            <a:extLst>
              <a:ext uri="{FF2B5EF4-FFF2-40B4-BE49-F238E27FC236}">
                <a16:creationId xmlns:a16="http://schemas.microsoft.com/office/drawing/2014/main" id="{9E3298E0-7DC0-E579-2CA1-5DC03E91F2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8800" y="5486400"/>
            <a:ext cx="304800" cy="304800"/>
          </a:xfrm>
          <a:prstGeom prst="ellipse">
            <a:avLst/>
          </a:prstGeom>
          <a:solidFill>
            <a:schemeClr val="folHlink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800"/>
          </a:p>
        </p:txBody>
      </p:sp>
      <p:sp>
        <p:nvSpPr>
          <p:cNvPr id="25609" name="Oval 8">
            <a:extLst>
              <a:ext uri="{FF2B5EF4-FFF2-40B4-BE49-F238E27FC236}">
                <a16:creationId xmlns:a16="http://schemas.microsoft.com/office/drawing/2014/main" id="{1EFD8F46-0F17-D7CE-5BE7-7EF8EACE86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95600" y="4953000"/>
            <a:ext cx="304800" cy="304800"/>
          </a:xfrm>
          <a:prstGeom prst="ellipse">
            <a:avLst/>
          </a:prstGeom>
          <a:solidFill>
            <a:schemeClr val="folHlink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800"/>
          </a:p>
        </p:txBody>
      </p:sp>
      <p:sp>
        <p:nvSpPr>
          <p:cNvPr id="25610" name="Oval 9">
            <a:extLst>
              <a:ext uri="{FF2B5EF4-FFF2-40B4-BE49-F238E27FC236}">
                <a16:creationId xmlns:a16="http://schemas.microsoft.com/office/drawing/2014/main" id="{7664B0B3-9D7A-E6D7-0BF9-6AB305C88C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91200" y="5410200"/>
            <a:ext cx="304800" cy="304800"/>
          </a:xfrm>
          <a:prstGeom prst="ellipse">
            <a:avLst/>
          </a:prstGeom>
          <a:solidFill>
            <a:schemeClr val="folHlink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800"/>
          </a:p>
        </p:txBody>
      </p:sp>
      <p:sp>
        <p:nvSpPr>
          <p:cNvPr id="25611" name="Oval 10">
            <a:extLst>
              <a:ext uri="{FF2B5EF4-FFF2-40B4-BE49-F238E27FC236}">
                <a16:creationId xmlns:a16="http://schemas.microsoft.com/office/drawing/2014/main" id="{8C404E1C-130F-BCF3-53B5-EF2DFD6BF1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34200" y="4191000"/>
            <a:ext cx="304800" cy="304800"/>
          </a:xfrm>
          <a:prstGeom prst="ellipse">
            <a:avLst/>
          </a:prstGeom>
          <a:solidFill>
            <a:schemeClr val="folHlink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th-TH" altLang="en-US" sz="2400">
              <a:solidFill>
                <a:srgbClr val="0033CC"/>
              </a:solidFill>
            </a:endParaRPr>
          </a:p>
        </p:txBody>
      </p:sp>
      <p:sp>
        <p:nvSpPr>
          <p:cNvPr id="25612" name="Freeform 11">
            <a:extLst>
              <a:ext uri="{FF2B5EF4-FFF2-40B4-BE49-F238E27FC236}">
                <a16:creationId xmlns:a16="http://schemas.microsoft.com/office/drawing/2014/main" id="{F17B8A1F-496D-3E74-5243-520F7C88D89C}"/>
              </a:ext>
            </a:extLst>
          </p:cNvPr>
          <p:cNvSpPr>
            <a:spLocks/>
          </p:cNvSpPr>
          <p:nvPr/>
        </p:nvSpPr>
        <p:spPr bwMode="auto">
          <a:xfrm rot="225312">
            <a:off x="3351213" y="3962400"/>
            <a:ext cx="3735387" cy="390525"/>
          </a:xfrm>
          <a:custGeom>
            <a:avLst/>
            <a:gdLst>
              <a:gd name="T0" fmla="*/ 2147483647 w 1285"/>
              <a:gd name="T1" fmla="*/ 2147483647 h 246"/>
              <a:gd name="T2" fmla="*/ 2147483647 w 1285"/>
              <a:gd name="T3" fmla="*/ 2147483647 h 246"/>
              <a:gd name="T4" fmla="*/ 2147483647 w 1285"/>
              <a:gd name="T5" fmla="*/ 2147483647 h 246"/>
              <a:gd name="T6" fmla="*/ 2147483647 w 1285"/>
              <a:gd name="T7" fmla="*/ 0 h 246"/>
              <a:gd name="T8" fmla="*/ 2147483647 w 1285"/>
              <a:gd name="T9" fmla="*/ 0 h 246"/>
              <a:gd name="T10" fmla="*/ 2147483647 w 1285"/>
              <a:gd name="T11" fmla="*/ 2147483647 h 246"/>
              <a:gd name="T12" fmla="*/ 2147483647 w 1285"/>
              <a:gd name="T13" fmla="*/ 2147483647 h 246"/>
              <a:gd name="T14" fmla="*/ 2147483647 w 1285"/>
              <a:gd name="T15" fmla="*/ 2147483647 h 246"/>
              <a:gd name="T16" fmla="*/ 2147483647 w 1285"/>
              <a:gd name="T17" fmla="*/ 2147483647 h 246"/>
              <a:gd name="T18" fmla="*/ 2147483647 w 1285"/>
              <a:gd name="T19" fmla="*/ 2147483647 h 246"/>
              <a:gd name="T20" fmla="*/ 2147483647 w 1285"/>
              <a:gd name="T21" fmla="*/ 2147483647 h 246"/>
              <a:gd name="T22" fmla="*/ 2147483647 w 1285"/>
              <a:gd name="T23" fmla="*/ 2147483647 h 246"/>
              <a:gd name="T24" fmla="*/ 2147483647 w 1285"/>
              <a:gd name="T25" fmla="*/ 2147483647 h 246"/>
              <a:gd name="T26" fmla="*/ 2147483647 w 1285"/>
              <a:gd name="T27" fmla="*/ 2147483647 h 246"/>
              <a:gd name="T28" fmla="*/ 2147483647 w 1285"/>
              <a:gd name="T29" fmla="*/ 2147483647 h 246"/>
              <a:gd name="T30" fmla="*/ 2147483647 w 1285"/>
              <a:gd name="T31" fmla="*/ 2147483647 h 246"/>
              <a:gd name="T32" fmla="*/ 2147483647 w 1285"/>
              <a:gd name="T33" fmla="*/ 2147483647 h 246"/>
              <a:gd name="T34" fmla="*/ 2147483647 w 1285"/>
              <a:gd name="T35" fmla="*/ 2147483647 h 246"/>
              <a:gd name="T36" fmla="*/ 0 w 1285"/>
              <a:gd name="T37" fmla="*/ 2147483647 h 24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w 1285"/>
              <a:gd name="T58" fmla="*/ 0 h 246"/>
              <a:gd name="T59" fmla="*/ 1285 w 1285"/>
              <a:gd name="T60" fmla="*/ 246 h 246"/>
            </a:gdLst>
            <a:ahLst/>
            <a:cxnLst>
              <a:cxn ang="T38">
                <a:pos x="T0" y="T1"/>
              </a:cxn>
              <a:cxn ang="T39">
                <a:pos x="T2" y="T3"/>
              </a:cxn>
              <a:cxn ang="T40">
                <a:pos x="T4" y="T5"/>
              </a:cxn>
              <a:cxn ang="T41">
                <a:pos x="T6" y="T7"/>
              </a:cxn>
              <a:cxn ang="T42">
                <a:pos x="T8" y="T9"/>
              </a:cxn>
              <a:cxn ang="T43">
                <a:pos x="T10" y="T11"/>
              </a:cxn>
              <a:cxn ang="T44">
                <a:pos x="T12" y="T13"/>
              </a:cxn>
              <a:cxn ang="T45">
                <a:pos x="T14" y="T15"/>
              </a:cxn>
              <a:cxn ang="T46">
                <a:pos x="T16" y="T17"/>
              </a:cxn>
              <a:cxn ang="T47">
                <a:pos x="T18" y="T19"/>
              </a:cxn>
              <a:cxn ang="T48">
                <a:pos x="T20" y="T21"/>
              </a:cxn>
              <a:cxn ang="T49">
                <a:pos x="T22" y="T23"/>
              </a:cxn>
              <a:cxn ang="T50">
                <a:pos x="T24" y="T25"/>
              </a:cxn>
              <a:cxn ang="T51">
                <a:pos x="T26" y="T27"/>
              </a:cxn>
              <a:cxn ang="T52">
                <a:pos x="T28" y="T29"/>
              </a:cxn>
              <a:cxn ang="T53">
                <a:pos x="T30" y="T31"/>
              </a:cxn>
              <a:cxn ang="T54">
                <a:pos x="T32" y="T33"/>
              </a:cxn>
              <a:cxn ang="T55">
                <a:pos x="T34" y="T35"/>
              </a:cxn>
              <a:cxn ang="T56">
                <a:pos x="T36" y="T37"/>
              </a:cxn>
            </a:cxnLst>
            <a:rect l="T57" t="T58" r="T59" b="T60"/>
            <a:pathLst>
              <a:path w="1285" h="246">
                <a:moveTo>
                  <a:pt x="1284" y="54"/>
                </a:moveTo>
                <a:lnTo>
                  <a:pt x="1273" y="27"/>
                </a:lnTo>
                <a:lnTo>
                  <a:pt x="1247" y="9"/>
                </a:lnTo>
                <a:lnTo>
                  <a:pt x="1210" y="0"/>
                </a:lnTo>
                <a:lnTo>
                  <a:pt x="1167" y="0"/>
                </a:lnTo>
                <a:lnTo>
                  <a:pt x="727" y="62"/>
                </a:lnTo>
                <a:lnTo>
                  <a:pt x="684" y="62"/>
                </a:lnTo>
                <a:lnTo>
                  <a:pt x="647" y="54"/>
                </a:lnTo>
                <a:lnTo>
                  <a:pt x="621" y="36"/>
                </a:lnTo>
                <a:lnTo>
                  <a:pt x="610" y="9"/>
                </a:lnTo>
                <a:lnTo>
                  <a:pt x="605" y="40"/>
                </a:lnTo>
                <a:lnTo>
                  <a:pt x="589" y="67"/>
                </a:lnTo>
                <a:lnTo>
                  <a:pt x="557" y="85"/>
                </a:lnTo>
                <a:lnTo>
                  <a:pt x="514" y="98"/>
                </a:lnTo>
                <a:lnTo>
                  <a:pt x="95" y="156"/>
                </a:lnTo>
                <a:lnTo>
                  <a:pt x="53" y="169"/>
                </a:lnTo>
                <a:lnTo>
                  <a:pt x="26" y="187"/>
                </a:lnTo>
                <a:lnTo>
                  <a:pt x="5" y="214"/>
                </a:lnTo>
                <a:lnTo>
                  <a:pt x="0" y="245"/>
                </a:lnTo>
              </a:path>
            </a:pathLst>
          </a:custGeom>
          <a:noFill/>
          <a:ln w="28575" cap="rnd">
            <a:solidFill>
              <a:schemeClr val="hlink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NZ"/>
          </a:p>
        </p:txBody>
      </p:sp>
      <p:sp>
        <p:nvSpPr>
          <p:cNvPr id="25613" name="Rectangle 12">
            <a:extLst>
              <a:ext uri="{FF2B5EF4-FFF2-40B4-BE49-F238E27FC236}">
                <a16:creationId xmlns:a16="http://schemas.microsoft.com/office/drawing/2014/main" id="{404B6E8C-2DF5-5B9C-0CDC-D4C0348F82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95800" y="3429000"/>
            <a:ext cx="1371600" cy="463550"/>
          </a:xfrm>
          <a:prstGeom prst="rect">
            <a:avLst/>
          </a:prstGeom>
          <a:solidFill>
            <a:srgbClr val="FDE0BD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lIns="90488" tIns="44450" rIns="90488" bIns="44450"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400">
                <a:solidFill>
                  <a:srgbClr val="0033CC"/>
                </a:solidFill>
                <a:latin typeface="Arial" panose="020B0604020202020204" pitchFamily="34" charset="0"/>
              </a:rPr>
              <a:t>1 Cycle</a:t>
            </a:r>
          </a:p>
        </p:txBody>
      </p:sp>
      <p:sp>
        <p:nvSpPr>
          <p:cNvPr id="25614" name="Oval 13">
            <a:extLst>
              <a:ext uri="{FF2B5EF4-FFF2-40B4-BE49-F238E27FC236}">
                <a16:creationId xmlns:a16="http://schemas.microsoft.com/office/drawing/2014/main" id="{D734DC71-ECC6-0138-C861-13EFD43774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0400" y="4648200"/>
            <a:ext cx="304800" cy="304800"/>
          </a:xfrm>
          <a:prstGeom prst="ellipse">
            <a:avLst/>
          </a:prstGeom>
          <a:solidFill>
            <a:schemeClr val="folHlink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800"/>
          </a:p>
        </p:txBody>
      </p:sp>
      <p:sp>
        <p:nvSpPr>
          <p:cNvPr id="25615" name="Oval 14">
            <a:extLst>
              <a:ext uri="{FF2B5EF4-FFF2-40B4-BE49-F238E27FC236}">
                <a16:creationId xmlns:a16="http://schemas.microsoft.com/office/drawing/2014/main" id="{73F34F42-12F8-E193-0893-653780B6C1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81400" y="4953000"/>
            <a:ext cx="304800" cy="304800"/>
          </a:xfrm>
          <a:prstGeom prst="ellipse">
            <a:avLst/>
          </a:prstGeom>
          <a:solidFill>
            <a:schemeClr val="folHlink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800"/>
          </a:p>
        </p:txBody>
      </p:sp>
      <p:sp>
        <p:nvSpPr>
          <p:cNvPr id="25616" name="Oval 15">
            <a:extLst>
              <a:ext uri="{FF2B5EF4-FFF2-40B4-BE49-F238E27FC236}">
                <a16:creationId xmlns:a16="http://schemas.microsoft.com/office/drawing/2014/main" id="{C6400324-19E9-DDA3-B93F-0D2CB56ECB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62400" y="4800600"/>
            <a:ext cx="304800" cy="304800"/>
          </a:xfrm>
          <a:prstGeom prst="ellipse">
            <a:avLst/>
          </a:prstGeom>
          <a:solidFill>
            <a:schemeClr val="folHlink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800"/>
          </a:p>
        </p:txBody>
      </p:sp>
      <p:sp>
        <p:nvSpPr>
          <p:cNvPr id="25617" name="Oval 16">
            <a:extLst>
              <a:ext uri="{FF2B5EF4-FFF2-40B4-BE49-F238E27FC236}">
                <a16:creationId xmlns:a16="http://schemas.microsoft.com/office/drawing/2014/main" id="{C1C1D78C-2372-F5F6-FF9D-DAC97D9255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67200" y="5257800"/>
            <a:ext cx="304800" cy="304800"/>
          </a:xfrm>
          <a:prstGeom prst="ellipse">
            <a:avLst/>
          </a:prstGeom>
          <a:solidFill>
            <a:schemeClr val="folHlink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800"/>
          </a:p>
        </p:txBody>
      </p:sp>
      <p:sp>
        <p:nvSpPr>
          <p:cNvPr id="25618" name="Oval 17">
            <a:extLst>
              <a:ext uri="{FF2B5EF4-FFF2-40B4-BE49-F238E27FC236}">
                <a16:creationId xmlns:a16="http://schemas.microsoft.com/office/drawing/2014/main" id="{88A1EF60-4341-1A98-85AB-F479A057C8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8200" y="5105400"/>
            <a:ext cx="304800" cy="304800"/>
          </a:xfrm>
          <a:prstGeom prst="ellipse">
            <a:avLst/>
          </a:prstGeom>
          <a:solidFill>
            <a:schemeClr val="folHlink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800"/>
          </a:p>
        </p:txBody>
      </p:sp>
      <p:sp>
        <p:nvSpPr>
          <p:cNvPr id="25619" name="Oval 18">
            <a:extLst>
              <a:ext uri="{FF2B5EF4-FFF2-40B4-BE49-F238E27FC236}">
                <a16:creationId xmlns:a16="http://schemas.microsoft.com/office/drawing/2014/main" id="{7947D4AA-2EAF-9EBA-BD57-510CD931D9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29200" y="5334000"/>
            <a:ext cx="304800" cy="304800"/>
          </a:xfrm>
          <a:prstGeom prst="ellipse">
            <a:avLst/>
          </a:prstGeom>
          <a:solidFill>
            <a:schemeClr val="folHlink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800"/>
          </a:p>
        </p:txBody>
      </p:sp>
      <p:sp>
        <p:nvSpPr>
          <p:cNvPr id="25620" name="Oval 19">
            <a:extLst>
              <a:ext uri="{FF2B5EF4-FFF2-40B4-BE49-F238E27FC236}">
                <a16:creationId xmlns:a16="http://schemas.microsoft.com/office/drawing/2014/main" id="{9F43A391-5C92-B136-8875-D2AA836BDE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10200" y="5562600"/>
            <a:ext cx="304800" cy="304800"/>
          </a:xfrm>
          <a:prstGeom prst="ellipse">
            <a:avLst/>
          </a:prstGeom>
          <a:solidFill>
            <a:schemeClr val="folHlink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800"/>
          </a:p>
        </p:txBody>
      </p:sp>
      <p:sp>
        <p:nvSpPr>
          <p:cNvPr id="25621" name="Oval 20">
            <a:extLst>
              <a:ext uri="{FF2B5EF4-FFF2-40B4-BE49-F238E27FC236}">
                <a16:creationId xmlns:a16="http://schemas.microsoft.com/office/drawing/2014/main" id="{D146AE3D-FF03-97D4-AABF-48C8DBA56E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9800" y="4953000"/>
            <a:ext cx="304800" cy="304800"/>
          </a:xfrm>
          <a:prstGeom prst="ellipse">
            <a:avLst/>
          </a:prstGeom>
          <a:solidFill>
            <a:schemeClr val="folHlink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800"/>
          </a:p>
        </p:txBody>
      </p:sp>
      <p:sp>
        <p:nvSpPr>
          <p:cNvPr id="25622" name="Oval 21">
            <a:extLst>
              <a:ext uri="{FF2B5EF4-FFF2-40B4-BE49-F238E27FC236}">
                <a16:creationId xmlns:a16="http://schemas.microsoft.com/office/drawing/2014/main" id="{DDF47AD7-27F6-E4E1-D78C-615EEB4701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48400" y="4419600"/>
            <a:ext cx="304800" cy="304800"/>
          </a:xfrm>
          <a:prstGeom prst="ellipse">
            <a:avLst/>
          </a:prstGeom>
          <a:solidFill>
            <a:schemeClr val="folHlink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800"/>
          </a:p>
        </p:txBody>
      </p:sp>
      <p:sp>
        <p:nvSpPr>
          <p:cNvPr id="25623" name="Oval 22">
            <a:extLst>
              <a:ext uri="{FF2B5EF4-FFF2-40B4-BE49-F238E27FC236}">
                <a16:creationId xmlns:a16="http://schemas.microsoft.com/office/drawing/2014/main" id="{9A6E4011-B911-2881-7C9C-BA670CBF99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29400" y="4495800"/>
            <a:ext cx="304800" cy="304800"/>
          </a:xfrm>
          <a:prstGeom prst="ellipse">
            <a:avLst/>
          </a:prstGeom>
          <a:solidFill>
            <a:schemeClr val="folHlink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800"/>
          </a:p>
        </p:txBody>
      </p:sp>
      <p:sp>
        <p:nvSpPr>
          <p:cNvPr id="25624" name="Oval 23">
            <a:extLst>
              <a:ext uri="{FF2B5EF4-FFF2-40B4-BE49-F238E27FC236}">
                <a16:creationId xmlns:a16="http://schemas.microsoft.com/office/drawing/2014/main" id="{E20FE585-5B93-5172-9326-71E96941AB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38400" y="4876800"/>
            <a:ext cx="304800" cy="304800"/>
          </a:xfrm>
          <a:prstGeom prst="ellipse">
            <a:avLst/>
          </a:prstGeom>
          <a:solidFill>
            <a:schemeClr val="folHlink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800"/>
          </a:p>
        </p:txBody>
      </p:sp>
      <p:sp>
        <p:nvSpPr>
          <p:cNvPr id="25625" name="Oval 24">
            <a:extLst>
              <a:ext uri="{FF2B5EF4-FFF2-40B4-BE49-F238E27FC236}">
                <a16:creationId xmlns:a16="http://schemas.microsoft.com/office/drawing/2014/main" id="{C0C50EA6-EE71-C183-05DF-A3F46F5593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0" y="5257800"/>
            <a:ext cx="304800" cy="304800"/>
          </a:xfrm>
          <a:prstGeom prst="ellipse">
            <a:avLst/>
          </a:prstGeom>
          <a:solidFill>
            <a:schemeClr val="folHlink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800"/>
          </a:p>
        </p:txBody>
      </p:sp>
      <p:sp>
        <p:nvSpPr>
          <p:cNvPr id="25626" name="Oval 25">
            <a:extLst>
              <a:ext uri="{FF2B5EF4-FFF2-40B4-BE49-F238E27FC236}">
                <a16:creationId xmlns:a16="http://schemas.microsoft.com/office/drawing/2014/main" id="{9D5E9D49-D879-1FC1-E5A0-C40DB77B40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15200" y="4495800"/>
            <a:ext cx="304800" cy="304800"/>
          </a:xfrm>
          <a:prstGeom prst="ellipse">
            <a:avLst/>
          </a:prstGeom>
          <a:solidFill>
            <a:schemeClr val="folHlink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800"/>
          </a:p>
        </p:txBody>
      </p:sp>
      <p:sp>
        <p:nvSpPr>
          <p:cNvPr id="25627" name="Oval 26">
            <a:extLst>
              <a:ext uri="{FF2B5EF4-FFF2-40B4-BE49-F238E27FC236}">
                <a16:creationId xmlns:a16="http://schemas.microsoft.com/office/drawing/2014/main" id="{DA9BB7E3-3F51-B95D-EDC6-D7892D3883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96200" y="4572000"/>
            <a:ext cx="304800" cy="304800"/>
          </a:xfrm>
          <a:prstGeom prst="ellipse">
            <a:avLst/>
          </a:prstGeom>
          <a:solidFill>
            <a:schemeClr val="folHlink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800"/>
          </a:p>
        </p:txBody>
      </p:sp>
      <p:sp>
        <p:nvSpPr>
          <p:cNvPr id="25628" name="Rectangle 27">
            <a:extLst>
              <a:ext uri="{FF2B5EF4-FFF2-40B4-BE49-F238E27FC236}">
                <a16:creationId xmlns:a16="http://schemas.microsoft.com/office/drawing/2014/main" id="{4427A041-130F-94B2-2AB2-C3B321ACC1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34200" y="6172200"/>
            <a:ext cx="1069975" cy="454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400">
                <a:solidFill>
                  <a:srgbClr val="0033CC"/>
                </a:solidFill>
                <a:latin typeface="Arial" panose="020B0604020202020204" pitchFamily="34" charset="0"/>
              </a:rPr>
              <a:t>Year</a:t>
            </a:r>
          </a:p>
        </p:txBody>
      </p:sp>
      <p:sp>
        <p:nvSpPr>
          <p:cNvPr id="25629" name="Line 28">
            <a:extLst>
              <a:ext uri="{FF2B5EF4-FFF2-40B4-BE49-F238E27FC236}">
                <a16:creationId xmlns:a16="http://schemas.microsoft.com/office/drawing/2014/main" id="{CB14FB39-4BA4-F2A5-E34D-2FE34DA4789B}"/>
              </a:ext>
            </a:extLst>
          </p:cNvPr>
          <p:cNvSpPr>
            <a:spLocks noChangeShapeType="1"/>
          </p:cNvSpPr>
          <p:nvPr/>
        </p:nvSpPr>
        <p:spPr bwMode="auto">
          <a:xfrm>
            <a:off x="3352800" y="4343400"/>
            <a:ext cx="0" cy="19050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NZ"/>
          </a:p>
        </p:txBody>
      </p:sp>
      <p:sp>
        <p:nvSpPr>
          <p:cNvPr id="25630" name="Line 29">
            <a:extLst>
              <a:ext uri="{FF2B5EF4-FFF2-40B4-BE49-F238E27FC236}">
                <a16:creationId xmlns:a16="http://schemas.microsoft.com/office/drawing/2014/main" id="{F944C0C5-3CFD-3680-7D3B-E2E947995B90}"/>
              </a:ext>
            </a:extLst>
          </p:cNvPr>
          <p:cNvSpPr>
            <a:spLocks noChangeShapeType="1"/>
          </p:cNvSpPr>
          <p:nvPr/>
        </p:nvSpPr>
        <p:spPr bwMode="auto">
          <a:xfrm>
            <a:off x="7086600" y="4343400"/>
            <a:ext cx="0" cy="19050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NZ"/>
          </a:p>
        </p:txBody>
      </p:sp>
      <p:pic>
        <p:nvPicPr>
          <p:cNvPr id="25631" name="Picture 30">
            <a:extLst>
              <a:ext uri="{FF2B5EF4-FFF2-40B4-BE49-F238E27FC236}">
                <a16:creationId xmlns:a16="http://schemas.microsoft.com/office/drawing/2014/main" id="{E4AD46A2-A35C-260D-175A-A6CD210D1A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ECECEC"/>
              </a:clrFrom>
              <a:clrTo>
                <a:srgbClr val="ECECEC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75400" y="0"/>
            <a:ext cx="2768600" cy="1855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5632" name="Footer Placeholder 31">
            <a:extLst>
              <a:ext uri="{FF2B5EF4-FFF2-40B4-BE49-F238E27FC236}">
                <a16:creationId xmlns:a16="http://schemas.microsoft.com/office/drawing/2014/main" id="{769376CF-337F-F2C5-A11D-3A1E1A94BD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6318250"/>
            <a:ext cx="2895600" cy="3873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GB" altLang="ja-JP" sz="1400"/>
              <a:t>IDS, Faculty of Engineering, University of Jaffna</a:t>
            </a:r>
            <a:endParaRPr lang="en-US" altLang="ja-JP" sz="14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Slide Number Placeholder 5">
            <a:extLst>
              <a:ext uri="{FF2B5EF4-FFF2-40B4-BE49-F238E27FC236}">
                <a16:creationId xmlns:a16="http://schemas.microsoft.com/office/drawing/2014/main" id="{BD478446-6262-5463-FD44-8D6ED77B27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654C7F4C-15C8-4940-AF99-CE332476972E}" type="slidenum">
              <a:rPr lang="en-US" altLang="en-US" sz="14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24</a:t>
            </a:fld>
            <a:endParaRPr lang="en-US" altLang="en-US" sz="1400"/>
          </a:p>
        </p:txBody>
      </p:sp>
      <p:sp>
        <p:nvSpPr>
          <p:cNvPr id="26627" name="Rectangle 2">
            <a:extLst>
              <a:ext uri="{FF2B5EF4-FFF2-40B4-BE49-F238E27FC236}">
                <a16:creationId xmlns:a16="http://schemas.microsoft.com/office/drawing/2014/main" id="{2B794328-42CB-5EE1-9942-8BDF48BC4D4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219200" y="381000"/>
            <a:ext cx="7793038" cy="762000"/>
          </a:xfrm>
        </p:spPr>
        <p:txBody>
          <a:bodyPr/>
          <a:lstStyle/>
          <a:p>
            <a:pPr defTabSz="852488" eaLnBrk="1" hangingPunct="1"/>
            <a:r>
              <a:rPr lang="en-US" altLang="en-US" sz="3600"/>
              <a:t>Irregular Component</a:t>
            </a:r>
          </a:p>
        </p:txBody>
      </p:sp>
      <p:sp>
        <p:nvSpPr>
          <p:cNvPr id="26628" name="Rectangle 3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6906979D-D337-911D-C343-D6E00513572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90600" y="1752600"/>
            <a:ext cx="7772400" cy="4114800"/>
          </a:xfrm>
        </p:spPr>
        <p:txBody>
          <a:bodyPr/>
          <a:lstStyle/>
          <a:p>
            <a:pPr marL="320675" indent="-320675" defTabSz="852488" eaLnBrk="1" hangingPunct="1"/>
            <a:r>
              <a:rPr lang="en-US" altLang="en-US"/>
              <a:t>Unpredictable, random, “residual” fluctuations</a:t>
            </a:r>
          </a:p>
          <a:p>
            <a:pPr marL="320675" indent="-320675" defTabSz="852488" eaLnBrk="1" hangingPunct="1"/>
            <a:r>
              <a:rPr lang="en-US" altLang="en-US"/>
              <a:t>Due to random variations of </a:t>
            </a:r>
          </a:p>
          <a:p>
            <a:pPr marL="693738" lvl="1" indent="-268288" defTabSz="852488" eaLnBrk="1" hangingPunct="1"/>
            <a:r>
              <a:rPr lang="en-US" altLang="en-US"/>
              <a:t>Nature</a:t>
            </a:r>
          </a:p>
          <a:p>
            <a:pPr marL="693738" lvl="1" indent="-268288" defTabSz="852488" eaLnBrk="1" hangingPunct="1"/>
            <a:r>
              <a:rPr lang="en-US" altLang="en-US"/>
              <a:t>Accidents or unusual events</a:t>
            </a:r>
          </a:p>
          <a:p>
            <a:pPr marL="320675" indent="-320675" defTabSz="852488" eaLnBrk="1" hangingPunct="1"/>
            <a:r>
              <a:rPr lang="en-US" altLang="en-US"/>
              <a:t>“Noise” in the time series</a:t>
            </a:r>
          </a:p>
        </p:txBody>
      </p:sp>
      <p:graphicFrame>
        <p:nvGraphicFramePr>
          <p:cNvPr id="26629" name="Object 4">
            <a:hlinkClick r:id="" action="ppaction://ole?verb=0"/>
            <a:extLst>
              <a:ext uri="{FF2B5EF4-FFF2-40B4-BE49-F238E27FC236}">
                <a16:creationId xmlns:a16="http://schemas.microsoft.com/office/drawing/2014/main" id="{CFC1403C-FE5E-D4EF-BB9B-0251AB2E3EAC}"/>
              </a:ext>
            </a:extLst>
          </p:cNvPr>
          <p:cNvGraphicFramePr>
            <a:graphicFrameLocks/>
          </p:cNvGraphicFramePr>
          <p:nvPr/>
        </p:nvGraphicFramePr>
        <p:xfrm>
          <a:off x="5791200" y="4267200"/>
          <a:ext cx="2527300" cy="1233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lip" r:id="rId3" imgW="2527300" imgH="1233488" progId="MS_ClipArt_Gallery.5">
                  <p:embed/>
                </p:oleObj>
              </mc:Choice>
              <mc:Fallback>
                <p:oleObj name="Clip" r:id="rId3" imgW="2527300" imgH="1233488" progId="MS_ClipArt_Gallery.5">
                  <p:embed/>
                  <p:pic>
                    <p:nvPicPr>
                      <p:cNvPr id="26629" name="Object 4">
                        <a:hlinkClick r:id="" action="ppaction://ole?verb=0"/>
                        <a:extLst>
                          <a:ext uri="{FF2B5EF4-FFF2-40B4-BE49-F238E27FC236}">
                            <a16:creationId xmlns:a16="http://schemas.microsoft.com/office/drawing/2014/main" id="{CFC1403C-FE5E-D4EF-BB9B-0251AB2E3EAC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91200" y="4267200"/>
                        <a:ext cx="2527300" cy="12334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630" name="Footer Placeholder 5">
            <a:extLst>
              <a:ext uri="{FF2B5EF4-FFF2-40B4-BE49-F238E27FC236}">
                <a16:creationId xmlns:a16="http://schemas.microsoft.com/office/drawing/2014/main" id="{2DBE99B1-88A2-DB75-08A3-A7A4801F29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GB" altLang="ja-JP" sz="1400"/>
              <a:t>IDS, Faculty of Engineering, University of Jaffna</a:t>
            </a:r>
            <a:endParaRPr lang="en-US" altLang="ja-JP" sz="140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Slide Number Placeholder 5">
            <a:extLst>
              <a:ext uri="{FF2B5EF4-FFF2-40B4-BE49-F238E27FC236}">
                <a16:creationId xmlns:a16="http://schemas.microsoft.com/office/drawing/2014/main" id="{2F9C029B-65DA-2C89-7C45-51343BAEE8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D96CFA63-D2CF-4655-BD35-C86D9CF14960}" type="slidenum">
              <a:rPr lang="en-US" altLang="en-US" sz="14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25</a:t>
            </a:fld>
            <a:endParaRPr lang="en-US" altLang="en-US" sz="1400"/>
          </a:p>
        </p:txBody>
      </p:sp>
      <p:sp>
        <p:nvSpPr>
          <p:cNvPr id="27651" name="Rectangle 2">
            <a:extLst>
              <a:ext uri="{FF2B5EF4-FFF2-40B4-BE49-F238E27FC236}">
                <a16:creationId xmlns:a16="http://schemas.microsoft.com/office/drawing/2014/main" id="{4938E195-BE55-BF4B-48CE-7E55BBE73F5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600"/>
              <a:t>Causes of Irregular Effects</a:t>
            </a:r>
          </a:p>
        </p:txBody>
      </p:sp>
      <p:sp>
        <p:nvSpPr>
          <p:cNvPr id="27652" name="Rectangle 3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59C2535D-E7B7-AC8A-7E59-ACC4ADD5BF2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Possible causes</a:t>
            </a:r>
          </a:p>
          <a:p>
            <a:pPr lvl="1" eaLnBrk="1" hangingPunct="1"/>
            <a:r>
              <a:rPr lang="en-US" altLang="en-US"/>
              <a:t>Unseasonable weather/natural disasters</a:t>
            </a:r>
          </a:p>
          <a:p>
            <a:pPr lvl="1" eaLnBrk="1" hangingPunct="1"/>
            <a:r>
              <a:rPr lang="en-US" altLang="en-US"/>
              <a:t>Strikes</a:t>
            </a:r>
          </a:p>
          <a:p>
            <a:pPr lvl="1" eaLnBrk="1" hangingPunct="1"/>
            <a:r>
              <a:rPr lang="en-US" altLang="en-US"/>
              <a:t>Sampling error</a:t>
            </a:r>
          </a:p>
          <a:p>
            <a:pPr lvl="1" eaLnBrk="1" hangingPunct="1"/>
            <a:r>
              <a:rPr lang="en-US" altLang="en-US"/>
              <a:t>Nonsampling error</a:t>
            </a:r>
          </a:p>
          <a:p>
            <a:pPr eaLnBrk="1" hangingPunct="1"/>
            <a:endParaRPr lang="en-US" altLang="en-US"/>
          </a:p>
        </p:txBody>
      </p:sp>
      <p:sp>
        <p:nvSpPr>
          <p:cNvPr id="27653" name="Footer Placeholder 4">
            <a:extLst>
              <a:ext uri="{FF2B5EF4-FFF2-40B4-BE49-F238E27FC236}">
                <a16:creationId xmlns:a16="http://schemas.microsoft.com/office/drawing/2014/main" id="{738304BA-667F-EA28-41A5-4A9A70E993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GB" altLang="ja-JP" sz="1400"/>
              <a:t>IDS, Faculty of Engineering, University of Jaffna</a:t>
            </a:r>
            <a:endParaRPr lang="en-US" altLang="ja-JP" sz="1400"/>
          </a:p>
        </p:txBody>
      </p:sp>
    </p:spTree>
  </p:cSld>
  <p:clrMapOvr>
    <a:masterClrMapping/>
  </p:clrMapOvr>
  <p:transition>
    <p:dissolv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Slide Number Placeholder 5">
            <a:extLst>
              <a:ext uri="{FF2B5EF4-FFF2-40B4-BE49-F238E27FC236}">
                <a16:creationId xmlns:a16="http://schemas.microsoft.com/office/drawing/2014/main" id="{C6C209E3-0C03-346B-73FE-5959332567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FD3E6227-9148-4523-B80C-F41B08E5E757}" type="slidenum">
              <a:rPr lang="en-US" altLang="en-US" sz="14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26</a:t>
            </a:fld>
            <a:endParaRPr lang="en-US" altLang="en-US" sz="1400"/>
          </a:p>
        </p:txBody>
      </p:sp>
      <p:sp>
        <p:nvSpPr>
          <p:cNvPr id="28675" name="Rectangle 2">
            <a:extLst>
              <a:ext uri="{FF2B5EF4-FFF2-40B4-BE49-F238E27FC236}">
                <a16:creationId xmlns:a16="http://schemas.microsoft.com/office/drawing/2014/main" id="{E15CFE4F-5F3B-6FB5-A179-F7BBC2229DC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600"/>
              <a:t>Classical Decomposition</a:t>
            </a:r>
          </a:p>
        </p:txBody>
      </p:sp>
      <p:sp>
        <p:nvSpPr>
          <p:cNvPr id="28676" name="Rectangle 3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563727FE-6BBF-F620-DDEB-DDAC8EAA2B4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400"/>
              <a:t>One method of describing a time series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400"/>
              <a:t>Decompose the series into various components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000"/>
              <a:t>Trend – long term movements in the level of the series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000"/>
              <a:t>Seasonal effects – cyclical fluctuations reasonably stable in terms of annual timing (including moving holidays and working day effects)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000"/>
              <a:t>Cycles – cyclical fluctuations longer than a year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000"/>
              <a:t>Irregular – other random or short-term unpredictable fluctuations</a:t>
            </a:r>
          </a:p>
        </p:txBody>
      </p:sp>
      <p:sp>
        <p:nvSpPr>
          <p:cNvPr id="28677" name="Footer Placeholder 4">
            <a:extLst>
              <a:ext uri="{FF2B5EF4-FFF2-40B4-BE49-F238E27FC236}">
                <a16:creationId xmlns:a16="http://schemas.microsoft.com/office/drawing/2014/main" id="{013412BF-CB8C-691A-844C-556ACD412C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GB" altLang="ja-JP" sz="1400"/>
              <a:t>IDS, Faculty of Engineering, University of Jaffna</a:t>
            </a:r>
            <a:endParaRPr lang="en-US" altLang="ja-JP" sz="1400"/>
          </a:p>
        </p:txBody>
      </p:sp>
    </p:spTree>
  </p:cSld>
  <p:clrMapOvr>
    <a:masterClrMapping/>
  </p:clrMapOvr>
  <p:transition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Slide Number Placeholder 5">
            <a:extLst>
              <a:ext uri="{FF2B5EF4-FFF2-40B4-BE49-F238E27FC236}">
                <a16:creationId xmlns:a16="http://schemas.microsoft.com/office/drawing/2014/main" id="{B63F3CBC-B9C7-32EC-6F09-757A122032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BB5D1F6D-95DD-4631-A26E-585C81716595}" type="slidenum">
              <a:rPr lang="en-US" altLang="en-US" sz="14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27</a:t>
            </a:fld>
            <a:endParaRPr lang="en-US" altLang="en-US" sz="1400"/>
          </a:p>
        </p:txBody>
      </p:sp>
      <p:sp>
        <p:nvSpPr>
          <p:cNvPr id="29699" name="Rectangle 2">
            <a:extLst>
              <a:ext uri="{FF2B5EF4-FFF2-40B4-BE49-F238E27FC236}">
                <a16:creationId xmlns:a16="http://schemas.microsoft.com/office/drawing/2014/main" id="{67AF58A0-A279-D15A-B2E0-65483B11F77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th-TH" altLang="en-US"/>
          </a:p>
        </p:txBody>
      </p:sp>
      <p:sp>
        <p:nvSpPr>
          <p:cNvPr id="29700" name="Rectangle 3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D86C7B8D-7D1F-13CC-F238-B28D16EE4D9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62000" y="6096000"/>
            <a:ext cx="7772400" cy="3810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endParaRPr lang="th-TH" altLang="en-US" sz="2000"/>
          </a:p>
        </p:txBody>
      </p:sp>
      <p:pic>
        <p:nvPicPr>
          <p:cNvPr id="29701" name="Picture 4" descr="consgobOrig">
            <a:extLst>
              <a:ext uri="{FF2B5EF4-FFF2-40B4-BE49-F238E27FC236}">
                <a16:creationId xmlns:a16="http://schemas.microsoft.com/office/drawing/2014/main" id="{5EE99320-C07A-41B6-8CE5-B5712060AB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39700"/>
            <a:ext cx="8961438" cy="6240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9702" name="Text Box 5">
            <a:extLst>
              <a:ext uri="{FF2B5EF4-FFF2-40B4-BE49-F238E27FC236}">
                <a16:creationId xmlns:a16="http://schemas.microsoft.com/office/drawing/2014/main" id="{2226CD3D-AE5A-E138-077A-2F64E813BA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54175" y="1963738"/>
            <a:ext cx="43719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000"/>
              <a:t>Not easy to understand the pattern!</a:t>
            </a:r>
            <a:endParaRPr lang="th-TH" altLang="en-US" sz="2000"/>
          </a:p>
        </p:txBody>
      </p:sp>
      <p:sp>
        <p:nvSpPr>
          <p:cNvPr id="29703" name="Footer Placeholder 6">
            <a:extLst>
              <a:ext uri="{FF2B5EF4-FFF2-40B4-BE49-F238E27FC236}">
                <a16:creationId xmlns:a16="http://schemas.microsoft.com/office/drawing/2014/main" id="{49209BEA-1C65-AD4C-7187-7F4B8EC04A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GB" altLang="ja-JP" sz="1400"/>
              <a:t>IDS, Faculty of Engineering, University of Jaffna</a:t>
            </a:r>
            <a:endParaRPr lang="en-US" altLang="ja-JP" sz="1400"/>
          </a:p>
        </p:txBody>
      </p:sp>
    </p:spTree>
  </p:cSld>
  <p:clrMapOvr>
    <a:masterClrMapping/>
  </p:clrMapOvr>
  <p:transition>
    <p:dissolv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Slide Number Placeholder 5">
            <a:extLst>
              <a:ext uri="{FF2B5EF4-FFF2-40B4-BE49-F238E27FC236}">
                <a16:creationId xmlns:a16="http://schemas.microsoft.com/office/drawing/2014/main" id="{9791C4B5-FE2F-3108-A5A3-7A814D5DAF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0CD9E67B-589B-4350-AB5F-54C0A7010172}" type="slidenum">
              <a:rPr lang="en-US" altLang="en-US" sz="14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28</a:t>
            </a:fld>
            <a:endParaRPr lang="en-US" altLang="en-US" sz="1400"/>
          </a:p>
        </p:txBody>
      </p:sp>
      <p:sp>
        <p:nvSpPr>
          <p:cNvPr id="30723" name="Rectangle 2">
            <a:extLst>
              <a:ext uri="{FF2B5EF4-FFF2-40B4-BE49-F238E27FC236}">
                <a16:creationId xmlns:a16="http://schemas.microsoft.com/office/drawing/2014/main" id="{5EA1A40B-8FD2-7045-A581-DF0970A8797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Our aim</a:t>
            </a:r>
            <a:endParaRPr lang="th-TH" altLang="en-US"/>
          </a:p>
        </p:txBody>
      </p:sp>
      <p:sp>
        <p:nvSpPr>
          <p:cNvPr id="30724" name="Rectangle 3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E16FD262-C2A7-A4B3-515D-17193091B2B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is to understand and identify different variations so that we can easily predict the future variations separately and combine together</a:t>
            </a:r>
            <a:endParaRPr lang="en-US" altLang="en-US">
              <a:cs typeface="Tahoma" panose="020B0604030504040204" pitchFamily="34" charset="0"/>
            </a:endParaRPr>
          </a:p>
          <a:p>
            <a:pPr eaLnBrk="1" hangingPunct="1"/>
            <a:r>
              <a:rPr lang="en-US" altLang="en-US">
                <a:cs typeface="Tahoma" panose="020B0604030504040204" pitchFamily="34" charset="0"/>
              </a:rPr>
              <a:t>Look how the above complicated series could be understood as follows separately  </a:t>
            </a:r>
            <a:endParaRPr lang="th-TH" altLang="en-US">
              <a:cs typeface="Tahoma" panose="020B0604030504040204" pitchFamily="34" charset="0"/>
            </a:endParaRPr>
          </a:p>
        </p:txBody>
      </p:sp>
      <p:sp>
        <p:nvSpPr>
          <p:cNvPr id="30725" name="Footer Placeholder 4">
            <a:extLst>
              <a:ext uri="{FF2B5EF4-FFF2-40B4-BE49-F238E27FC236}">
                <a16:creationId xmlns:a16="http://schemas.microsoft.com/office/drawing/2014/main" id="{82B2CC79-38A5-80BF-115A-D739C6DAE4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GB" altLang="ja-JP" sz="1400"/>
              <a:t>IDS, Faculty of Engineering, University of Jaffna</a:t>
            </a:r>
            <a:endParaRPr lang="en-US" altLang="ja-JP" sz="140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B9B893-6889-4D04-B376-1BBB25914F84}" type="slidenum">
              <a:rPr lang="en-US"/>
              <a:pPr/>
              <a:t>29</a:t>
            </a:fld>
            <a:endParaRPr lang="en-US"/>
          </a:p>
        </p:txBody>
      </p:sp>
      <p:sp>
        <p:nvSpPr>
          <p:cNvPr id="434178" name="Rectangle 2"/>
          <p:cNvSpPr>
            <a:spLocks noGrp="1" noChangeArrowheads="1"/>
          </p:cNvSpPr>
          <p:nvPr>
            <p:ph type="title"/>
          </p:nvPr>
        </p:nvSpPr>
        <p:spPr>
          <a:xfrm>
            <a:off x="3505200" y="228600"/>
            <a:ext cx="2743200" cy="381000"/>
          </a:xfrm>
          <a:noFill/>
          <a:ln/>
        </p:spPr>
        <p:txBody>
          <a:bodyPr lIns="90488" tIns="44450" rIns="90488" bIns="44450" anchor="b"/>
          <a:lstStyle/>
          <a:p>
            <a:pPr algn="l"/>
            <a:r>
              <a:rPr lang="en-AU" sz="2800" b="1" u="sng">
                <a:solidFill>
                  <a:schemeClr val="accent2"/>
                </a:solidFill>
              </a:rPr>
              <a:t>Forecasting</a:t>
            </a:r>
          </a:p>
        </p:txBody>
      </p:sp>
      <p:sp>
        <p:nvSpPr>
          <p:cNvPr id="434179" name="Text Box 3"/>
          <p:cNvSpPr txBox="1">
            <a:spLocks noChangeArrowheads="1"/>
          </p:cNvSpPr>
          <p:nvPr/>
        </p:nvSpPr>
        <p:spPr bwMode="auto">
          <a:xfrm>
            <a:off x="152400" y="685800"/>
            <a:ext cx="7620000" cy="89535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20000"/>
              </a:spcBef>
            </a:pPr>
            <a:r>
              <a:rPr lang="en-AU" b="1" u="sng"/>
              <a:t>Many methods are available for forecasting</a:t>
            </a:r>
            <a:r>
              <a:rPr lang="en-US" b="1">
                <a:solidFill>
                  <a:schemeClr val="tx2"/>
                </a:solidFill>
              </a:rPr>
              <a:t> a time series. </a:t>
            </a:r>
          </a:p>
          <a:p>
            <a:pPr>
              <a:spcBef>
                <a:spcPct val="20000"/>
              </a:spcBef>
            </a:pPr>
            <a:r>
              <a:rPr lang="en-US" b="1">
                <a:solidFill>
                  <a:schemeClr val="tx2"/>
                </a:solidFill>
              </a:rPr>
              <a:t>The appropriateness of the model depends on:</a:t>
            </a:r>
            <a:endParaRPr lang="en-AU"/>
          </a:p>
        </p:txBody>
      </p:sp>
      <p:sp>
        <p:nvSpPr>
          <p:cNvPr id="434180" name="Text Box 4"/>
          <p:cNvSpPr txBox="1">
            <a:spLocks noChangeArrowheads="1"/>
          </p:cNvSpPr>
          <p:nvPr/>
        </p:nvSpPr>
        <p:spPr bwMode="auto">
          <a:xfrm>
            <a:off x="228600" y="1905000"/>
            <a:ext cx="4876800" cy="4948238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20000"/>
              </a:spcBef>
              <a:buFontTx/>
              <a:buChar char="•"/>
              <a:tabLst>
                <a:tab pos="519113" algn="l"/>
              </a:tabLst>
            </a:pPr>
            <a:r>
              <a:rPr lang="en-AU" b="1">
                <a:solidFill>
                  <a:schemeClr val="tx2"/>
                </a:solidFill>
              </a:rPr>
              <a:t>the </a:t>
            </a:r>
            <a:r>
              <a:rPr lang="en-AU" b="1">
                <a:solidFill>
                  <a:srgbClr val="D73366"/>
                </a:solidFill>
              </a:rPr>
              <a:t>components which are present</a:t>
            </a:r>
            <a:endParaRPr lang="en-US" b="1">
              <a:solidFill>
                <a:srgbClr val="D73366"/>
              </a:solidFill>
            </a:endParaRPr>
          </a:p>
          <a:p>
            <a:pPr>
              <a:spcBef>
                <a:spcPct val="20000"/>
              </a:spcBef>
              <a:buFontTx/>
              <a:buChar char="•"/>
              <a:tabLst>
                <a:tab pos="519113" algn="l"/>
              </a:tabLst>
            </a:pPr>
            <a:endParaRPr lang="en-AU" b="1">
              <a:solidFill>
                <a:schemeClr val="tx2"/>
              </a:solidFill>
            </a:endParaRPr>
          </a:p>
          <a:p>
            <a:pPr>
              <a:spcBef>
                <a:spcPct val="20000"/>
              </a:spcBef>
              <a:buFontTx/>
              <a:buChar char="•"/>
              <a:tabLst>
                <a:tab pos="519113" algn="l"/>
              </a:tabLst>
            </a:pPr>
            <a:r>
              <a:rPr lang="en-AU" b="1">
                <a:solidFill>
                  <a:schemeClr val="tx2"/>
                </a:solidFill>
              </a:rPr>
              <a:t>the forecast </a:t>
            </a:r>
            <a:r>
              <a:rPr lang="en-AU" b="1">
                <a:solidFill>
                  <a:srgbClr val="D73366"/>
                </a:solidFill>
              </a:rPr>
              <a:t>accuracy</a:t>
            </a:r>
            <a:r>
              <a:rPr lang="en-US" b="1">
                <a:solidFill>
                  <a:srgbClr val="D73366"/>
                </a:solidFill>
              </a:rPr>
              <a:t> required</a:t>
            </a:r>
          </a:p>
          <a:p>
            <a:pPr>
              <a:spcBef>
                <a:spcPct val="20000"/>
              </a:spcBef>
              <a:buFontTx/>
              <a:buChar char="•"/>
              <a:tabLst>
                <a:tab pos="519113" algn="l"/>
              </a:tabLst>
            </a:pPr>
            <a:endParaRPr lang="en-US" b="1">
              <a:solidFill>
                <a:schemeClr val="tx2"/>
              </a:solidFill>
            </a:endParaRPr>
          </a:p>
          <a:p>
            <a:pPr>
              <a:spcBef>
                <a:spcPct val="20000"/>
              </a:spcBef>
              <a:buFontTx/>
              <a:buChar char="•"/>
              <a:tabLst>
                <a:tab pos="519113" algn="l"/>
              </a:tabLst>
            </a:pPr>
            <a:r>
              <a:rPr lang="en-US" b="1">
                <a:solidFill>
                  <a:schemeClr val="tx2"/>
                </a:solidFill>
              </a:rPr>
              <a:t>the </a:t>
            </a:r>
            <a:r>
              <a:rPr lang="en-US" b="1">
                <a:solidFill>
                  <a:srgbClr val="D73366"/>
                </a:solidFill>
              </a:rPr>
              <a:t>'term'</a:t>
            </a:r>
            <a:r>
              <a:rPr lang="en-US" b="1">
                <a:solidFill>
                  <a:schemeClr val="tx2"/>
                </a:solidFill>
              </a:rPr>
              <a:t> of the forecasting</a:t>
            </a:r>
          </a:p>
          <a:p>
            <a:pPr lvl="1">
              <a:spcBef>
                <a:spcPct val="20000"/>
              </a:spcBef>
              <a:buFont typeface="Wingdings" pitchFamily="2" charset="2"/>
              <a:buChar char="Ø"/>
              <a:tabLst>
                <a:tab pos="519113" algn="l"/>
              </a:tabLst>
            </a:pPr>
            <a:r>
              <a:rPr lang="en-US" b="1">
                <a:solidFill>
                  <a:schemeClr val="tx2"/>
                </a:solidFill>
              </a:rPr>
              <a:t>short term or long term?</a:t>
            </a:r>
          </a:p>
          <a:p>
            <a:pPr lvl="1">
              <a:spcBef>
                <a:spcPct val="20000"/>
              </a:spcBef>
              <a:buFont typeface="Wingdings" pitchFamily="2" charset="2"/>
              <a:buChar char="Ø"/>
              <a:tabLst>
                <a:tab pos="519113" algn="l"/>
              </a:tabLst>
            </a:pPr>
            <a:endParaRPr lang="en-US" b="1">
              <a:solidFill>
                <a:schemeClr val="tx2"/>
              </a:solidFill>
            </a:endParaRPr>
          </a:p>
          <a:p>
            <a:pPr>
              <a:spcBef>
                <a:spcPct val="20000"/>
              </a:spcBef>
              <a:buFontTx/>
              <a:buChar char="•"/>
              <a:tabLst>
                <a:tab pos="519113" algn="l"/>
              </a:tabLst>
            </a:pPr>
            <a:r>
              <a:rPr lang="en-US" b="1">
                <a:solidFill>
                  <a:schemeClr val="tx2"/>
                </a:solidFill>
              </a:rPr>
              <a:t>the model assumed</a:t>
            </a:r>
          </a:p>
          <a:p>
            <a:pPr lvl="1">
              <a:spcBef>
                <a:spcPct val="20000"/>
              </a:spcBef>
              <a:buFont typeface="Wingdings" pitchFamily="2" charset="2"/>
              <a:buChar char="Ø"/>
              <a:tabLst>
                <a:tab pos="519113" algn="l"/>
              </a:tabLst>
            </a:pPr>
            <a:r>
              <a:rPr lang="en-US" b="1">
                <a:solidFill>
                  <a:schemeClr val="tx2"/>
                </a:solidFill>
              </a:rPr>
              <a:t>linear or exponential trend?</a:t>
            </a:r>
          </a:p>
          <a:p>
            <a:pPr lvl="1">
              <a:spcBef>
                <a:spcPct val="20000"/>
              </a:spcBef>
              <a:buFont typeface="Wingdings" pitchFamily="2" charset="2"/>
              <a:buChar char="Ø"/>
              <a:tabLst>
                <a:tab pos="519113" algn="l"/>
              </a:tabLst>
            </a:pPr>
            <a:r>
              <a:rPr lang="en-US" b="1">
                <a:solidFill>
                  <a:schemeClr val="tx2"/>
                </a:solidFill>
              </a:rPr>
              <a:t>nature of the </a:t>
            </a:r>
            <a:r>
              <a:rPr lang="en-US" b="1">
                <a:solidFill>
                  <a:srgbClr val="D73366"/>
                </a:solidFill>
              </a:rPr>
              <a:t>random factor</a:t>
            </a:r>
            <a:endParaRPr lang="en-AU" b="1">
              <a:solidFill>
                <a:srgbClr val="D73366"/>
              </a:solidFill>
            </a:endParaRPr>
          </a:p>
          <a:p>
            <a:pPr>
              <a:spcBef>
                <a:spcPct val="50000"/>
              </a:spcBef>
              <a:tabLst>
                <a:tab pos="519113" algn="l"/>
              </a:tabLst>
            </a:pPr>
            <a:r>
              <a:rPr lang="en-US" b="1"/>
              <a:t>etc.</a:t>
            </a:r>
            <a:endParaRPr lang="en-AU" b="1"/>
          </a:p>
        </p:txBody>
      </p:sp>
      <p:grpSp>
        <p:nvGrpSpPr>
          <p:cNvPr id="434181" name="Group 5"/>
          <p:cNvGrpSpPr>
            <a:grpSpLocks/>
          </p:cNvGrpSpPr>
          <p:nvPr/>
        </p:nvGrpSpPr>
        <p:grpSpPr bwMode="auto">
          <a:xfrm>
            <a:off x="4495800" y="2362200"/>
            <a:ext cx="4419600" cy="3157538"/>
            <a:chOff x="3024" y="2064"/>
            <a:chExt cx="2568" cy="1728"/>
          </a:xfrm>
        </p:grpSpPr>
        <p:sp>
          <p:nvSpPr>
            <p:cNvPr id="434182" name="Rectangle 6"/>
            <p:cNvSpPr>
              <a:spLocks noChangeArrowheads="1"/>
            </p:cNvSpPr>
            <p:nvPr/>
          </p:nvSpPr>
          <p:spPr bwMode="auto">
            <a:xfrm>
              <a:off x="3024" y="2064"/>
              <a:ext cx="2568" cy="1728"/>
            </a:xfrm>
            <a:prstGeom prst="rect">
              <a:avLst/>
            </a:prstGeom>
            <a:solidFill>
              <a:srgbClr val="FFFFCC"/>
            </a:solidFill>
            <a:ln w="57150" cmpd="thickThin">
              <a:solidFill>
                <a:srgbClr val="FF0066"/>
              </a:solidFill>
              <a:miter lim="800000"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34183" name="Text Box 7"/>
            <p:cNvSpPr txBox="1">
              <a:spLocks noChangeArrowheads="1"/>
            </p:cNvSpPr>
            <p:nvPr/>
          </p:nvSpPr>
          <p:spPr bwMode="auto">
            <a:xfrm>
              <a:off x="3156" y="2198"/>
              <a:ext cx="2304" cy="1370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>
              <a:spAutoFit/>
            </a:bodyPr>
            <a:lstStyle/>
            <a:p>
              <a:pPr>
                <a:lnSpc>
                  <a:spcPct val="90000"/>
                </a:lnSpc>
                <a:spcBef>
                  <a:spcPct val="20000"/>
                </a:spcBef>
              </a:pPr>
              <a:r>
                <a:rPr lang="en-AU" sz="2000" b="1">
                  <a:solidFill>
                    <a:schemeClr val="tx2"/>
                  </a:solidFill>
                </a:rPr>
                <a:t>We consider only</a:t>
              </a:r>
            </a:p>
            <a:p>
              <a:pPr>
                <a:lnSpc>
                  <a:spcPct val="90000"/>
                </a:lnSpc>
                <a:spcBef>
                  <a:spcPct val="20000"/>
                </a:spcBef>
                <a:buFontTx/>
                <a:buChar char="•"/>
              </a:pPr>
              <a:r>
                <a:rPr lang="en-US" sz="2000" b="1">
                  <a:solidFill>
                    <a:schemeClr val="tx2"/>
                  </a:solidFill>
                </a:rPr>
                <a:t>long term forecasting</a:t>
              </a:r>
            </a:p>
            <a:p>
              <a:pPr>
                <a:lnSpc>
                  <a:spcPct val="90000"/>
                </a:lnSpc>
                <a:spcBef>
                  <a:spcPct val="20000"/>
                </a:spcBef>
                <a:buFontTx/>
                <a:buChar char="•"/>
              </a:pPr>
              <a:endParaRPr lang="en-AU" sz="2000" b="1">
                <a:solidFill>
                  <a:schemeClr val="tx2"/>
                </a:solidFill>
              </a:endParaRPr>
            </a:p>
            <a:p>
              <a:pPr lvl="1">
                <a:lnSpc>
                  <a:spcPct val="90000"/>
                </a:lnSpc>
                <a:spcBef>
                  <a:spcPct val="20000"/>
                </a:spcBef>
                <a:buFont typeface="Wingdings" pitchFamily="2" charset="2"/>
                <a:buChar char="Ø"/>
              </a:pPr>
              <a:r>
                <a:rPr lang="en-US" b="1">
                  <a:solidFill>
                    <a:schemeClr val="tx2"/>
                  </a:solidFill>
                </a:rPr>
                <a:t>Forecasting with trend</a:t>
              </a:r>
            </a:p>
            <a:p>
              <a:pPr lvl="1">
                <a:lnSpc>
                  <a:spcPct val="90000"/>
                </a:lnSpc>
                <a:spcBef>
                  <a:spcPct val="20000"/>
                </a:spcBef>
                <a:buFont typeface="Wingdings" pitchFamily="2" charset="2"/>
                <a:buChar char="Ø"/>
              </a:pPr>
              <a:endParaRPr lang="en-AU" sz="2000" b="1">
                <a:solidFill>
                  <a:schemeClr val="tx2"/>
                </a:solidFill>
              </a:endParaRPr>
            </a:p>
            <a:p>
              <a:pPr lvl="1">
                <a:lnSpc>
                  <a:spcPct val="90000"/>
                </a:lnSpc>
                <a:spcBef>
                  <a:spcPct val="20000"/>
                </a:spcBef>
                <a:buFont typeface="Wingdings" pitchFamily="2" charset="2"/>
                <a:buChar char="Ø"/>
              </a:pPr>
              <a:r>
                <a:rPr lang="en-AU" b="1">
                  <a:solidFill>
                    <a:schemeClr val="tx2"/>
                  </a:solidFill>
                </a:rPr>
                <a:t>forecasting with trend and seasonality</a:t>
              </a:r>
            </a:p>
          </p:txBody>
        </p:sp>
      </p:grp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16DC820-3FF1-5027-E9E3-3A18A85407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IDS, Faculty of Engineering, University of Jaffna</a:t>
            </a:r>
            <a:endParaRPr lang="en-US"/>
          </a:p>
        </p:txBody>
      </p:sp>
    </p:spTree>
  </p:cSld>
  <p:clrMapOvr>
    <a:masterClrMapping/>
  </p:clrMapOvr>
  <p:transition>
    <p:strips dir="r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341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341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341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341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4180" grpId="0" autoUpdateAnimBg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9003C9-8D0E-4CCC-BC7E-B78C3D49E87A}" type="slidenum">
              <a:rPr lang="en-US"/>
              <a:pPr/>
              <a:t>30</a:t>
            </a:fld>
            <a:endParaRPr lang="en-US"/>
          </a:p>
        </p:txBody>
      </p:sp>
      <p:sp>
        <p:nvSpPr>
          <p:cNvPr id="436226" name="Text Box 2"/>
          <p:cNvSpPr txBox="1">
            <a:spLocks noChangeArrowheads="1"/>
          </p:cNvSpPr>
          <p:nvPr/>
        </p:nvSpPr>
        <p:spPr bwMode="auto">
          <a:xfrm>
            <a:off x="228600" y="228600"/>
            <a:ext cx="2362200" cy="579438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20000"/>
              </a:spcBef>
            </a:pPr>
            <a:r>
              <a:rPr lang="en-US" sz="3200" b="1" u="sng">
                <a:solidFill>
                  <a:schemeClr val="accent2"/>
                </a:solidFill>
              </a:rPr>
              <a:t>C</a:t>
            </a:r>
            <a:r>
              <a:rPr lang="en-AU" sz="3200" b="1" u="sng">
                <a:solidFill>
                  <a:schemeClr val="accent2"/>
                </a:solidFill>
              </a:rPr>
              <a:t>aution</a:t>
            </a:r>
            <a:r>
              <a:rPr lang="en-US" sz="3200" b="1" u="sng">
                <a:solidFill>
                  <a:schemeClr val="accent2"/>
                </a:solidFill>
              </a:rPr>
              <a:t> !!!</a:t>
            </a:r>
            <a:endParaRPr lang="en-AU" sz="3200" b="1" u="sng">
              <a:solidFill>
                <a:schemeClr val="accent2"/>
              </a:solidFill>
            </a:endParaRPr>
          </a:p>
        </p:txBody>
      </p:sp>
      <p:sp>
        <p:nvSpPr>
          <p:cNvPr id="436227" name="Text Box 3"/>
          <p:cNvSpPr txBox="1">
            <a:spLocks noChangeArrowheads="1"/>
          </p:cNvSpPr>
          <p:nvPr/>
        </p:nvSpPr>
        <p:spPr bwMode="auto">
          <a:xfrm>
            <a:off x="914400" y="1066800"/>
            <a:ext cx="7772400" cy="180022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800" b="1"/>
              <a:t>Time series analysis is based on the available observations of the series, that is, based on observations </a:t>
            </a:r>
            <a:r>
              <a:rPr lang="en-US" sz="2800" b="1" i="1"/>
              <a:t>y</a:t>
            </a:r>
            <a:r>
              <a:rPr lang="en-US" sz="2800" b="1" i="1" baseline="-25000"/>
              <a:t>1</a:t>
            </a:r>
            <a:r>
              <a:rPr lang="en-US" sz="2800" b="1"/>
              <a:t>, ......,</a:t>
            </a:r>
            <a:r>
              <a:rPr lang="en-US" sz="2800" b="1" i="1"/>
              <a:t> y</a:t>
            </a:r>
            <a:r>
              <a:rPr lang="en-US" sz="2800" b="1" i="1" baseline="-25000"/>
              <a:t>n</a:t>
            </a:r>
            <a:r>
              <a:rPr lang="en-US" sz="2800" b="1"/>
              <a:t>. </a:t>
            </a:r>
            <a:r>
              <a:rPr lang="en-US" sz="2800" b="1" u="sng">
                <a:solidFill>
                  <a:srgbClr val="D73366"/>
                </a:solidFill>
              </a:rPr>
              <a:t>We forecast future values</a:t>
            </a:r>
            <a:r>
              <a:rPr lang="en-US" sz="2800" b="1"/>
              <a:t>:    </a:t>
            </a:r>
            <a:r>
              <a:rPr lang="en-US" sz="2800" b="1" i="1"/>
              <a:t>y</a:t>
            </a:r>
            <a:r>
              <a:rPr lang="en-US" sz="2800" b="1" i="1" baseline="-25000"/>
              <a:t>n+1</a:t>
            </a:r>
            <a:r>
              <a:rPr lang="en-US" sz="2800" b="1"/>
              <a:t>, </a:t>
            </a:r>
            <a:r>
              <a:rPr lang="en-US" sz="2800" b="1" i="1"/>
              <a:t>y</a:t>
            </a:r>
            <a:r>
              <a:rPr lang="en-US" sz="2800" b="1" i="1" baseline="-25000"/>
              <a:t>n+2</a:t>
            </a:r>
            <a:r>
              <a:rPr lang="en-US" sz="2800" b="1"/>
              <a:t>, .......</a:t>
            </a:r>
            <a:endParaRPr lang="en-AU" sz="2800" b="1"/>
          </a:p>
        </p:txBody>
      </p:sp>
      <p:sp>
        <p:nvSpPr>
          <p:cNvPr id="436228" name="Text Box 4"/>
          <p:cNvSpPr txBox="1">
            <a:spLocks noChangeArrowheads="1"/>
          </p:cNvSpPr>
          <p:nvPr/>
        </p:nvSpPr>
        <p:spPr bwMode="auto">
          <a:xfrm>
            <a:off x="914400" y="3276600"/>
            <a:ext cx="7467600" cy="94615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800" b="1"/>
              <a:t>The underlying </a:t>
            </a:r>
            <a:r>
              <a:rPr lang="en-US" sz="2800" b="1" u="sng">
                <a:solidFill>
                  <a:srgbClr val="FF0066"/>
                </a:solidFill>
              </a:rPr>
              <a:t>assumption</a:t>
            </a:r>
            <a:r>
              <a:rPr lang="en-US" sz="2800" b="1"/>
              <a:t> is that the </a:t>
            </a:r>
            <a:r>
              <a:rPr lang="en-US" sz="2800" b="1">
                <a:solidFill>
                  <a:srgbClr val="336600"/>
                </a:solidFill>
              </a:rPr>
              <a:t>future is the same as the past</a:t>
            </a:r>
            <a:r>
              <a:rPr lang="en-US" sz="2800" b="1"/>
              <a:t>.</a:t>
            </a:r>
            <a:endParaRPr lang="en-AU" sz="2800" b="1"/>
          </a:p>
        </p:txBody>
      </p:sp>
      <p:sp>
        <p:nvSpPr>
          <p:cNvPr id="436229" name="Text Box 5"/>
          <p:cNvSpPr txBox="1">
            <a:spLocks noChangeArrowheads="1"/>
          </p:cNvSpPr>
          <p:nvPr/>
        </p:nvSpPr>
        <p:spPr bwMode="auto">
          <a:xfrm>
            <a:off x="914400" y="4800600"/>
            <a:ext cx="7467600" cy="1373188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800" b="1"/>
              <a:t>If we try to forecast </a:t>
            </a:r>
            <a:r>
              <a:rPr lang="en-US" sz="2800" b="1" u="sng"/>
              <a:t>too far into the future</a:t>
            </a:r>
            <a:r>
              <a:rPr lang="en-US" sz="2800" b="1"/>
              <a:t>, this </a:t>
            </a:r>
            <a:r>
              <a:rPr lang="en-US" sz="2800" b="1" u="sng"/>
              <a:t>assumption becomes very suspect</a:t>
            </a:r>
            <a:r>
              <a:rPr lang="en-US" sz="2800" b="1"/>
              <a:t>! </a:t>
            </a:r>
            <a:r>
              <a:rPr lang="en-US" sz="2800" b="1">
                <a:solidFill>
                  <a:srgbClr val="9900CC"/>
                </a:solidFill>
              </a:rPr>
              <a:t>So we have to be very careful....</a:t>
            </a:r>
            <a:endParaRPr lang="en-AU" sz="2800" b="1">
              <a:solidFill>
                <a:srgbClr val="9900CC"/>
              </a:solidFill>
            </a:endParaRPr>
          </a:p>
        </p:txBody>
      </p:sp>
      <p:sp>
        <p:nvSpPr>
          <p:cNvPr id="436230" name="AutoShape 6"/>
          <p:cNvSpPr>
            <a:spLocks noChangeArrowheads="1"/>
          </p:cNvSpPr>
          <p:nvPr/>
        </p:nvSpPr>
        <p:spPr bwMode="auto">
          <a:xfrm>
            <a:off x="457200" y="1143000"/>
            <a:ext cx="381000" cy="381000"/>
          </a:xfrm>
          <a:prstGeom prst="star5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36231" name="AutoShape 7"/>
          <p:cNvSpPr>
            <a:spLocks noChangeArrowheads="1"/>
          </p:cNvSpPr>
          <p:nvPr/>
        </p:nvSpPr>
        <p:spPr bwMode="auto">
          <a:xfrm>
            <a:off x="457200" y="4800600"/>
            <a:ext cx="381000" cy="381000"/>
          </a:xfrm>
          <a:prstGeom prst="star5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36232" name="AutoShape 8"/>
          <p:cNvSpPr>
            <a:spLocks noChangeArrowheads="1"/>
          </p:cNvSpPr>
          <p:nvPr/>
        </p:nvSpPr>
        <p:spPr bwMode="auto">
          <a:xfrm>
            <a:off x="457200" y="3276600"/>
            <a:ext cx="381000" cy="381000"/>
          </a:xfrm>
          <a:prstGeom prst="star5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1605928C-A4F0-C7B0-FE99-3A8059F3DD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IDS, Faculty of Engineering, University of Jaffna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362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362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362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362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6228" grpId="0" autoUpdateAnimBg="0"/>
      <p:bldP spid="436229" grpId="0" autoUpdateAnimBg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8BB350-AB25-4D03-A15C-3534E26165ED}" type="slidenum">
              <a:rPr lang="en-US"/>
              <a:pPr/>
              <a:t>31</a:t>
            </a:fld>
            <a:endParaRPr lang="en-US"/>
          </a:p>
        </p:txBody>
      </p:sp>
      <p:sp>
        <p:nvSpPr>
          <p:cNvPr id="437250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838200"/>
            <a:ext cx="7772400" cy="685800"/>
          </a:xfrm>
          <a:noFill/>
          <a:ln/>
        </p:spPr>
        <p:txBody>
          <a:bodyPr lIns="90488" tIns="44450" rIns="90488" bIns="44450" anchor="b"/>
          <a:lstStyle/>
          <a:p>
            <a:pPr algn="l"/>
            <a:r>
              <a:rPr lang="en-US" sz="2800" b="1" u="sng"/>
              <a:t>Long-term forecasting</a:t>
            </a:r>
            <a:br>
              <a:rPr lang="en-US" sz="2800" b="1" u="sng"/>
            </a:br>
            <a:br>
              <a:rPr lang="en-US" sz="2800" b="1" u="sng"/>
            </a:br>
            <a:r>
              <a:rPr lang="en-AU" sz="2800" b="1" u="sng">
                <a:solidFill>
                  <a:schemeClr val="accent2"/>
                </a:solidFill>
              </a:rPr>
              <a:t>Forecasting using Trend only</a:t>
            </a:r>
            <a:r>
              <a:rPr lang="en-AU" sz="2800" b="1"/>
              <a:t> </a:t>
            </a:r>
          </a:p>
        </p:txBody>
      </p:sp>
      <p:sp>
        <p:nvSpPr>
          <p:cNvPr id="4372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1828800"/>
            <a:ext cx="8610600" cy="2209800"/>
          </a:xfrm>
          <a:solidFill>
            <a:schemeClr val="bg1"/>
          </a:solidFill>
          <a:ln/>
        </p:spPr>
        <p:txBody>
          <a:bodyPr lIns="90488" tIns="44450" rIns="90488" bIns="44450"/>
          <a:lstStyle/>
          <a:p>
            <a:pPr lvl="1">
              <a:buFontTx/>
              <a:buNone/>
            </a:pPr>
            <a:r>
              <a:rPr lang="en-AU" sz="2400" b="1" dirty="0">
                <a:solidFill>
                  <a:srgbClr val="D73366"/>
                </a:solidFill>
              </a:rPr>
              <a:t>When a time series exhibits linear trend</a:t>
            </a:r>
            <a:r>
              <a:rPr lang="en-AU" sz="2400" b="1" dirty="0">
                <a:solidFill>
                  <a:schemeClr val="accent2"/>
                </a:solidFill>
              </a:rPr>
              <a:t>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AU" sz="2800" dirty="0">
                <a:solidFill>
                  <a:schemeClr val="tx2"/>
                </a:solidFill>
              </a:rPr>
              <a:t>	</a:t>
            </a:r>
            <a:r>
              <a:rPr lang="en-US" sz="2800" dirty="0">
                <a:solidFill>
                  <a:schemeClr val="tx2"/>
                </a:solidFill>
              </a:rPr>
              <a:t> </a:t>
            </a:r>
            <a:r>
              <a:rPr lang="en-AU" sz="2400" dirty="0">
                <a:solidFill>
                  <a:schemeClr val="tx2"/>
                </a:solidFill>
              </a:rPr>
              <a:t>(in addition to the inevitable random variation) </a:t>
            </a:r>
          </a:p>
          <a:p>
            <a:pPr>
              <a:buFontTx/>
              <a:buNone/>
            </a:pPr>
            <a:r>
              <a:rPr lang="en-AU" sz="2400" dirty="0">
                <a:solidFill>
                  <a:schemeClr val="tx2"/>
                </a:solidFill>
              </a:rPr>
              <a:t>	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  <a:r>
              <a:rPr lang="en-AU" sz="2400" b="1" dirty="0">
                <a:solidFill>
                  <a:srgbClr val="D73366"/>
                </a:solidFill>
              </a:rPr>
              <a:t>use the estimated</a:t>
            </a:r>
            <a:r>
              <a:rPr lang="en-AU" sz="2400" dirty="0">
                <a:solidFill>
                  <a:schemeClr val="tx2"/>
                </a:solidFill>
              </a:rPr>
              <a:t> </a:t>
            </a:r>
            <a:r>
              <a:rPr lang="en-AU" sz="2400" b="1" dirty="0">
                <a:solidFill>
                  <a:srgbClr val="D73366"/>
                </a:solidFill>
              </a:rPr>
              <a:t>linear regression equation</a:t>
            </a:r>
            <a:r>
              <a:rPr lang="en-AU" sz="2400" dirty="0">
                <a:solidFill>
                  <a:schemeClr val="tx2"/>
                </a:solidFill>
              </a:rPr>
              <a:t> </a:t>
            </a:r>
          </a:p>
          <a:p>
            <a:pPr>
              <a:buFontTx/>
              <a:buNone/>
            </a:pPr>
            <a:r>
              <a:rPr lang="en-AU" sz="2400" dirty="0">
                <a:solidFill>
                  <a:schemeClr val="tx2"/>
                </a:solidFill>
              </a:rPr>
              <a:t>	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  <a:r>
              <a:rPr lang="en-AU" sz="2400" dirty="0">
                <a:solidFill>
                  <a:schemeClr val="tx2"/>
                </a:solidFill>
              </a:rPr>
              <a:t>to forecast future values of the time series.</a:t>
            </a:r>
          </a:p>
        </p:txBody>
      </p:sp>
      <p:graphicFrame>
        <p:nvGraphicFramePr>
          <p:cNvPr id="437252" name="Object 4">
            <a:hlinkClick r:id="" action="ppaction://ole?verb=0"/>
          </p:cNvPr>
          <p:cNvGraphicFramePr>
            <a:graphicFrameLocks/>
          </p:cNvGraphicFramePr>
          <p:nvPr/>
        </p:nvGraphicFramePr>
        <p:xfrm>
          <a:off x="7086600" y="2438400"/>
          <a:ext cx="1751013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981080" imgH="501480" progId="Equation.3">
                  <p:embed/>
                </p:oleObj>
              </mc:Choice>
              <mc:Fallback>
                <p:oleObj name="Equation" r:id="rId3" imgW="1981080" imgH="501480" progId="Equation.3">
                  <p:embed/>
                  <p:pic>
                    <p:nvPicPr>
                      <p:cNvPr id="437252" name="Object 4">
                        <a:hlinkClick r:id="" action="ppaction://ole?verb=0"/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r="28166"/>
                      <a:stretch>
                        <a:fillRect/>
                      </a:stretch>
                    </p:blipFill>
                    <p:spPr bwMode="auto">
                      <a:xfrm>
                        <a:off x="7086600" y="2438400"/>
                        <a:ext cx="1751013" cy="762000"/>
                      </a:xfrm>
                      <a:prstGeom prst="rect">
                        <a:avLst/>
                      </a:prstGeom>
                      <a:solidFill>
                        <a:srgbClr val="FFFFFF">
                          <a:alpha val="50000"/>
                        </a:srgbClr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7253" name="Line 5"/>
          <p:cNvSpPr>
            <a:spLocks noChangeShapeType="1"/>
          </p:cNvSpPr>
          <p:nvPr/>
        </p:nvSpPr>
        <p:spPr bwMode="auto">
          <a:xfrm>
            <a:off x="6477000" y="2895600"/>
            <a:ext cx="609600" cy="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37254" name="Rectangle 6"/>
          <p:cNvSpPr>
            <a:spLocks noChangeArrowheads="1"/>
          </p:cNvSpPr>
          <p:nvPr/>
        </p:nvSpPr>
        <p:spPr bwMode="auto">
          <a:xfrm>
            <a:off x="838200" y="4038600"/>
            <a:ext cx="5334000" cy="1676416"/>
          </a:xfrm>
          <a:prstGeom prst="rect">
            <a:avLst/>
          </a:prstGeom>
          <a:solidFill>
            <a:srgbClr val="FFFFFF"/>
          </a:solidFill>
          <a:ln w="12700">
            <a:noFill/>
            <a:miter lim="800000"/>
            <a:headEnd/>
            <a:tailEnd/>
          </a:ln>
          <a:effectLst/>
        </p:spPr>
        <p:txBody>
          <a:bodyPr lIns="90488" tIns="44450" rIns="90488" bIns="44450"/>
          <a:lstStyle/>
          <a:p>
            <a:r>
              <a:rPr lang="en-AU" sz="2800" b="1" dirty="0">
                <a:solidFill>
                  <a:schemeClr val="tx2"/>
                </a:solidFill>
              </a:rPr>
              <a:t>  </a:t>
            </a:r>
            <a:endParaRPr lang="en-US" sz="2800" dirty="0">
              <a:solidFill>
                <a:schemeClr val="tx2"/>
              </a:solidFill>
            </a:endParaRPr>
          </a:p>
          <a:p>
            <a:endParaRPr lang="en-US" sz="2800" dirty="0">
              <a:solidFill>
                <a:schemeClr val="tx2"/>
              </a:solidFill>
            </a:endParaRPr>
          </a:p>
          <a:p>
            <a:endParaRPr lang="en-US" sz="2800" dirty="0">
              <a:solidFill>
                <a:schemeClr val="tx2"/>
              </a:solidFill>
            </a:endParaRPr>
          </a:p>
          <a:p>
            <a:endParaRPr lang="en-US" sz="2800" dirty="0">
              <a:solidFill>
                <a:schemeClr val="tx2"/>
              </a:solidFill>
            </a:endParaRPr>
          </a:p>
          <a:p>
            <a:endParaRPr lang="en-AU" sz="2800" dirty="0">
              <a:solidFill>
                <a:schemeClr val="tx2"/>
              </a:solidFill>
            </a:endParaRPr>
          </a:p>
          <a:p>
            <a:pPr marL="819150" lvl="1" indent="-285750">
              <a:buClr>
                <a:srgbClr val="000000"/>
              </a:buClr>
            </a:pPr>
            <a:r>
              <a:rPr lang="en-AU" dirty="0">
                <a:solidFill>
                  <a:schemeClr val="tx2"/>
                </a:solidFill>
              </a:rPr>
              <a:t>Forecast the GDP for 1992.</a:t>
            </a:r>
            <a:endParaRPr lang="en-US" dirty="0">
              <a:solidFill>
                <a:schemeClr val="tx2"/>
              </a:solidFill>
            </a:endParaRPr>
          </a:p>
          <a:p>
            <a:pPr marL="819150" lvl="1" indent="-285750">
              <a:buClr>
                <a:srgbClr val="000000"/>
              </a:buClr>
            </a:pPr>
            <a:endParaRPr lang="en-AU" dirty="0">
              <a:solidFill>
                <a:schemeClr val="tx2"/>
              </a:solidFill>
            </a:endParaRPr>
          </a:p>
        </p:txBody>
      </p:sp>
      <p:pic>
        <p:nvPicPr>
          <p:cNvPr id="437255" name="Picture 7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6096000" y="3505200"/>
            <a:ext cx="2551113" cy="2971800"/>
          </a:xfrm>
          <a:prstGeom prst="rect">
            <a:avLst/>
          </a:prstGeom>
          <a:solidFill>
            <a:srgbClr val="FFFFFF">
              <a:alpha val="50000"/>
            </a:srgbClr>
          </a:solidFill>
          <a:ln w="31750">
            <a:solidFill>
              <a:schemeClr val="bg1"/>
            </a:solidFill>
            <a:miter lim="800000"/>
            <a:headEnd type="none" w="sm" len="sm"/>
            <a:tailEnd type="none" w="sm" len="sm"/>
          </a:ln>
          <a:effectLst/>
        </p:spPr>
      </p:pic>
      <p:sp>
        <p:nvSpPr>
          <p:cNvPr id="437256" name="Rectangle 8"/>
          <p:cNvSpPr>
            <a:spLocks noChangeArrowheads="1"/>
          </p:cNvSpPr>
          <p:nvPr/>
        </p:nvSpPr>
        <p:spPr bwMode="auto">
          <a:xfrm>
            <a:off x="7010400" y="3505200"/>
            <a:ext cx="1600200" cy="2971800"/>
          </a:xfrm>
          <a:prstGeom prst="rect">
            <a:avLst/>
          </a:prstGeom>
          <a:noFill/>
          <a:ln w="44450">
            <a:solidFill>
              <a:srgbClr val="FF0000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37257" name="Text Box 9"/>
          <p:cNvSpPr txBox="1">
            <a:spLocks noChangeArrowheads="1"/>
          </p:cNvSpPr>
          <p:nvPr/>
        </p:nvSpPr>
        <p:spPr bwMode="auto">
          <a:xfrm>
            <a:off x="7848600" y="6491288"/>
            <a:ext cx="533400" cy="36671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800" b="1"/>
              <a:t>?</a:t>
            </a:r>
            <a:endParaRPr lang="en-AU" sz="1800" b="1"/>
          </a:p>
        </p:txBody>
      </p:sp>
      <p:sp>
        <p:nvSpPr>
          <p:cNvPr id="437258" name="Line 10"/>
          <p:cNvSpPr>
            <a:spLocks noChangeShapeType="1"/>
          </p:cNvSpPr>
          <p:nvPr/>
        </p:nvSpPr>
        <p:spPr bwMode="auto">
          <a:xfrm>
            <a:off x="4953000" y="6477000"/>
            <a:ext cx="2895600" cy="2286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triangl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739E2D46-F912-9195-86B5-D809D3A5B5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IDS, Faculty of Engineering, University of Jaffna</a:t>
            </a:r>
            <a:endParaRPr lang="en-US"/>
          </a:p>
        </p:txBody>
      </p:sp>
    </p:spTree>
  </p:cSld>
  <p:clrMapOvr>
    <a:masterClrMapping/>
  </p:clrMapOvr>
  <p:transition>
    <p:strips dir="r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72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4372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72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2" dur="500"/>
                                        <p:tgtEl>
                                          <p:spTgt spid="4372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72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7" dur="500"/>
                                        <p:tgtEl>
                                          <p:spTgt spid="4372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72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2" dur="500"/>
                                        <p:tgtEl>
                                          <p:spTgt spid="4372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7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4372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4372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7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4372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4372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72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9" dur="500"/>
                                        <p:tgtEl>
                                          <p:spTgt spid="4372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725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4" dur="500"/>
                                        <p:tgtEl>
                                          <p:spTgt spid="43725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7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4372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4372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7251" grpId="0" build="p" autoUpdateAnimBg="0"/>
      <p:bldP spid="437253" grpId="0" animBg="1"/>
      <p:bldP spid="437254" grpId="0" build="p" bldLvl="2" autoUpdateAnimBg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0FCEEA-DA49-47EA-8871-ACC9786E2331}" type="slidenum">
              <a:rPr lang="en-US"/>
              <a:pPr/>
              <a:t>32</a:t>
            </a:fld>
            <a:endParaRPr lang="en-US"/>
          </a:p>
        </p:txBody>
      </p:sp>
      <p:sp>
        <p:nvSpPr>
          <p:cNvPr id="439298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152400"/>
            <a:ext cx="7772400" cy="533400"/>
          </a:xfrm>
          <a:noFill/>
          <a:ln/>
        </p:spPr>
        <p:txBody>
          <a:bodyPr lIns="90488" tIns="44450" rIns="90488" bIns="44450" anchor="b"/>
          <a:lstStyle/>
          <a:p>
            <a:pPr algn="l"/>
            <a:r>
              <a:rPr lang="en-AU" sz="3200" b="1" u="sng"/>
              <a:t>Forecasting Time Series with Trend</a:t>
            </a:r>
            <a:endParaRPr lang="en-AU" sz="3600" u="sng"/>
          </a:p>
        </p:txBody>
      </p:sp>
      <p:sp>
        <p:nvSpPr>
          <p:cNvPr id="439299" name="Rectangle 3"/>
          <p:cNvSpPr>
            <a:spLocks noGrp="1" noChangeArrowheads="1"/>
          </p:cNvSpPr>
          <p:nvPr>
            <p:ph type="body" sz="half" idx="2"/>
          </p:nvPr>
        </p:nvSpPr>
        <p:spPr>
          <a:xfrm>
            <a:off x="0" y="3505200"/>
            <a:ext cx="8458200" cy="3200400"/>
          </a:xfrm>
          <a:noFill/>
          <a:ln/>
        </p:spPr>
        <p:txBody>
          <a:bodyPr lIns="90488" tIns="44450" rIns="90488" bIns="44450"/>
          <a:lstStyle/>
          <a:p>
            <a:r>
              <a:rPr lang="en-AU" sz="2800">
                <a:solidFill>
                  <a:schemeClr val="tx2"/>
                </a:solidFill>
              </a:rPr>
              <a:t>The trend </a:t>
            </a:r>
            <a:r>
              <a:rPr lang="en-AU" sz="2800" b="1" u="sng">
                <a:solidFill>
                  <a:schemeClr val="accent2"/>
                </a:solidFill>
              </a:rPr>
              <a:t>forecast</a:t>
            </a:r>
            <a:r>
              <a:rPr lang="en-AU" sz="2800">
                <a:solidFill>
                  <a:schemeClr val="tx2"/>
                </a:solidFill>
              </a:rPr>
              <a:t> for 1992 is </a:t>
            </a:r>
          </a:p>
          <a:p>
            <a:pPr>
              <a:buFontTx/>
              <a:buNone/>
            </a:pPr>
            <a:r>
              <a:rPr lang="en-AU" sz="2800" b="1">
                <a:solidFill>
                  <a:schemeClr val="tx2"/>
                </a:solidFill>
              </a:rPr>
              <a:t>	108.91 + 27.45*11 = </a:t>
            </a:r>
            <a:r>
              <a:rPr lang="en-AU" sz="2800">
                <a:solidFill>
                  <a:schemeClr val="tx2"/>
                </a:solidFill>
              </a:rPr>
              <a:t>410.86</a:t>
            </a:r>
          </a:p>
          <a:p>
            <a:pPr>
              <a:buFontTx/>
              <a:buNone/>
            </a:pPr>
            <a:r>
              <a:rPr lang="en-AU" sz="2800">
                <a:solidFill>
                  <a:schemeClr val="tx2"/>
                </a:solidFill>
              </a:rPr>
              <a:t> </a:t>
            </a:r>
          </a:p>
          <a:p>
            <a:pPr>
              <a:buFontTx/>
              <a:buNone/>
            </a:pPr>
            <a:r>
              <a:rPr lang="en-GB" sz="2800" b="1">
                <a:solidFill>
                  <a:schemeClr val="tx2"/>
                </a:solidFill>
              </a:rPr>
              <a:t>As r</a:t>
            </a:r>
            <a:r>
              <a:rPr lang="en-GB" sz="2800" b="1" baseline="30000">
                <a:solidFill>
                  <a:schemeClr val="tx2"/>
                </a:solidFill>
              </a:rPr>
              <a:t>2</a:t>
            </a:r>
            <a:r>
              <a:rPr lang="en-GB" sz="2800" b="1">
                <a:solidFill>
                  <a:schemeClr val="tx2"/>
                </a:solidFill>
              </a:rPr>
              <a:t> = 0.985: excellent linear</a:t>
            </a:r>
          </a:p>
          <a:p>
            <a:pPr>
              <a:buFontTx/>
              <a:buNone/>
            </a:pPr>
            <a:r>
              <a:rPr lang="en-GB" sz="2800" b="1">
                <a:solidFill>
                  <a:schemeClr val="tx2"/>
                </a:solidFill>
              </a:rPr>
              <a:t>fit. So, expect good forecasts.</a:t>
            </a:r>
            <a:endParaRPr lang="en-AU" sz="2800">
              <a:solidFill>
                <a:schemeClr val="tx2"/>
              </a:solidFill>
            </a:endParaRPr>
          </a:p>
        </p:txBody>
      </p:sp>
      <p:graphicFrame>
        <p:nvGraphicFramePr>
          <p:cNvPr id="439300" name="Object 4">
            <a:hlinkClick r:id="" action="ppaction://ole?verb=0"/>
          </p:cNvPr>
          <p:cNvGraphicFramePr>
            <a:graphicFrameLocks/>
          </p:cNvGraphicFramePr>
          <p:nvPr/>
        </p:nvGraphicFramePr>
        <p:xfrm>
          <a:off x="6019800" y="1447800"/>
          <a:ext cx="274320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244520" imgH="253800" progId="Equation.3">
                  <p:embed/>
                </p:oleObj>
              </mc:Choice>
              <mc:Fallback>
                <p:oleObj name="Equation" r:id="rId3" imgW="1244520" imgH="253800" progId="Equation.3">
                  <p:embed/>
                  <p:pic>
                    <p:nvPicPr>
                      <p:cNvPr id="439300" name="Object 4">
                        <a:hlinkClick r:id="" action="ppaction://ole?verb=0"/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r="-2315" b="15602"/>
                      <a:stretch>
                        <a:fillRect/>
                      </a:stretch>
                    </p:blipFill>
                    <p:spPr bwMode="auto">
                      <a:xfrm>
                        <a:off x="6019800" y="1447800"/>
                        <a:ext cx="2743200" cy="533400"/>
                      </a:xfrm>
                      <a:prstGeom prst="rect">
                        <a:avLst/>
                      </a:prstGeom>
                      <a:solidFill>
                        <a:srgbClr val="FFFFFF">
                          <a:alpha val="50000"/>
                        </a:srgbClr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39301" name="Picture 5"/>
          <p:cNvPicPr>
            <a:picLocks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4800600" y="3733800"/>
            <a:ext cx="4038600" cy="28956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</p:pic>
      <p:sp>
        <p:nvSpPr>
          <p:cNvPr id="439302" name="Freeform 6"/>
          <p:cNvSpPr>
            <a:spLocks/>
          </p:cNvSpPr>
          <p:nvPr/>
        </p:nvSpPr>
        <p:spPr bwMode="auto">
          <a:xfrm>
            <a:off x="3733800" y="3048000"/>
            <a:ext cx="1198563" cy="527050"/>
          </a:xfrm>
          <a:custGeom>
            <a:avLst/>
            <a:gdLst/>
            <a:ahLst/>
            <a:cxnLst>
              <a:cxn ang="0">
                <a:pos x="716" y="58"/>
              </a:cxn>
              <a:cxn ang="0">
                <a:pos x="542" y="21"/>
              </a:cxn>
              <a:cxn ang="0">
                <a:pos x="176" y="12"/>
              </a:cxn>
              <a:cxn ang="0">
                <a:pos x="94" y="21"/>
              </a:cxn>
              <a:cxn ang="0">
                <a:pos x="3" y="167"/>
              </a:cxn>
              <a:cxn ang="0">
                <a:pos x="12" y="240"/>
              </a:cxn>
              <a:cxn ang="0">
                <a:pos x="131" y="286"/>
              </a:cxn>
              <a:cxn ang="0">
                <a:pos x="314" y="332"/>
              </a:cxn>
              <a:cxn ang="0">
                <a:pos x="634" y="304"/>
              </a:cxn>
              <a:cxn ang="0">
                <a:pos x="743" y="204"/>
              </a:cxn>
              <a:cxn ang="0">
                <a:pos x="725" y="112"/>
              </a:cxn>
              <a:cxn ang="0">
                <a:pos x="716" y="58"/>
              </a:cxn>
            </a:cxnLst>
            <a:rect l="0" t="0" r="r" b="b"/>
            <a:pathLst>
              <a:path w="755" h="332">
                <a:moveTo>
                  <a:pt x="716" y="58"/>
                </a:moveTo>
                <a:cubicBezTo>
                  <a:pt x="670" y="10"/>
                  <a:pt x="609" y="26"/>
                  <a:pt x="542" y="21"/>
                </a:cubicBezTo>
                <a:cubicBezTo>
                  <a:pt x="414" y="0"/>
                  <a:pt x="312" y="6"/>
                  <a:pt x="176" y="12"/>
                </a:cubicBezTo>
                <a:cubicBezTo>
                  <a:pt x="149" y="15"/>
                  <a:pt x="121" y="17"/>
                  <a:pt x="94" y="21"/>
                </a:cubicBezTo>
                <a:cubicBezTo>
                  <a:pt x="26" y="32"/>
                  <a:pt x="20" y="115"/>
                  <a:pt x="3" y="167"/>
                </a:cubicBezTo>
                <a:cubicBezTo>
                  <a:pt x="6" y="191"/>
                  <a:pt x="0" y="219"/>
                  <a:pt x="12" y="240"/>
                </a:cubicBezTo>
                <a:cubicBezTo>
                  <a:pt x="37" y="282"/>
                  <a:pt x="92" y="281"/>
                  <a:pt x="131" y="286"/>
                </a:cubicBezTo>
                <a:cubicBezTo>
                  <a:pt x="192" y="306"/>
                  <a:pt x="251" y="323"/>
                  <a:pt x="314" y="332"/>
                </a:cubicBezTo>
                <a:cubicBezTo>
                  <a:pt x="432" y="326"/>
                  <a:pt x="521" y="315"/>
                  <a:pt x="634" y="304"/>
                </a:cubicBezTo>
                <a:cubicBezTo>
                  <a:pt x="681" y="288"/>
                  <a:pt x="716" y="245"/>
                  <a:pt x="743" y="204"/>
                </a:cubicBezTo>
                <a:cubicBezTo>
                  <a:pt x="755" y="166"/>
                  <a:pt x="753" y="141"/>
                  <a:pt x="725" y="112"/>
                </a:cubicBezTo>
                <a:cubicBezTo>
                  <a:pt x="713" y="76"/>
                  <a:pt x="716" y="94"/>
                  <a:pt x="716" y="58"/>
                </a:cubicBezTo>
                <a:close/>
              </a:path>
            </a:pathLst>
          </a:custGeom>
          <a:noFill/>
          <a:ln w="381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wrap="none" lIns="90000" tIns="46800" rIns="90000" bIns="46800" anchor="ctr"/>
          <a:lstStyle/>
          <a:p>
            <a:endParaRPr lang="en-US"/>
          </a:p>
        </p:txBody>
      </p:sp>
      <p:sp>
        <p:nvSpPr>
          <p:cNvPr id="439303" name="Rectangle 7"/>
          <p:cNvSpPr>
            <a:spLocks noChangeArrowheads="1"/>
          </p:cNvSpPr>
          <p:nvPr/>
        </p:nvSpPr>
        <p:spPr bwMode="auto">
          <a:xfrm>
            <a:off x="5943600" y="1447800"/>
            <a:ext cx="2819400" cy="609600"/>
          </a:xfrm>
          <a:prstGeom prst="rect">
            <a:avLst/>
          </a:prstGeom>
          <a:noFill/>
          <a:ln w="50800">
            <a:solidFill>
              <a:srgbClr val="FF0000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439304" name="Object 8">
            <a:hlinkClick r:id="" action="ppaction://ole?verb=0"/>
          </p:cNvPr>
          <p:cNvGraphicFramePr>
            <a:graphicFrameLocks/>
          </p:cNvGraphicFramePr>
          <p:nvPr/>
        </p:nvGraphicFramePr>
        <p:xfrm>
          <a:off x="5943600" y="3048000"/>
          <a:ext cx="28194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244520" imgH="228600" progId="Equation.3">
                  <p:embed/>
                </p:oleObj>
              </mc:Choice>
              <mc:Fallback>
                <p:oleObj name="Equation" r:id="rId6" imgW="1244520" imgH="228600" progId="Equation.3">
                  <p:embed/>
                  <p:pic>
                    <p:nvPicPr>
                      <p:cNvPr id="439304" name="Object 8">
                        <a:hlinkClick r:id="" action="ppaction://ole?verb=0"/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r="-2315" b="15602"/>
                      <a:stretch>
                        <a:fillRect/>
                      </a:stretch>
                    </p:blipFill>
                    <p:spPr bwMode="auto">
                      <a:xfrm>
                        <a:off x="5943600" y="3048000"/>
                        <a:ext cx="2819400" cy="457200"/>
                      </a:xfrm>
                      <a:prstGeom prst="rect">
                        <a:avLst/>
                      </a:prstGeom>
                      <a:solidFill>
                        <a:srgbClr val="FFFFFF">
                          <a:alpha val="50000"/>
                        </a:srgbClr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9305" name="Object 9"/>
          <p:cNvGraphicFramePr>
            <a:graphicFrameLocks noChangeAspect="1"/>
          </p:cNvGraphicFramePr>
          <p:nvPr/>
        </p:nvGraphicFramePr>
        <p:xfrm>
          <a:off x="381000" y="838200"/>
          <a:ext cx="4343400" cy="2590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8" imgW="2439360" imgH="1998360" progId="Excel.Sheet.8">
                  <p:embed/>
                </p:oleObj>
              </mc:Choice>
              <mc:Fallback>
                <p:oleObj name="Worksheet" r:id="rId8" imgW="2439360" imgH="1998360" progId="Excel.Sheet.8">
                  <p:embed/>
                  <p:pic>
                    <p:nvPicPr>
                      <p:cNvPr id="439305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" y="838200"/>
                        <a:ext cx="4343400" cy="2590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9306" name="Line 10"/>
          <p:cNvSpPr>
            <a:spLocks noChangeShapeType="1"/>
          </p:cNvSpPr>
          <p:nvPr/>
        </p:nvSpPr>
        <p:spPr bwMode="auto">
          <a:xfrm flipV="1">
            <a:off x="7467600" y="3886200"/>
            <a:ext cx="0" cy="2209800"/>
          </a:xfrm>
          <a:prstGeom prst="line">
            <a:avLst/>
          </a:prstGeom>
          <a:noFill/>
          <a:ln w="63500">
            <a:solidFill>
              <a:schemeClr val="tx1"/>
            </a:solidFill>
            <a:prstDash val="sysDot"/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39307" name="AutoShape 11"/>
          <p:cNvSpPr>
            <a:spLocks noChangeArrowheads="1"/>
          </p:cNvSpPr>
          <p:nvPr/>
        </p:nvSpPr>
        <p:spPr bwMode="auto">
          <a:xfrm>
            <a:off x="7086600" y="5257800"/>
            <a:ext cx="381000" cy="609600"/>
          </a:xfrm>
          <a:prstGeom prst="leftArrow">
            <a:avLst>
              <a:gd name="adj1" fmla="val 50000"/>
              <a:gd name="adj2" fmla="val 25000"/>
            </a:avLst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39308" name="Text Box 12"/>
          <p:cNvSpPr txBox="1">
            <a:spLocks noChangeArrowheads="1"/>
          </p:cNvSpPr>
          <p:nvPr/>
        </p:nvSpPr>
        <p:spPr bwMode="auto">
          <a:xfrm>
            <a:off x="6400800" y="5334000"/>
            <a:ext cx="685800" cy="4572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past</a:t>
            </a:r>
            <a:endParaRPr lang="en-AU"/>
          </a:p>
        </p:txBody>
      </p:sp>
      <p:sp>
        <p:nvSpPr>
          <p:cNvPr id="439309" name="Text Box 13"/>
          <p:cNvSpPr txBox="1">
            <a:spLocks noChangeArrowheads="1"/>
          </p:cNvSpPr>
          <p:nvPr/>
        </p:nvSpPr>
        <p:spPr bwMode="auto">
          <a:xfrm>
            <a:off x="5867400" y="838200"/>
            <a:ext cx="2286000" cy="4572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Trend line</a:t>
            </a:r>
            <a:endParaRPr lang="en-AU"/>
          </a:p>
        </p:txBody>
      </p:sp>
      <p:sp>
        <p:nvSpPr>
          <p:cNvPr id="439310" name="Text Box 14"/>
          <p:cNvSpPr txBox="1">
            <a:spLocks noChangeArrowheads="1"/>
          </p:cNvSpPr>
          <p:nvPr/>
        </p:nvSpPr>
        <p:spPr bwMode="auto">
          <a:xfrm>
            <a:off x="5943600" y="2286000"/>
            <a:ext cx="2667000" cy="4572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Forecast for time </a:t>
            </a:r>
            <a:r>
              <a:rPr lang="en-US" i="1"/>
              <a:t>t</a:t>
            </a:r>
            <a:endParaRPr lang="en-AU"/>
          </a:p>
        </p:txBody>
      </p:sp>
      <p:sp>
        <p:nvSpPr>
          <p:cNvPr id="439311" name="Rectangle 15"/>
          <p:cNvSpPr>
            <a:spLocks noChangeArrowheads="1"/>
          </p:cNvSpPr>
          <p:nvPr/>
        </p:nvSpPr>
        <p:spPr bwMode="auto">
          <a:xfrm>
            <a:off x="5943600" y="2971800"/>
            <a:ext cx="2819400" cy="685800"/>
          </a:xfrm>
          <a:prstGeom prst="rect">
            <a:avLst/>
          </a:prstGeom>
          <a:noFill/>
          <a:ln w="50800">
            <a:solidFill>
              <a:srgbClr val="FF0000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564AA96-31AF-3949-E4DA-27E1DAFFA9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IDS, Faculty of Engineering, University of Jaffna</a:t>
            </a:r>
            <a:endParaRPr lang="en-US"/>
          </a:p>
        </p:txBody>
      </p:sp>
    </p:spTree>
  </p:cSld>
  <p:clrMapOvr>
    <a:masterClrMapping/>
  </p:clrMapOvr>
  <p:transition>
    <p:pull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9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393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393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9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393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393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9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393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393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92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392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392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92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392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392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92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392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392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92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4392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4392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92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4392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4392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9299" grpId="0" build="p" autoUpdateAnimBg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54F11-25C7-4917-8EE1-A35628B0469C}" type="slidenum">
              <a:rPr lang="en-US"/>
              <a:pPr/>
              <a:t>33</a:t>
            </a:fld>
            <a:endParaRPr lang="en-US"/>
          </a:p>
        </p:txBody>
      </p:sp>
      <p:sp>
        <p:nvSpPr>
          <p:cNvPr id="427010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228600"/>
            <a:ext cx="7772400" cy="533400"/>
          </a:xfrm>
          <a:noFill/>
          <a:ln/>
        </p:spPr>
        <p:txBody>
          <a:bodyPr lIns="90488" tIns="44450" rIns="90488" bIns="44450" anchor="b"/>
          <a:lstStyle/>
          <a:p>
            <a:pPr algn="l"/>
            <a:r>
              <a:rPr lang="en-AU" sz="3200" b="1" u="sng"/>
              <a:t>Measuring the Seasonal Effect</a:t>
            </a:r>
            <a:endParaRPr lang="en-AU" sz="3200" u="sng"/>
          </a:p>
        </p:txBody>
      </p:sp>
      <p:graphicFrame>
        <p:nvGraphicFramePr>
          <p:cNvPr id="427011" name="Object 3">
            <a:hlinkClick r:id="" action="ppaction://ole?verb=0"/>
          </p:cNvPr>
          <p:cNvGraphicFramePr>
            <a:graphicFrameLocks/>
          </p:cNvGraphicFramePr>
          <p:nvPr/>
        </p:nvGraphicFramePr>
        <p:xfrm>
          <a:off x="5562600" y="6019800"/>
          <a:ext cx="1143000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lip" r:id="rId4" imgW="1738080" imgH="1217520" progId="">
                  <p:embed/>
                </p:oleObj>
              </mc:Choice>
              <mc:Fallback>
                <p:oleObj name="Clip" r:id="rId4" imgW="1738080" imgH="1217520" progId="">
                  <p:embed/>
                  <p:pic>
                    <p:nvPicPr>
                      <p:cNvPr id="427011" name="Object 3">
                        <a:hlinkClick r:id="" action="ppaction://ole?verb=0"/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62600" y="6019800"/>
                        <a:ext cx="1143000" cy="685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7012" name="Object 4">
            <a:hlinkClick r:id="" action="ppaction://ole?verb=0"/>
          </p:cNvPr>
          <p:cNvGraphicFramePr>
            <a:graphicFrameLocks/>
          </p:cNvGraphicFramePr>
          <p:nvPr/>
        </p:nvGraphicFramePr>
        <p:xfrm>
          <a:off x="7162800" y="152400"/>
          <a:ext cx="1635125" cy="817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lip" r:id="rId6" imgW="1633320" imgH="815760" progId="">
                  <p:embed/>
                </p:oleObj>
              </mc:Choice>
              <mc:Fallback>
                <p:oleObj name="Clip" r:id="rId6" imgW="1633320" imgH="815760" progId="">
                  <p:embed/>
                  <p:pic>
                    <p:nvPicPr>
                      <p:cNvPr id="427012" name="Object 4">
                        <a:hlinkClick r:id="" action="ppaction://ole?verb=0"/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62800" y="152400"/>
                        <a:ext cx="1635125" cy="817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7013" name="Object 5">
            <a:hlinkClick r:id="" action="ppaction://ole?verb=0"/>
          </p:cNvPr>
          <p:cNvGraphicFramePr>
            <a:graphicFrameLocks/>
          </p:cNvGraphicFramePr>
          <p:nvPr/>
        </p:nvGraphicFramePr>
        <p:xfrm>
          <a:off x="7010400" y="6248400"/>
          <a:ext cx="1493838" cy="415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lip" r:id="rId8" imgW="1492200" imgH="414000" progId="">
                  <p:embed/>
                </p:oleObj>
              </mc:Choice>
              <mc:Fallback>
                <p:oleObj name="Clip" r:id="rId8" imgW="1492200" imgH="414000" progId="">
                  <p:embed/>
                  <p:pic>
                    <p:nvPicPr>
                      <p:cNvPr id="427013" name="Object 5">
                        <a:hlinkClick r:id="" action="ppaction://ole?verb=0"/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10400" y="6248400"/>
                        <a:ext cx="1493838" cy="415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27014" name="Rectangle 6"/>
          <p:cNvSpPr>
            <a:spLocks noChangeArrowheads="1"/>
          </p:cNvSpPr>
          <p:nvPr/>
        </p:nvSpPr>
        <p:spPr bwMode="auto">
          <a:xfrm>
            <a:off x="152400" y="914400"/>
            <a:ext cx="2209800" cy="609600"/>
          </a:xfrm>
          <a:prstGeom prst="rect">
            <a:avLst/>
          </a:prstGeom>
          <a:solidFill>
            <a:schemeClr val="bg1"/>
          </a:solidFill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r>
              <a:rPr lang="en-GB" b="1" u="sng" dirty="0"/>
              <a:t>Example:</a:t>
            </a:r>
            <a:endParaRPr lang="en-GB" u="sng" dirty="0"/>
          </a:p>
        </p:txBody>
      </p:sp>
      <p:graphicFrame>
        <p:nvGraphicFramePr>
          <p:cNvPr id="427015" name="Object 7"/>
          <p:cNvGraphicFramePr>
            <a:graphicFrameLocks noChangeAspect="1"/>
          </p:cNvGraphicFramePr>
          <p:nvPr/>
        </p:nvGraphicFramePr>
        <p:xfrm>
          <a:off x="3810000" y="1143000"/>
          <a:ext cx="5029200" cy="4800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hart" r:id="rId10" imgW="4499280" imgH="2340720" progId="Excel.Sheet.8">
                  <p:embed/>
                </p:oleObj>
              </mc:Choice>
              <mc:Fallback>
                <p:oleObj name="Chart" r:id="rId10" imgW="4499280" imgH="2340720" progId="Excel.Sheet.8">
                  <p:embed/>
                  <p:pic>
                    <p:nvPicPr>
                      <p:cNvPr id="427015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0" y="1143000"/>
                        <a:ext cx="5029200" cy="4800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7016" name="Object 8"/>
          <p:cNvGraphicFramePr>
            <a:graphicFrameLocks noChangeAspect="1"/>
          </p:cNvGraphicFramePr>
          <p:nvPr/>
        </p:nvGraphicFramePr>
        <p:xfrm>
          <a:off x="228600" y="1600200"/>
          <a:ext cx="3200400" cy="457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12" imgW="2439360" imgH="3796560" progId="Excel.Sheet.8">
                  <p:embed/>
                </p:oleObj>
              </mc:Choice>
              <mc:Fallback>
                <p:oleObj name="Worksheet" r:id="rId12" imgW="2439360" imgH="3796560" progId="Excel.Sheet.8">
                  <p:embed/>
                  <p:pic>
                    <p:nvPicPr>
                      <p:cNvPr id="427016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" y="1600200"/>
                        <a:ext cx="3200400" cy="4572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27017" name="Line 9"/>
          <p:cNvSpPr>
            <a:spLocks noChangeShapeType="1"/>
          </p:cNvSpPr>
          <p:nvPr/>
        </p:nvSpPr>
        <p:spPr bwMode="auto">
          <a:xfrm>
            <a:off x="5181600" y="3048000"/>
            <a:ext cx="0" cy="1600200"/>
          </a:xfrm>
          <a:prstGeom prst="line">
            <a:avLst/>
          </a:prstGeom>
          <a:noFill/>
          <a:ln w="38100">
            <a:solidFill>
              <a:schemeClr val="tx1"/>
            </a:solidFill>
            <a:prstDash val="sysDot"/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27018" name="Line 10"/>
          <p:cNvSpPr>
            <a:spLocks noChangeShapeType="1"/>
          </p:cNvSpPr>
          <p:nvPr/>
        </p:nvSpPr>
        <p:spPr bwMode="auto">
          <a:xfrm>
            <a:off x="5943600" y="1905000"/>
            <a:ext cx="0" cy="2743200"/>
          </a:xfrm>
          <a:prstGeom prst="line">
            <a:avLst/>
          </a:prstGeom>
          <a:noFill/>
          <a:ln w="38100">
            <a:solidFill>
              <a:schemeClr val="tx1"/>
            </a:solidFill>
            <a:prstDash val="sysDot"/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27019" name="Line 11"/>
          <p:cNvSpPr>
            <a:spLocks noChangeShapeType="1"/>
          </p:cNvSpPr>
          <p:nvPr/>
        </p:nvSpPr>
        <p:spPr bwMode="auto">
          <a:xfrm>
            <a:off x="6629400" y="2362200"/>
            <a:ext cx="0" cy="2286000"/>
          </a:xfrm>
          <a:prstGeom prst="line">
            <a:avLst/>
          </a:prstGeom>
          <a:noFill/>
          <a:ln w="38100">
            <a:solidFill>
              <a:schemeClr val="tx1"/>
            </a:solidFill>
            <a:prstDash val="sysDot"/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27020" name="Line 12"/>
          <p:cNvSpPr>
            <a:spLocks noChangeShapeType="1"/>
          </p:cNvSpPr>
          <p:nvPr/>
        </p:nvSpPr>
        <p:spPr bwMode="auto">
          <a:xfrm>
            <a:off x="7315200" y="2286000"/>
            <a:ext cx="0" cy="2362200"/>
          </a:xfrm>
          <a:prstGeom prst="line">
            <a:avLst/>
          </a:prstGeom>
          <a:noFill/>
          <a:ln w="38100">
            <a:solidFill>
              <a:schemeClr val="tx1"/>
            </a:solidFill>
            <a:prstDash val="sysDot"/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27021" name="Line 13"/>
          <p:cNvSpPr>
            <a:spLocks noChangeShapeType="1"/>
          </p:cNvSpPr>
          <p:nvPr/>
        </p:nvSpPr>
        <p:spPr bwMode="auto">
          <a:xfrm>
            <a:off x="8077200" y="2133600"/>
            <a:ext cx="0" cy="2514600"/>
          </a:xfrm>
          <a:prstGeom prst="line">
            <a:avLst/>
          </a:prstGeom>
          <a:noFill/>
          <a:ln w="38100">
            <a:solidFill>
              <a:schemeClr val="tx1"/>
            </a:solidFill>
            <a:prstDash val="sysDot"/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AE16C341-7D0F-2E81-AA77-1F25DFDF5D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IDS, Faculty of Engineering, University of Jaffna</a:t>
            </a:r>
            <a:endParaRPr lang="en-US"/>
          </a:p>
        </p:txBody>
      </p:sp>
    </p:spTree>
  </p:cSld>
  <p:clrMapOvr>
    <a:masterClrMapping/>
  </p:clrMapOvr>
  <p:transition>
    <p:strips dir="r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0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270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270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5"/>
                                            </p:cond>
                                          </p:stCondLst>
                                        </p:cTn>
                                        <p:tgtEl>
                                          <p:spTgt spid="4270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Plane1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C9EB5B-DABC-4A2A-A6FD-5A847EFB3D8D}" type="slidenum">
              <a:rPr lang="en-US"/>
              <a:pPr/>
              <a:t>34</a:t>
            </a:fld>
            <a:endParaRPr lang="en-US"/>
          </a:p>
        </p:txBody>
      </p:sp>
      <p:sp>
        <p:nvSpPr>
          <p:cNvPr id="429058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304800"/>
            <a:ext cx="7772400" cy="609600"/>
          </a:xfrm>
          <a:noFill/>
          <a:ln/>
        </p:spPr>
        <p:txBody>
          <a:bodyPr lIns="90488" tIns="44450" rIns="90488" bIns="44450" anchor="b"/>
          <a:lstStyle/>
          <a:p>
            <a:pPr algn="l"/>
            <a:r>
              <a:rPr lang="en-AU" sz="3200" b="1" u="sng"/>
              <a:t>Measuring the Seasonal Effect</a:t>
            </a:r>
            <a:endParaRPr lang="en-AU" sz="3200" u="sng"/>
          </a:p>
        </p:txBody>
      </p:sp>
      <p:sp>
        <p:nvSpPr>
          <p:cNvPr id="4290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143000"/>
            <a:ext cx="7772400" cy="4800600"/>
          </a:xfrm>
          <a:noFill/>
          <a:ln/>
        </p:spPr>
        <p:txBody>
          <a:bodyPr lIns="90488" tIns="44450" rIns="90488" bIns="44450"/>
          <a:lstStyle/>
          <a:p>
            <a:pPr>
              <a:buFontTx/>
              <a:buNone/>
            </a:pPr>
            <a:r>
              <a:rPr lang="en-AU" sz="2800"/>
              <a:t>Obtain </a:t>
            </a:r>
            <a:r>
              <a:rPr lang="en-AU" sz="2800" b="1" i="1"/>
              <a:t>seasonal indices</a:t>
            </a:r>
            <a:r>
              <a:rPr lang="en-AU" sz="2800"/>
              <a:t> by</a:t>
            </a:r>
            <a:endParaRPr lang="en-US" sz="2800"/>
          </a:p>
          <a:p>
            <a:r>
              <a:rPr lang="en-AU" b="1">
                <a:solidFill>
                  <a:schemeClr val="accent2"/>
                </a:solidFill>
              </a:rPr>
              <a:t>Using the linear trend equation</a:t>
            </a:r>
            <a:endParaRPr lang="en-US" b="1">
              <a:solidFill>
                <a:schemeClr val="accent2"/>
              </a:solidFill>
            </a:endParaRPr>
          </a:p>
          <a:p>
            <a:endParaRPr lang="en-AU" sz="1600" b="1">
              <a:solidFill>
                <a:schemeClr val="accent2"/>
              </a:solidFill>
            </a:endParaRPr>
          </a:p>
          <a:p>
            <a:pPr>
              <a:buFontTx/>
              <a:buNone/>
            </a:pPr>
            <a:r>
              <a:rPr lang="en-GB" sz="2800" b="1">
                <a:solidFill>
                  <a:schemeClr val="tx2"/>
                </a:solidFill>
              </a:rPr>
              <a:t>	</a:t>
            </a:r>
            <a:r>
              <a:rPr lang="en-GB" sz="2400" b="1" i="1" u="sng">
                <a:solidFill>
                  <a:schemeClr val="tx2"/>
                </a:solidFill>
              </a:rPr>
              <a:t>Seasonal indices</a:t>
            </a:r>
            <a:r>
              <a:rPr lang="en-GB" sz="2400" b="1" u="sng">
                <a:solidFill>
                  <a:schemeClr val="tx2"/>
                </a:solidFill>
              </a:rPr>
              <a:t> measure the </a:t>
            </a:r>
          </a:p>
          <a:p>
            <a:pPr>
              <a:buFontTx/>
              <a:buNone/>
            </a:pPr>
            <a:r>
              <a:rPr lang="en-GB" sz="2400" b="1">
                <a:solidFill>
                  <a:schemeClr val="tx2"/>
                </a:solidFill>
              </a:rPr>
              <a:t>	</a:t>
            </a:r>
          </a:p>
          <a:p>
            <a:pPr>
              <a:buFontTx/>
              <a:buNone/>
            </a:pPr>
            <a:r>
              <a:rPr lang="en-GB" sz="2400" b="1">
                <a:solidFill>
                  <a:schemeClr val="tx2"/>
                </a:solidFill>
              </a:rPr>
              <a:t>     </a:t>
            </a:r>
            <a:r>
              <a:rPr lang="en-GB" sz="2400" b="1" u="sng">
                <a:solidFill>
                  <a:schemeClr val="tx2"/>
                </a:solidFill>
              </a:rPr>
              <a:t>extent to which the seasons </a:t>
            </a:r>
          </a:p>
          <a:p>
            <a:pPr>
              <a:buFontTx/>
              <a:buNone/>
            </a:pPr>
            <a:r>
              <a:rPr lang="en-GB" sz="2400" b="1">
                <a:solidFill>
                  <a:schemeClr val="tx2"/>
                </a:solidFill>
              </a:rPr>
              <a:t>	 </a:t>
            </a:r>
            <a:r>
              <a:rPr lang="en-GB" sz="2400" b="1" u="sng">
                <a:solidFill>
                  <a:schemeClr val="tx2"/>
                </a:solidFill>
              </a:rPr>
              <a:t>differ from each other.</a:t>
            </a:r>
            <a:endParaRPr lang="en-AU" sz="2400" u="sng">
              <a:solidFill>
                <a:schemeClr val="tx2"/>
              </a:solidFill>
            </a:endParaRPr>
          </a:p>
        </p:txBody>
      </p:sp>
      <p:graphicFrame>
        <p:nvGraphicFramePr>
          <p:cNvPr id="429060" name="Object 4">
            <a:hlinkClick r:id="" action="ppaction://ole?verb=0"/>
          </p:cNvPr>
          <p:cNvGraphicFramePr>
            <a:graphicFrameLocks/>
          </p:cNvGraphicFramePr>
          <p:nvPr/>
        </p:nvGraphicFramePr>
        <p:xfrm>
          <a:off x="7086600" y="304800"/>
          <a:ext cx="15875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lip" r:id="rId3" imgW="1738080" imgH="1217520" progId="">
                  <p:embed/>
                </p:oleObj>
              </mc:Choice>
              <mc:Fallback>
                <p:oleObj name="Clip" r:id="rId3" imgW="1738080" imgH="1217520" progId="">
                  <p:embed/>
                  <p:pic>
                    <p:nvPicPr>
                      <p:cNvPr id="429060" name="Object 4">
                        <a:hlinkClick r:id="" action="ppaction://ole?verb=0"/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86600" y="304800"/>
                        <a:ext cx="1587500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29061" name="Rectangle 5"/>
          <p:cNvSpPr>
            <a:spLocks noChangeArrowheads="1"/>
          </p:cNvSpPr>
          <p:nvPr/>
        </p:nvSpPr>
        <p:spPr bwMode="auto">
          <a:xfrm>
            <a:off x="684213" y="3500438"/>
            <a:ext cx="4267200" cy="881062"/>
          </a:xfrm>
          <a:prstGeom prst="rect">
            <a:avLst/>
          </a:prstGeom>
          <a:noFill/>
          <a:ln w="50800">
            <a:solidFill>
              <a:srgbClr val="FF00FF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29062" name="Text Box 6"/>
          <p:cNvSpPr txBox="1">
            <a:spLocks noChangeArrowheads="1"/>
          </p:cNvSpPr>
          <p:nvPr/>
        </p:nvSpPr>
        <p:spPr bwMode="auto">
          <a:xfrm>
            <a:off x="685800" y="5029200"/>
            <a:ext cx="7162800" cy="1590675"/>
          </a:xfrm>
          <a:prstGeom prst="rect">
            <a:avLst/>
          </a:prstGeom>
          <a:solidFill>
            <a:srgbClr val="CCFFFF"/>
          </a:solidFill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The number of seasons depends on the unit of time used.</a:t>
            </a:r>
          </a:p>
          <a:p>
            <a:pPr>
              <a:spcBef>
                <a:spcPct val="50000"/>
              </a:spcBef>
            </a:pPr>
            <a:r>
              <a:rPr lang="en-US"/>
              <a:t>Eg: Quarterly data – 4 seasons</a:t>
            </a:r>
          </a:p>
          <a:p>
            <a:pPr>
              <a:spcBef>
                <a:spcPct val="50000"/>
              </a:spcBef>
            </a:pPr>
            <a:r>
              <a:rPr lang="en-US"/>
              <a:t>       Monthly data – 12 seasons </a:t>
            </a:r>
            <a:endParaRPr lang="en-AU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E1DF37E-AB15-3066-887D-3C1ADFF6D7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IDS, Faculty of Engineering, University of Jaffna</a:t>
            </a:r>
            <a:endParaRPr lang="en-US"/>
          </a:p>
        </p:txBody>
      </p:sp>
    </p:spTree>
  </p:cSld>
  <p:clrMapOvr>
    <a:masterClrMapping/>
  </p:clrMapOvr>
  <p:transition>
    <p:strips dir="r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0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4290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0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2" dur="500"/>
                                        <p:tgtEl>
                                          <p:spTgt spid="4290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0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7" dur="500"/>
                                        <p:tgtEl>
                                          <p:spTgt spid="4290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0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2" dur="500"/>
                                        <p:tgtEl>
                                          <p:spTgt spid="4290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0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7" dur="500"/>
                                        <p:tgtEl>
                                          <p:spTgt spid="4290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0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2" dur="500"/>
                                        <p:tgtEl>
                                          <p:spTgt spid="4290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9059" grpId="0" build="p" autoUpdateAnimBg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91752F-B720-4B2E-846B-11B5238216B5}" type="slidenum">
              <a:rPr lang="en-US"/>
              <a:pPr/>
              <a:t>35</a:t>
            </a:fld>
            <a:endParaRPr lang="en-US"/>
          </a:p>
        </p:txBody>
      </p:sp>
      <p:sp>
        <p:nvSpPr>
          <p:cNvPr id="431106" name="Rectangle 2"/>
          <p:cNvSpPr>
            <a:spLocks noChangeArrowheads="1"/>
          </p:cNvSpPr>
          <p:nvPr/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311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2438400"/>
            <a:ext cx="8534400" cy="1752600"/>
          </a:xfrm>
          <a:noFill/>
          <a:ln/>
        </p:spPr>
        <p:txBody>
          <a:bodyPr lIns="90488" tIns="44450" rIns="90488" bIns="44450"/>
          <a:lstStyle/>
          <a:p>
            <a:pPr>
              <a:buFontTx/>
              <a:buNone/>
            </a:pPr>
            <a:r>
              <a:rPr lang="en-GB" sz="900"/>
              <a:t>     </a:t>
            </a:r>
            <a:r>
              <a:rPr lang="en-GB" sz="2800"/>
              <a:t>Use this method if there’s </a:t>
            </a:r>
            <a:r>
              <a:rPr lang="en-GB" sz="2800" b="1" u="sng">
                <a:solidFill>
                  <a:srgbClr val="FF3300"/>
                </a:solidFill>
              </a:rPr>
              <a:t>no </a:t>
            </a:r>
            <a:r>
              <a:rPr lang="en-GB" sz="2800"/>
              <a:t>cyclic effect present.</a:t>
            </a:r>
          </a:p>
          <a:p>
            <a:pPr>
              <a:buFontTx/>
              <a:buNone/>
            </a:pPr>
            <a:r>
              <a:rPr lang="en-GB" sz="2600"/>
              <a:t>	</a:t>
            </a:r>
            <a:r>
              <a:rPr lang="en-GB" sz="2800"/>
              <a:t>Model:	</a:t>
            </a:r>
            <a:r>
              <a:rPr lang="en-GB" sz="2800" i="1"/>
              <a:t>Y</a:t>
            </a:r>
            <a:r>
              <a:rPr lang="en-GB" sz="2800" i="1" baseline="-25000"/>
              <a:t>t</a:t>
            </a:r>
            <a:r>
              <a:rPr lang="en-GB" sz="2800" i="1"/>
              <a:t> = T</a:t>
            </a:r>
            <a:r>
              <a:rPr lang="en-GB" sz="2800" i="1" baseline="-25000"/>
              <a:t>t</a:t>
            </a:r>
            <a:r>
              <a:rPr lang="en-GB" sz="2800" i="1"/>
              <a:t> </a:t>
            </a:r>
            <a:r>
              <a:rPr lang="en-GB" sz="2800"/>
              <a:t>x</a:t>
            </a:r>
            <a:r>
              <a:rPr lang="en-GB" sz="2800" i="1"/>
              <a:t> S</a:t>
            </a:r>
            <a:r>
              <a:rPr lang="en-GB" sz="2800" i="1" baseline="-25000"/>
              <a:t>t</a:t>
            </a:r>
            <a:r>
              <a:rPr lang="en-GB" sz="2800" i="1"/>
              <a:t> </a:t>
            </a:r>
            <a:r>
              <a:rPr lang="en-GB" sz="2800"/>
              <a:t>x</a:t>
            </a:r>
            <a:r>
              <a:rPr lang="en-GB" sz="2800" i="1"/>
              <a:t> R</a:t>
            </a:r>
            <a:r>
              <a:rPr lang="en-GB" sz="2800" i="1" baseline="-25000"/>
              <a:t>t</a:t>
            </a:r>
          </a:p>
          <a:p>
            <a:pPr>
              <a:buFontTx/>
              <a:buNone/>
            </a:pPr>
            <a:endParaRPr lang="en-GB" sz="1600" baseline="-25000"/>
          </a:p>
          <a:p>
            <a:pPr>
              <a:buFontTx/>
              <a:buNone/>
            </a:pPr>
            <a:r>
              <a:rPr lang="en-GB" sz="2800"/>
              <a:t>	Since				represents trend </a:t>
            </a:r>
            <a:r>
              <a:rPr lang="en-GB" sz="2800" i="1"/>
              <a:t>T</a:t>
            </a:r>
            <a:r>
              <a:rPr lang="en-GB" sz="2800" i="1" baseline="-25000"/>
              <a:t>t</a:t>
            </a:r>
            <a:r>
              <a:rPr lang="en-GB" sz="2800"/>
              <a:t>, we get</a:t>
            </a:r>
          </a:p>
        </p:txBody>
      </p:sp>
      <p:graphicFrame>
        <p:nvGraphicFramePr>
          <p:cNvPr id="431108" name="Object 4">
            <a:hlinkClick r:id="" action="ppaction://ole?verb=0"/>
          </p:cNvPr>
          <p:cNvGraphicFramePr>
            <a:graphicFrameLocks/>
          </p:cNvGraphicFramePr>
          <p:nvPr/>
        </p:nvGraphicFramePr>
        <p:xfrm>
          <a:off x="7086600" y="228600"/>
          <a:ext cx="1739900" cy="1219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lip" r:id="rId3" imgW="1738080" imgH="1217520" progId="">
                  <p:embed/>
                </p:oleObj>
              </mc:Choice>
              <mc:Fallback>
                <p:oleObj name="Clip" r:id="rId3" imgW="1738080" imgH="1217520" progId="">
                  <p:embed/>
                  <p:pic>
                    <p:nvPicPr>
                      <p:cNvPr id="431108" name="Object 4">
                        <a:hlinkClick r:id="" action="ppaction://ole?verb=0"/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86600" y="228600"/>
                        <a:ext cx="1739900" cy="1219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1109" name="Object 5">
            <a:hlinkClick r:id="" action="ppaction://ole?verb=0"/>
          </p:cNvPr>
          <p:cNvGraphicFramePr>
            <a:graphicFrameLocks/>
          </p:cNvGraphicFramePr>
          <p:nvPr/>
        </p:nvGraphicFramePr>
        <p:xfrm>
          <a:off x="2209800" y="3581400"/>
          <a:ext cx="205740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812520" imgH="253800" progId="Equation.3">
                  <p:embed/>
                </p:oleObj>
              </mc:Choice>
              <mc:Fallback>
                <p:oleObj name="Equation" r:id="rId5" imgW="812520" imgH="253800" progId="Equation.3">
                  <p:embed/>
                  <p:pic>
                    <p:nvPicPr>
                      <p:cNvPr id="431109" name="Object 5">
                        <a:hlinkClick r:id="" action="ppaction://ole?verb=0"/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9800" y="3581400"/>
                        <a:ext cx="2057400" cy="533400"/>
                      </a:xfrm>
                      <a:prstGeom prst="rect">
                        <a:avLst/>
                      </a:prstGeom>
                      <a:solidFill>
                        <a:srgbClr val="FFFFFF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1110" name="Object 6">
            <a:hlinkClick r:id="" action="ppaction://ole?verb=0"/>
          </p:cNvPr>
          <p:cNvGraphicFramePr>
            <a:graphicFrameLocks/>
          </p:cNvGraphicFramePr>
          <p:nvPr/>
        </p:nvGraphicFramePr>
        <p:xfrm>
          <a:off x="2133600" y="4343400"/>
          <a:ext cx="4038600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917360" imgH="406080" progId="Equation.3">
                  <p:embed/>
                </p:oleObj>
              </mc:Choice>
              <mc:Fallback>
                <p:oleObj name="Equation" r:id="rId7" imgW="1917360" imgH="406080" progId="Equation.3">
                  <p:embed/>
                  <p:pic>
                    <p:nvPicPr>
                      <p:cNvPr id="431110" name="Object 6">
                        <a:hlinkClick r:id="" action="ppaction://ole?verb=0"/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3600" y="4343400"/>
                        <a:ext cx="4038600" cy="685800"/>
                      </a:xfrm>
                      <a:prstGeom prst="rect">
                        <a:avLst/>
                      </a:prstGeom>
                      <a:solidFill>
                        <a:srgbClr val="FFFFFF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1111" name="Rectangle 7"/>
          <p:cNvSpPr>
            <a:spLocks noGrp="1" noChangeArrowheads="1"/>
          </p:cNvSpPr>
          <p:nvPr>
            <p:ph type="title"/>
          </p:nvPr>
        </p:nvSpPr>
        <p:spPr>
          <a:xfrm>
            <a:off x="228600" y="228600"/>
            <a:ext cx="7772400" cy="1371600"/>
          </a:xfrm>
          <a:noFill/>
          <a:ln/>
        </p:spPr>
        <p:txBody>
          <a:bodyPr lIns="90488" tIns="44450" rIns="90488" bIns="44450" anchor="b"/>
          <a:lstStyle/>
          <a:p>
            <a:pPr algn="l"/>
            <a:r>
              <a:rPr lang="en-AU" sz="2800" b="1" u="sng"/>
              <a:t>Measuring the Seasonal Effect</a:t>
            </a:r>
            <a:r>
              <a:rPr lang="en-AU" sz="2800" b="1"/>
              <a:t> </a:t>
            </a:r>
            <a:br>
              <a:rPr lang="en-AU" sz="2800" b="1"/>
            </a:br>
            <a:r>
              <a:rPr lang="en-AU" sz="2800" b="1"/>
              <a:t>- </a:t>
            </a:r>
            <a:r>
              <a:rPr lang="en-AU" sz="2800" b="1">
                <a:solidFill>
                  <a:schemeClr val="accent2"/>
                </a:solidFill>
              </a:rPr>
              <a:t>Using the Trend Equation</a:t>
            </a:r>
            <a:br>
              <a:rPr lang="en-US" sz="3600" b="1">
                <a:solidFill>
                  <a:srgbClr val="00FFFF"/>
                </a:solidFill>
              </a:rPr>
            </a:br>
            <a:r>
              <a:rPr lang="en-US" sz="3600" b="1">
                <a:solidFill>
                  <a:schemeClr val="tx1"/>
                </a:solidFill>
              </a:rPr>
              <a:t>[</a:t>
            </a:r>
            <a:r>
              <a:rPr lang="en-US" sz="2800" b="1">
                <a:solidFill>
                  <a:schemeClr val="tx1"/>
                </a:solidFill>
              </a:rPr>
              <a:t>Ratio</a:t>
            </a:r>
            <a:r>
              <a:rPr lang="en-AU" sz="2800" b="1">
                <a:solidFill>
                  <a:schemeClr val="tx1"/>
                </a:solidFill>
              </a:rPr>
              <a:t>nale</a:t>
            </a:r>
            <a:r>
              <a:rPr lang="en-AU" sz="2800" b="1"/>
              <a:t> for the method</a:t>
            </a:r>
            <a:r>
              <a:rPr lang="en-US" sz="2800" b="1"/>
              <a:t>]</a:t>
            </a:r>
            <a:r>
              <a:rPr lang="en-AU" sz="3600"/>
              <a:t> </a:t>
            </a:r>
          </a:p>
        </p:txBody>
      </p:sp>
      <p:sp>
        <p:nvSpPr>
          <p:cNvPr id="431112" name="Text Box 8"/>
          <p:cNvSpPr txBox="1">
            <a:spLocks noChangeArrowheads="1"/>
          </p:cNvSpPr>
          <p:nvPr/>
        </p:nvSpPr>
        <p:spPr bwMode="auto">
          <a:xfrm>
            <a:off x="304800" y="5181600"/>
            <a:ext cx="8153400" cy="82232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lvl="1"/>
            <a:r>
              <a:rPr lang="en-GB"/>
              <a:t>Averaging is then used to </a:t>
            </a:r>
            <a:r>
              <a:rPr lang="en-GB" b="1" u="sng"/>
              <a:t>remove the random component</a:t>
            </a:r>
            <a:r>
              <a:rPr lang="en-GB"/>
              <a:t>,</a:t>
            </a:r>
          </a:p>
          <a:p>
            <a:pPr lvl="1"/>
            <a:r>
              <a:rPr lang="en-GB"/>
              <a:t>leaving </a:t>
            </a:r>
            <a:r>
              <a:rPr lang="en-GB" i="1"/>
              <a:t>S</a:t>
            </a:r>
            <a:r>
              <a:rPr lang="en-GB" i="1" baseline="-25000"/>
              <a:t>t</a:t>
            </a:r>
            <a:endParaRPr lang="en-GB" sz="2000" i="1" baseline="-25000"/>
          </a:p>
        </p:txBody>
      </p:sp>
      <p:sp>
        <p:nvSpPr>
          <p:cNvPr id="431113" name="AutoShape 9"/>
          <p:cNvSpPr>
            <a:spLocks noChangeArrowheads="1"/>
          </p:cNvSpPr>
          <p:nvPr/>
        </p:nvSpPr>
        <p:spPr bwMode="auto">
          <a:xfrm>
            <a:off x="152400" y="2438400"/>
            <a:ext cx="304800" cy="304800"/>
          </a:xfrm>
          <a:prstGeom prst="star5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31114" name="AutoShape 10"/>
          <p:cNvSpPr>
            <a:spLocks noChangeArrowheads="1"/>
          </p:cNvSpPr>
          <p:nvPr/>
        </p:nvSpPr>
        <p:spPr bwMode="auto">
          <a:xfrm>
            <a:off x="228600" y="5638800"/>
            <a:ext cx="304800" cy="304800"/>
          </a:xfrm>
          <a:prstGeom prst="star5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grpSp>
        <p:nvGrpSpPr>
          <p:cNvPr id="431115" name="Group 11"/>
          <p:cNvGrpSpPr>
            <a:grpSpLocks/>
          </p:cNvGrpSpPr>
          <p:nvPr/>
        </p:nvGrpSpPr>
        <p:grpSpPr bwMode="auto">
          <a:xfrm>
            <a:off x="228600" y="1752600"/>
            <a:ext cx="7924800" cy="457200"/>
            <a:chOff x="336" y="1440"/>
            <a:chExt cx="4088" cy="288"/>
          </a:xfrm>
        </p:grpSpPr>
        <p:sp>
          <p:nvSpPr>
            <p:cNvPr id="431116" name="Text Box 12"/>
            <p:cNvSpPr txBox="1">
              <a:spLocks noChangeArrowheads="1"/>
            </p:cNvSpPr>
            <p:nvPr/>
          </p:nvSpPr>
          <p:spPr bwMode="auto">
            <a:xfrm>
              <a:off x="336" y="1440"/>
              <a:ext cx="2496" cy="288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b="1" u="sng">
                  <a:latin typeface="Book Antiqua" pitchFamily="18" charset="0"/>
                </a:rPr>
                <a:t>Recall:</a:t>
              </a:r>
              <a:r>
                <a:rPr lang="en-US" b="1">
                  <a:solidFill>
                    <a:schemeClr val="accent2"/>
                  </a:solidFill>
                  <a:latin typeface="Book Antiqua" pitchFamily="18" charset="0"/>
                </a:rPr>
                <a:t> </a:t>
              </a:r>
              <a:r>
                <a:rPr lang="en-AU" b="1">
                  <a:solidFill>
                    <a:schemeClr val="accent2"/>
                  </a:solidFill>
                  <a:latin typeface="Book Antiqua" pitchFamily="18" charset="0"/>
                </a:rPr>
                <a:t>Multiplicative </a:t>
              </a:r>
              <a:r>
                <a:rPr lang="en-US" b="1">
                  <a:solidFill>
                    <a:schemeClr val="accent2"/>
                  </a:solidFill>
                  <a:latin typeface="Book Antiqua" pitchFamily="18" charset="0"/>
                </a:rPr>
                <a:t>m</a:t>
              </a:r>
              <a:r>
                <a:rPr lang="en-AU" b="1">
                  <a:solidFill>
                    <a:schemeClr val="accent2"/>
                  </a:solidFill>
                  <a:latin typeface="Book Antiqua" pitchFamily="18" charset="0"/>
                </a:rPr>
                <a:t>odel</a:t>
              </a:r>
              <a:r>
                <a:rPr lang="en-US" b="1">
                  <a:solidFill>
                    <a:schemeClr val="accent2"/>
                  </a:solidFill>
                  <a:latin typeface="Book Antiqua" pitchFamily="18" charset="0"/>
                </a:rPr>
                <a:t>:</a:t>
              </a:r>
              <a:endParaRPr lang="en-AU" b="1">
                <a:solidFill>
                  <a:schemeClr val="accent2"/>
                </a:solidFill>
                <a:latin typeface="Book Antiqua" pitchFamily="18" charset="0"/>
              </a:endParaRPr>
            </a:p>
          </p:txBody>
        </p:sp>
        <p:graphicFrame>
          <p:nvGraphicFramePr>
            <p:cNvPr id="431117" name="Object 13"/>
            <p:cNvGraphicFramePr>
              <a:graphicFrameLocks noChangeAspect="1"/>
            </p:cNvGraphicFramePr>
            <p:nvPr/>
          </p:nvGraphicFramePr>
          <p:xfrm>
            <a:off x="2592" y="1448"/>
            <a:ext cx="1832" cy="2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9" imgW="2908080" imgH="444240" progId="">
                    <p:embed/>
                  </p:oleObj>
                </mc:Choice>
                <mc:Fallback>
                  <p:oleObj name="Equation" r:id="rId9" imgW="2908080" imgH="444240" progId="">
                    <p:embed/>
                    <p:pic>
                      <p:nvPicPr>
                        <p:cNvPr id="431117" name="Object 1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92" y="1448"/>
                          <a:ext cx="1832" cy="28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31118" name="Freeform 14"/>
          <p:cNvSpPr>
            <a:spLocks/>
          </p:cNvSpPr>
          <p:nvPr/>
        </p:nvSpPr>
        <p:spPr bwMode="auto">
          <a:xfrm>
            <a:off x="5943600" y="1524000"/>
            <a:ext cx="825500" cy="838200"/>
          </a:xfrm>
          <a:custGeom>
            <a:avLst/>
            <a:gdLst/>
            <a:ahLst/>
            <a:cxnLst>
              <a:cxn ang="0">
                <a:pos x="240" y="24"/>
              </a:cxn>
              <a:cxn ang="0">
                <a:pos x="48" y="168"/>
              </a:cxn>
              <a:cxn ang="0">
                <a:pos x="48" y="408"/>
              </a:cxn>
              <a:cxn ang="0">
                <a:pos x="336" y="504"/>
              </a:cxn>
              <a:cxn ang="0">
                <a:pos x="480" y="456"/>
              </a:cxn>
              <a:cxn ang="0">
                <a:pos x="480" y="72"/>
              </a:cxn>
              <a:cxn ang="0">
                <a:pos x="240" y="24"/>
              </a:cxn>
            </a:cxnLst>
            <a:rect l="0" t="0" r="r" b="b"/>
            <a:pathLst>
              <a:path w="520" h="528">
                <a:moveTo>
                  <a:pt x="240" y="24"/>
                </a:moveTo>
                <a:cubicBezTo>
                  <a:pt x="168" y="40"/>
                  <a:pt x="80" y="104"/>
                  <a:pt x="48" y="168"/>
                </a:cubicBezTo>
                <a:cubicBezTo>
                  <a:pt x="16" y="232"/>
                  <a:pt x="0" y="352"/>
                  <a:pt x="48" y="408"/>
                </a:cubicBezTo>
                <a:cubicBezTo>
                  <a:pt x="96" y="464"/>
                  <a:pt x="264" y="496"/>
                  <a:pt x="336" y="504"/>
                </a:cubicBezTo>
                <a:cubicBezTo>
                  <a:pt x="408" y="512"/>
                  <a:pt x="456" y="528"/>
                  <a:pt x="480" y="456"/>
                </a:cubicBezTo>
                <a:cubicBezTo>
                  <a:pt x="504" y="384"/>
                  <a:pt x="520" y="144"/>
                  <a:pt x="480" y="72"/>
                </a:cubicBezTo>
                <a:cubicBezTo>
                  <a:pt x="440" y="0"/>
                  <a:pt x="312" y="8"/>
                  <a:pt x="240" y="24"/>
                </a:cubicBezTo>
                <a:close/>
              </a:path>
            </a:pathLst>
          </a:custGeom>
          <a:noFill/>
          <a:ln w="38100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31119" name="Text Box 15"/>
          <p:cNvSpPr txBox="1">
            <a:spLocks noChangeArrowheads="1"/>
          </p:cNvSpPr>
          <p:nvPr/>
        </p:nvSpPr>
        <p:spPr bwMode="auto">
          <a:xfrm>
            <a:off x="5410200" y="2895600"/>
            <a:ext cx="1371600" cy="4572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omitted</a:t>
            </a:r>
            <a:endParaRPr lang="en-AU"/>
          </a:p>
        </p:txBody>
      </p:sp>
      <p:sp>
        <p:nvSpPr>
          <p:cNvPr id="431120" name="Freeform 16"/>
          <p:cNvSpPr>
            <a:spLocks/>
          </p:cNvSpPr>
          <p:nvPr/>
        </p:nvSpPr>
        <p:spPr bwMode="auto">
          <a:xfrm>
            <a:off x="6477000" y="2286000"/>
            <a:ext cx="660400" cy="914400"/>
          </a:xfrm>
          <a:custGeom>
            <a:avLst/>
            <a:gdLst/>
            <a:ahLst/>
            <a:cxnLst>
              <a:cxn ang="0">
                <a:pos x="248" y="0"/>
              </a:cxn>
              <a:cxn ang="0">
                <a:pos x="440" y="480"/>
              </a:cxn>
              <a:cxn ang="0">
                <a:pos x="56" y="528"/>
              </a:cxn>
              <a:cxn ang="0">
                <a:pos x="104" y="528"/>
              </a:cxn>
            </a:cxnLst>
            <a:rect l="0" t="0" r="r" b="b"/>
            <a:pathLst>
              <a:path w="472" h="568">
                <a:moveTo>
                  <a:pt x="248" y="0"/>
                </a:moveTo>
                <a:cubicBezTo>
                  <a:pt x="360" y="196"/>
                  <a:pt x="472" y="392"/>
                  <a:pt x="440" y="480"/>
                </a:cubicBezTo>
                <a:cubicBezTo>
                  <a:pt x="408" y="568"/>
                  <a:pt x="112" y="520"/>
                  <a:pt x="56" y="528"/>
                </a:cubicBezTo>
                <a:cubicBezTo>
                  <a:pt x="0" y="536"/>
                  <a:pt x="52" y="532"/>
                  <a:pt x="104" y="528"/>
                </a:cubicBezTo>
              </a:path>
            </a:pathLst>
          </a:custGeom>
          <a:noFill/>
          <a:ln w="31750" cap="flat" cmpd="sng">
            <a:solidFill>
              <a:schemeClr val="tx1"/>
            </a:solidFill>
            <a:prstDash val="solid"/>
            <a:round/>
            <a:headEnd type="none" w="sm" len="sm"/>
            <a:tailEnd type="none" w="lg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31121" name="Line 17"/>
          <p:cNvSpPr>
            <a:spLocks noChangeShapeType="1"/>
          </p:cNvSpPr>
          <p:nvPr/>
        </p:nvSpPr>
        <p:spPr bwMode="auto">
          <a:xfrm flipH="1">
            <a:off x="4876800" y="3124200"/>
            <a:ext cx="533400" cy="0"/>
          </a:xfrm>
          <a:prstGeom prst="line">
            <a:avLst/>
          </a:prstGeom>
          <a:noFill/>
          <a:ln w="31750">
            <a:solidFill>
              <a:schemeClr val="tx1"/>
            </a:solidFill>
            <a:round/>
            <a:headEnd type="none" w="sm" len="sm"/>
            <a:tailEnd type="triangle" w="lg" len="med"/>
          </a:ln>
          <a:effectLst/>
        </p:spPr>
        <p:txBody>
          <a:bodyPr/>
          <a:lstStyle/>
          <a:p>
            <a:endParaRPr lang="en-US"/>
          </a:p>
        </p:txBody>
      </p:sp>
      <p:graphicFrame>
        <p:nvGraphicFramePr>
          <p:cNvPr id="431122" name="Object 18">
            <a:hlinkClick r:id="" action="ppaction://ole?verb=0"/>
          </p:cNvPr>
          <p:cNvGraphicFramePr>
            <a:graphicFrameLocks/>
          </p:cNvGraphicFramePr>
          <p:nvPr/>
        </p:nvGraphicFramePr>
        <p:xfrm>
          <a:off x="2590800" y="5791200"/>
          <a:ext cx="2362200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1244520" imgH="457200" progId="Equation.3">
                  <p:embed/>
                </p:oleObj>
              </mc:Choice>
              <mc:Fallback>
                <p:oleObj name="Equation" r:id="rId11" imgW="1244520" imgH="457200" progId="Equation.3">
                  <p:embed/>
                  <p:pic>
                    <p:nvPicPr>
                      <p:cNvPr id="431122" name="Object 18">
                        <a:hlinkClick r:id="" action="ppaction://ole?verb=0"/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90800" y="5791200"/>
                        <a:ext cx="2362200" cy="685800"/>
                      </a:xfrm>
                      <a:prstGeom prst="rect">
                        <a:avLst/>
                      </a:prstGeom>
                      <a:solidFill>
                        <a:srgbClr val="FFFFFF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1123" name="Rectangle 19"/>
          <p:cNvSpPr>
            <a:spLocks noChangeArrowheads="1"/>
          </p:cNvSpPr>
          <p:nvPr/>
        </p:nvSpPr>
        <p:spPr bwMode="auto">
          <a:xfrm>
            <a:off x="2438400" y="5715000"/>
            <a:ext cx="2590800" cy="914400"/>
          </a:xfrm>
          <a:prstGeom prst="rect">
            <a:avLst/>
          </a:prstGeom>
          <a:noFill/>
          <a:ln w="508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071EE91-C0C4-26E0-2335-C9F012978D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IDS, Faculty of Engineering, University of Jaffna</a:t>
            </a:r>
            <a:endParaRPr lang="en-US"/>
          </a:p>
        </p:txBody>
      </p:sp>
    </p:spTree>
  </p:cSld>
  <p:clrMapOvr>
    <a:masterClrMapping/>
  </p:clrMapOvr>
  <p:transition>
    <p:strips dir="r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1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7" dur="500"/>
                                        <p:tgtEl>
                                          <p:spTgt spid="4311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1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2" dur="500"/>
                                        <p:tgtEl>
                                          <p:spTgt spid="4311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1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7" dur="500"/>
                                        <p:tgtEl>
                                          <p:spTgt spid="4311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4311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311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4311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4311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4311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4311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4311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4311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4311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4311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1107" grpId="0" build="p" autoUpdateAnimBg="0"/>
      <p:bldP spid="431112" grpId="0" autoUpdateAnimBg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9A8C24-2EF7-4622-82F2-2B4B8836D0DC}" type="slidenum">
              <a:rPr lang="en-US"/>
              <a:pPr/>
              <a:t>36</a:t>
            </a:fld>
            <a:endParaRPr lang="en-US"/>
          </a:p>
        </p:txBody>
      </p:sp>
      <p:sp>
        <p:nvSpPr>
          <p:cNvPr id="405506" name="Rectangle 1026"/>
          <p:cNvSpPr>
            <a:spLocks noGrp="1" noChangeArrowheads="1"/>
          </p:cNvSpPr>
          <p:nvPr>
            <p:ph type="title"/>
          </p:nvPr>
        </p:nvSpPr>
        <p:spPr>
          <a:xfrm>
            <a:off x="228600" y="228600"/>
            <a:ext cx="7772400" cy="1143000"/>
          </a:xfrm>
          <a:noFill/>
          <a:ln/>
        </p:spPr>
        <p:txBody>
          <a:bodyPr lIns="90488" tIns="44450" rIns="90488" bIns="44450" anchor="b"/>
          <a:lstStyle/>
          <a:p>
            <a:pPr algn="l"/>
            <a:r>
              <a:rPr lang="en-AU" sz="3200" b="1" u="sng"/>
              <a:t>Measuring the Seasonal Effect</a:t>
            </a:r>
            <a:r>
              <a:rPr lang="en-AU" sz="3600" b="1"/>
              <a:t> </a:t>
            </a:r>
            <a:br>
              <a:rPr lang="en-AU" sz="3600" b="1"/>
            </a:br>
            <a:r>
              <a:rPr lang="en-AU" sz="3600" b="1"/>
              <a:t>- </a:t>
            </a:r>
            <a:r>
              <a:rPr lang="en-AU" sz="2800" b="1">
                <a:solidFill>
                  <a:schemeClr val="accent2"/>
                </a:solidFill>
              </a:rPr>
              <a:t>Using the Trend Equation</a:t>
            </a:r>
            <a:r>
              <a:rPr lang="en-AU" sz="3600"/>
              <a:t> </a:t>
            </a:r>
          </a:p>
        </p:txBody>
      </p:sp>
      <p:sp>
        <p:nvSpPr>
          <p:cNvPr id="405507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686800" cy="4419600"/>
          </a:xfrm>
          <a:noFill/>
          <a:ln/>
        </p:spPr>
        <p:txBody>
          <a:bodyPr lIns="90488" tIns="44450" rIns="90488" bIns="44450"/>
          <a:lstStyle/>
          <a:p>
            <a:pPr>
              <a:lnSpc>
                <a:spcPct val="90000"/>
              </a:lnSpc>
              <a:buFontTx/>
              <a:buNone/>
            </a:pPr>
            <a:r>
              <a:rPr lang="en-AU" sz="2400"/>
              <a:t>Fit a trend (regression) equation to the original time series.</a:t>
            </a:r>
            <a:endParaRPr lang="en-US" sz="2400"/>
          </a:p>
          <a:p>
            <a:pPr>
              <a:lnSpc>
                <a:spcPct val="90000"/>
              </a:lnSpc>
              <a:buFontTx/>
              <a:buNone/>
            </a:pPr>
            <a:endParaRPr lang="en-AU" sz="2400"/>
          </a:p>
          <a:p>
            <a:pPr>
              <a:lnSpc>
                <a:spcPct val="90000"/>
              </a:lnSpc>
              <a:buFontTx/>
              <a:buNone/>
            </a:pPr>
            <a:r>
              <a:rPr lang="en-AU" sz="2400"/>
              <a:t>Obtain a trend value for each </a:t>
            </a:r>
            <a:r>
              <a:rPr lang="en-US" sz="2400"/>
              <a:t>observed </a:t>
            </a:r>
            <a:r>
              <a:rPr lang="en-AU" sz="2400"/>
              <a:t>time period.</a:t>
            </a:r>
            <a:endParaRPr lang="en-US" sz="2400"/>
          </a:p>
          <a:p>
            <a:pPr>
              <a:lnSpc>
                <a:spcPct val="90000"/>
              </a:lnSpc>
              <a:buFontTx/>
              <a:buNone/>
            </a:pPr>
            <a:endParaRPr lang="en-AU" sz="2400"/>
          </a:p>
          <a:p>
            <a:pPr>
              <a:lnSpc>
                <a:spcPct val="90000"/>
              </a:lnSpc>
              <a:buFontTx/>
              <a:buNone/>
            </a:pPr>
            <a:r>
              <a:rPr lang="en-AU" sz="2400"/>
              <a:t>Calculate the ratio of each value of the time series to the corresponding trend value.</a:t>
            </a:r>
            <a:endParaRPr lang="en-US" sz="2400"/>
          </a:p>
          <a:p>
            <a:pPr>
              <a:lnSpc>
                <a:spcPct val="90000"/>
              </a:lnSpc>
              <a:buFontTx/>
              <a:buNone/>
            </a:pPr>
            <a:endParaRPr lang="en-AU" sz="2400"/>
          </a:p>
          <a:p>
            <a:pPr>
              <a:lnSpc>
                <a:spcPct val="90000"/>
              </a:lnSpc>
              <a:buFontTx/>
              <a:buNone/>
            </a:pPr>
            <a:r>
              <a:rPr lang="en-AU" sz="2400"/>
              <a:t>For each type of season (e.g. quarter</a:t>
            </a:r>
            <a:r>
              <a:rPr lang="en-US" sz="2400"/>
              <a:t>, month</a:t>
            </a:r>
            <a:r>
              <a:rPr lang="en-AU" sz="2400"/>
              <a:t>), calculate the</a:t>
            </a:r>
            <a:endParaRPr lang="en-US" sz="2400"/>
          </a:p>
          <a:p>
            <a:pPr>
              <a:lnSpc>
                <a:spcPct val="90000"/>
              </a:lnSpc>
              <a:buFontTx/>
              <a:buNone/>
            </a:pPr>
            <a:r>
              <a:rPr lang="en-US" sz="2400"/>
              <a:t>   </a:t>
            </a:r>
            <a:r>
              <a:rPr lang="en-AU" sz="2400"/>
              <a:t> average of the ratios.</a:t>
            </a:r>
            <a:endParaRPr lang="en-US" sz="2400"/>
          </a:p>
          <a:p>
            <a:pPr>
              <a:lnSpc>
                <a:spcPct val="90000"/>
              </a:lnSpc>
              <a:buFontTx/>
              <a:buNone/>
            </a:pPr>
            <a:endParaRPr lang="en-AU" sz="2400"/>
          </a:p>
          <a:p>
            <a:pPr>
              <a:lnSpc>
                <a:spcPct val="90000"/>
              </a:lnSpc>
              <a:buFontTx/>
              <a:buNone/>
            </a:pPr>
            <a:r>
              <a:rPr lang="en-AU" sz="2400"/>
              <a:t>Seasonal indices are the averaged ratios, </a:t>
            </a:r>
            <a:r>
              <a:rPr lang="en-US" sz="2400"/>
              <a:t>a</a:t>
            </a:r>
            <a:r>
              <a:rPr lang="en-AU" sz="2400"/>
              <a:t>djusted to ensure that the sum of the indices is equal to the number of season</a:t>
            </a:r>
            <a:r>
              <a:rPr lang="en-US" sz="2400"/>
              <a:t>s </a:t>
            </a:r>
            <a:r>
              <a:rPr lang="en-AU" sz="2400"/>
              <a:t>in the year.</a:t>
            </a:r>
          </a:p>
        </p:txBody>
      </p:sp>
      <p:graphicFrame>
        <p:nvGraphicFramePr>
          <p:cNvPr id="405508" name="Object 1028">
            <a:hlinkClick r:id="" action="ppaction://ole?verb=0"/>
          </p:cNvPr>
          <p:cNvGraphicFramePr>
            <a:graphicFrameLocks/>
          </p:cNvGraphicFramePr>
          <p:nvPr/>
        </p:nvGraphicFramePr>
        <p:xfrm>
          <a:off x="7010400" y="228600"/>
          <a:ext cx="1739900" cy="1219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lip" r:id="rId3" imgW="1738080" imgH="1217520" progId="">
                  <p:embed/>
                </p:oleObj>
              </mc:Choice>
              <mc:Fallback>
                <p:oleObj name="Clip" r:id="rId3" imgW="1738080" imgH="1217520" progId="">
                  <p:embed/>
                  <p:pic>
                    <p:nvPicPr>
                      <p:cNvPr id="405508" name="Object 1028">
                        <a:hlinkClick r:id="" action="ppaction://ole?verb=0"/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10400" y="228600"/>
                        <a:ext cx="1739900" cy="1219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5509" name="AutoShape 1029"/>
          <p:cNvSpPr>
            <a:spLocks noChangeArrowheads="1"/>
          </p:cNvSpPr>
          <p:nvPr/>
        </p:nvSpPr>
        <p:spPr bwMode="auto">
          <a:xfrm>
            <a:off x="152400" y="1600200"/>
            <a:ext cx="304800" cy="304800"/>
          </a:xfrm>
          <a:prstGeom prst="star5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05510" name="AutoShape 1030"/>
          <p:cNvSpPr>
            <a:spLocks noChangeArrowheads="1"/>
          </p:cNvSpPr>
          <p:nvPr/>
        </p:nvSpPr>
        <p:spPr bwMode="auto">
          <a:xfrm>
            <a:off x="152400" y="5562600"/>
            <a:ext cx="304800" cy="304800"/>
          </a:xfrm>
          <a:prstGeom prst="star5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05511" name="AutoShape 1031"/>
          <p:cNvSpPr>
            <a:spLocks noChangeArrowheads="1"/>
          </p:cNvSpPr>
          <p:nvPr/>
        </p:nvSpPr>
        <p:spPr bwMode="auto">
          <a:xfrm>
            <a:off x="152400" y="4343400"/>
            <a:ext cx="304800" cy="304800"/>
          </a:xfrm>
          <a:prstGeom prst="star5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05512" name="AutoShape 1032"/>
          <p:cNvSpPr>
            <a:spLocks noChangeArrowheads="1"/>
          </p:cNvSpPr>
          <p:nvPr/>
        </p:nvSpPr>
        <p:spPr bwMode="auto">
          <a:xfrm>
            <a:off x="152400" y="3276600"/>
            <a:ext cx="304800" cy="304800"/>
          </a:xfrm>
          <a:prstGeom prst="star5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05513" name="AutoShape 1033"/>
          <p:cNvSpPr>
            <a:spLocks noChangeArrowheads="1"/>
          </p:cNvSpPr>
          <p:nvPr/>
        </p:nvSpPr>
        <p:spPr bwMode="auto">
          <a:xfrm>
            <a:off x="152400" y="2438400"/>
            <a:ext cx="304800" cy="304800"/>
          </a:xfrm>
          <a:prstGeom prst="star5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102F3BB1-BE10-F03D-467B-55162ADD24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IDS, Faculty of Engineering, University of Jaffna</a:t>
            </a:r>
            <a:endParaRPr lang="en-US"/>
          </a:p>
        </p:txBody>
      </p:sp>
    </p:spTree>
  </p:cSld>
  <p:clrMapOvr>
    <a:masterClrMapping/>
  </p:clrMapOvr>
  <p:transition>
    <p:strips dir="r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4055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2" dur="500"/>
                                        <p:tgtEl>
                                          <p:spTgt spid="4055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7" dur="500"/>
                                        <p:tgtEl>
                                          <p:spTgt spid="4055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0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2" dur="500"/>
                                        <p:tgtEl>
                                          <p:spTgt spid="40550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0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7" dur="500"/>
                                        <p:tgtEl>
                                          <p:spTgt spid="40550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0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2" dur="500"/>
                                        <p:tgtEl>
                                          <p:spTgt spid="40550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5507" grpId="0" build="p" autoUpdateAnimBg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FCF9DC-452E-4368-A5DC-94D53BCC70E2}" type="slidenum">
              <a:rPr lang="en-US"/>
              <a:pPr/>
              <a:t>37</a:t>
            </a:fld>
            <a:endParaRPr lang="en-US"/>
          </a:p>
        </p:txBody>
      </p:sp>
      <p:sp>
        <p:nvSpPr>
          <p:cNvPr id="407554" name="Rectangle 1026"/>
          <p:cNvSpPr>
            <a:spLocks noGrp="1" noChangeArrowheads="1"/>
          </p:cNvSpPr>
          <p:nvPr>
            <p:ph type="title"/>
          </p:nvPr>
        </p:nvSpPr>
        <p:spPr>
          <a:xfrm>
            <a:off x="228600" y="304800"/>
            <a:ext cx="7772400" cy="838200"/>
          </a:xfrm>
          <a:noFill/>
          <a:ln/>
        </p:spPr>
        <p:txBody>
          <a:bodyPr lIns="90488" tIns="44450" rIns="90488" bIns="44450" anchor="b"/>
          <a:lstStyle/>
          <a:p>
            <a:pPr algn="l"/>
            <a:r>
              <a:rPr lang="en-AU" sz="2800" b="1" u="sng"/>
              <a:t>Measuring the Seasonal Effect</a:t>
            </a:r>
            <a:r>
              <a:rPr lang="en-AU" sz="2800" b="1"/>
              <a:t> </a:t>
            </a:r>
            <a:br>
              <a:rPr lang="en-AU" sz="2800" b="1"/>
            </a:br>
            <a:r>
              <a:rPr lang="en-AU" sz="2800" b="1"/>
              <a:t>- </a:t>
            </a:r>
            <a:r>
              <a:rPr lang="en-AU" sz="2800" b="1">
                <a:solidFill>
                  <a:schemeClr val="accent2"/>
                </a:solidFill>
              </a:rPr>
              <a:t>Using the Trend Equation</a:t>
            </a:r>
            <a:endParaRPr lang="en-AU" sz="2800">
              <a:solidFill>
                <a:schemeClr val="accent2"/>
              </a:solidFill>
            </a:endParaRPr>
          </a:p>
        </p:txBody>
      </p:sp>
      <p:graphicFrame>
        <p:nvGraphicFramePr>
          <p:cNvPr id="407557" name="Object 1029">
            <a:hlinkClick r:id="" action="ppaction://ole?verb=0"/>
          </p:cNvPr>
          <p:cNvGraphicFramePr>
            <a:graphicFrameLocks/>
          </p:cNvGraphicFramePr>
          <p:nvPr/>
        </p:nvGraphicFramePr>
        <p:xfrm>
          <a:off x="7162800" y="228600"/>
          <a:ext cx="1739900" cy="1219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lip" r:id="rId3" imgW="1738080" imgH="1217520" progId="">
                  <p:embed/>
                </p:oleObj>
              </mc:Choice>
              <mc:Fallback>
                <p:oleObj name="Clip" r:id="rId3" imgW="1738080" imgH="1217520" progId="">
                  <p:embed/>
                  <p:pic>
                    <p:nvPicPr>
                      <p:cNvPr id="407557" name="Object 1029">
                        <a:hlinkClick r:id="" action="ppaction://ole?verb=0"/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62800" y="228600"/>
                        <a:ext cx="1739900" cy="1219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7558" name="Rectangle 1030"/>
          <p:cNvSpPr>
            <a:spLocks noChangeArrowheads="1"/>
          </p:cNvSpPr>
          <p:nvPr/>
        </p:nvSpPr>
        <p:spPr bwMode="auto">
          <a:xfrm>
            <a:off x="304800" y="1295400"/>
            <a:ext cx="2667000" cy="533400"/>
          </a:xfrm>
          <a:prstGeom prst="rect">
            <a:avLst/>
          </a:prstGeom>
          <a:solidFill>
            <a:schemeClr val="bg1"/>
          </a:solidFill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/>
            <a:r>
              <a:rPr lang="en-GB" b="1" u="sng" dirty="0"/>
              <a:t>Example :</a:t>
            </a:r>
          </a:p>
        </p:txBody>
      </p:sp>
      <p:graphicFrame>
        <p:nvGraphicFramePr>
          <p:cNvPr id="407559" name="Object 1031"/>
          <p:cNvGraphicFramePr>
            <a:graphicFrameLocks noChangeAspect="1"/>
          </p:cNvGraphicFramePr>
          <p:nvPr/>
        </p:nvGraphicFramePr>
        <p:xfrm>
          <a:off x="381000" y="1981200"/>
          <a:ext cx="3200400" cy="457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5" imgW="2439360" imgH="3796560" progId="Excel.Sheet.8">
                  <p:embed/>
                </p:oleObj>
              </mc:Choice>
              <mc:Fallback>
                <p:oleObj name="Worksheet" r:id="rId5" imgW="2439360" imgH="3796560" progId="Excel.Sheet.8">
                  <p:embed/>
                  <p:pic>
                    <p:nvPicPr>
                      <p:cNvPr id="407559" name="Object 10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" y="1981200"/>
                        <a:ext cx="3200400" cy="4572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7560" name="Rectangle 1032"/>
          <p:cNvSpPr>
            <a:spLocks noChangeArrowheads="1"/>
          </p:cNvSpPr>
          <p:nvPr/>
        </p:nvSpPr>
        <p:spPr bwMode="auto">
          <a:xfrm>
            <a:off x="1981200" y="1981200"/>
            <a:ext cx="1600200" cy="4572000"/>
          </a:xfrm>
          <a:prstGeom prst="rect">
            <a:avLst/>
          </a:prstGeom>
          <a:noFill/>
          <a:ln w="47625">
            <a:solidFill>
              <a:srgbClr val="FF0000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407565" name="Object 1037"/>
          <p:cNvGraphicFramePr>
            <a:graphicFrameLocks noChangeAspect="1"/>
          </p:cNvGraphicFramePr>
          <p:nvPr/>
        </p:nvGraphicFramePr>
        <p:xfrm>
          <a:off x="4114800" y="1752600"/>
          <a:ext cx="4648200" cy="4800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hart" r:id="rId7" imgW="4499280" imgH="2340720" progId="Excel.Sheet.8">
                  <p:embed/>
                </p:oleObj>
              </mc:Choice>
              <mc:Fallback>
                <p:oleObj name="Chart" r:id="rId7" imgW="4499280" imgH="2340720" progId="Excel.Sheet.8">
                  <p:embed/>
                  <p:pic>
                    <p:nvPicPr>
                      <p:cNvPr id="407565" name="Object 103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14800" y="1752600"/>
                        <a:ext cx="4648200" cy="4800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E387F8E-99EF-7EBB-D8A7-E065D853FD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IDS, Faculty of Engineering, University of Jaffna</a:t>
            </a:r>
            <a:endParaRPr lang="en-US"/>
          </a:p>
        </p:txBody>
      </p:sp>
    </p:spTree>
  </p:cSld>
  <p:clrMapOvr>
    <a:masterClrMapping/>
  </p:clrMapOvr>
  <p:transition>
    <p:strips dir="rd"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E386F2-B0A4-478A-9C69-418D3AEA71FF}" type="slidenum">
              <a:rPr lang="en-US"/>
              <a:pPr/>
              <a:t>38</a:t>
            </a:fld>
            <a:endParaRPr lang="en-US"/>
          </a:p>
        </p:txBody>
      </p:sp>
      <p:graphicFrame>
        <p:nvGraphicFramePr>
          <p:cNvPr id="416771" name="Object 1027"/>
          <p:cNvGraphicFramePr>
            <a:graphicFrameLocks noChangeAspect="1"/>
          </p:cNvGraphicFramePr>
          <p:nvPr/>
        </p:nvGraphicFramePr>
        <p:xfrm>
          <a:off x="457200" y="1295400"/>
          <a:ext cx="6096000" cy="426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5543280" imgH="2978280" progId="Excel.Sheet.8">
                  <p:embed/>
                </p:oleObj>
              </mc:Choice>
              <mc:Fallback>
                <p:oleObj name="Worksheet" r:id="rId2" imgW="5543280" imgH="2978280" progId="Excel.Sheet.8">
                  <p:embed/>
                  <p:pic>
                    <p:nvPicPr>
                      <p:cNvPr id="416771" name="Object 10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" y="1295400"/>
                        <a:ext cx="6096000" cy="426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6772" name="Text Box 1028"/>
          <p:cNvSpPr txBox="1">
            <a:spLocks noChangeArrowheads="1"/>
          </p:cNvSpPr>
          <p:nvPr/>
        </p:nvSpPr>
        <p:spPr bwMode="auto">
          <a:xfrm>
            <a:off x="3657600" y="1676400"/>
            <a:ext cx="2209800" cy="498475"/>
          </a:xfrm>
          <a:prstGeom prst="rect">
            <a:avLst/>
          </a:prstGeom>
          <a:noFill/>
          <a:ln w="41275">
            <a:solidFill>
              <a:srgbClr val="FF00FF"/>
            </a:solidFill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EXCEL output</a:t>
            </a:r>
            <a:endParaRPr lang="en-AU"/>
          </a:p>
        </p:txBody>
      </p:sp>
      <p:sp>
        <p:nvSpPr>
          <p:cNvPr id="416773" name="Rectangle 1029"/>
          <p:cNvSpPr>
            <a:spLocks noChangeArrowheads="1"/>
          </p:cNvSpPr>
          <p:nvPr/>
        </p:nvSpPr>
        <p:spPr bwMode="auto">
          <a:xfrm>
            <a:off x="228600" y="304800"/>
            <a:ext cx="7772400" cy="838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488" tIns="44450" rIns="90488" bIns="44450" anchor="b"/>
          <a:lstStyle/>
          <a:p>
            <a:r>
              <a:rPr lang="en-AU" sz="2800" b="1" u="sng">
                <a:solidFill>
                  <a:schemeClr val="tx2"/>
                </a:solidFill>
              </a:rPr>
              <a:t>Measuring the Seasonal Effect</a:t>
            </a:r>
            <a:r>
              <a:rPr lang="en-AU" sz="2800" b="1">
                <a:solidFill>
                  <a:schemeClr val="tx2"/>
                </a:solidFill>
              </a:rPr>
              <a:t> </a:t>
            </a:r>
            <a:br>
              <a:rPr lang="en-AU" sz="2800" b="1">
                <a:solidFill>
                  <a:schemeClr val="tx2"/>
                </a:solidFill>
              </a:rPr>
            </a:br>
            <a:r>
              <a:rPr lang="en-AU" sz="2800" b="1">
                <a:solidFill>
                  <a:schemeClr val="tx2"/>
                </a:solidFill>
              </a:rPr>
              <a:t>- </a:t>
            </a:r>
            <a:r>
              <a:rPr lang="en-AU" sz="2800" b="1">
                <a:solidFill>
                  <a:schemeClr val="accent2"/>
                </a:solidFill>
              </a:rPr>
              <a:t>Using the Trend Equation</a:t>
            </a:r>
            <a:endParaRPr lang="en-AU" sz="2800">
              <a:solidFill>
                <a:schemeClr val="accent2"/>
              </a:solidFill>
            </a:endParaRPr>
          </a:p>
        </p:txBody>
      </p:sp>
      <p:sp>
        <p:nvSpPr>
          <p:cNvPr id="416774" name="Rectangle 1030"/>
          <p:cNvSpPr>
            <a:spLocks noChangeArrowheads="1"/>
          </p:cNvSpPr>
          <p:nvPr/>
        </p:nvSpPr>
        <p:spPr bwMode="auto">
          <a:xfrm>
            <a:off x="457200" y="5791200"/>
            <a:ext cx="3810000" cy="838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488" tIns="44450" rIns="90488" bIns="44450"/>
          <a:lstStyle/>
          <a:p>
            <a:pPr marL="342900" indent="-342900">
              <a:spcBef>
                <a:spcPct val="20000"/>
              </a:spcBef>
            </a:pPr>
            <a:r>
              <a:rPr lang="en-AU" sz="2200"/>
              <a:t>	The Trend (regression) equation is </a:t>
            </a:r>
            <a:r>
              <a:rPr lang="en-AU" sz="2200">
                <a:solidFill>
                  <a:srgbClr val="FFFFFF"/>
                </a:solidFill>
              </a:rPr>
              <a:t>(from </a:t>
            </a:r>
            <a:r>
              <a:rPr lang="en-AU" sz="2200" i="1">
                <a:solidFill>
                  <a:srgbClr val="FFFFFF"/>
                </a:solidFill>
              </a:rPr>
              <a:t>Excel</a:t>
            </a:r>
            <a:r>
              <a:rPr lang="en-AU" sz="2200">
                <a:solidFill>
                  <a:srgbClr val="FFFFFF"/>
                </a:solidFill>
              </a:rPr>
              <a:t>)</a:t>
            </a:r>
            <a:endParaRPr lang="en-AU" sz="2200"/>
          </a:p>
          <a:p>
            <a:pPr marL="342900" indent="-342900">
              <a:spcBef>
                <a:spcPct val="20000"/>
              </a:spcBef>
            </a:pPr>
            <a:endParaRPr lang="en-AU" sz="2200"/>
          </a:p>
        </p:txBody>
      </p:sp>
      <p:graphicFrame>
        <p:nvGraphicFramePr>
          <p:cNvPr id="416775" name="Object 1031">
            <a:hlinkClick r:id="" action="ppaction://ole?verb=0"/>
          </p:cNvPr>
          <p:cNvGraphicFramePr>
            <a:graphicFrameLocks/>
          </p:cNvGraphicFramePr>
          <p:nvPr/>
        </p:nvGraphicFramePr>
        <p:xfrm>
          <a:off x="3962400" y="5867400"/>
          <a:ext cx="3505200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320480" imgH="253800" progId="Equation.3">
                  <p:embed/>
                </p:oleObj>
              </mc:Choice>
              <mc:Fallback>
                <p:oleObj name="Equation" r:id="rId4" imgW="1320480" imgH="253800" progId="Equation.3">
                  <p:embed/>
                  <p:pic>
                    <p:nvPicPr>
                      <p:cNvPr id="416775" name="Object 1031">
                        <a:hlinkClick r:id="" action="ppaction://ole?verb=0"/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62400" y="5867400"/>
                        <a:ext cx="3505200" cy="685800"/>
                      </a:xfrm>
                      <a:prstGeom prst="rect">
                        <a:avLst/>
                      </a:prstGeom>
                      <a:solidFill>
                        <a:srgbClr val="FFFFFF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CDB44F63-0246-EA54-C382-7B89DE6D5F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IDS, Faculty of Engineering, University of Jaffna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7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167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167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7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1677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1677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167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167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6774" grpId="0" build="p" autoUpdateAnimBg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2D8A85-518E-481B-BD99-43DC90D5EC81}" type="slidenum">
              <a:rPr lang="en-US"/>
              <a:pPr/>
              <a:t>39</a:t>
            </a:fld>
            <a:endParaRPr lang="en-US"/>
          </a:p>
        </p:txBody>
      </p:sp>
      <p:sp>
        <p:nvSpPr>
          <p:cNvPr id="409602" name="Rectangle 1026"/>
          <p:cNvSpPr>
            <a:spLocks noGrp="1" noChangeArrowheads="1"/>
          </p:cNvSpPr>
          <p:nvPr>
            <p:ph type="title"/>
          </p:nvPr>
        </p:nvSpPr>
        <p:spPr>
          <a:xfrm>
            <a:off x="152400" y="381000"/>
            <a:ext cx="7772400" cy="609600"/>
          </a:xfrm>
          <a:noFill/>
          <a:ln/>
        </p:spPr>
        <p:txBody>
          <a:bodyPr lIns="90488" tIns="44450" rIns="90488" bIns="44450" anchor="b"/>
          <a:lstStyle/>
          <a:p>
            <a:pPr algn="l"/>
            <a:r>
              <a:rPr lang="en-AU" sz="2800" b="1" u="sng"/>
              <a:t>Measuring the Seasonal Effect</a:t>
            </a:r>
            <a:r>
              <a:rPr lang="en-AU" sz="2800" b="1"/>
              <a:t> </a:t>
            </a:r>
            <a:br>
              <a:rPr lang="en-AU" sz="2800" b="1"/>
            </a:br>
            <a:r>
              <a:rPr lang="en-AU" sz="2800" b="1"/>
              <a:t>- </a:t>
            </a:r>
            <a:r>
              <a:rPr lang="en-AU" sz="2800" b="1">
                <a:solidFill>
                  <a:schemeClr val="accent2"/>
                </a:solidFill>
              </a:rPr>
              <a:t>Using the Trend Equation</a:t>
            </a:r>
            <a:endParaRPr lang="en-AU" sz="2800">
              <a:solidFill>
                <a:schemeClr val="accent2"/>
              </a:solidFill>
            </a:endParaRPr>
          </a:p>
        </p:txBody>
      </p:sp>
      <p:graphicFrame>
        <p:nvGraphicFramePr>
          <p:cNvPr id="409603" name="Object 1027">
            <a:hlinkClick r:id="" action="ppaction://ole?verb=0"/>
          </p:cNvPr>
          <p:cNvGraphicFramePr>
            <a:graphicFrameLocks/>
          </p:cNvGraphicFramePr>
          <p:nvPr/>
        </p:nvGraphicFramePr>
        <p:xfrm>
          <a:off x="4876800" y="5638800"/>
          <a:ext cx="312420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889000" imgH="423720" progId="Equation.3">
                  <p:embed/>
                </p:oleObj>
              </mc:Choice>
              <mc:Fallback>
                <p:oleObj name="Equation" r:id="rId3" imgW="2889000" imgH="423720" progId="Equation.3">
                  <p:embed/>
                  <p:pic>
                    <p:nvPicPr>
                      <p:cNvPr id="409603" name="Object 1027">
                        <a:hlinkClick r:id="" action="ppaction://ole?verb=0"/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76800" y="5638800"/>
                        <a:ext cx="3124200" cy="533400"/>
                      </a:xfrm>
                      <a:prstGeom prst="rect">
                        <a:avLst/>
                      </a:prstGeom>
                      <a:solidFill>
                        <a:srgbClr val="FFFFFF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9604" name="Text Box 1028"/>
          <p:cNvSpPr txBox="1">
            <a:spLocks noChangeArrowheads="1"/>
          </p:cNvSpPr>
          <p:nvPr/>
        </p:nvSpPr>
        <p:spPr bwMode="auto">
          <a:xfrm>
            <a:off x="4267200" y="5029200"/>
            <a:ext cx="4876800" cy="118745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r>
              <a:rPr lang="en-GB">
                <a:solidFill>
                  <a:schemeClr val="tx2"/>
                </a:solidFill>
              </a:rPr>
              <a:t>Computation of trend values Y</a:t>
            </a:r>
            <a:r>
              <a:rPr lang="en-GB" sz="1600">
                <a:solidFill>
                  <a:schemeClr val="tx2"/>
                </a:solidFill>
              </a:rPr>
              <a:t>t</a:t>
            </a:r>
            <a:r>
              <a:rPr lang="en-GB">
                <a:solidFill>
                  <a:schemeClr val="tx2"/>
                </a:solidFill>
              </a:rPr>
              <a:t>(hat): </a:t>
            </a:r>
          </a:p>
          <a:p>
            <a:r>
              <a:rPr lang="en-GB">
                <a:solidFill>
                  <a:schemeClr val="tx2"/>
                </a:solidFill>
              </a:rPr>
              <a:t>for t = 1,</a:t>
            </a:r>
          </a:p>
          <a:p>
            <a:r>
              <a:rPr lang="en-GB">
                <a:solidFill>
                  <a:schemeClr val="tx2"/>
                </a:solidFill>
              </a:rPr>
              <a:t>5755.63 + 40.73 (1)</a:t>
            </a:r>
            <a:r>
              <a:rPr lang="en-GB" i="1">
                <a:solidFill>
                  <a:schemeClr val="tx2"/>
                </a:solidFill>
              </a:rPr>
              <a:t> = </a:t>
            </a:r>
            <a:r>
              <a:rPr lang="en-GB">
                <a:solidFill>
                  <a:schemeClr val="tx2"/>
                </a:solidFill>
              </a:rPr>
              <a:t>5796.36 </a:t>
            </a:r>
          </a:p>
        </p:txBody>
      </p:sp>
      <p:sp>
        <p:nvSpPr>
          <p:cNvPr id="409605" name="Rectangle 1029"/>
          <p:cNvSpPr>
            <a:spLocks noChangeArrowheads="1"/>
          </p:cNvSpPr>
          <p:nvPr/>
        </p:nvSpPr>
        <p:spPr bwMode="auto">
          <a:xfrm>
            <a:off x="5638800" y="228600"/>
            <a:ext cx="2743200" cy="533400"/>
          </a:xfrm>
          <a:prstGeom prst="rect">
            <a:avLst/>
          </a:prstGeom>
          <a:solidFill>
            <a:schemeClr val="bg1"/>
          </a:solidFill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/>
            <a:endParaRPr lang="en-GB" b="1" u="sng" dirty="0"/>
          </a:p>
        </p:txBody>
      </p:sp>
      <p:graphicFrame>
        <p:nvGraphicFramePr>
          <p:cNvPr id="409607" name="Object 1031"/>
          <p:cNvGraphicFramePr>
            <a:graphicFrameLocks noChangeAspect="1"/>
          </p:cNvGraphicFramePr>
          <p:nvPr/>
        </p:nvGraphicFramePr>
        <p:xfrm>
          <a:off x="304800" y="1219200"/>
          <a:ext cx="3657600" cy="457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5" imgW="3132360" imgH="4006080" progId="Excel.Sheet.8">
                  <p:embed/>
                </p:oleObj>
              </mc:Choice>
              <mc:Fallback>
                <p:oleObj name="Worksheet" r:id="rId5" imgW="3132360" imgH="4006080" progId="Excel.Sheet.8">
                  <p:embed/>
                  <p:pic>
                    <p:nvPicPr>
                      <p:cNvPr id="409607" name="Object 10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" y="1219200"/>
                        <a:ext cx="3657600" cy="4572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9608" name="Rectangle 1032"/>
          <p:cNvSpPr>
            <a:spLocks noGrp="1" noChangeArrowheads="1"/>
          </p:cNvSpPr>
          <p:nvPr>
            <p:ph type="body" sz="half" idx="2"/>
          </p:nvPr>
        </p:nvSpPr>
        <p:spPr>
          <a:xfrm>
            <a:off x="4114800" y="3124200"/>
            <a:ext cx="3505200" cy="838200"/>
          </a:xfrm>
          <a:noFill/>
          <a:ln/>
        </p:spPr>
        <p:txBody>
          <a:bodyPr lIns="90488" tIns="44450" rIns="90488" bIns="44450"/>
          <a:lstStyle/>
          <a:p>
            <a:pPr>
              <a:buFontTx/>
              <a:buNone/>
            </a:pPr>
            <a:r>
              <a:rPr lang="en-AU" sz="2200"/>
              <a:t>	The Trend (regression) equation is </a:t>
            </a:r>
            <a:r>
              <a:rPr lang="en-AU" sz="2200">
                <a:solidFill>
                  <a:srgbClr val="FFFFFF"/>
                </a:solidFill>
              </a:rPr>
              <a:t>(from </a:t>
            </a:r>
            <a:r>
              <a:rPr lang="en-AU" sz="2200" i="1">
                <a:solidFill>
                  <a:srgbClr val="FFFFFF"/>
                </a:solidFill>
              </a:rPr>
              <a:t>Excel</a:t>
            </a:r>
            <a:r>
              <a:rPr lang="en-AU" sz="2200">
                <a:solidFill>
                  <a:srgbClr val="FFFFFF"/>
                </a:solidFill>
              </a:rPr>
              <a:t>)</a:t>
            </a:r>
            <a:endParaRPr lang="en-AU" sz="2200"/>
          </a:p>
          <a:p>
            <a:pPr>
              <a:buFontTx/>
              <a:buNone/>
            </a:pPr>
            <a:endParaRPr lang="en-AU" sz="2200"/>
          </a:p>
        </p:txBody>
      </p:sp>
      <p:graphicFrame>
        <p:nvGraphicFramePr>
          <p:cNvPr id="409609" name="Object 1033">
            <a:hlinkClick r:id="" action="ppaction://ole?verb=0"/>
          </p:cNvPr>
          <p:cNvGraphicFramePr>
            <a:graphicFrameLocks/>
          </p:cNvGraphicFramePr>
          <p:nvPr/>
        </p:nvGraphicFramePr>
        <p:xfrm>
          <a:off x="4495800" y="4114800"/>
          <a:ext cx="3282950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320480" imgH="253800" progId="Equation.3">
                  <p:embed/>
                </p:oleObj>
              </mc:Choice>
              <mc:Fallback>
                <p:oleObj name="Equation" r:id="rId7" imgW="1320480" imgH="253800" progId="Equation.3">
                  <p:embed/>
                  <p:pic>
                    <p:nvPicPr>
                      <p:cNvPr id="409609" name="Object 1033">
                        <a:hlinkClick r:id="" action="ppaction://ole?verb=0"/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95800" y="4114800"/>
                        <a:ext cx="3282950" cy="685800"/>
                      </a:xfrm>
                      <a:prstGeom prst="rect">
                        <a:avLst/>
                      </a:prstGeom>
                      <a:solidFill>
                        <a:srgbClr val="FFFFFF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610" name="Object 1034"/>
          <p:cNvGraphicFramePr>
            <a:graphicFrameLocks noChangeAspect="1"/>
          </p:cNvGraphicFramePr>
          <p:nvPr/>
        </p:nvGraphicFramePr>
        <p:xfrm>
          <a:off x="4495800" y="1905000"/>
          <a:ext cx="4229100" cy="990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9" imgW="3607200" imgH="523440" progId="Excel.Sheet.8">
                  <p:embed/>
                </p:oleObj>
              </mc:Choice>
              <mc:Fallback>
                <p:oleObj name="Worksheet" r:id="rId9" imgW="3607200" imgH="523440" progId="Excel.Sheet.8">
                  <p:embed/>
                  <p:pic>
                    <p:nvPicPr>
                      <p:cNvPr id="409610" name="Object 10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95800" y="1905000"/>
                        <a:ext cx="4229100" cy="990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9611" name="Text Box 1035"/>
          <p:cNvSpPr txBox="1">
            <a:spLocks noChangeArrowheads="1"/>
          </p:cNvSpPr>
          <p:nvPr/>
        </p:nvSpPr>
        <p:spPr bwMode="auto">
          <a:xfrm>
            <a:off x="4495800" y="1219200"/>
            <a:ext cx="2971800" cy="498475"/>
          </a:xfrm>
          <a:prstGeom prst="rect">
            <a:avLst/>
          </a:prstGeom>
          <a:noFill/>
          <a:ln w="41275">
            <a:solidFill>
              <a:srgbClr val="FF00FF"/>
            </a:solidFill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Part of EXCEL output</a:t>
            </a:r>
            <a:endParaRPr lang="en-AU"/>
          </a:p>
        </p:txBody>
      </p:sp>
      <p:sp>
        <p:nvSpPr>
          <p:cNvPr id="409612" name="Freeform 1036"/>
          <p:cNvSpPr>
            <a:spLocks/>
          </p:cNvSpPr>
          <p:nvPr/>
        </p:nvSpPr>
        <p:spPr bwMode="auto">
          <a:xfrm>
            <a:off x="2349500" y="1790700"/>
            <a:ext cx="939800" cy="393700"/>
          </a:xfrm>
          <a:custGeom>
            <a:avLst/>
            <a:gdLst/>
            <a:ahLst/>
            <a:cxnLst>
              <a:cxn ang="0">
                <a:pos x="488" y="72"/>
              </a:cxn>
              <a:cxn ang="0">
                <a:pos x="56" y="24"/>
              </a:cxn>
              <a:cxn ang="0">
                <a:pos x="152" y="216"/>
              </a:cxn>
              <a:cxn ang="0">
                <a:pos x="536" y="216"/>
              </a:cxn>
              <a:cxn ang="0">
                <a:pos x="488" y="72"/>
              </a:cxn>
            </a:cxnLst>
            <a:rect l="0" t="0" r="r" b="b"/>
            <a:pathLst>
              <a:path w="592" h="248">
                <a:moveTo>
                  <a:pt x="488" y="72"/>
                </a:moveTo>
                <a:cubicBezTo>
                  <a:pt x="408" y="40"/>
                  <a:pt x="112" y="0"/>
                  <a:pt x="56" y="24"/>
                </a:cubicBezTo>
                <a:cubicBezTo>
                  <a:pt x="0" y="48"/>
                  <a:pt x="72" y="184"/>
                  <a:pt x="152" y="216"/>
                </a:cubicBezTo>
                <a:cubicBezTo>
                  <a:pt x="232" y="248"/>
                  <a:pt x="480" y="240"/>
                  <a:pt x="536" y="216"/>
                </a:cubicBezTo>
                <a:cubicBezTo>
                  <a:pt x="592" y="192"/>
                  <a:pt x="568" y="104"/>
                  <a:pt x="488" y="72"/>
                </a:cubicBezTo>
                <a:close/>
              </a:path>
            </a:pathLst>
          </a:custGeom>
          <a:noFill/>
          <a:ln w="381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09613" name="Freeform 1037"/>
          <p:cNvSpPr>
            <a:spLocks/>
          </p:cNvSpPr>
          <p:nvPr/>
        </p:nvSpPr>
        <p:spPr bwMode="auto">
          <a:xfrm>
            <a:off x="6858000" y="5562600"/>
            <a:ext cx="1447800" cy="838200"/>
          </a:xfrm>
          <a:custGeom>
            <a:avLst/>
            <a:gdLst/>
            <a:ahLst/>
            <a:cxnLst>
              <a:cxn ang="0">
                <a:pos x="488" y="72"/>
              </a:cxn>
              <a:cxn ang="0">
                <a:pos x="56" y="24"/>
              </a:cxn>
              <a:cxn ang="0">
                <a:pos x="152" y="216"/>
              </a:cxn>
              <a:cxn ang="0">
                <a:pos x="536" y="216"/>
              </a:cxn>
              <a:cxn ang="0">
                <a:pos x="488" y="72"/>
              </a:cxn>
            </a:cxnLst>
            <a:rect l="0" t="0" r="r" b="b"/>
            <a:pathLst>
              <a:path w="592" h="248">
                <a:moveTo>
                  <a:pt x="488" y="72"/>
                </a:moveTo>
                <a:cubicBezTo>
                  <a:pt x="408" y="40"/>
                  <a:pt x="112" y="0"/>
                  <a:pt x="56" y="24"/>
                </a:cubicBezTo>
                <a:cubicBezTo>
                  <a:pt x="0" y="48"/>
                  <a:pt x="72" y="184"/>
                  <a:pt x="152" y="216"/>
                </a:cubicBezTo>
                <a:cubicBezTo>
                  <a:pt x="232" y="248"/>
                  <a:pt x="480" y="240"/>
                  <a:pt x="536" y="216"/>
                </a:cubicBezTo>
                <a:cubicBezTo>
                  <a:pt x="592" y="192"/>
                  <a:pt x="568" y="104"/>
                  <a:pt x="488" y="72"/>
                </a:cubicBezTo>
                <a:close/>
              </a:path>
            </a:pathLst>
          </a:custGeom>
          <a:noFill/>
          <a:ln w="381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BC03A647-4BC2-0889-EC44-BCB3F3A90E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IDS, Faculty of Engineering, University of Jaffna</a:t>
            </a:r>
            <a:endParaRPr lang="en-US"/>
          </a:p>
        </p:txBody>
      </p:sp>
    </p:spTree>
  </p:cSld>
  <p:clrMapOvr>
    <a:masterClrMapping/>
  </p:clrMapOvr>
  <p:transition>
    <p:strips dir="r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096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096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096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096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40960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40960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4096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4096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4096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4096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604" grpId="0" autoUpdateAnimBg="0"/>
      <p:bldP spid="409608" grpId="0" build="p" autoUpdateAnimBg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3D4781-E924-4A83-B155-A9FF78715209}" type="slidenum">
              <a:rPr lang="en-US"/>
              <a:pPr/>
              <a:t>40</a:t>
            </a:fld>
            <a:endParaRPr lang="en-US"/>
          </a:p>
        </p:txBody>
      </p:sp>
      <p:sp>
        <p:nvSpPr>
          <p:cNvPr id="411650" name="Rectangle 1026"/>
          <p:cNvSpPr>
            <a:spLocks noChangeArrowheads="1"/>
          </p:cNvSpPr>
          <p:nvPr/>
        </p:nvSpPr>
        <p:spPr bwMode="auto">
          <a:xfrm>
            <a:off x="228600" y="304800"/>
            <a:ext cx="8686800" cy="838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488" tIns="44450" rIns="90488" bIns="44450" anchor="b"/>
          <a:lstStyle/>
          <a:p>
            <a:r>
              <a:rPr lang="en-AU" sz="2800" b="1" u="sng">
                <a:solidFill>
                  <a:schemeClr val="tx2"/>
                </a:solidFill>
              </a:rPr>
              <a:t>Measuring the Seasonal Effect</a:t>
            </a:r>
            <a:r>
              <a:rPr lang="en-AU" sz="2800" b="1">
                <a:solidFill>
                  <a:schemeClr val="tx2"/>
                </a:solidFill>
              </a:rPr>
              <a:t> </a:t>
            </a:r>
            <a:br>
              <a:rPr lang="en-AU" sz="2800" b="1">
                <a:solidFill>
                  <a:schemeClr val="tx2"/>
                </a:solidFill>
              </a:rPr>
            </a:br>
            <a:r>
              <a:rPr lang="en-AU" sz="2800" b="1">
                <a:solidFill>
                  <a:schemeClr val="tx2"/>
                </a:solidFill>
              </a:rPr>
              <a:t>- </a:t>
            </a:r>
            <a:r>
              <a:rPr lang="en-AU" sz="2800" b="1">
                <a:solidFill>
                  <a:schemeClr val="accent2"/>
                </a:solidFill>
              </a:rPr>
              <a:t>Using the Trend Equation</a:t>
            </a:r>
            <a:r>
              <a:rPr lang="en-AU" sz="3600" b="1">
                <a:solidFill>
                  <a:schemeClr val="tx2"/>
                </a:solidFill>
              </a:rPr>
              <a:t> </a:t>
            </a:r>
          </a:p>
        </p:txBody>
      </p:sp>
      <p:graphicFrame>
        <p:nvGraphicFramePr>
          <p:cNvPr id="411651" name="Object 1027"/>
          <p:cNvGraphicFramePr>
            <a:graphicFrameLocks noChangeAspect="1"/>
          </p:cNvGraphicFramePr>
          <p:nvPr/>
        </p:nvGraphicFramePr>
        <p:xfrm>
          <a:off x="381000" y="1371600"/>
          <a:ext cx="6096000" cy="297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4081680" imgH="1494000" progId="Excel.Sheet.8">
                  <p:embed/>
                </p:oleObj>
              </mc:Choice>
              <mc:Fallback>
                <p:oleObj name="Worksheet" r:id="rId2" imgW="4081680" imgH="1494000" progId="Excel.Sheet.8">
                  <p:embed/>
                  <p:pic>
                    <p:nvPicPr>
                      <p:cNvPr id="411651" name="Object 10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" y="1371600"/>
                        <a:ext cx="6096000" cy="297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1652" name="Text Box 1028"/>
          <p:cNvSpPr txBox="1">
            <a:spLocks noChangeArrowheads="1"/>
          </p:cNvSpPr>
          <p:nvPr/>
        </p:nvSpPr>
        <p:spPr bwMode="auto">
          <a:xfrm>
            <a:off x="6705600" y="3581400"/>
            <a:ext cx="1525588" cy="427038"/>
          </a:xfrm>
          <a:prstGeom prst="rect">
            <a:avLst/>
          </a:prstGeom>
          <a:solidFill>
            <a:srgbClr val="FFFFFF"/>
          </a:solidFill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none">
            <a:spAutoFit/>
          </a:bodyPr>
          <a:lstStyle/>
          <a:p>
            <a:r>
              <a:rPr lang="en-GB" sz="2200">
                <a:solidFill>
                  <a:schemeClr val="tx2"/>
                </a:solidFill>
              </a:rPr>
              <a:t> Unadjusted</a:t>
            </a:r>
            <a:endParaRPr lang="en-GB">
              <a:solidFill>
                <a:schemeClr val="tx2"/>
              </a:solidFill>
            </a:endParaRPr>
          </a:p>
        </p:txBody>
      </p:sp>
      <p:sp>
        <p:nvSpPr>
          <p:cNvPr id="411653" name="Text Box 1029"/>
          <p:cNvSpPr txBox="1">
            <a:spLocks noChangeArrowheads="1"/>
          </p:cNvSpPr>
          <p:nvPr/>
        </p:nvSpPr>
        <p:spPr bwMode="auto">
          <a:xfrm>
            <a:off x="6705600" y="3962400"/>
            <a:ext cx="1262063" cy="427038"/>
          </a:xfrm>
          <a:prstGeom prst="rect">
            <a:avLst/>
          </a:prstGeom>
          <a:solidFill>
            <a:srgbClr val="FFFFFF"/>
          </a:solidFill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none">
            <a:spAutoFit/>
          </a:bodyPr>
          <a:lstStyle/>
          <a:p>
            <a:r>
              <a:rPr lang="en-GB" sz="2200">
                <a:solidFill>
                  <a:schemeClr val="tx2"/>
                </a:solidFill>
              </a:rPr>
              <a:t> Adjusted</a:t>
            </a:r>
            <a:endParaRPr lang="en-GB">
              <a:solidFill>
                <a:schemeClr val="tx2"/>
              </a:solidFill>
            </a:endParaRPr>
          </a:p>
        </p:txBody>
      </p:sp>
      <p:sp>
        <p:nvSpPr>
          <p:cNvPr id="411654" name="Rectangle 1030"/>
          <p:cNvSpPr>
            <a:spLocks noChangeArrowheads="1"/>
          </p:cNvSpPr>
          <p:nvPr/>
        </p:nvSpPr>
        <p:spPr bwMode="auto">
          <a:xfrm>
            <a:off x="228600" y="4724400"/>
            <a:ext cx="8382000" cy="16764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488" tIns="44450" rIns="90488" bIns="44450"/>
          <a:lstStyle/>
          <a:p>
            <a:pPr marL="342900" indent="-342900">
              <a:spcBef>
                <a:spcPct val="20000"/>
              </a:spcBef>
            </a:pPr>
            <a:r>
              <a:rPr lang="en-GB" sz="2800" b="1" u="sng">
                <a:solidFill>
                  <a:srgbClr val="996633"/>
                </a:solidFill>
              </a:rPr>
              <a:t>Adjusted value</a:t>
            </a:r>
          </a:p>
          <a:p>
            <a:pPr marL="342900" indent="-342900">
              <a:spcBef>
                <a:spcPct val="20000"/>
              </a:spcBef>
            </a:pPr>
            <a:r>
              <a:rPr lang="en-GB" sz="2800">
                <a:solidFill>
                  <a:schemeClr val="tx2"/>
                </a:solidFill>
              </a:rPr>
              <a:t>= 4*(unadjusted value)/(Total of unadjusted values)</a:t>
            </a:r>
          </a:p>
          <a:p>
            <a:pPr marL="342900" indent="-342900">
              <a:spcBef>
                <a:spcPct val="20000"/>
              </a:spcBef>
            </a:pPr>
            <a:endParaRPr lang="en-GB" sz="1000">
              <a:solidFill>
                <a:schemeClr val="tx2"/>
              </a:solidFill>
            </a:endParaRPr>
          </a:p>
          <a:p>
            <a:pPr marL="342900" indent="-342900">
              <a:spcBef>
                <a:spcPct val="20000"/>
              </a:spcBef>
            </a:pPr>
            <a:endParaRPr lang="en-AU" sz="2800" b="1" i="1">
              <a:solidFill>
                <a:schemeClr val="tx2"/>
              </a:solidFill>
            </a:endParaRPr>
          </a:p>
        </p:txBody>
      </p:sp>
      <p:sp>
        <p:nvSpPr>
          <p:cNvPr id="411655" name="Text Box 1031"/>
          <p:cNvSpPr txBox="1">
            <a:spLocks noChangeArrowheads="1"/>
          </p:cNvSpPr>
          <p:nvPr/>
        </p:nvSpPr>
        <p:spPr bwMode="auto">
          <a:xfrm>
            <a:off x="457200" y="5791200"/>
            <a:ext cx="8077200" cy="1004888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Ex: 4*(0.986036)/3.99992 = 0.986056 = 0.9861</a:t>
            </a:r>
          </a:p>
          <a:p>
            <a:pPr>
              <a:spcBef>
                <a:spcPct val="50000"/>
              </a:spcBef>
            </a:pPr>
            <a:r>
              <a:rPr lang="en-US" b="1" u="sng">
                <a:solidFill>
                  <a:srgbClr val="9900CC"/>
                </a:solidFill>
              </a:rPr>
              <a:t>We use 4 here because there are 4 seasons in this example</a:t>
            </a:r>
            <a:endParaRPr lang="en-AU" b="1" u="sng">
              <a:solidFill>
                <a:srgbClr val="9900CC"/>
              </a:solidFill>
            </a:endParaRPr>
          </a:p>
        </p:txBody>
      </p:sp>
      <p:pic>
        <p:nvPicPr>
          <p:cNvPr id="411656" name="Picture 103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6781800" y="2057400"/>
            <a:ext cx="1676400" cy="6858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</p:pic>
      <p:sp>
        <p:nvSpPr>
          <p:cNvPr id="411657" name="AutoShape 1033"/>
          <p:cNvSpPr>
            <a:spLocks noChangeArrowheads="1"/>
          </p:cNvSpPr>
          <p:nvPr/>
        </p:nvSpPr>
        <p:spPr bwMode="auto">
          <a:xfrm>
            <a:off x="5867400" y="2057400"/>
            <a:ext cx="838200" cy="685800"/>
          </a:xfrm>
          <a:prstGeom prst="leftArrow">
            <a:avLst>
              <a:gd name="adj1" fmla="val 50000"/>
              <a:gd name="adj2" fmla="val 30556"/>
            </a:avLst>
          </a:prstGeom>
          <a:solidFill>
            <a:srgbClr val="800000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11658" name="Rectangle 1034"/>
          <p:cNvSpPr>
            <a:spLocks noChangeArrowheads="1"/>
          </p:cNvSpPr>
          <p:nvPr/>
        </p:nvSpPr>
        <p:spPr bwMode="auto">
          <a:xfrm>
            <a:off x="6781800" y="1905000"/>
            <a:ext cx="1600200" cy="914400"/>
          </a:xfrm>
          <a:prstGeom prst="rect">
            <a:avLst/>
          </a:prstGeom>
          <a:noFill/>
          <a:ln w="44450">
            <a:solidFill>
              <a:srgbClr val="800000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11659" name="AutoShape 1035"/>
          <p:cNvSpPr>
            <a:spLocks noChangeArrowheads="1"/>
          </p:cNvSpPr>
          <p:nvPr/>
        </p:nvSpPr>
        <p:spPr bwMode="auto">
          <a:xfrm>
            <a:off x="6477000" y="3733800"/>
            <a:ext cx="304800" cy="228600"/>
          </a:xfrm>
          <a:prstGeom prst="leftArrow">
            <a:avLst>
              <a:gd name="adj1" fmla="val 50000"/>
              <a:gd name="adj2" fmla="val 33333"/>
            </a:avLst>
          </a:prstGeom>
          <a:solidFill>
            <a:srgbClr val="800000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11660" name="AutoShape 1036"/>
          <p:cNvSpPr>
            <a:spLocks noChangeArrowheads="1"/>
          </p:cNvSpPr>
          <p:nvPr/>
        </p:nvSpPr>
        <p:spPr bwMode="auto">
          <a:xfrm>
            <a:off x="6477000" y="4038600"/>
            <a:ext cx="304800" cy="228600"/>
          </a:xfrm>
          <a:prstGeom prst="leftArrow">
            <a:avLst>
              <a:gd name="adj1" fmla="val 50000"/>
              <a:gd name="adj2" fmla="val 33333"/>
            </a:avLst>
          </a:prstGeom>
          <a:solidFill>
            <a:srgbClr val="800000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A7708C6-3D7F-0AF4-2708-FE0DCC64A5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IDS, Faculty of Engineering, University of Jaffna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116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116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116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116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9" dur="500"/>
                                        <p:tgtEl>
                                          <p:spTgt spid="4116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5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4" dur="500"/>
                                        <p:tgtEl>
                                          <p:spTgt spid="41165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1652" grpId="0" animBg="1" autoUpdateAnimBg="0"/>
      <p:bldP spid="411653" grpId="0" animBg="1" autoUpdateAnimBg="0"/>
      <p:bldP spid="411654" grpId="0" build="p" autoUpdateAnimBg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091D9-D35D-457B-B9D3-BA121C24AB17}" type="slidenum">
              <a:rPr lang="en-US"/>
              <a:pPr/>
              <a:t>41</a:t>
            </a:fld>
            <a:endParaRPr lang="en-US"/>
          </a:p>
        </p:txBody>
      </p:sp>
      <p:sp>
        <p:nvSpPr>
          <p:cNvPr id="412674" name="Rectangle 1026"/>
          <p:cNvSpPr>
            <a:spLocks noGrp="1" noChangeArrowheads="1"/>
          </p:cNvSpPr>
          <p:nvPr>
            <p:ph type="title"/>
          </p:nvPr>
        </p:nvSpPr>
        <p:spPr>
          <a:xfrm>
            <a:off x="228600" y="152400"/>
            <a:ext cx="8534400" cy="1143000"/>
          </a:xfrm>
          <a:noFill/>
          <a:ln/>
        </p:spPr>
        <p:txBody>
          <a:bodyPr lIns="90488" tIns="44450" rIns="90488" bIns="44450" anchor="b"/>
          <a:lstStyle/>
          <a:p>
            <a:pPr algn="l"/>
            <a:r>
              <a:rPr lang="en-AU" sz="3200" b="1" u="sng"/>
              <a:t>Measuring the Seasonal Effect</a:t>
            </a:r>
            <a:r>
              <a:rPr lang="en-AU" sz="3600" b="1"/>
              <a:t> </a:t>
            </a:r>
            <a:br>
              <a:rPr lang="en-AU" sz="3600" b="1"/>
            </a:br>
            <a:r>
              <a:rPr lang="en-AU" sz="3600" b="1"/>
              <a:t> </a:t>
            </a:r>
            <a:r>
              <a:rPr lang="en-GB" sz="2400" b="1" u="sng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Interpreting the Seasonal Index</a:t>
            </a:r>
            <a:endParaRPr lang="en-AU" sz="2400" b="1" u="sng">
              <a:solidFill>
                <a:schemeClr val="accent2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412675" name="Rectangle 1027"/>
          <p:cNvSpPr>
            <a:spLocks noGrp="1" noChangeArrowheads="1"/>
          </p:cNvSpPr>
          <p:nvPr>
            <p:ph type="body" sz="half" idx="2"/>
          </p:nvPr>
        </p:nvSpPr>
        <p:spPr>
          <a:xfrm>
            <a:off x="152400" y="4419600"/>
            <a:ext cx="8839200" cy="2286000"/>
          </a:xfrm>
          <a:noFill/>
          <a:ln/>
        </p:spPr>
        <p:txBody>
          <a:bodyPr lIns="90488" tIns="44450" rIns="90488" bIns="44450"/>
          <a:lstStyle/>
          <a:p>
            <a:pPr>
              <a:buFontTx/>
              <a:buNone/>
            </a:pPr>
            <a:endParaRPr lang="en-US" sz="2000" dirty="0"/>
          </a:p>
          <a:p>
            <a:pPr>
              <a:buFontTx/>
              <a:buNone/>
            </a:pPr>
            <a:r>
              <a:rPr lang="en-AU" sz="2000" dirty="0"/>
              <a:t>On average the number of tourist arrivals for</a:t>
            </a:r>
            <a:endParaRPr lang="en-US" sz="2000" dirty="0"/>
          </a:p>
          <a:p>
            <a:r>
              <a:rPr lang="en-AU" sz="2000" dirty="0"/>
              <a:t>1st quarter (March): 1.</a:t>
            </a:r>
            <a:r>
              <a:rPr lang="en-US" sz="2000" dirty="0"/>
              <a:t>39</a:t>
            </a:r>
            <a:r>
              <a:rPr lang="en-AU" sz="2000" dirty="0"/>
              <a:t>% below the </a:t>
            </a:r>
            <a:r>
              <a:rPr lang="en-US" sz="2000" dirty="0"/>
              <a:t>trend line projection</a:t>
            </a:r>
            <a:r>
              <a:rPr lang="en-AU" sz="2000" dirty="0"/>
              <a:t>    </a:t>
            </a:r>
            <a:r>
              <a:rPr lang="en-US" sz="2000" dirty="0"/>
              <a:t>[</a:t>
            </a:r>
            <a:r>
              <a:rPr lang="en-GB" sz="2000" dirty="0">
                <a:solidFill>
                  <a:schemeClr val="tx2"/>
                </a:solidFill>
              </a:rPr>
              <a:t>100*(0.9861 - 1)]</a:t>
            </a:r>
            <a:endParaRPr lang="en-AU" sz="2000" dirty="0">
              <a:solidFill>
                <a:schemeClr val="tx2"/>
              </a:solidFill>
            </a:endParaRPr>
          </a:p>
          <a:p>
            <a:r>
              <a:rPr lang="en-AU" sz="2000" dirty="0"/>
              <a:t>2nd quarter (June): 4.9</a:t>
            </a:r>
            <a:r>
              <a:rPr lang="en-US" sz="2000" dirty="0"/>
              <a:t>5</a:t>
            </a:r>
            <a:r>
              <a:rPr lang="en-AU" sz="2000" dirty="0"/>
              <a:t>% below </a:t>
            </a:r>
            <a:r>
              <a:rPr lang="en-US" sz="2000" dirty="0"/>
              <a:t>the trend line projection</a:t>
            </a:r>
            <a:endParaRPr lang="en-AU" sz="2000" dirty="0"/>
          </a:p>
          <a:p>
            <a:r>
              <a:rPr lang="en-AU" sz="2000" dirty="0"/>
              <a:t>3rd quarter (Sept.): 5.9</a:t>
            </a:r>
            <a:r>
              <a:rPr lang="en-US" sz="2000" dirty="0"/>
              <a:t>7</a:t>
            </a:r>
            <a:r>
              <a:rPr lang="en-AU" sz="2000" dirty="0"/>
              <a:t>% above the </a:t>
            </a:r>
            <a:r>
              <a:rPr lang="en-US" sz="2000" dirty="0"/>
              <a:t>trend line projection</a:t>
            </a:r>
            <a:r>
              <a:rPr lang="en-AU" sz="2000" dirty="0"/>
              <a:t>	  </a:t>
            </a:r>
            <a:r>
              <a:rPr lang="en-US" sz="2000" dirty="0"/>
              <a:t>[</a:t>
            </a:r>
            <a:r>
              <a:rPr lang="en-GB" sz="2000" dirty="0">
                <a:solidFill>
                  <a:schemeClr val="tx2"/>
                </a:solidFill>
              </a:rPr>
              <a:t>100*(1.0597 - 1)]</a:t>
            </a:r>
            <a:endParaRPr lang="en-AU" sz="2000" dirty="0">
              <a:solidFill>
                <a:schemeClr val="tx2"/>
              </a:solidFill>
            </a:endParaRPr>
          </a:p>
          <a:p>
            <a:r>
              <a:rPr lang="en-AU" sz="2000" dirty="0"/>
              <a:t>4th quarter (Dec.): 0.38% above the </a:t>
            </a:r>
            <a:r>
              <a:rPr lang="en-US" sz="2000" dirty="0"/>
              <a:t>trend line projection</a:t>
            </a:r>
            <a:endParaRPr lang="en-AU" sz="2000" dirty="0"/>
          </a:p>
        </p:txBody>
      </p:sp>
      <p:sp>
        <p:nvSpPr>
          <p:cNvPr id="412676" name="Text Box 1028"/>
          <p:cNvSpPr txBox="1">
            <a:spLocks noChangeArrowheads="1"/>
          </p:cNvSpPr>
          <p:nvPr/>
        </p:nvSpPr>
        <p:spPr bwMode="auto">
          <a:xfrm>
            <a:off x="7408863" y="3276600"/>
            <a:ext cx="1735137" cy="427038"/>
          </a:xfrm>
          <a:prstGeom prst="rect">
            <a:avLst/>
          </a:prstGeom>
          <a:solidFill>
            <a:srgbClr val="FFFFFF"/>
          </a:solidFill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none">
            <a:spAutoFit/>
          </a:bodyPr>
          <a:lstStyle/>
          <a:p>
            <a:r>
              <a:rPr lang="en-GB" sz="2200">
                <a:solidFill>
                  <a:schemeClr val="bg1"/>
                </a:solidFill>
              </a:rPr>
              <a:t>4. Unadjusted</a:t>
            </a:r>
            <a:endParaRPr lang="en-GB">
              <a:solidFill>
                <a:schemeClr val="bg1"/>
              </a:solidFill>
            </a:endParaRPr>
          </a:p>
        </p:txBody>
      </p:sp>
      <p:graphicFrame>
        <p:nvGraphicFramePr>
          <p:cNvPr id="412682" name="Object 1034">
            <a:hlinkClick r:id="" action="ppaction://ole?verb=0"/>
          </p:cNvPr>
          <p:cNvGraphicFramePr>
            <a:graphicFrameLocks/>
          </p:cNvGraphicFramePr>
          <p:nvPr/>
        </p:nvGraphicFramePr>
        <p:xfrm>
          <a:off x="457200" y="1371600"/>
          <a:ext cx="7696200" cy="281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3" imgW="8060656" imgH="3382131" progId="Word.Document.8">
                  <p:embed/>
                </p:oleObj>
              </mc:Choice>
              <mc:Fallback>
                <p:oleObj name="Document" r:id="rId3" imgW="8060656" imgH="3382131" progId="Word.Document.8">
                  <p:embed/>
                  <p:pic>
                    <p:nvPicPr>
                      <p:cNvPr id="412682" name="Object 1034">
                        <a:hlinkClick r:id="" action="ppaction://ole?verb=0"/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b="4686"/>
                      <a:stretch>
                        <a:fillRect/>
                      </a:stretch>
                    </p:blipFill>
                    <p:spPr bwMode="auto">
                      <a:xfrm>
                        <a:off x="457200" y="1371600"/>
                        <a:ext cx="7696200" cy="2819400"/>
                      </a:xfrm>
                      <a:prstGeom prst="rect">
                        <a:avLst/>
                      </a:prstGeom>
                      <a:solidFill>
                        <a:srgbClr val="FFFFFF">
                          <a:alpha val="50000"/>
                        </a:srgbClr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2683" name="Rectangle 1035"/>
          <p:cNvSpPr>
            <a:spLocks noChangeArrowheads="1"/>
          </p:cNvSpPr>
          <p:nvPr/>
        </p:nvSpPr>
        <p:spPr bwMode="auto">
          <a:xfrm>
            <a:off x="469540" y="3217884"/>
            <a:ext cx="5929354" cy="509590"/>
          </a:xfrm>
          <a:prstGeom prst="rect">
            <a:avLst/>
          </a:prstGeom>
          <a:noFill/>
          <a:ln w="50800">
            <a:solidFill>
              <a:srgbClr val="FF00FF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2550BE84-6179-6020-563B-6CF28B06B3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IDS, Faculty of Engineering, University of Jaffna</a:t>
            </a:r>
            <a:endParaRPr lang="en-US"/>
          </a:p>
        </p:txBody>
      </p:sp>
    </p:spTree>
  </p:cSld>
  <p:clrMapOvr>
    <a:masterClrMapping/>
  </p:clrMapOvr>
  <p:transition>
    <p:strips dir="r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1268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1268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6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3" dur="500"/>
                                        <p:tgtEl>
                                          <p:spTgt spid="4126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6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8" dur="500"/>
                                        <p:tgtEl>
                                          <p:spTgt spid="4126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6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3" dur="500"/>
                                        <p:tgtEl>
                                          <p:spTgt spid="4126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6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8" dur="500"/>
                                        <p:tgtEl>
                                          <p:spTgt spid="4126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6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3" dur="500"/>
                                        <p:tgtEl>
                                          <p:spTgt spid="4126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2675" grpId="0" build="p" autoUpdateAnimBg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C51933-1E61-4D15-BDB9-15B0CEBF8744}" type="slidenum">
              <a:rPr lang="en-US"/>
              <a:pPr/>
              <a:t>42</a:t>
            </a:fld>
            <a:endParaRPr lang="en-US"/>
          </a:p>
        </p:txBody>
      </p:sp>
      <p:sp>
        <p:nvSpPr>
          <p:cNvPr id="37273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752600"/>
            <a:ext cx="8991600" cy="1143000"/>
          </a:xfrm>
          <a:noFill/>
          <a:ln/>
        </p:spPr>
        <p:txBody>
          <a:bodyPr lIns="90488" tIns="44450" rIns="90488" bIns="44450" anchor="b"/>
          <a:lstStyle/>
          <a:p>
            <a:pPr algn="l"/>
            <a:r>
              <a:rPr lang="en-AU" sz="2800" b="1" u="sng" dirty="0">
                <a:solidFill>
                  <a:schemeClr val="tx1"/>
                </a:solidFill>
              </a:rPr>
              <a:t>Forecasting </a:t>
            </a:r>
            <a:r>
              <a:rPr lang="en-US" sz="2800" b="1" u="sng" dirty="0">
                <a:solidFill>
                  <a:schemeClr val="tx1"/>
                </a:solidFill>
              </a:rPr>
              <a:t>Time Series </a:t>
            </a:r>
            <a:r>
              <a:rPr lang="en-AU" sz="2800" b="1" u="sng" dirty="0">
                <a:solidFill>
                  <a:schemeClr val="tx1"/>
                </a:solidFill>
              </a:rPr>
              <a:t>with </a:t>
            </a:r>
            <a:r>
              <a:rPr lang="en-AU" sz="2800" b="1" dirty="0">
                <a:solidFill>
                  <a:schemeClr val="accent2"/>
                </a:solidFill>
              </a:rPr>
              <a:t>Trend and Seasonality</a:t>
            </a:r>
            <a:br>
              <a:rPr lang="en-AU" sz="2800" b="1" dirty="0"/>
            </a:br>
            <a:endParaRPr lang="en-AU" sz="2800" dirty="0"/>
          </a:p>
        </p:txBody>
      </p:sp>
      <p:sp>
        <p:nvSpPr>
          <p:cNvPr id="3727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295400" y="2971800"/>
            <a:ext cx="7162800" cy="2971800"/>
          </a:xfrm>
          <a:noFill/>
          <a:ln/>
        </p:spPr>
        <p:txBody>
          <a:bodyPr lIns="90488" tIns="44450" rIns="90488" bIns="44450"/>
          <a:lstStyle/>
          <a:p>
            <a:pPr>
              <a:lnSpc>
                <a:spcPct val="90000"/>
              </a:lnSpc>
              <a:buFontTx/>
              <a:buNone/>
            </a:pPr>
            <a:endParaRPr lang="en-AU" sz="2800"/>
          </a:p>
          <a:p>
            <a:pPr>
              <a:lnSpc>
                <a:spcPct val="90000"/>
              </a:lnSpc>
            </a:pPr>
            <a:r>
              <a:rPr lang="en-AU" sz="2800"/>
              <a:t>Derive the trend component </a:t>
            </a:r>
            <a:endParaRPr lang="en-US" sz="2800"/>
          </a:p>
          <a:p>
            <a:pPr>
              <a:lnSpc>
                <a:spcPct val="90000"/>
              </a:lnSpc>
              <a:buFontTx/>
              <a:buNone/>
            </a:pPr>
            <a:r>
              <a:rPr lang="en-US" sz="2800"/>
              <a:t> </a:t>
            </a:r>
          </a:p>
          <a:p>
            <a:pPr>
              <a:lnSpc>
                <a:spcPct val="90000"/>
              </a:lnSpc>
            </a:pPr>
            <a:r>
              <a:rPr lang="en-AU" sz="2800"/>
              <a:t>Derive the seasonal component</a:t>
            </a:r>
            <a:endParaRPr lang="en-US" sz="2800"/>
          </a:p>
          <a:p>
            <a:pPr>
              <a:lnSpc>
                <a:spcPct val="90000"/>
              </a:lnSpc>
            </a:pPr>
            <a:endParaRPr lang="en-US" sz="2800"/>
          </a:p>
          <a:p>
            <a:pPr>
              <a:lnSpc>
                <a:spcPct val="90000"/>
              </a:lnSpc>
            </a:pPr>
            <a:r>
              <a:rPr lang="en-AU" sz="2800"/>
              <a:t>Multiply trend and seasonal components together to get forecasts.	</a:t>
            </a:r>
          </a:p>
        </p:txBody>
      </p:sp>
      <p:sp>
        <p:nvSpPr>
          <p:cNvPr id="372741" name="Rectangle 5"/>
          <p:cNvSpPr>
            <a:spLocks noChangeArrowheads="1"/>
          </p:cNvSpPr>
          <p:nvPr/>
        </p:nvSpPr>
        <p:spPr bwMode="auto">
          <a:xfrm>
            <a:off x="533400" y="485775"/>
            <a:ext cx="4075113" cy="579438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none" lIns="90000" tIns="46800" rIns="90000" bIns="46800">
            <a:spAutoFit/>
          </a:bodyPr>
          <a:lstStyle/>
          <a:p>
            <a:r>
              <a:rPr lang="en-US" sz="3200" b="1" u="sng">
                <a:solidFill>
                  <a:schemeClr val="tx2"/>
                </a:solidFill>
              </a:rPr>
              <a:t>Long-term forecasting</a:t>
            </a:r>
            <a:endParaRPr lang="en-AU" sz="3200" b="1" u="sng">
              <a:solidFill>
                <a:schemeClr val="tx2"/>
              </a:solidFill>
            </a:endParaRPr>
          </a:p>
        </p:txBody>
      </p:sp>
      <p:sp>
        <p:nvSpPr>
          <p:cNvPr id="372742" name="Rectangle 6"/>
          <p:cNvSpPr>
            <a:spLocks noChangeArrowheads="1"/>
          </p:cNvSpPr>
          <p:nvPr/>
        </p:nvSpPr>
        <p:spPr bwMode="auto">
          <a:xfrm>
            <a:off x="990600" y="3276600"/>
            <a:ext cx="7162800" cy="3124200"/>
          </a:xfrm>
          <a:prstGeom prst="rect">
            <a:avLst/>
          </a:prstGeom>
          <a:noFill/>
          <a:ln w="50800">
            <a:solidFill>
              <a:srgbClr val="800000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pic>
        <p:nvPicPr>
          <p:cNvPr id="372743" name="Picture 7" descr="en00190_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400800" y="2286000"/>
            <a:ext cx="1858963" cy="2057400"/>
          </a:xfrm>
          <a:prstGeom prst="rect">
            <a:avLst/>
          </a:prstGeom>
          <a:noFill/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62DED5C-ECA9-92B0-BBCF-DD053F1284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IDS, Faculty of Engineering, University of Jaffna</a:t>
            </a:r>
            <a:endParaRPr lang="en-US"/>
          </a:p>
        </p:txBody>
      </p:sp>
    </p:spTree>
  </p:cSld>
  <p:clrMapOvr>
    <a:masterClrMapping/>
  </p:clrMapOvr>
  <p:transition>
    <p:strips dir="r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7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3727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7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2" dur="500"/>
                                        <p:tgtEl>
                                          <p:spTgt spid="3727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7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7" dur="500"/>
                                        <p:tgtEl>
                                          <p:spTgt spid="3727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7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2" dur="500"/>
                                        <p:tgtEl>
                                          <p:spTgt spid="3727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2739" grpId="0" build="p" autoUpdateAnimBg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C6C048-1107-4543-910B-CA5E93D4AAA0}" type="slidenum">
              <a:rPr lang="en-US"/>
              <a:pPr/>
              <a:t>43</a:t>
            </a:fld>
            <a:endParaRPr lang="en-US"/>
          </a:p>
        </p:txBody>
      </p:sp>
      <p:sp>
        <p:nvSpPr>
          <p:cNvPr id="380930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228600"/>
            <a:ext cx="6781800" cy="609600"/>
          </a:xfrm>
          <a:noFill/>
          <a:ln/>
        </p:spPr>
        <p:txBody>
          <a:bodyPr lIns="90488" tIns="44450" rIns="90488" bIns="44450" anchor="b"/>
          <a:lstStyle/>
          <a:p>
            <a:pPr algn="l"/>
            <a:r>
              <a:rPr lang="en-AU" sz="3000" b="1" u="sng">
                <a:solidFill>
                  <a:schemeClr val="tx1"/>
                </a:solidFill>
              </a:rPr>
              <a:t>Forecasting with Trend and Seasonality</a:t>
            </a:r>
            <a:endParaRPr lang="en-AU" sz="3000" u="sng">
              <a:solidFill>
                <a:schemeClr val="tx1"/>
              </a:solidFill>
            </a:endParaRPr>
          </a:p>
        </p:txBody>
      </p:sp>
      <p:sp>
        <p:nvSpPr>
          <p:cNvPr id="3809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295400"/>
            <a:ext cx="8229600" cy="4419600"/>
          </a:xfrm>
          <a:noFill/>
          <a:ln/>
        </p:spPr>
        <p:txBody>
          <a:bodyPr lIns="90488" tIns="44450" rIns="90488" bIns="44450"/>
          <a:lstStyle/>
          <a:p>
            <a:r>
              <a:rPr lang="en-AU" dirty="0"/>
              <a:t>Multiply trend and seasonal components together to get forecasts.	 </a:t>
            </a:r>
            <a:r>
              <a:rPr lang="en-GB" sz="3600" dirty="0"/>
              <a:t>F</a:t>
            </a:r>
            <a:r>
              <a:rPr lang="en-GB" sz="3600" baseline="-25000" dirty="0"/>
              <a:t>t</a:t>
            </a:r>
            <a:r>
              <a:rPr lang="en-GB" sz="3600" dirty="0"/>
              <a:t> = </a:t>
            </a:r>
            <a:r>
              <a:rPr lang="en-AU" dirty="0"/>
              <a:t> </a:t>
            </a:r>
            <a:r>
              <a:rPr lang="en-AU" dirty="0" err="1"/>
              <a:t>T</a:t>
            </a:r>
            <a:r>
              <a:rPr lang="en-AU" baseline="-25000" dirty="0" err="1"/>
              <a:t>t</a:t>
            </a:r>
            <a:r>
              <a:rPr lang="en-AU" dirty="0"/>
              <a:t> * S</a:t>
            </a:r>
            <a:r>
              <a:rPr lang="en-AU" baseline="-25000" dirty="0"/>
              <a:t>t</a:t>
            </a:r>
            <a:endParaRPr lang="en-AU" dirty="0"/>
          </a:p>
          <a:p>
            <a:pPr lvl="1"/>
            <a:r>
              <a:rPr lang="en-AU" dirty="0"/>
              <a:t>ignore the random component, as it cannot be calculated.</a:t>
            </a:r>
            <a:endParaRPr lang="en-US" dirty="0"/>
          </a:p>
          <a:p>
            <a:pPr lvl="1"/>
            <a:endParaRPr lang="en-US" dirty="0"/>
          </a:p>
          <a:p>
            <a:pPr>
              <a:buFontTx/>
              <a:buNone/>
            </a:pPr>
            <a:endParaRPr lang="en-AU" b="1" dirty="0">
              <a:solidFill>
                <a:srgbClr val="00FFFF"/>
              </a:solidFill>
            </a:endParaRPr>
          </a:p>
          <a:p>
            <a:pPr>
              <a:buFontTx/>
              <a:buNone/>
            </a:pPr>
            <a:endParaRPr lang="en-AU" sz="2800" dirty="0"/>
          </a:p>
        </p:txBody>
      </p:sp>
      <p:graphicFrame>
        <p:nvGraphicFramePr>
          <p:cNvPr id="441344" name="Object 1024">
            <a:hlinkClick r:id="" action="ppaction://ole?verb=0"/>
          </p:cNvPr>
          <p:cNvGraphicFramePr>
            <a:graphicFrameLocks/>
          </p:cNvGraphicFramePr>
          <p:nvPr/>
        </p:nvGraphicFramePr>
        <p:xfrm>
          <a:off x="227013" y="6248400"/>
          <a:ext cx="1295400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lip" r:id="rId3" imgW="1633320" imgH="815760" progId="">
                  <p:embed/>
                </p:oleObj>
              </mc:Choice>
              <mc:Fallback>
                <p:oleObj name="Clip" r:id="rId3" imgW="1633320" imgH="815760" progId="">
                  <p:embed/>
                  <p:pic>
                    <p:nvPicPr>
                      <p:cNvPr id="441344" name="Object 1024">
                        <a:hlinkClick r:id="" action="ppaction://ole?verb=0"/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7013" y="6248400"/>
                        <a:ext cx="1295400" cy="609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1345" name="Object 1025">
            <a:hlinkClick r:id="" action="ppaction://ole?verb=0"/>
          </p:cNvPr>
          <p:cNvGraphicFramePr>
            <a:graphicFrameLocks/>
          </p:cNvGraphicFramePr>
          <p:nvPr/>
        </p:nvGraphicFramePr>
        <p:xfrm>
          <a:off x="7648575" y="6442075"/>
          <a:ext cx="1493838" cy="415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lip" r:id="rId5" imgW="1492200" imgH="414000" progId="">
                  <p:embed/>
                </p:oleObj>
              </mc:Choice>
              <mc:Fallback>
                <p:oleObj name="Clip" r:id="rId5" imgW="1492200" imgH="414000" progId="">
                  <p:embed/>
                  <p:pic>
                    <p:nvPicPr>
                      <p:cNvPr id="441345" name="Object 1025">
                        <a:hlinkClick r:id="" action="ppaction://ole?verb=0"/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48575" y="6442075"/>
                        <a:ext cx="1493838" cy="415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C49D5B8-8B34-B2AD-BEBE-2D54FC0204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IDS, Faculty of Engineering, University of Jaffna</a:t>
            </a:r>
            <a:endParaRPr lang="en-US"/>
          </a:p>
        </p:txBody>
      </p:sp>
    </p:spTree>
  </p:cSld>
  <p:clrMapOvr>
    <a:masterClrMapping/>
  </p:clrMapOvr>
  <p:transition>
    <p:strips dir="r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9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809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809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9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809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809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1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413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413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17"/>
                                            </p:cond>
                                          </p:stCondLst>
                                        </p:cTn>
                                        <p:tgtEl>
                                          <p:spTgt spid="441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0931" grpId="0" build="p" bldLvl="2" autoUpdateAnimBg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7E14E5-29C0-495F-B232-78EE7DD67BF8}" type="slidenum">
              <a:rPr lang="en-US"/>
              <a:pPr/>
              <a:t>44</a:t>
            </a:fld>
            <a:endParaRPr lang="en-US"/>
          </a:p>
        </p:txBody>
      </p:sp>
      <p:graphicFrame>
        <p:nvGraphicFramePr>
          <p:cNvPr id="442368" name="Object 0">
            <a:hlinkClick r:id="" action="ppaction://ole?verb=0"/>
          </p:cNvPr>
          <p:cNvGraphicFramePr>
            <a:graphicFrameLocks/>
          </p:cNvGraphicFramePr>
          <p:nvPr/>
        </p:nvGraphicFramePr>
        <p:xfrm>
          <a:off x="7162800" y="228600"/>
          <a:ext cx="1739900" cy="1219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lip" r:id="rId3" imgW="1738080" imgH="1217520" progId="">
                  <p:embed/>
                </p:oleObj>
              </mc:Choice>
              <mc:Fallback>
                <p:oleObj name="Clip" r:id="rId3" imgW="1738080" imgH="1217520" progId="">
                  <p:embed/>
                  <p:pic>
                    <p:nvPicPr>
                      <p:cNvPr id="442368" name="Object 0">
                        <a:hlinkClick r:id="" action="ppaction://ole?verb=0"/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62800" y="228600"/>
                        <a:ext cx="1739900" cy="1219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5272" name="Rectangle 8"/>
          <p:cNvSpPr>
            <a:spLocks noChangeArrowheads="1"/>
          </p:cNvSpPr>
          <p:nvPr/>
        </p:nvSpPr>
        <p:spPr bwMode="auto">
          <a:xfrm>
            <a:off x="1066800" y="1905000"/>
            <a:ext cx="1447800" cy="4572000"/>
          </a:xfrm>
          <a:prstGeom prst="rect">
            <a:avLst/>
          </a:prstGeom>
          <a:noFill/>
          <a:ln w="47625">
            <a:solidFill>
              <a:srgbClr val="FF0000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442369" name="Object 1"/>
          <p:cNvGraphicFramePr>
            <a:graphicFrameLocks noChangeAspect="1"/>
          </p:cNvGraphicFramePr>
          <p:nvPr/>
        </p:nvGraphicFramePr>
        <p:xfrm>
          <a:off x="381000" y="1905000"/>
          <a:ext cx="3657600" cy="457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5" imgW="3132360" imgH="4006080" progId="Excel.Sheet.8">
                  <p:embed/>
                </p:oleObj>
              </mc:Choice>
              <mc:Fallback>
                <p:oleObj name="Worksheet" r:id="rId5" imgW="3132360" imgH="4006080" progId="Excel.Sheet.8">
                  <p:embed/>
                  <p:pic>
                    <p:nvPicPr>
                      <p:cNvPr id="442369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" y="1905000"/>
                        <a:ext cx="3657600" cy="4572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5278" name="Rectangle 14"/>
          <p:cNvSpPr>
            <a:spLocks noGrp="1" noChangeArrowheads="1"/>
          </p:cNvSpPr>
          <p:nvPr>
            <p:ph type="title"/>
          </p:nvPr>
        </p:nvSpPr>
        <p:spPr>
          <a:xfrm>
            <a:off x="304800" y="228600"/>
            <a:ext cx="6781800" cy="609600"/>
          </a:xfrm>
          <a:noFill/>
          <a:ln/>
        </p:spPr>
        <p:txBody>
          <a:bodyPr lIns="90488" tIns="44450" rIns="90488" bIns="44450" anchor="b"/>
          <a:lstStyle/>
          <a:p>
            <a:pPr algn="l"/>
            <a:r>
              <a:rPr lang="en-AU" sz="3000" b="1" u="sng">
                <a:solidFill>
                  <a:schemeClr val="tx1"/>
                </a:solidFill>
              </a:rPr>
              <a:t>Forecasting with Trend and Seasonality</a:t>
            </a:r>
            <a:endParaRPr lang="en-AU" sz="3000" u="sng">
              <a:solidFill>
                <a:schemeClr val="tx1"/>
              </a:solidFill>
            </a:endParaRPr>
          </a:p>
        </p:txBody>
      </p:sp>
      <p:graphicFrame>
        <p:nvGraphicFramePr>
          <p:cNvPr id="442370" name="Object 2"/>
          <p:cNvGraphicFramePr>
            <a:graphicFrameLocks noChangeAspect="1"/>
          </p:cNvGraphicFramePr>
          <p:nvPr/>
        </p:nvGraphicFramePr>
        <p:xfrm>
          <a:off x="4114800" y="1752600"/>
          <a:ext cx="4648200" cy="4800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hart" r:id="rId7" imgW="4499280" imgH="2340720" progId="Excel.Sheet.8">
                  <p:embed/>
                </p:oleObj>
              </mc:Choice>
              <mc:Fallback>
                <p:oleObj name="Chart" r:id="rId7" imgW="4499280" imgH="2340720" progId="Excel.Sheet.8">
                  <p:embed/>
                  <p:pic>
                    <p:nvPicPr>
                      <p:cNvPr id="44237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14800" y="1752600"/>
                        <a:ext cx="4648200" cy="4800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5280" name="Rectangle 16"/>
          <p:cNvSpPr>
            <a:spLocks noChangeArrowheads="1"/>
          </p:cNvSpPr>
          <p:nvPr/>
        </p:nvSpPr>
        <p:spPr bwMode="auto">
          <a:xfrm>
            <a:off x="8229600" y="1905000"/>
            <a:ext cx="457200" cy="3276600"/>
          </a:xfrm>
          <a:prstGeom prst="rect">
            <a:avLst/>
          </a:prstGeom>
          <a:solidFill>
            <a:schemeClr val="accent3">
              <a:lumMod val="95000"/>
            </a:schemeClr>
          </a:solidFill>
          <a:ln w="41275">
            <a:solidFill>
              <a:srgbClr val="FF00FF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95281" name="Line 17"/>
          <p:cNvSpPr>
            <a:spLocks noChangeShapeType="1"/>
          </p:cNvSpPr>
          <p:nvPr/>
        </p:nvSpPr>
        <p:spPr bwMode="auto">
          <a:xfrm flipV="1">
            <a:off x="5029200" y="2514600"/>
            <a:ext cx="3581400" cy="1828800"/>
          </a:xfrm>
          <a:prstGeom prst="line">
            <a:avLst/>
          </a:prstGeom>
          <a:noFill/>
          <a:ln w="38100">
            <a:solidFill>
              <a:schemeClr val="tx1"/>
            </a:solidFill>
            <a:prstDash val="sysDot"/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graphicFrame>
        <p:nvGraphicFramePr>
          <p:cNvPr id="442371" name="Object 3">
            <a:hlinkClick r:id="" action="ppaction://ole?verb=0"/>
          </p:cNvPr>
          <p:cNvGraphicFramePr>
            <a:graphicFrameLocks/>
          </p:cNvGraphicFramePr>
          <p:nvPr/>
        </p:nvGraphicFramePr>
        <p:xfrm>
          <a:off x="4191000" y="1143000"/>
          <a:ext cx="24384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320480" imgH="253800" progId="Equation.3">
                  <p:embed/>
                </p:oleObj>
              </mc:Choice>
              <mc:Fallback>
                <p:oleObj name="Equation" r:id="rId9" imgW="1320480" imgH="253800" progId="Equation.3">
                  <p:embed/>
                  <p:pic>
                    <p:nvPicPr>
                      <p:cNvPr id="442371" name="Object 3">
                        <a:hlinkClick r:id="" action="ppaction://ole?verb=0"/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91000" y="1143000"/>
                        <a:ext cx="2438400" cy="457200"/>
                      </a:xfrm>
                      <a:prstGeom prst="rect">
                        <a:avLst/>
                      </a:prstGeom>
                      <a:solidFill>
                        <a:srgbClr val="FFFFFF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5283" name="Freeform 19"/>
          <p:cNvSpPr>
            <a:spLocks/>
          </p:cNvSpPr>
          <p:nvPr/>
        </p:nvSpPr>
        <p:spPr bwMode="auto">
          <a:xfrm>
            <a:off x="6019800" y="1524000"/>
            <a:ext cx="1828800" cy="137160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96" y="480"/>
              </a:cxn>
            </a:cxnLst>
            <a:rect l="0" t="0" r="r" b="b"/>
            <a:pathLst>
              <a:path w="96" h="480">
                <a:moveTo>
                  <a:pt x="0" y="0"/>
                </a:moveTo>
                <a:cubicBezTo>
                  <a:pt x="40" y="200"/>
                  <a:pt x="80" y="400"/>
                  <a:pt x="96" y="480"/>
                </a:cubicBezTo>
              </a:path>
            </a:pathLst>
          </a:custGeom>
          <a:noFill/>
          <a:ln w="31750" cap="flat" cmpd="sng">
            <a:solidFill>
              <a:schemeClr val="tx1"/>
            </a:solidFill>
            <a:prstDash val="solid"/>
            <a:round/>
            <a:headEnd type="none" w="sm" len="sm"/>
            <a:tailEnd type="triangle" w="lg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95284" name="Text Box 20"/>
          <p:cNvSpPr txBox="1">
            <a:spLocks noChangeArrowheads="1"/>
          </p:cNvSpPr>
          <p:nvPr/>
        </p:nvSpPr>
        <p:spPr bwMode="auto">
          <a:xfrm>
            <a:off x="2743200" y="6477000"/>
            <a:ext cx="381000" cy="33655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600" b="1"/>
              <a:t>?</a:t>
            </a:r>
            <a:endParaRPr lang="en-AU" sz="1600" b="1"/>
          </a:p>
        </p:txBody>
      </p:sp>
      <p:sp>
        <p:nvSpPr>
          <p:cNvPr id="395285" name="Rectangle 21"/>
          <p:cNvSpPr>
            <a:spLocks noChangeArrowheads="1"/>
          </p:cNvSpPr>
          <p:nvPr/>
        </p:nvSpPr>
        <p:spPr bwMode="auto">
          <a:xfrm>
            <a:off x="2057400" y="6477000"/>
            <a:ext cx="285750" cy="33655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none">
            <a:spAutoFit/>
          </a:bodyPr>
          <a:lstStyle/>
          <a:p>
            <a:r>
              <a:rPr lang="en-US" sz="1600" b="1"/>
              <a:t>?</a:t>
            </a:r>
            <a:endParaRPr lang="en-AU" sz="1600" b="1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97EC9105-FE63-5540-05B2-749E7C0BC9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IDS, Faculty of Engineering, University of Jaffna</a:t>
            </a:r>
            <a:endParaRPr lang="en-US"/>
          </a:p>
        </p:txBody>
      </p:sp>
    </p:spTree>
  </p:cSld>
  <p:clrMapOvr>
    <a:masterClrMapping/>
  </p:clrMapOvr>
  <p:transition>
    <p:strips dir="r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2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44237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4237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423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4423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6AE943-18F1-4E20-BCCE-263DA5850A21}" type="slidenum">
              <a:rPr lang="en-US"/>
              <a:pPr/>
              <a:t>45</a:t>
            </a:fld>
            <a:endParaRPr lang="en-US"/>
          </a:p>
        </p:txBody>
      </p:sp>
      <p:graphicFrame>
        <p:nvGraphicFramePr>
          <p:cNvPr id="397315" name="Object 3">
            <a:hlinkClick r:id="" action="ppaction://ole?verb=0"/>
          </p:cNvPr>
          <p:cNvGraphicFramePr>
            <a:graphicFrameLocks/>
          </p:cNvGraphicFramePr>
          <p:nvPr/>
        </p:nvGraphicFramePr>
        <p:xfrm>
          <a:off x="4876800" y="5638800"/>
          <a:ext cx="312420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889000" imgH="423720" progId="Equation.3">
                  <p:embed/>
                </p:oleObj>
              </mc:Choice>
              <mc:Fallback>
                <p:oleObj name="Equation" r:id="rId3" imgW="2889000" imgH="423720" progId="Equation.3">
                  <p:embed/>
                  <p:pic>
                    <p:nvPicPr>
                      <p:cNvPr id="397315" name="Object 3">
                        <a:hlinkClick r:id="" action="ppaction://ole?verb=0"/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76800" y="5638800"/>
                        <a:ext cx="3124200" cy="533400"/>
                      </a:xfrm>
                      <a:prstGeom prst="rect">
                        <a:avLst/>
                      </a:prstGeom>
                      <a:solidFill>
                        <a:srgbClr val="FFFFFF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7316" name="Text Box 4"/>
          <p:cNvSpPr txBox="1">
            <a:spLocks noChangeArrowheads="1"/>
          </p:cNvSpPr>
          <p:nvPr/>
        </p:nvSpPr>
        <p:spPr bwMode="auto">
          <a:xfrm>
            <a:off x="381000" y="5943600"/>
            <a:ext cx="7696200" cy="4572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r>
              <a:rPr lang="en-GB" b="1">
                <a:solidFill>
                  <a:schemeClr val="tx2"/>
                </a:solidFill>
              </a:rPr>
              <a:t>Trend value:   for t = 21, is 5755.63 + 40.73(21) =6610.96</a:t>
            </a:r>
            <a:endParaRPr lang="en-GB" i="1">
              <a:solidFill>
                <a:schemeClr val="tx2"/>
              </a:solidFill>
            </a:endParaRPr>
          </a:p>
        </p:txBody>
      </p:sp>
      <p:graphicFrame>
        <p:nvGraphicFramePr>
          <p:cNvPr id="397321" name="Object 9"/>
          <p:cNvGraphicFramePr>
            <a:graphicFrameLocks noChangeAspect="1"/>
          </p:cNvGraphicFramePr>
          <p:nvPr/>
        </p:nvGraphicFramePr>
        <p:xfrm>
          <a:off x="304800" y="533400"/>
          <a:ext cx="7543800" cy="5181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hart" r:id="rId5" imgW="4499280" imgH="2340720" progId="Excel.Sheet.8">
                  <p:embed/>
                </p:oleObj>
              </mc:Choice>
              <mc:Fallback>
                <p:oleObj name="Chart" r:id="rId5" imgW="4499280" imgH="2340720" progId="Excel.Sheet.8">
                  <p:embed/>
                  <p:pic>
                    <p:nvPicPr>
                      <p:cNvPr id="397321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" y="533400"/>
                        <a:ext cx="7543800" cy="5181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7324" name="Rectangle 12"/>
          <p:cNvSpPr>
            <a:spLocks noChangeArrowheads="1"/>
          </p:cNvSpPr>
          <p:nvPr/>
        </p:nvSpPr>
        <p:spPr bwMode="auto">
          <a:xfrm>
            <a:off x="6934200" y="609600"/>
            <a:ext cx="762000" cy="3657600"/>
          </a:xfrm>
          <a:prstGeom prst="rect">
            <a:avLst/>
          </a:prstGeom>
          <a:solidFill>
            <a:schemeClr val="accent3">
              <a:lumMod val="95000"/>
            </a:schemeClr>
          </a:solidFill>
          <a:ln w="25400">
            <a:solidFill>
              <a:srgbClr val="FF00FF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97325" name="Line 13"/>
          <p:cNvSpPr>
            <a:spLocks noChangeShapeType="1"/>
          </p:cNvSpPr>
          <p:nvPr/>
        </p:nvSpPr>
        <p:spPr bwMode="auto">
          <a:xfrm flipV="1">
            <a:off x="1828800" y="1295400"/>
            <a:ext cx="5867400" cy="205740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97326" name="Line 14"/>
          <p:cNvSpPr>
            <a:spLocks noChangeShapeType="1"/>
          </p:cNvSpPr>
          <p:nvPr/>
        </p:nvSpPr>
        <p:spPr bwMode="auto">
          <a:xfrm flipV="1">
            <a:off x="7239000" y="1447800"/>
            <a:ext cx="0" cy="2819400"/>
          </a:xfrm>
          <a:prstGeom prst="line">
            <a:avLst/>
          </a:prstGeom>
          <a:noFill/>
          <a:ln w="38100">
            <a:solidFill>
              <a:schemeClr val="tx1"/>
            </a:solidFill>
            <a:prstDash val="sysDot"/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97327" name="Line 15"/>
          <p:cNvSpPr>
            <a:spLocks noChangeShapeType="1"/>
          </p:cNvSpPr>
          <p:nvPr/>
        </p:nvSpPr>
        <p:spPr bwMode="auto">
          <a:xfrm flipH="1">
            <a:off x="1524000" y="1447800"/>
            <a:ext cx="5715000" cy="76200"/>
          </a:xfrm>
          <a:prstGeom prst="line">
            <a:avLst/>
          </a:prstGeom>
          <a:noFill/>
          <a:ln w="38100">
            <a:solidFill>
              <a:schemeClr val="tx1"/>
            </a:solidFill>
            <a:prstDash val="sysDot"/>
            <a:round/>
            <a:headEnd type="none" w="sm" len="sm"/>
            <a:tailEnd type="triangle" w="lg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E57EE00-4946-0806-CFB1-6D48F235E7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IDS, Faculty of Engineering, University of Jaffna</a:t>
            </a:r>
            <a:endParaRPr lang="en-US"/>
          </a:p>
        </p:txBody>
      </p:sp>
    </p:spTree>
  </p:cSld>
  <p:clrMapOvr>
    <a:masterClrMapping/>
  </p:clrMapOvr>
  <p:transition>
    <p:strips dir="r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973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973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973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973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7316" grpId="0" autoUpdateAnimBg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68274A-0B55-4C66-B30C-E95E72E82691}" type="slidenum">
              <a:rPr lang="en-US"/>
              <a:pPr/>
              <a:t>46</a:t>
            </a:fld>
            <a:endParaRPr lang="en-US"/>
          </a:p>
        </p:txBody>
      </p:sp>
      <p:graphicFrame>
        <p:nvGraphicFramePr>
          <p:cNvPr id="443392" name="Object 0"/>
          <p:cNvGraphicFramePr>
            <a:graphicFrameLocks noChangeAspect="1"/>
          </p:cNvGraphicFramePr>
          <p:nvPr/>
        </p:nvGraphicFramePr>
        <p:xfrm>
          <a:off x="428596" y="714356"/>
          <a:ext cx="6047192" cy="294800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4081680" imgH="1494000" progId="Excel.Sheet.8">
                  <p:embed/>
                </p:oleObj>
              </mc:Choice>
              <mc:Fallback>
                <p:oleObj name="Worksheet" r:id="rId2" imgW="4081680" imgH="1494000" progId="Excel.Sheet.8">
                  <p:embed/>
                  <p:pic>
                    <p:nvPicPr>
                      <p:cNvPr id="443392" name="Object 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8596" y="714356"/>
                        <a:ext cx="6047192" cy="294800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2437" name="Rectangle 5"/>
          <p:cNvSpPr>
            <a:spLocks noChangeArrowheads="1"/>
          </p:cNvSpPr>
          <p:nvPr/>
        </p:nvSpPr>
        <p:spPr bwMode="auto">
          <a:xfrm>
            <a:off x="6643670" y="1142984"/>
            <a:ext cx="2500330" cy="17859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488" tIns="44450" rIns="90488" bIns="44450"/>
          <a:lstStyle/>
          <a:p>
            <a:pPr marL="342900" indent="-342900">
              <a:spcBef>
                <a:spcPct val="20000"/>
              </a:spcBef>
            </a:pPr>
            <a:r>
              <a:rPr lang="en-GB" sz="2000" b="1" u="sng" dirty="0">
                <a:solidFill>
                  <a:srgbClr val="996633"/>
                </a:solidFill>
              </a:rPr>
              <a:t>Adjusted value</a:t>
            </a:r>
          </a:p>
          <a:p>
            <a:pPr marL="342900" indent="-342900">
              <a:spcBef>
                <a:spcPct val="20000"/>
              </a:spcBef>
            </a:pPr>
            <a:r>
              <a:rPr lang="en-GB" sz="2000" dirty="0">
                <a:solidFill>
                  <a:schemeClr val="tx2"/>
                </a:solidFill>
              </a:rPr>
              <a:t>= 4*(unadjusted value)/ (Total of unadjusted values)</a:t>
            </a:r>
          </a:p>
          <a:p>
            <a:pPr marL="342900" indent="-342900">
              <a:spcBef>
                <a:spcPct val="20000"/>
              </a:spcBef>
            </a:pPr>
            <a:endParaRPr lang="en-GB" sz="2000" dirty="0">
              <a:solidFill>
                <a:schemeClr val="tx2"/>
              </a:solidFill>
            </a:endParaRPr>
          </a:p>
          <a:p>
            <a:pPr marL="342900" indent="-342900">
              <a:spcBef>
                <a:spcPct val="20000"/>
              </a:spcBef>
            </a:pPr>
            <a:endParaRPr lang="en-AU" sz="2800" b="1" i="1" dirty="0">
              <a:solidFill>
                <a:schemeClr val="tx2"/>
              </a:solidFill>
            </a:endParaRPr>
          </a:p>
        </p:txBody>
      </p:sp>
      <p:sp>
        <p:nvSpPr>
          <p:cNvPr id="402438" name="Text Box 6"/>
          <p:cNvSpPr txBox="1">
            <a:spLocks noChangeArrowheads="1"/>
          </p:cNvSpPr>
          <p:nvPr/>
        </p:nvSpPr>
        <p:spPr bwMode="auto">
          <a:xfrm>
            <a:off x="6781800" y="3352800"/>
            <a:ext cx="1341438" cy="427038"/>
          </a:xfrm>
          <a:prstGeom prst="rect">
            <a:avLst/>
          </a:prstGeom>
          <a:solidFill>
            <a:srgbClr val="FFFFFF"/>
          </a:solidFill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none">
            <a:spAutoFit/>
          </a:bodyPr>
          <a:lstStyle/>
          <a:p>
            <a:r>
              <a:rPr lang="en-GB" sz="2200">
                <a:solidFill>
                  <a:schemeClr val="tx2"/>
                </a:solidFill>
              </a:rPr>
              <a:t> </a:t>
            </a:r>
            <a:r>
              <a:rPr lang="en-GB" sz="2200" b="1">
                <a:solidFill>
                  <a:srgbClr val="996633"/>
                </a:solidFill>
              </a:rPr>
              <a:t>Adjusted</a:t>
            </a:r>
            <a:endParaRPr lang="en-GB" b="1">
              <a:solidFill>
                <a:srgbClr val="996633"/>
              </a:solidFill>
            </a:endParaRPr>
          </a:p>
        </p:txBody>
      </p:sp>
      <p:sp>
        <p:nvSpPr>
          <p:cNvPr id="402439" name="Text Box 7"/>
          <p:cNvSpPr txBox="1">
            <a:spLocks noChangeArrowheads="1"/>
          </p:cNvSpPr>
          <p:nvPr/>
        </p:nvSpPr>
        <p:spPr bwMode="auto">
          <a:xfrm>
            <a:off x="6781800" y="2971800"/>
            <a:ext cx="1525588" cy="427038"/>
          </a:xfrm>
          <a:prstGeom prst="rect">
            <a:avLst/>
          </a:prstGeom>
          <a:solidFill>
            <a:srgbClr val="FFFFFF"/>
          </a:solidFill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none">
            <a:spAutoFit/>
          </a:bodyPr>
          <a:lstStyle/>
          <a:p>
            <a:r>
              <a:rPr lang="en-GB" sz="2200">
                <a:solidFill>
                  <a:schemeClr val="tx2"/>
                </a:solidFill>
              </a:rPr>
              <a:t> Unadjusted</a:t>
            </a:r>
            <a:endParaRPr lang="en-GB">
              <a:solidFill>
                <a:schemeClr val="tx2"/>
              </a:solidFill>
            </a:endParaRPr>
          </a:p>
        </p:txBody>
      </p:sp>
      <p:grpSp>
        <p:nvGrpSpPr>
          <p:cNvPr id="402440" name="Group 8"/>
          <p:cNvGrpSpPr>
            <a:grpSpLocks/>
          </p:cNvGrpSpPr>
          <p:nvPr/>
        </p:nvGrpSpPr>
        <p:grpSpPr bwMode="auto">
          <a:xfrm>
            <a:off x="1752600" y="3352800"/>
            <a:ext cx="1752600" cy="990600"/>
            <a:chOff x="668" y="2321"/>
            <a:chExt cx="1108" cy="703"/>
          </a:xfrm>
        </p:grpSpPr>
        <p:sp>
          <p:nvSpPr>
            <p:cNvPr id="402441" name="Line 9"/>
            <p:cNvSpPr>
              <a:spLocks noChangeShapeType="1"/>
            </p:cNvSpPr>
            <p:nvPr/>
          </p:nvSpPr>
          <p:spPr bwMode="auto">
            <a:xfrm flipH="1" flipV="1">
              <a:off x="1152" y="2592"/>
              <a:ext cx="624" cy="432"/>
            </a:xfrm>
            <a:prstGeom prst="line">
              <a:avLst/>
            </a:prstGeom>
            <a:noFill/>
            <a:ln w="57150">
              <a:solidFill>
                <a:srgbClr val="FF3300"/>
              </a:solidFill>
              <a:round/>
              <a:headEnd type="none" w="sm" len="sm"/>
              <a:tailEnd type="triangle" w="lg" len="lg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02442" name="Freeform 10"/>
            <p:cNvSpPr>
              <a:spLocks/>
            </p:cNvSpPr>
            <p:nvPr/>
          </p:nvSpPr>
          <p:spPr bwMode="auto">
            <a:xfrm>
              <a:off x="668" y="2321"/>
              <a:ext cx="683" cy="260"/>
            </a:xfrm>
            <a:custGeom>
              <a:avLst/>
              <a:gdLst/>
              <a:ahLst/>
              <a:cxnLst>
                <a:cxn ang="0">
                  <a:pos x="369" y="28"/>
                </a:cxn>
                <a:cxn ang="0">
                  <a:pos x="0" y="148"/>
                </a:cxn>
                <a:cxn ang="0">
                  <a:pos x="112" y="251"/>
                </a:cxn>
                <a:cxn ang="0">
                  <a:pos x="626" y="225"/>
                </a:cxn>
                <a:cxn ang="0">
                  <a:pos x="643" y="79"/>
                </a:cxn>
                <a:cxn ang="0">
                  <a:pos x="549" y="36"/>
                </a:cxn>
                <a:cxn ang="0">
                  <a:pos x="369" y="28"/>
                </a:cxn>
              </a:cxnLst>
              <a:rect l="0" t="0" r="r" b="b"/>
              <a:pathLst>
                <a:path w="683" h="260">
                  <a:moveTo>
                    <a:pt x="369" y="28"/>
                  </a:moveTo>
                  <a:cubicBezTo>
                    <a:pt x="250" y="32"/>
                    <a:pt x="51" y="0"/>
                    <a:pt x="0" y="148"/>
                  </a:cubicBezTo>
                  <a:cubicBezTo>
                    <a:pt x="14" y="202"/>
                    <a:pt x="60" y="237"/>
                    <a:pt x="112" y="251"/>
                  </a:cubicBezTo>
                  <a:cubicBezTo>
                    <a:pt x="250" y="247"/>
                    <a:pt x="479" y="260"/>
                    <a:pt x="626" y="225"/>
                  </a:cubicBezTo>
                  <a:cubicBezTo>
                    <a:pt x="683" y="188"/>
                    <a:pt x="672" y="205"/>
                    <a:pt x="643" y="79"/>
                  </a:cubicBezTo>
                  <a:cubicBezTo>
                    <a:pt x="638" y="59"/>
                    <a:pt x="566" y="37"/>
                    <a:pt x="549" y="36"/>
                  </a:cubicBezTo>
                  <a:cubicBezTo>
                    <a:pt x="489" y="31"/>
                    <a:pt x="429" y="31"/>
                    <a:pt x="369" y="28"/>
                  </a:cubicBezTo>
                  <a:close/>
                </a:path>
              </a:pathLst>
            </a:custGeom>
            <a:noFill/>
            <a:ln w="31750" cap="flat" cmpd="sng">
              <a:solidFill>
                <a:srgbClr val="FF3300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402443" name="Rectangle 11"/>
          <p:cNvSpPr>
            <a:spLocks noChangeArrowheads="1"/>
          </p:cNvSpPr>
          <p:nvPr/>
        </p:nvSpPr>
        <p:spPr bwMode="auto">
          <a:xfrm>
            <a:off x="381000" y="4267200"/>
            <a:ext cx="8001000" cy="1219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488" tIns="44450" rIns="90488" bIns="44450"/>
          <a:lstStyle/>
          <a:p>
            <a:pPr marL="342900" indent="-342900">
              <a:spcBef>
                <a:spcPct val="20000"/>
              </a:spcBef>
            </a:pPr>
            <a:r>
              <a:rPr lang="en-GB" b="1"/>
              <a:t>The relevant seasonal index = 0.9861</a:t>
            </a:r>
          </a:p>
          <a:p>
            <a:pPr marL="342900" indent="-342900">
              <a:spcBef>
                <a:spcPct val="20000"/>
              </a:spcBef>
            </a:pPr>
            <a:r>
              <a:rPr lang="en-GB" b="1"/>
              <a:t>because we are forecasting for a March quarter.</a:t>
            </a:r>
            <a:endParaRPr lang="en-AU" b="1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35C5D4DB-0C40-B810-DA4F-108469F17D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IDS, Faculty of Engineering, University of Jaffna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024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024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024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024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4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024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024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4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024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024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024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024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4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7" dur="500"/>
                                        <p:tgtEl>
                                          <p:spTgt spid="4024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43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2" dur="500"/>
                                        <p:tgtEl>
                                          <p:spTgt spid="40243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2437" grpId="0" build="p" autoUpdateAnimBg="0"/>
      <p:bldP spid="402438" grpId="0" animBg="1" autoUpdateAnimBg="0"/>
      <p:bldP spid="402439" grpId="0" animBg="1" autoUpdateAnimBg="0"/>
      <p:bldP spid="402443" grpId="0" build="p" autoUpdateAnimBg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9F175-B881-4920-BB62-E078E57FEB25}" type="slidenum">
              <a:rPr lang="en-US"/>
              <a:pPr/>
              <a:t>47</a:t>
            </a:fld>
            <a:endParaRPr lang="en-US"/>
          </a:p>
        </p:txBody>
      </p:sp>
      <p:sp>
        <p:nvSpPr>
          <p:cNvPr id="388098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381000"/>
            <a:ext cx="6858000" cy="609600"/>
          </a:xfrm>
          <a:noFill/>
          <a:ln/>
        </p:spPr>
        <p:txBody>
          <a:bodyPr lIns="90488" tIns="44450" rIns="90488" bIns="44450" anchor="b"/>
          <a:lstStyle/>
          <a:p>
            <a:pPr algn="l"/>
            <a:r>
              <a:rPr lang="en-AU" sz="3000" b="1" u="sng"/>
              <a:t>Forecasting with Trend and Seasonality</a:t>
            </a:r>
            <a:endParaRPr lang="en-AU" sz="3000" u="sng"/>
          </a:p>
        </p:txBody>
      </p:sp>
      <p:graphicFrame>
        <p:nvGraphicFramePr>
          <p:cNvPr id="388099" name="Object 3">
            <a:hlinkClick r:id="" action="ppaction://ole?verb=0"/>
          </p:cNvPr>
          <p:cNvGraphicFramePr>
            <a:graphicFrameLocks/>
          </p:cNvGraphicFramePr>
          <p:nvPr/>
        </p:nvGraphicFramePr>
        <p:xfrm>
          <a:off x="7543800" y="457200"/>
          <a:ext cx="1295400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lip" r:id="rId3" imgW="1633320" imgH="815760" progId="">
                  <p:embed/>
                </p:oleObj>
              </mc:Choice>
              <mc:Fallback>
                <p:oleObj name="Clip" r:id="rId3" imgW="1633320" imgH="815760" progId="">
                  <p:embed/>
                  <p:pic>
                    <p:nvPicPr>
                      <p:cNvPr id="388099" name="Object 3">
                        <a:hlinkClick r:id="" action="ppaction://ole?verb=0"/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43800" y="457200"/>
                        <a:ext cx="1295400" cy="609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8100" name="Object 4">
            <a:hlinkClick r:id="" action="ppaction://ole?verb=0"/>
          </p:cNvPr>
          <p:cNvGraphicFramePr>
            <a:graphicFrameLocks/>
          </p:cNvGraphicFramePr>
          <p:nvPr/>
        </p:nvGraphicFramePr>
        <p:xfrm>
          <a:off x="6934200" y="4800600"/>
          <a:ext cx="1493838" cy="415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lip" r:id="rId5" imgW="1492200" imgH="414000" progId="">
                  <p:embed/>
                </p:oleObj>
              </mc:Choice>
              <mc:Fallback>
                <p:oleObj name="Clip" r:id="rId5" imgW="1492200" imgH="414000" progId="">
                  <p:embed/>
                  <p:pic>
                    <p:nvPicPr>
                      <p:cNvPr id="388100" name="Object 4">
                        <a:hlinkClick r:id="" action="ppaction://ole?verb=0"/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34200" y="4800600"/>
                        <a:ext cx="1493838" cy="415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8101" name="Rectangle 5"/>
          <p:cNvSpPr>
            <a:spLocks noChangeArrowheads="1"/>
          </p:cNvSpPr>
          <p:nvPr/>
        </p:nvSpPr>
        <p:spPr bwMode="auto">
          <a:xfrm>
            <a:off x="228600" y="1524000"/>
            <a:ext cx="8763000" cy="2362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488" tIns="44450" rIns="90488" bIns="44450"/>
          <a:lstStyle/>
          <a:p>
            <a:endParaRPr lang="en-US" sz="2800" b="1" u="sng" dirty="0"/>
          </a:p>
          <a:p>
            <a:endParaRPr lang="en-AU" sz="2800" b="1" dirty="0"/>
          </a:p>
          <a:p>
            <a:r>
              <a:rPr lang="en-US" b="1" u="sng" dirty="0">
                <a:solidFill>
                  <a:srgbClr val="FF3300"/>
                </a:solidFill>
              </a:rPr>
              <a:t>Q</a:t>
            </a:r>
            <a:r>
              <a:rPr lang="en-US" dirty="0"/>
              <a:t> </a:t>
            </a:r>
            <a:r>
              <a:rPr lang="en-AU" dirty="0"/>
              <a:t>Forecast the number of tourist arrivals for March quarter 1992.</a:t>
            </a:r>
            <a:endParaRPr lang="en-US" dirty="0"/>
          </a:p>
          <a:p>
            <a:endParaRPr lang="en-AU" dirty="0"/>
          </a:p>
          <a:p>
            <a:r>
              <a:rPr lang="en-GB" dirty="0"/>
              <a:t>Trend value 	</a:t>
            </a:r>
            <a:r>
              <a:rPr lang="en-GB" dirty="0" err="1"/>
              <a:t>T</a:t>
            </a:r>
            <a:r>
              <a:rPr lang="en-GB" baseline="-25000" dirty="0" err="1"/>
              <a:t>t</a:t>
            </a:r>
            <a:r>
              <a:rPr lang="en-GB" baseline="-25000" dirty="0"/>
              <a:t> 	</a:t>
            </a:r>
            <a:r>
              <a:rPr lang="en-GB" dirty="0"/>
              <a:t>= 5755.63 + 40.73x21 = 6610.96</a:t>
            </a:r>
          </a:p>
          <a:p>
            <a:endParaRPr lang="en-GB" dirty="0"/>
          </a:p>
          <a:p>
            <a:r>
              <a:rPr lang="en-GB" dirty="0"/>
              <a:t>Seasonal index S</a:t>
            </a:r>
            <a:r>
              <a:rPr lang="en-GB" baseline="-25000" dirty="0"/>
              <a:t>t</a:t>
            </a:r>
            <a:r>
              <a:rPr lang="en-GB" dirty="0"/>
              <a:t> 	= 0.9861</a:t>
            </a:r>
          </a:p>
          <a:p>
            <a:endParaRPr lang="en-GB" dirty="0"/>
          </a:p>
          <a:p>
            <a:r>
              <a:rPr lang="en-GB" dirty="0"/>
              <a:t>So, forecast 	 F</a:t>
            </a:r>
            <a:r>
              <a:rPr lang="en-GB" baseline="-25000" dirty="0"/>
              <a:t>t</a:t>
            </a:r>
            <a:r>
              <a:rPr lang="en-GB" dirty="0"/>
              <a:t> 	= </a:t>
            </a:r>
            <a:r>
              <a:rPr lang="en-AU" sz="2000" dirty="0"/>
              <a:t>F</a:t>
            </a:r>
            <a:r>
              <a:rPr lang="en-AU" sz="2000" baseline="-25000" dirty="0"/>
              <a:t>t </a:t>
            </a:r>
            <a:r>
              <a:rPr lang="en-AU" sz="2000" dirty="0"/>
              <a:t>= </a:t>
            </a:r>
            <a:r>
              <a:rPr lang="en-AU" sz="2000" dirty="0" err="1"/>
              <a:t>T</a:t>
            </a:r>
            <a:r>
              <a:rPr lang="en-AU" sz="2000" baseline="-25000" dirty="0" err="1"/>
              <a:t>t</a:t>
            </a:r>
            <a:r>
              <a:rPr lang="en-AU" sz="2000" dirty="0"/>
              <a:t> * S</a:t>
            </a:r>
            <a:r>
              <a:rPr lang="en-AU" sz="2000" baseline="-25000" dirty="0"/>
              <a:t>t</a:t>
            </a:r>
            <a:endParaRPr lang="en-US" sz="2000" baseline="-25000" dirty="0"/>
          </a:p>
          <a:p>
            <a:endParaRPr lang="en-GB" dirty="0"/>
          </a:p>
          <a:p>
            <a:r>
              <a:rPr lang="en-GB" dirty="0"/>
              <a:t>			= 6610.96x0.9861 = 6519.068 (,000 arrivals)</a:t>
            </a:r>
            <a:endParaRPr lang="en-AU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2E60331-8A53-1F93-F77B-0C32F93C2B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IDS, Faculty of Engineering, University of Jaffna</a:t>
            </a:r>
            <a:endParaRPr lang="en-US"/>
          </a:p>
        </p:txBody>
      </p:sp>
    </p:spTree>
  </p:cSld>
  <p:clrMapOvr>
    <a:masterClrMapping/>
  </p:clrMapOvr>
  <p:transition>
    <p:strips dir="r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10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8810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8810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10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8810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8810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10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8810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8810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10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8810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8810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10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8810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8810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881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881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35"/>
                                            </p:cond>
                                          </p:stCondLst>
                                        </p:cTn>
                                        <p:tgtEl>
                                          <p:spTgt spid="388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8101" grpId="0" build="p" bldLvl="2" autoUpdateAnimBg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6524E-127C-49DE-8372-3ECA7604E4E2}" type="slidenum">
              <a:rPr lang="en-US"/>
              <a:pPr/>
              <a:t>48</a:t>
            </a:fld>
            <a:endParaRPr lang="en-US"/>
          </a:p>
        </p:txBody>
      </p:sp>
      <p:graphicFrame>
        <p:nvGraphicFramePr>
          <p:cNvPr id="419842" name="Object 2">
            <a:hlinkClick r:id="" action="ppaction://ole?verb=0"/>
          </p:cNvPr>
          <p:cNvGraphicFramePr>
            <a:graphicFrameLocks/>
          </p:cNvGraphicFramePr>
          <p:nvPr/>
        </p:nvGraphicFramePr>
        <p:xfrm>
          <a:off x="4876800" y="5638800"/>
          <a:ext cx="312420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889000" imgH="423720" progId="Equation.3">
                  <p:embed/>
                </p:oleObj>
              </mc:Choice>
              <mc:Fallback>
                <p:oleObj name="Equation" r:id="rId3" imgW="2889000" imgH="423720" progId="Equation.3">
                  <p:embed/>
                  <p:pic>
                    <p:nvPicPr>
                      <p:cNvPr id="419842" name="Object 2">
                        <a:hlinkClick r:id="" action="ppaction://ole?verb=0"/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76800" y="5638800"/>
                        <a:ext cx="3124200" cy="533400"/>
                      </a:xfrm>
                      <a:prstGeom prst="rect">
                        <a:avLst/>
                      </a:prstGeom>
                      <a:solidFill>
                        <a:srgbClr val="FFFFFF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9843" name="Text Box 3"/>
          <p:cNvSpPr txBox="1">
            <a:spLocks noChangeArrowheads="1"/>
          </p:cNvSpPr>
          <p:nvPr/>
        </p:nvSpPr>
        <p:spPr bwMode="auto">
          <a:xfrm>
            <a:off x="381000" y="5943600"/>
            <a:ext cx="7696200" cy="82232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r>
              <a:rPr lang="en-GB" b="1">
                <a:solidFill>
                  <a:schemeClr val="tx2"/>
                </a:solidFill>
              </a:rPr>
              <a:t>Forecast with trend and seasonal index = 6519.07</a:t>
            </a:r>
          </a:p>
          <a:p>
            <a:r>
              <a:rPr lang="en-GB" b="1">
                <a:solidFill>
                  <a:schemeClr val="tx2"/>
                </a:solidFill>
              </a:rPr>
              <a:t>               [lower than the forecast with the trend only]</a:t>
            </a:r>
            <a:endParaRPr lang="en-GB" i="1">
              <a:solidFill>
                <a:schemeClr val="tx2"/>
              </a:solidFill>
            </a:endParaRPr>
          </a:p>
        </p:txBody>
      </p:sp>
      <p:graphicFrame>
        <p:nvGraphicFramePr>
          <p:cNvPr id="419844" name="Object 4"/>
          <p:cNvGraphicFramePr>
            <a:graphicFrameLocks noChangeAspect="1"/>
          </p:cNvGraphicFramePr>
          <p:nvPr/>
        </p:nvGraphicFramePr>
        <p:xfrm>
          <a:off x="304800" y="533400"/>
          <a:ext cx="7543800" cy="5181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hart" r:id="rId5" imgW="4499280" imgH="2340720" progId="Excel.Sheet.8">
                  <p:embed/>
                </p:oleObj>
              </mc:Choice>
              <mc:Fallback>
                <p:oleObj name="Chart" r:id="rId5" imgW="4499280" imgH="2340720" progId="Excel.Sheet.8">
                  <p:embed/>
                  <p:pic>
                    <p:nvPicPr>
                      <p:cNvPr id="419844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" y="533400"/>
                        <a:ext cx="7543800" cy="5181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9845" name="Rectangle 5"/>
          <p:cNvSpPr>
            <a:spLocks noChangeArrowheads="1"/>
          </p:cNvSpPr>
          <p:nvPr/>
        </p:nvSpPr>
        <p:spPr bwMode="auto">
          <a:xfrm>
            <a:off x="6934200" y="609600"/>
            <a:ext cx="762000" cy="3657600"/>
          </a:xfrm>
          <a:prstGeom prst="rect">
            <a:avLst/>
          </a:prstGeom>
          <a:solidFill>
            <a:schemeClr val="accent3">
              <a:lumMod val="95000"/>
            </a:schemeClr>
          </a:solidFill>
          <a:ln w="25400">
            <a:solidFill>
              <a:srgbClr val="FF00FF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19846" name="Line 6"/>
          <p:cNvSpPr>
            <a:spLocks noChangeShapeType="1"/>
          </p:cNvSpPr>
          <p:nvPr/>
        </p:nvSpPr>
        <p:spPr bwMode="auto">
          <a:xfrm flipV="1">
            <a:off x="1828800" y="1295400"/>
            <a:ext cx="5867400" cy="205740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19847" name="Line 7"/>
          <p:cNvSpPr>
            <a:spLocks noChangeShapeType="1"/>
          </p:cNvSpPr>
          <p:nvPr/>
        </p:nvSpPr>
        <p:spPr bwMode="auto">
          <a:xfrm flipV="1">
            <a:off x="7239000" y="1447800"/>
            <a:ext cx="0" cy="2819400"/>
          </a:xfrm>
          <a:prstGeom prst="line">
            <a:avLst/>
          </a:prstGeom>
          <a:noFill/>
          <a:ln w="38100">
            <a:solidFill>
              <a:schemeClr val="tx1"/>
            </a:solidFill>
            <a:prstDash val="sysDot"/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19851" name="Line 11"/>
          <p:cNvSpPr>
            <a:spLocks noChangeShapeType="1"/>
          </p:cNvSpPr>
          <p:nvPr/>
        </p:nvSpPr>
        <p:spPr bwMode="auto">
          <a:xfrm flipH="1">
            <a:off x="1524000" y="1828800"/>
            <a:ext cx="57150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 type="none" w="sm" len="sm"/>
            <a:tailEnd type="triangle" w="lg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19852" name="Line 12"/>
          <p:cNvSpPr>
            <a:spLocks noChangeShapeType="1"/>
          </p:cNvSpPr>
          <p:nvPr/>
        </p:nvSpPr>
        <p:spPr bwMode="auto">
          <a:xfrm flipH="1">
            <a:off x="1524000" y="1447800"/>
            <a:ext cx="5715000" cy="0"/>
          </a:xfrm>
          <a:prstGeom prst="line">
            <a:avLst/>
          </a:prstGeom>
          <a:noFill/>
          <a:ln w="38100">
            <a:solidFill>
              <a:schemeClr val="tx1"/>
            </a:solidFill>
            <a:prstDash val="sysDot"/>
            <a:round/>
            <a:headEnd type="none" w="sm" len="sm"/>
            <a:tailEnd type="triangle" w="lg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19853" name="Rectangle 13"/>
          <p:cNvSpPr>
            <a:spLocks noGrp="1" noChangeArrowheads="1"/>
          </p:cNvSpPr>
          <p:nvPr>
            <p:ph type="title"/>
          </p:nvPr>
        </p:nvSpPr>
        <p:spPr>
          <a:xfrm>
            <a:off x="228600" y="0"/>
            <a:ext cx="6858000" cy="609600"/>
          </a:xfrm>
          <a:noFill/>
          <a:ln/>
        </p:spPr>
        <p:txBody>
          <a:bodyPr lIns="90488" tIns="44450" rIns="90488" bIns="44450" anchor="b"/>
          <a:lstStyle/>
          <a:p>
            <a:pPr algn="l"/>
            <a:r>
              <a:rPr lang="en-AU" sz="3000" b="1" u="sng"/>
              <a:t>Forecasting with Trend and Seasonality</a:t>
            </a:r>
            <a:endParaRPr lang="en-AU" sz="3000" u="sng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2D593DE0-57BE-7530-78BE-251EFCAE3E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IDS, Faculty of Engineering, University of Jaffna</a:t>
            </a:r>
            <a:endParaRPr lang="en-US"/>
          </a:p>
        </p:txBody>
      </p:sp>
    </p:spTree>
  </p:cSld>
  <p:clrMapOvr>
    <a:masterClrMapping/>
  </p:clrMapOvr>
  <p:transition>
    <p:strips dir="r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198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198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198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198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9843" grpId="0" autoUpdateAnimBg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77B7A6-EFF3-4011-AB89-1310E51DA2A3}" type="slidenum">
              <a:rPr lang="en-US"/>
              <a:pPr/>
              <a:t>49</a:t>
            </a:fld>
            <a:endParaRPr lang="en-US"/>
          </a:p>
        </p:txBody>
      </p:sp>
      <p:pic>
        <p:nvPicPr>
          <p:cNvPr id="390146" name="Picture 2"/>
          <p:cNvPicPr>
            <a:picLocks noChangeAspect="1" noChangeArrowheads="1"/>
          </p:cNvPicPr>
          <p:nvPr/>
        </p:nvPicPr>
        <p:blipFill>
          <a:blip r:embed="rId2"/>
          <a:srcRect l="2777" t="3127" r="2777" b="4657"/>
          <a:stretch>
            <a:fillRect/>
          </a:stretch>
        </p:blipFill>
        <p:spPr bwMode="auto">
          <a:xfrm>
            <a:off x="914400" y="990600"/>
            <a:ext cx="5638800" cy="42672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</p:pic>
      <p:sp>
        <p:nvSpPr>
          <p:cNvPr id="390147" name="Text Box 3"/>
          <p:cNvSpPr txBox="1">
            <a:spLocks noChangeArrowheads="1"/>
          </p:cNvSpPr>
          <p:nvPr/>
        </p:nvSpPr>
        <p:spPr bwMode="auto">
          <a:xfrm>
            <a:off x="609600" y="5638800"/>
            <a:ext cx="7315200" cy="7620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200" b="1"/>
              <a:t>The model looks reasonably good... (though it does not model the varying size of the seasonal peaks very well)</a:t>
            </a:r>
            <a:endParaRPr lang="en-AU" b="1"/>
          </a:p>
        </p:txBody>
      </p:sp>
      <p:sp>
        <p:nvSpPr>
          <p:cNvPr id="390154" name="Rectangle 10"/>
          <p:cNvSpPr>
            <a:spLocks noChangeArrowheads="1"/>
          </p:cNvSpPr>
          <p:nvPr/>
        </p:nvSpPr>
        <p:spPr bwMode="auto">
          <a:xfrm>
            <a:off x="762000" y="838200"/>
            <a:ext cx="6019800" cy="4572000"/>
          </a:xfrm>
          <a:prstGeom prst="rect">
            <a:avLst/>
          </a:prstGeom>
          <a:noFill/>
          <a:ln w="44450">
            <a:solidFill>
              <a:srgbClr val="FF0000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90155" name="Line 11"/>
          <p:cNvSpPr>
            <a:spLocks noChangeShapeType="1"/>
          </p:cNvSpPr>
          <p:nvPr/>
        </p:nvSpPr>
        <p:spPr bwMode="auto">
          <a:xfrm>
            <a:off x="5638800" y="1066800"/>
            <a:ext cx="0" cy="3810000"/>
          </a:xfrm>
          <a:prstGeom prst="line">
            <a:avLst/>
          </a:prstGeom>
          <a:noFill/>
          <a:ln w="38100">
            <a:solidFill>
              <a:schemeClr val="tx1"/>
            </a:solidFill>
            <a:prstDash val="sysDot"/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90156" name="AutoShape 12"/>
          <p:cNvSpPr>
            <a:spLocks noChangeArrowheads="1"/>
          </p:cNvSpPr>
          <p:nvPr/>
        </p:nvSpPr>
        <p:spPr bwMode="auto">
          <a:xfrm>
            <a:off x="5638800" y="1219200"/>
            <a:ext cx="304800" cy="762000"/>
          </a:xfrm>
          <a:custGeom>
            <a:avLst/>
            <a:gdLst>
              <a:gd name="G0" fmla="+- 16200 0 0"/>
              <a:gd name="G1" fmla="+- 5400 0 0"/>
              <a:gd name="G2" fmla="+- 21600 0 5400"/>
              <a:gd name="G3" fmla="+- 10800 0 5400"/>
              <a:gd name="G4" fmla="+- 21600 0 16200"/>
              <a:gd name="G5" fmla="*/ G4 G3 10800"/>
              <a:gd name="G6" fmla="+- 21600 0 G5"/>
              <a:gd name="T0" fmla="*/ 16200 w 21600"/>
              <a:gd name="T1" fmla="*/ 0 h 21600"/>
              <a:gd name="T2" fmla="*/ 0 w 21600"/>
              <a:gd name="T3" fmla="*/ 10800 h 21600"/>
              <a:gd name="T4" fmla="*/ 16200 w 21600"/>
              <a:gd name="T5" fmla="*/ 21600 h 21600"/>
              <a:gd name="T6" fmla="*/ 21600 w 21600"/>
              <a:gd name="T7" fmla="*/ 10800 h 21600"/>
              <a:gd name="T8" fmla="*/ 17694720 60000 65536"/>
              <a:gd name="T9" fmla="*/ 11796480 60000 65536"/>
              <a:gd name="T10" fmla="*/ 5898240 60000 65536"/>
              <a:gd name="T11" fmla="*/ 0 60000 65536"/>
              <a:gd name="T12" fmla="*/ 3375 w 21600"/>
              <a:gd name="T13" fmla="*/ G1 h 21600"/>
              <a:gd name="T14" fmla="*/ G6 w 21600"/>
              <a:gd name="T15" fmla="*/ G2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6200" y="0"/>
                </a:moveTo>
                <a:lnTo>
                  <a:pt x="16200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close/>
              </a:path>
              <a:path w="21600" h="2160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close/>
              </a:path>
              <a:path w="21600" h="2160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close/>
              </a:path>
            </a:pathLst>
          </a:cu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90157" name="Rectangle 13"/>
          <p:cNvSpPr>
            <a:spLocks noChangeArrowheads="1"/>
          </p:cNvSpPr>
          <p:nvPr/>
        </p:nvSpPr>
        <p:spPr bwMode="auto">
          <a:xfrm>
            <a:off x="228600" y="152400"/>
            <a:ext cx="6858000" cy="6096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488" tIns="44450" rIns="90488" bIns="44450" anchor="b"/>
          <a:lstStyle/>
          <a:p>
            <a:r>
              <a:rPr lang="en-AU" sz="3000" b="1" u="sng">
                <a:solidFill>
                  <a:schemeClr val="tx2"/>
                </a:solidFill>
              </a:rPr>
              <a:t>Forecasting with Trend and Seasonality</a:t>
            </a:r>
            <a:endParaRPr lang="en-AU" sz="3000" u="sng">
              <a:solidFill>
                <a:schemeClr val="tx2"/>
              </a:solidFill>
            </a:endParaRPr>
          </a:p>
        </p:txBody>
      </p:sp>
      <p:pic>
        <p:nvPicPr>
          <p:cNvPr id="390160" name="Picture 16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858000" y="838200"/>
            <a:ext cx="2133600" cy="45720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754C6DA3-2394-4A3A-21DC-4E9AE9D09C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IDS, Faculty of Engineering, University of Jaffna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901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901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901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901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0147" grpId="0" autoUpdateAnimBg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Slide Number Placeholder 5">
            <a:extLst>
              <a:ext uri="{FF2B5EF4-FFF2-40B4-BE49-F238E27FC236}">
                <a16:creationId xmlns:a16="http://schemas.microsoft.com/office/drawing/2014/main" id="{4548C14E-42E8-046E-7C39-F224E541E2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760142C2-63EF-44B7-AA9B-2D7FB0FA8955}" type="slidenum">
              <a:rPr lang="en-US" altLang="en-US" sz="14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50</a:t>
            </a:fld>
            <a:endParaRPr lang="en-US" altLang="en-US" sz="1400"/>
          </a:p>
        </p:txBody>
      </p:sp>
      <p:sp>
        <p:nvSpPr>
          <p:cNvPr id="39939" name="Rectangle 6">
            <a:extLst>
              <a:ext uri="{FF2B5EF4-FFF2-40B4-BE49-F238E27FC236}">
                <a16:creationId xmlns:a16="http://schemas.microsoft.com/office/drawing/2014/main" id="{25F85F80-DF24-2233-20C6-9D88EB9FD93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600"/>
              <a:t>Smoothing techniques</a:t>
            </a:r>
          </a:p>
        </p:txBody>
      </p:sp>
      <p:sp>
        <p:nvSpPr>
          <p:cNvPr id="39940" name="Rectangle 7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720C7421-E673-DBA5-A133-FAB884DC20C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Smoothing helps to see overall patterns in time series data.</a:t>
            </a:r>
          </a:p>
          <a:p>
            <a:pPr eaLnBrk="1" hangingPunct="1"/>
            <a:r>
              <a:rPr lang="en-US" altLang="en-US"/>
              <a:t>Smoothing techniques smooth or “iron” out variation to get the overall picture.</a:t>
            </a:r>
          </a:p>
          <a:p>
            <a:pPr eaLnBrk="1" hangingPunct="1"/>
            <a:r>
              <a:rPr lang="en-US" altLang="en-US"/>
              <a:t>There are several smoothing techniques of time series.</a:t>
            </a:r>
          </a:p>
        </p:txBody>
      </p:sp>
      <p:sp>
        <p:nvSpPr>
          <p:cNvPr id="39941" name="Footer Placeholder 4">
            <a:extLst>
              <a:ext uri="{FF2B5EF4-FFF2-40B4-BE49-F238E27FC236}">
                <a16:creationId xmlns:a16="http://schemas.microsoft.com/office/drawing/2014/main" id="{DF4227DE-2482-D920-4EFB-ADCBF77D59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IN" altLang="ja-JP" sz="1400"/>
              <a:t>Contributed by National Academy of Statistical Administration</a:t>
            </a:r>
            <a:endParaRPr lang="en-US" altLang="ja-JP" sz="140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Slide Number Placeholder 5">
            <a:extLst>
              <a:ext uri="{FF2B5EF4-FFF2-40B4-BE49-F238E27FC236}">
                <a16:creationId xmlns:a16="http://schemas.microsoft.com/office/drawing/2014/main" id="{6D265333-A299-24C5-EBA3-EECE90AE36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F941B4FF-3AA9-45DF-A618-10AE32B8B7DA}" type="slidenum">
              <a:rPr lang="en-US" altLang="en-US" sz="14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51</a:t>
            </a:fld>
            <a:endParaRPr lang="en-US" altLang="en-US" sz="1400"/>
          </a:p>
        </p:txBody>
      </p:sp>
      <p:sp>
        <p:nvSpPr>
          <p:cNvPr id="40963" name="Rectangle 2">
            <a:extLst>
              <a:ext uri="{FF2B5EF4-FFF2-40B4-BE49-F238E27FC236}">
                <a16:creationId xmlns:a16="http://schemas.microsoft.com/office/drawing/2014/main" id="{42663CD8-5085-27D5-6EA9-1653E1DE700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600"/>
              <a:t>Smoothing techniques</a:t>
            </a:r>
          </a:p>
        </p:txBody>
      </p:sp>
      <p:sp>
        <p:nvSpPr>
          <p:cNvPr id="40964" name="Rectangle 3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69B60B5E-DFB2-5060-5975-A5EDCFE8C60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We will study :</a:t>
            </a:r>
          </a:p>
          <a:p>
            <a:pPr eaLnBrk="1" hangingPunct="1"/>
            <a:r>
              <a:rPr lang="en-US" altLang="en-US"/>
              <a:t>Moving average.</a:t>
            </a:r>
          </a:p>
          <a:p>
            <a:pPr eaLnBrk="1" hangingPunct="1"/>
            <a:r>
              <a:rPr lang="en-US" altLang="en-US"/>
              <a:t>Exponential smoothing </a:t>
            </a:r>
          </a:p>
          <a:p>
            <a:pPr eaLnBrk="1" hangingPunct="1"/>
            <a:endParaRPr lang="en-US" altLang="en-US"/>
          </a:p>
        </p:txBody>
      </p:sp>
      <p:sp>
        <p:nvSpPr>
          <p:cNvPr id="40965" name="Footer Placeholder 4">
            <a:extLst>
              <a:ext uri="{FF2B5EF4-FFF2-40B4-BE49-F238E27FC236}">
                <a16:creationId xmlns:a16="http://schemas.microsoft.com/office/drawing/2014/main" id="{24F53A81-21F3-F1A9-8326-3A96BD545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IN" altLang="ja-JP" sz="1400"/>
              <a:t>Contributed by National Academy of Statistical Administration</a:t>
            </a:r>
            <a:endParaRPr lang="en-US" altLang="ja-JP" sz="140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Slide Number Placeholder 5">
            <a:extLst>
              <a:ext uri="{FF2B5EF4-FFF2-40B4-BE49-F238E27FC236}">
                <a16:creationId xmlns:a16="http://schemas.microsoft.com/office/drawing/2014/main" id="{4B53B18E-D1E6-41D7-7BBB-805D5D054A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FC6E62BC-4C17-4662-80E5-9870384B61BA}" type="slidenum">
              <a:rPr lang="en-US" altLang="en-US" sz="14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52</a:t>
            </a:fld>
            <a:endParaRPr lang="en-US" altLang="en-US" sz="1400"/>
          </a:p>
        </p:txBody>
      </p:sp>
      <p:sp>
        <p:nvSpPr>
          <p:cNvPr id="41987" name="Rectangle 2">
            <a:extLst>
              <a:ext uri="{FF2B5EF4-FFF2-40B4-BE49-F238E27FC236}">
                <a16:creationId xmlns:a16="http://schemas.microsoft.com/office/drawing/2014/main" id="{B904CA80-B097-0F6B-5DA9-745567D1B2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4267200"/>
            <a:ext cx="7086600" cy="1143000"/>
          </a:xfrm>
          <a:prstGeom prst="rect">
            <a:avLst/>
          </a:prstGeom>
          <a:solidFill>
            <a:srgbClr val="FDE0BD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800"/>
          </a:p>
        </p:txBody>
      </p:sp>
      <p:sp>
        <p:nvSpPr>
          <p:cNvPr id="41988" name="Rectangle 3">
            <a:extLst>
              <a:ext uri="{FF2B5EF4-FFF2-40B4-BE49-F238E27FC236}">
                <a16:creationId xmlns:a16="http://schemas.microsoft.com/office/drawing/2014/main" id="{B017FDDF-13E8-5D0A-DC32-2E569A8F68C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50938" y="381000"/>
            <a:ext cx="7078662" cy="990600"/>
          </a:xfrm>
        </p:spPr>
        <p:txBody>
          <a:bodyPr/>
          <a:lstStyle/>
          <a:p>
            <a:pPr defTabSz="852488" eaLnBrk="1" hangingPunct="1">
              <a:lnSpc>
                <a:spcPct val="80000"/>
              </a:lnSpc>
            </a:pPr>
            <a:r>
              <a:rPr lang="en-US" altLang="en-US" sz="3600"/>
              <a:t>Smoothing the </a:t>
            </a:r>
            <a:br>
              <a:rPr lang="en-US" altLang="en-US" sz="3600"/>
            </a:br>
            <a:r>
              <a:rPr lang="en-US" altLang="en-US" sz="3600"/>
              <a:t>Annual Time Series</a:t>
            </a:r>
          </a:p>
        </p:txBody>
      </p:sp>
      <p:sp>
        <p:nvSpPr>
          <p:cNvPr id="41989" name="Rectangle 4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A84354F4-31B2-F707-3BB0-1D2E00EE08E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20725" y="1368425"/>
            <a:ext cx="7848600" cy="3810000"/>
          </a:xfrm>
        </p:spPr>
        <p:txBody>
          <a:bodyPr/>
          <a:lstStyle/>
          <a:p>
            <a:pPr marL="320675" indent="-320675" defTabSz="852488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en-US" sz="3600">
              <a:solidFill>
                <a:schemeClr val="folHlink"/>
              </a:solidFill>
            </a:endParaRPr>
          </a:p>
          <a:p>
            <a:pPr marL="320675" indent="-320675" defTabSz="852488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en-US" sz="1800">
              <a:solidFill>
                <a:schemeClr val="folHlink"/>
              </a:solidFill>
            </a:endParaRPr>
          </a:p>
          <a:p>
            <a:pPr marL="320675" indent="-320675" defTabSz="852488" eaLnBrk="1" hangingPunct="1">
              <a:lnSpc>
                <a:spcPct val="90000"/>
              </a:lnSpc>
            </a:pPr>
            <a:r>
              <a:rPr lang="en-US" altLang="en-US"/>
              <a:t>Calculate moving averages to get an overall impression of the pattern of movement over time</a:t>
            </a:r>
          </a:p>
          <a:p>
            <a:pPr marL="320675" indent="-320675" defTabSz="852488" eaLnBrk="1" hangingPunct="1">
              <a:lnSpc>
                <a:spcPct val="90000"/>
              </a:lnSpc>
            </a:pPr>
            <a:endParaRPr lang="en-US" altLang="en-US">
              <a:solidFill>
                <a:schemeClr val="folHlink"/>
              </a:solidFill>
            </a:endParaRPr>
          </a:p>
          <a:p>
            <a:pPr marL="320675" indent="-320675" defTabSz="852488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/>
              <a:t>Moving Average: </a:t>
            </a:r>
            <a:r>
              <a:rPr lang="en-US" altLang="en-US" sz="2800"/>
              <a:t>averages of consecutive</a:t>
            </a:r>
          </a:p>
          <a:p>
            <a:pPr marL="320675" indent="-320675" defTabSz="852488" eaLnBrk="1" hangingPunct="1">
              <a:lnSpc>
                <a:spcPct val="60000"/>
              </a:lnSpc>
              <a:buFont typeface="Wingdings" panose="05000000000000000000" pitchFamily="2" charset="2"/>
              <a:buNone/>
            </a:pPr>
            <a:r>
              <a:rPr lang="en-US" altLang="en-US" sz="2800"/>
              <a:t>				   time series values for a</a:t>
            </a:r>
          </a:p>
          <a:p>
            <a:pPr marL="320675" indent="-320675" defTabSz="852488" eaLnBrk="1" hangingPunct="1">
              <a:lnSpc>
                <a:spcPct val="60000"/>
              </a:lnSpc>
              <a:buFont typeface="Wingdings" panose="05000000000000000000" pitchFamily="2" charset="2"/>
              <a:buNone/>
            </a:pPr>
            <a:r>
              <a:rPr lang="en-US" altLang="en-US" sz="2800"/>
              <a:t>				   chosen period of length L</a:t>
            </a:r>
          </a:p>
        </p:txBody>
      </p:sp>
      <p:sp>
        <p:nvSpPr>
          <p:cNvPr id="41990" name="Footer Placeholder 5">
            <a:extLst>
              <a:ext uri="{FF2B5EF4-FFF2-40B4-BE49-F238E27FC236}">
                <a16:creationId xmlns:a16="http://schemas.microsoft.com/office/drawing/2014/main" id="{CDD6513A-C7AA-5A8B-3C51-E687212882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IN" altLang="ja-JP" sz="1400"/>
              <a:t>Contributed by National Academy of Statistical Administration</a:t>
            </a:r>
            <a:endParaRPr lang="en-US" altLang="ja-JP" sz="140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Slide Number Placeholder 5">
            <a:extLst>
              <a:ext uri="{FF2B5EF4-FFF2-40B4-BE49-F238E27FC236}">
                <a16:creationId xmlns:a16="http://schemas.microsoft.com/office/drawing/2014/main" id="{AF0F2BC4-64B5-D03C-1F6F-A7C5CA5C24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F2E693EB-1325-43B8-8332-F5618F70A8CC}" type="slidenum">
              <a:rPr lang="en-US" altLang="en-US" sz="14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53</a:t>
            </a:fld>
            <a:endParaRPr lang="en-US" altLang="en-US" sz="1400"/>
          </a:p>
        </p:txBody>
      </p:sp>
      <p:sp>
        <p:nvSpPr>
          <p:cNvPr id="43011" name="Rectangle 2">
            <a:extLst>
              <a:ext uri="{FF2B5EF4-FFF2-40B4-BE49-F238E27FC236}">
                <a16:creationId xmlns:a16="http://schemas.microsoft.com/office/drawing/2014/main" id="{40938650-F15B-3D56-E0F2-9A9D016FAC4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defTabSz="852488" eaLnBrk="1" hangingPunct="1"/>
            <a:r>
              <a:rPr lang="en-US" altLang="en-US" sz="3600"/>
              <a:t>Moving Averages</a:t>
            </a:r>
          </a:p>
        </p:txBody>
      </p:sp>
      <p:sp>
        <p:nvSpPr>
          <p:cNvPr id="43012" name="Rectangle 3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CA3737C7-C4AF-6674-3CF8-4B5C9C72935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90600" y="1828800"/>
            <a:ext cx="7620000" cy="3962400"/>
          </a:xfrm>
        </p:spPr>
        <p:txBody>
          <a:bodyPr/>
          <a:lstStyle/>
          <a:p>
            <a:pPr marL="320675" indent="-320675" defTabSz="852488" eaLnBrk="1" hangingPunct="1"/>
            <a:r>
              <a:rPr lang="en-US" altLang="en-US"/>
              <a:t>Used for smoothing</a:t>
            </a:r>
          </a:p>
          <a:p>
            <a:pPr marL="320675" indent="-320675" defTabSz="852488" eaLnBrk="1" hangingPunct="1"/>
            <a:r>
              <a:rPr lang="en-US" altLang="en-US"/>
              <a:t>A series of arithmetic means over time</a:t>
            </a:r>
          </a:p>
          <a:p>
            <a:pPr marL="320675" indent="-320675" defTabSz="852488" eaLnBrk="1" hangingPunct="1"/>
            <a:r>
              <a:rPr lang="en-US" altLang="en-US"/>
              <a:t>Result dependent upon choice of L (length of period for computing means)</a:t>
            </a:r>
          </a:p>
          <a:p>
            <a:pPr marL="320675" indent="-320675" defTabSz="852488" eaLnBrk="1" hangingPunct="1"/>
            <a:r>
              <a:rPr lang="en-US" altLang="en-US"/>
              <a:t>Examples:  </a:t>
            </a:r>
          </a:p>
          <a:p>
            <a:pPr marL="693738" lvl="1" indent="-268288" defTabSz="852488" eaLnBrk="1" hangingPunct="1"/>
            <a:r>
              <a:rPr lang="en-US" altLang="en-US"/>
              <a:t>For a 3 year moving average, L = 3</a:t>
            </a:r>
          </a:p>
          <a:p>
            <a:pPr marL="693738" lvl="1" indent="-268288" defTabSz="852488" eaLnBrk="1" hangingPunct="1"/>
            <a:r>
              <a:rPr lang="en-US" altLang="en-US"/>
              <a:t>For a 5 year moving average, L = 5</a:t>
            </a:r>
          </a:p>
          <a:p>
            <a:pPr marL="693738" lvl="1" indent="-268288" defTabSz="852488" eaLnBrk="1" hangingPunct="1"/>
            <a:r>
              <a:rPr lang="en-US" altLang="en-US"/>
              <a:t>Etc.</a:t>
            </a:r>
          </a:p>
        </p:txBody>
      </p:sp>
      <p:sp>
        <p:nvSpPr>
          <p:cNvPr id="43013" name="Footer Placeholder 4">
            <a:extLst>
              <a:ext uri="{FF2B5EF4-FFF2-40B4-BE49-F238E27FC236}">
                <a16:creationId xmlns:a16="http://schemas.microsoft.com/office/drawing/2014/main" id="{1767E38F-7272-E1EE-3226-8DD36FAE42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IN" altLang="ja-JP" sz="1400"/>
              <a:t>Contributed by National Academy of Statistical Administration</a:t>
            </a:r>
            <a:endParaRPr lang="en-US" altLang="ja-JP" sz="140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Slide Number Placeholder 5">
            <a:extLst>
              <a:ext uri="{FF2B5EF4-FFF2-40B4-BE49-F238E27FC236}">
                <a16:creationId xmlns:a16="http://schemas.microsoft.com/office/drawing/2014/main" id="{36901A4D-5436-754E-F178-3570661BFD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004B24FE-88BB-4F72-8A4C-5B69DEA62688}" type="slidenum">
              <a:rPr lang="en-US" altLang="en-US" sz="14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54</a:t>
            </a:fld>
            <a:endParaRPr lang="en-US" altLang="en-US" sz="1400"/>
          </a:p>
        </p:txBody>
      </p:sp>
      <p:sp>
        <p:nvSpPr>
          <p:cNvPr id="44035" name="Rectangle 2">
            <a:extLst>
              <a:ext uri="{FF2B5EF4-FFF2-40B4-BE49-F238E27FC236}">
                <a16:creationId xmlns:a16="http://schemas.microsoft.com/office/drawing/2014/main" id="{7F3B2C78-3010-5EF7-FD9B-D280A45C1CC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600"/>
              <a:t>Smoothing techniques:</a:t>
            </a:r>
            <a:br>
              <a:rPr lang="en-US" altLang="en-US" sz="3600"/>
            </a:br>
            <a:r>
              <a:rPr lang="en-US" altLang="en-US" sz="3600"/>
              <a:t>Moving Average (MA)</a:t>
            </a:r>
          </a:p>
        </p:txBody>
      </p:sp>
      <p:sp>
        <p:nvSpPr>
          <p:cNvPr id="44036" name="Rectangle 3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DF556652-2086-7058-D208-6A71B0C72F3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8200" y="1905000"/>
            <a:ext cx="7772400" cy="4383088"/>
          </a:xfrm>
        </p:spPr>
        <p:txBody>
          <a:bodyPr/>
          <a:lstStyle/>
          <a:p>
            <a:pPr lvl="1" eaLnBrk="1" hangingPunct="1">
              <a:lnSpc>
                <a:spcPct val="90000"/>
              </a:lnSpc>
            </a:pPr>
            <a:r>
              <a:rPr lang="en-US" altLang="en-US">
                <a:solidFill>
                  <a:srgbClr val="FF3399"/>
                </a:solidFill>
              </a:rPr>
              <a:t>Odd number of points</a:t>
            </a:r>
            <a:r>
              <a:rPr lang="en-US" altLang="en-US"/>
              <a:t>. Points (k) – length for computing MA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/>
              <a:t>k=3</a:t>
            </a:r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/>
              <a:t>	</a:t>
            </a:r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en-US"/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en-US"/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en-US"/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/>
              <a:t>					</a:t>
            </a:r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/>
              <a:t>				and so on.</a:t>
            </a:r>
            <a:endParaRPr lang="mn-MN" altLang="en-US"/>
          </a:p>
        </p:txBody>
      </p:sp>
      <p:graphicFrame>
        <p:nvGraphicFramePr>
          <p:cNvPr id="44037" name="Object 4">
            <a:hlinkClick r:id="" action="ppaction://ole?verb=0"/>
            <a:extLst>
              <a:ext uri="{FF2B5EF4-FFF2-40B4-BE49-F238E27FC236}">
                <a16:creationId xmlns:a16="http://schemas.microsoft.com/office/drawing/2014/main" id="{9B51A151-801B-DD29-7C17-CC6CD05C3A56}"/>
              </a:ext>
            </a:extLst>
          </p:cNvPr>
          <p:cNvGraphicFramePr>
            <a:graphicFrameLocks/>
          </p:cNvGraphicFramePr>
          <p:nvPr/>
        </p:nvGraphicFramePr>
        <p:xfrm>
          <a:off x="3214688" y="2986088"/>
          <a:ext cx="3368675" cy="1157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Microsoft Equation 3.0" r:id="rId3" imgW="1167893" imgH="393529" progId="Equation.3">
                  <p:embed/>
                </p:oleObj>
              </mc:Choice>
              <mc:Fallback>
                <p:oleObj name="Microsoft Equation 3.0" r:id="rId3" imgW="1167893" imgH="393529" progId="Equation.3">
                  <p:embed/>
                  <p:pic>
                    <p:nvPicPr>
                      <p:cNvPr id="44037" name="Object 4">
                        <a:hlinkClick r:id="" action="ppaction://ole?verb=0"/>
                        <a:extLst>
                          <a:ext uri="{FF2B5EF4-FFF2-40B4-BE49-F238E27FC236}">
                            <a16:creationId xmlns:a16="http://schemas.microsoft.com/office/drawing/2014/main" id="{9B51A151-801B-DD29-7C17-CC6CD05C3A56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14688" y="2986088"/>
                        <a:ext cx="3368675" cy="11572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038" name="Object 5">
            <a:hlinkClick r:id="" action="ppaction://ole?verb=0"/>
            <a:extLst>
              <a:ext uri="{FF2B5EF4-FFF2-40B4-BE49-F238E27FC236}">
                <a16:creationId xmlns:a16="http://schemas.microsoft.com/office/drawing/2014/main" id="{15C0C13A-5C95-32BD-A19D-47F61CF148BD}"/>
              </a:ext>
            </a:extLst>
          </p:cNvPr>
          <p:cNvGraphicFramePr>
            <a:graphicFrameLocks/>
          </p:cNvGraphicFramePr>
          <p:nvPr/>
        </p:nvGraphicFramePr>
        <p:xfrm>
          <a:off x="3036888" y="4433888"/>
          <a:ext cx="3656012" cy="1173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205977" imgH="393529" progId="Equation.3">
                  <p:embed/>
                </p:oleObj>
              </mc:Choice>
              <mc:Fallback>
                <p:oleObj name="Equation" r:id="rId5" imgW="1205977" imgH="393529" progId="Equation.3">
                  <p:embed/>
                  <p:pic>
                    <p:nvPicPr>
                      <p:cNvPr id="44038" name="Object 5">
                        <a:hlinkClick r:id="" action="ppaction://ole?verb=0"/>
                        <a:extLst>
                          <a:ext uri="{FF2B5EF4-FFF2-40B4-BE49-F238E27FC236}">
                            <a16:creationId xmlns:a16="http://schemas.microsoft.com/office/drawing/2014/main" id="{15C0C13A-5C95-32BD-A19D-47F61CF148BD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36888" y="4433888"/>
                        <a:ext cx="3656012" cy="11731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039" name="Footer Placeholder 6">
            <a:extLst>
              <a:ext uri="{FF2B5EF4-FFF2-40B4-BE49-F238E27FC236}">
                <a16:creationId xmlns:a16="http://schemas.microsoft.com/office/drawing/2014/main" id="{CFB64BD4-1104-C158-1496-3A2D273B3C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IN" altLang="ja-JP" sz="1400"/>
              <a:t>Contributed by National Academy of Statistical Administration</a:t>
            </a:r>
            <a:endParaRPr lang="en-US" altLang="ja-JP" sz="140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Slide Number Placeholder 4">
            <a:extLst>
              <a:ext uri="{FF2B5EF4-FFF2-40B4-BE49-F238E27FC236}">
                <a16:creationId xmlns:a16="http://schemas.microsoft.com/office/drawing/2014/main" id="{5DBBCC87-E1B0-C082-4DFD-9600F2294B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D1CE5B03-6629-484E-93AA-4A1DE414C27B}" type="slidenum">
              <a:rPr lang="en-US" altLang="en-US" sz="14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55</a:t>
            </a:fld>
            <a:endParaRPr lang="en-US" altLang="en-US" sz="1400"/>
          </a:p>
        </p:txBody>
      </p:sp>
      <p:sp>
        <p:nvSpPr>
          <p:cNvPr id="45059" name="Rectangle 2">
            <a:extLst>
              <a:ext uri="{FF2B5EF4-FFF2-40B4-BE49-F238E27FC236}">
                <a16:creationId xmlns:a16="http://schemas.microsoft.com/office/drawing/2014/main" id="{4F64D9A2-790A-C2D3-3597-1312D9FE272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600"/>
              <a:t>Smoothing techniques:</a:t>
            </a:r>
            <a:br>
              <a:rPr lang="en-US" altLang="en-US" sz="3600"/>
            </a:br>
            <a:r>
              <a:rPr lang="en-US" altLang="en-US" sz="3600"/>
              <a:t>Moving Average (MA) k=3</a:t>
            </a:r>
          </a:p>
        </p:txBody>
      </p:sp>
      <p:graphicFrame>
        <p:nvGraphicFramePr>
          <p:cNvPr id="45060" name="Object 34">
            <a:extLst>
              <a:ext uri="{FF2B5EF4-FFF2-40B4-BE49-F238E27FC236}">
                <a16:creationId xmlns:a16="http://schemas.microsoft.com/office/drawing/2014/main" id="{774B4706-5920-ECC8-35CE-D783DC0DC6D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063750" y="1619250"/>
          <a:ext cx="5316538" cy="4402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3" imgW="1962012" imgH="2114523" progId="Excel.Sheet.8">
                  <p:embed/>
                </p:oleObj>
              </mc:Choice>
              <mc:Fallback>
                <p:oleObj name="Worksheet" r:id="rId3" imgW="1962012" imgH="2114523" progId="Excel.Sheet.8">
                  <p:embed/>
                  <p:pic>
                    <p:nvPicPr>
                      <p:cNvPr id="45060" name="Object 34">
                        <a:extLst>
                          <a:ext uri="{FF2B5EF4-FFF2-40B4-BE49-F238E27FC236}">
                            <a16:creationId xmlns:a16="http://schemas.microsoft.com/office/drawing/2014/main" id="{774B4706-5920-ECC8-35CE-D783DC0DC6D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63750" y="1619250"/>
                        <a:ext cx="5316538" cy="44021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5061" name="AutoShape 4">
            <a:extLst>
              <a:ext uri="{FF2B5EF4-FFF2-40B4-BE49-F238E27FC236}">
                <a16:creationId xmlns:a16="http://schemas.microsoft.com/office/drawing/2014/main" id="{91229FFB-F7D9-E9FA-2FE6-0B53D71E4CFB}"/>
              </a:ext>
            </a:extLst>
          </p:cNvPr>
          <p:cNvSpPr>
            <a:spLocks/>
          </p:cNvSpPr>
          <p:nvPr/>
        </p:nvSpPr>
        <p:spPr bwMode="auto">
          <a:xfrm>
            <a:off x="4808538" y="1936750"/>
            <a:ext cx="292100" cy="914400"/>
          </a:xfrm>
          <a:prstGeom prst="rightBrace">
            <a:avLst>
              <a:gd name="adj1" fmla="val 26087"/>
              <a:gd name="adj2" fmla="val 50000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800"/>
          </a:p>
        </p:txBody>
      </p:sp>
      <p:sp>
        <p:nvSpPr>
          <p:cNvPr id="45062" name="AutoShape 5">
            <a:extLst>
              <a:ext uri="{FF2B5EF4-FFF2-40B4-BE49-F238E27FC236}">
                <a16:creationId xmlns:a16="http://schemas.microsoft.com/office/drawing/2014/main" id="{1602CDBC-0A25-FF3B-8BB3-AC8051F884E3}"/>
              </a:ext>
            </a:extLst>
          </p:cNvPr>
          <p:cNvSpPr>
            <a:spLocks/>
          </p:cNvSpPr>
          <p:nvPr/>
        </p:nvSpPr>
        <p:spPr bwMode="auto">
          <a:xfrm>
            <a:off x="5053013" y="2255838"/>
            <a:ext cx="446087" cy="944562"/>
          </a:xfrm>
          <a:prstGeom prst="rightBrace">
            <a:avLst>
              <a:gd name="adj1" fmla="val 17792"/>
              <a:gd name="adj2" fmla="val 50000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800"/>
          </a:p>
        </p:txBody>
      </p:sp>
      <p:sp>
        <p:nvSpPr>
          <p:cNvPr id="45063" name="AutoShape 6">
            <a:extLst>
              <a:ext uri="{FF2B5EF4-FFF2-40B4-BE49-F238E27FC236}">
                <a16:creationId xmlns:a16="http://schemas.microsoft.com/office/drawing/2014/main" id="{565DE44C-4D0F-11A9-6809-718AC7409844}"/>
              </a:ext>
            </a:extLst>
          </p:cNvPr>
          <p:cNvSpPr>
            <a:spLocks/>
          </p:cNvSpPr>
          <p:nvPr/>
        </p:nvSpPr>
        <p:spPr bwMode="auto">
          <a:xfrm>
            <a:off x="5319713" y="2590800"/>
            <a:ext cx="446087" cy="944563"/>
          </a:xfrm>
          <a:prstGeom prst="rightBrace">
            <a:avLst>
              <a:gd name="adj1" fmla="val 17645"/>
              <a:gd name="adj2" fmla="val 50000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800"/>
          </a:p>
        </p:txBody>
      </p:sp>
      <p:graphicFrame>
        <p:nvGraphicFramePr>
          <p:cNvPr id="45064" name="Object 35">
            <a:extLst>
              <a:ext uri="{FF2B5EF4-FFF2-40B4-BE49-F238E27FC236}">
                <a16:creationId xmlns:a16="http://schemas.microsoft.com/office/drawing/2014/main" id="{AFF71245-7735-05E6-7865-B724968C128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600950" y="2101850"/>
          <a:ext cx="836613" cy="539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85611" imgH="209596" progId="Equation.3">
                  <p:embed/>
                </p:oleObj>
              </mc:Choice>
              <mc:Fallback>
                <p:oleObj name="Equation" r:id="rId5" imgW="285611" imgH="209596" progId="Equation.3">
                  <p:embed/>
                  <p:pic>
                    <p:nvPicPr>
                      <p:cNvPr id="45064" name="Object 35">
                        <a:extLst>
                          <a:ext uri="{FF2B5EF4-FFF2-40B4-BE49-F238E27FC236}">
                            <a16:creationId xmlns:a16="http://schemas.microsoft.com/office/drawing/2014/main" id="{AFF71245-7735-05E6-7865-B724968C128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00950" y="2101850"/>
                        <a:ext cx="836613" cy="539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065" name="Object 36">
            <a:extLst>
              <a:ext uri="{FF2B5EF4-FFF2-40B4-BE49-F238E27FC236}">
                <a16:creationId xmlns:a16="http://schemas.microsoft.com/office/drawing/2014/main" id="{E8C0E2A6-7D5D-A579-B612-20AD03C18A1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670800" y="2873375"/>
          <a:ext cx="819150" cy="555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295131" imgH="209596" progId="Equation.3">
                  <p:embed/>
                </p:oleObj>
              </mc:Choice>
              <mc:Fallback>
                <p:oleObj name="Equation" r:id="rId7" imgW="295131" imgH="209596" progId="Equation.3">
                  <p:embed/>
                  <p:pic>
                    <p:nvPicPr>
                      <p:cNvPr id="45065" name="Object 36">
                        <a:extLst>
                          <a:ext uri="{FF2B5EF4-FFF2-40B4-BE49-F238E27FC236}">
                            <a16:creationId xmlns:a16="http://schemas.microsoft.com/office/drawing/2014/main" id="{E8C0E2A6-7D5D-A579-B612-20AD03C18A1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70800" y="2873375"/>
                        <a:ext cx="819150" cy="555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5066" name="Line 9">
            <a:extLst>
              <a:ext uri="{FF2B5EF4-FFF2-40B4-BE49-F238E27FC236}">
                <a16:creationId xmlns:a16="http://schemas.microsoft.com/office/drawing/2014/main" id="{DF1B92A7-B8DD-968B-29F8-712CF15A899F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6651625" y="2330450"/>
            <a:ext cx="879475" cy="0"/>
          </a:xfrm>
          <a:prstGeom prst="line">
            <a:avLst/>
          </a:prstGeom>
          <a:noFill/>
          <a:ln w="38100">
            <a:solidFill>
              <a:srgbClr val="FF00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NZ"/>
          </a:p>
        </p:txBody>
      </p:sp>
      <p:sp>
        <p:nvSpPr>
          <p:cNvPr id="45067" name="Line 10">
            <a:extLst>
              <a:ext uri="{FF2B5EF4-FFF2-40B4-BE49-F238E27FC236}">
                <a16:creationId xmlns:a16="http://schemas.microsoft.com/office/drawing/2014/main" id="{2E5A862C-5F13-23EC-3733-65E124638199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6794500" y="2779713"/>
            <a:ext cx="808038" cy="322262"/>
          </a:xfrm>
          <a:prstGeom prst="line">
            <a:avLst/>
          </a:prstGeom>
          <a:noFill/>
          <a:ln w="38100">
            <a:solidFill>
              <a:srgbClr val="FF00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NZ"/>
          </a:p>
        </p:txBody>
      </p:sp>
      <p:sp>
        <p:nvSpPr>
          <p:cNvPr id="45068" name="Freeform 26">
            <a:extLst>
              <a:ext uri="{FF2B5EF4-FFF2-40B4-BE49-F238E27FC236}">
                <a16:creationId xmlns:a16="http://schemas.microsoft.com/office/drawing/2014/main" id="{9780B657-06D3-97CC-59D7-1DC85DC5BF23}"/>
              </a:ext>
            </a:extLst>
          </p:cNvPr>
          <p:cNvSpPr>
            <a:spLocks/>
          </p:cNvSpPr>
          <p:nvPr/>
        </p:nvSpPr>
        <p:spPr bwMode="auto">
          <a:xfrm>
            <a:off x="5913438" y="5916613"/>
            <a:ext cx="658812" cy="14287"/>
          </a:xfrm>
          <a:custGeom>
            <a:avLst/>
            <a:gdLst>
              <a:gd name="T0" fmla="*/ 0 w 415"/>
              <a:gd name="T1" fmla="*/ 0 h 9"/>
              <a:gd name="T2" fmla="*/ 2147483647 w 415"/>
              <a:gd name="T3" fmla="*/ 0 h 9"/>
              <a:gd name="T4" fmla="*/ 2147483647 w 415"/>
              <a:gd name="T5" fmla="*/ 2147483647 h 9"/>
              <a:gd name="T6" fmla="*/ 0 60000 65536"/>
              <a:gd name="T7" fmla="*/ 0 60000 65536"/>
              <a:gd name="T8" fmla="*/ 0 60000 65536"/>
              <a:gd name="T9" fmla="*/ 0 w 415"/>
              <a:gd name="T10" fmla="*/ 0 h 9"/>
              <a:gd name="T11" fmla="*/ 415 w 415"/>
              <a:gd name="T12" fmla="*/ 9 h 9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15" h="9">
                <a:moveTo>
                  <a:pt x="0" y="0"/>
                </a:moveTo>
                <a:lnTo>
                  <a:pt x="60" y="0"/>
                </a:lnTo>
                <a:lnTo>
                  <a:pt x="415" y="9"/>
                </a:lnTo>
              </a:path>
            </a:pathLst>
          </a:custGeom>
          <a:noFill/>
          <a:ln w="762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en-NZ"/>
          </a:p>
        </p:txBody>
      </p:sp>
      <p:sp>
        <p:nvSpPr>
          <p:cNvPr id="45069" name="Footer Placeholder 12">
            <a:extLst>
              <a:ext uri="{FF2B5EF4-FFF2-40B4-BE49-F238E27FC236}">
                <a16:creationId xmlns:a16="http://schemas.microsoft.com/office/drawing/2014/main" id="{883ECAF2-9AFB-012A-7431-CBF3625805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IN" altLang="ja-JP" sz="1400"/>
              <a:t>Contributed by National Academy of Statistical Administration</a:t>
            </a:r>
            <a:endParaRPr lang="en-US" altLang="ja-JP" sz="140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Slide Number Placeholder 4">
            <a:extLst>
              <a:ext uri="{FF2B5EF4-FFF2-40B4-BE49-F238E27FC236}">
                <a16:creationId xmlns:a16="http://schemas.microsoft.com/office/drawing/2014/main" id="{21059647-FD4B-E064-FAEB-DD12F55821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ADCCC90F-1432-4886-A58A-BC71562003CB}" type="slidenum">
              <a:rPr lang="en-US" altLang="en-US" sz="14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56</a:t>
            </a:fld>
            <a:endParaRPr lang="en-US" altLang="en-US" sz="1400"/>
          </a:p>
        </p:txBody>
      </p:sp>
      <p:sp>
        <p:nvSpPr>
          <p:cNvPr id="46083" name="Rectangle 2">
            <a:extLst>
              <a:ext uri="{FF2B5EF4-FFF2-40B4-BE49-F238E27FC236}">
                <a16:creationId xmlns:a16="http://schemas.microsoft.com/office/drawing/2014/main" id="{BD7C5CC2-DE6B-8C35-BDD6-67492D4DF64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600"/>
              <a:t>Smoothing techniques:</a:t>
            </a:r>
            <a:br>
              <a:rPr lang="en-US" altLang="en-US" sz="3600"/>
            </a:br>
            <a:r>
              <a:rPr lang="en-US" altLang="en-US" sz="3600"/>
              <a:t>Moving Average (MA)</a:t>
            </a:r>
          </a:p>
        </p:txBody>
      </p:sp>
      <p:graphicFrame>
        <p:nvGraphicFramePr>
          <p:cNvPr id="46084" name="Object 3">
            <a:extLst>
              <a:ext uri="{FF2B5EF4-FFF2-40B4-BE49-F238E27FC236}">
                <a16:creationId xmlns:a16="http://schemas.microsoft.com/office/drawing/2014/main" id="{CCA4EBC6-A469-F8A5-C5CB-79872B52C68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28625" y="1457325"/>
          <a:ext cx="6848475" cy="4421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hart" r:id="rId3" imgW="4019928" imgH="3229499" progId="Excel.Chart.8">
                  <p:embed/>
                </p:oleObj>
              </mc:Choice>
              <mc:Fallback>
                <p:oleObj name="Chart" r:id="rId3" imgW="4019928" imgH="3229499" progId="Excel.Chart.8">
                  <p:embed/>
                  <p:pic>
                    <p:nvPicPr>
                      <p:cNvPr id="46084" name="Object 3">
                        <a:extLst>
                          <a:ext uri="{FF2B5EF4-FFF2-40B4-BE49-F238E27FC236}">
                            <a16:creationId xmlns:a16="http://schemas.microsoft.com/office/drawing/2014/main" id="{CCA4EBC6-A469-F8A5-C5CB-79872B52C68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8625" y="1457325"/>
                        <a:ext cx="6848475" cy="4421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6085" name="Footer Placeholder 4">
            <a:extLst>
              <a:ext uri="{FF2B5EF4-FFF2-40B4-BE49-F238E27FC236}">
                <a16:creationId xmlns:a16="http://schemas.microsoft.com/office/drawing/2014/main" id="{8DFB4989-4370-4951-8FBE-3EC36B2293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IN" altLang="ja-JP" sz="1400"/>
              <a:t>Contributed by National Academy of Statistical Administration</a:t>
            </a:r>
            <a:endParaRPr lang="en-US" altLang="ja-JP" sz="140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Slide Number Placeholder 4">
            <a:extLst>
              <a:ext uri="{FF2B5EF4-FFF2-40B4-BE49-F238E27FC236}">
                <a16:creationId xmlns:a16="http://schemas.microsoft.com/office/drawing/2014/main" id="{5001AE74-136E-EFEE-1E3D-1863B503A1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0A3280D2-0211-4477-9902-8C4D86AF4878}" type="slidenum">
              <a:rPr lang="en-US" altLang="en-US" sz="14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57</a:t>
            </a:fld>
            <a:endParaRPr lang="en-US" altLang="en-US" sz="1400"/>
          </a:p>
        </p:txBody>
      </p:sp>
      <p:sp>
        <p:nvSpPr>
          <p:cNvPr id="47107" name="Rectangle 2">
            <a:extLst>
              <a:ext uri="{FF2B5EF4-FFF2-40B4-BE49-F238E27FC236}">
                <a16:creationId xmlns:a16="http://schemas.microsoft.com/office/drawing/2014/main" id="{929FD2FC-64F3-55CA-1AF2-3AA69D05AF6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600"/>
              <a:t>Smoothing techniques:</a:t>
            </a:r>
            <a:br>
              <a:rPr lang="en-US" altLang="en-US" sz="3600"/>
            </a:br>
            <a:r>
              <a:rPr lang="en-US" altLang="en-US" sz="3600"/>
              <a:t>Moving Average (MA) k=5</a:t>
            </a:r>
          </a:p>
        </p:txBody>
      </p:sp>
      <p:graphicFrame>
        <p:nvGraphicFramePr>
          <p:cNvPr id="47108" name="Object 0">
            <a:extLst>
              <a:ext uri="{FF2B5EF4-FFF2-40B4-BE49-F238E27FC236}">
                <a16:creationId xmlns:a16="http://schemas.microsoft.com/office/drawing/2014/main" id="{5E80509E-2162-FCF5-8B48-DF16D6E6D9B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351088" y="1773238"/>
          <a:ext cx="4206875" cy="4160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3" imgW="1962012" imgH="2114523" progId="Excel.Sheet.8">
                  <p:embed/>
                </p:oleObj>
              </mc:Choice>
              <mc:Fallback>
                <p:oleObj name="Worksheet" r:id="rId3" imgW="1962012" imgH="2114523" progId="Excel.Sheet.8">
                  <p:embed/>
                  <p:pic>
                    <p:nvPicPr>
                      <p:cNvPr id="47108" name="Object 0">
                        <a:extLst>
                          <a:ext uri="{FF2B5EF4-FFF2-40B4-BE49-F238E27FC236}">
                            <a16:creationId xmlns:a16="http://schemas.microsoft.com/office/drawing/2014/main" id="{5E80509E-2162-FCF5-8B48-DF16D6E6D9B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51088" y="1773238"/>
                        <a:ext cx="4206875" cy="4160837"/>
                      </a:xfrm>
                      <a:prstGeom prst="rect">
                        <a:avLst/>
                      </a:prstGeom>
                      <a:noFill/>
                      <a:ln w="57150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109" name="AutoShape 4">
            <a:extLst>
              <a:ext uri="{FF2B5EF4-FFF2-40B4-BE49-F238E27FC236}">
                <a16:creationId xmlns:a16="http://schemas.microsoft.com/office/drawing/2014/main" id="{53F6B6B0-1E98-8D83-4425-A1B3BA42791F}"/>
              </a:ext>
            </a:extLst>
          </p:cNvPr>
          <p:cNvSpPr>
            <a:spLocks/>
          </p:cNvSpPr>
          <p:nvPr/>
        </p:nvSpPr>
        <p:spPr bwMode="auto">
          <a:xfrm>
            <a:off x="4608513" y="2085975"/>
            <a:ext cx="322262" cy="1673225"/>
          </a:xfrm>
          <a:prstGeom prst="rightBrace">
            <a:avLst>
              <a:gd name="adj1" fmla="val 43268"/>
              <a:gd name="adj2" fmla="val 50000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800"/>
          </a:p>
        </p:txBody>
      </p:sp>
      <p:sp>
        <p:nvSpPr>
          <p:cNvPr id="47110" name="AutoShape 8">
            <a:extLst>
              <a:ext uri="{FF2B5EF4-FFF2-40B4-BE49-F238E27FC236}">
                <a16:creationId xmlns:a16="http://schemas.microsoft.com/office/drawing/2014/main" id="{C54BF586-1AB0-256A-9C77-3C136CE5304D}"/>
              </a:ext>
            </a:extLst>
          </p:cNvPr>
          <p:cNvSpPr>
            <a:spLocks/>
          </p:cNvSpPr>
          <p:nvPr/>
        </p:nvSpPr>
        <p:spPr bwMode="auto">
          <a:xfrm>
            <a:off x="5097463" y="2795588"/>
            <a:ext cx="322262" cy="1673225"/>
          </a:xfrm>
          <a:prstGeom prst="rightBrace">
            <a:avLst>
              <a:gd name="adj1" fmla="val 43268"/>
              <a:gd name="adj2" fmla="val 50000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800"/>
          </a:p>
        </p:txBody>
      </p:sp>
      <p:sp>
        <p:nvSpPr>
          <p:cNvPr id="47111" name="AutoShape 9">
            <a:extLst>
              <a:ext uri="{FF2B5EF4-FFF2-40B4-BE49-F238E27FC236}">
                <a16:creationId xmlns:a16="http://schemas.microsoft.com/office/drawing/2014/main" id="{E1ED6ED7-FCFD-FBC2-4E33-0DDDA9D8893D}"/>
              </a:ext>
            </a:extLst>
          </p:cNvPr>
          <p:cNvSpPr>
            <a:spLocks/>
          </p:cNvSpPr>
          <p:nvPr/>
        </p:nvSpPr>
        <p:spPr bwMode="auto">
          <a:xfrm>
            <a:off x="4879975" y="2479675"/>
            <a:ext cx="322263" cy="1673225"/>
          </a:xfrm>
          <a:prstGeom prst="rightBrace">
            <a:avLst>
              <a:gd name="adj1" fmla="val 43268"/>
              <a:gd name="adj2" fmla="val 50000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800"/>
          </a:p>
        </p:txBody>
      </p:sp>
      <p:sp>
        <p:nvSpPr>
          <p:cNvPr id="47112" name="Freeform 12">
            <a:extLst>
              <a:ext uri="{FF2B5EF4-FFF2-40B4-BE49-F238E27FC236}">
                <a16:creationId xmlns:a16="http://schemas.microsoft.com/office/drawing/2014/main" id="{4235EFC8-1CDA-DE12-6E30-E4434B2E6F5B}"/>
              </a:ext>
            </a:extLst>
          </p:cNvPr>
          <p:cNvSpPr>
            <a:spLocks/>
          </p:cNvSpPr>
          <p:nvPr/>
        </p:nvSpPr>
        <p:spPr bwMode="auto">
          <a:xfrm>
            <a:off x="5881688" y="2198688"/>
            <a:ext cx="658812" cy="14287"/>
          </a:xfrm>
          <a:custGeom>
            <a:avLst/>
            <a:gdLst>
              <a:gd name="T0" fmla="*/ 0 w 415"/>
              <a:gd name="T1" fmla="*/ 0 h 9"/>
              <a:gd name="T2" fmla="*/ 2147483647 w 415"/>
              <a:gd name="T3" fmla="*/ 0 h 9"/>
              <a:gd name="T4" fmla="*/ 2147483647 w 415"/>
              <a:gd name="T5" fmla="*/ 2147483647 h 9"/>
              <a:gd name="T6" fmla="*/ 0 60000 65536"/>
              <a:gd name="T7" fmla="*/ 0 60000 65536"/>
              <a:gd name="T8" fmla="*/ 0 60000 65536"/>
              <a:gd name="T9" fmla="*/ 0 w 415"/>
              <a:gd name="T10" fmla="*/ 0 h 9"/>
              <a:gd name="T11" fmla="*/ 415 w 415"/>
              <a:gd name="T12" fmla="*/ 9 h 9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15" h="9">
                <a:moveTo>
                  <a:pt x="0" y="0"/>
                </a:moveTo>
                <a:lnTo>
                  <a:pt x="60" y="0"/>
                </a:lnTo>
                <a:lnTo>
                  <a:pt x="415" y="9"/>
                </a:lnTo>
              </a:path>
            </a:pathLst>
          </a:custGeom>
          <a:noFill/>
          <a:ln w="762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en-NZ"/>
          </a:p>
        </p:txBody>
      </p:sp>
      <p:sp>
        <p:nvSpPr>
          <p:cNvPr id="47113" name="Freeform 17">
            <a:extLst>
              <a:ext uri="{FF2B5EF4-FFF2-40B4-BE49-F238E27FC236}">
                <a16:creationId xmlns:a16="http://schemas.microsoft.com/office/drawing/2014/main" id="{A9D909D0-87D5-C204-68A2-18A744D9FB09}"/>
              </a:ext>
            </a:extLst>
          </p:cNvPr>
          <p:cNvSpPr>
            <a:spLocks/>
          </p:cNvSpPr>
          <p:nvPr/>
        </p:nvSpPr>
        <p:spPr bwMode="auto">
          <a:xfrm>
            <a:off x="5913438" y="5580063"/>
            <a:ext cx="658812" cy="14287"/>
          </a:xfrm>
          <a:custGeom>
            <a:avLst/>
            <a:gdLst>
              <a:gd name="T0" fmla="*/ 0 w 415"/>
              <a:gd name="T1" fmla="*/ 0 h 9"/>
              <a:gd name="T2" fmla="*/ 2147483647 w 415"/>
              <a:gd name="T3" fmla="*/ 0 h 9"/>
              <a:gd name="T4" fmla="*/ 2147483647 w 415"/>
              <a:gd name="T5" fmla="*/ 2147483647 h 9"/>
              <a:gd name="T6" fmla="*/ 0 60000 65536"/>
              <a:gd name="T7" fmla="*/ 0 60000 65536"/>
              <a:gd name="T8" fmla="*/ 0 60000 65536"/>
              <a:gd name="T9" fmla="*/ 0 w 415"/>
              <a:gd name="T10" fmla="*/ 0 h 9"/>
              <a:gd name="T11" fmla="*/ 415 w 415"/>
              <a:gd name="T12" fmla="*/ 9 h 9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15" h="9">
                <a:moveTo>
                  <a:pt x="0" y="0"/>
                </a:moveTo>
                <a:lnTo>
                  <a:pt x="60" y="0"/>
                </a:lnTo>
                <a:lnTo>
                  <a:pt x="415" y="9"/>
                </a:lnTo>
              </a:path>
            </a:pathLst>
          </a:custGeom>
          <a:noFill/>
          <a:ln w="762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en-NZ"/>
          </a:p>
        </p:txBody>
      </p:sp>
      <p:sp>
        <p:nvSpPr>
          <p:cNvPr id="47114" name="Freeform 20">
            <a:extLst>
              <a:ext uri="{FF2B5EF4-FFF2-40B4-BE49-F238E27FC236}">
                <a16:creationId xmlns:a16="http://schemas.microsoft.com/office/drawing/2014/main" id="{E1318EC3-E5CF-DF4D-3DEA-53E9E6F3F088}"/>
              </a:ext>
            </a:extLst>
          </p:cNvPr>
          <p:cNvSpPr>
            <a:spLocks/>
          </p:cNvSpPr>
          <p:nvPr/>
        </p:nvSpPr>
        <p:spPr bwMode="auto">
          <a:xfrm>
            <a:off x="6221413" y="5888038"/>
            <a:ext cx="658812" cy="14287"/>
          </a:xfrm>
          <a:custGeom>
            <a:avLst/>
            <a:gdLst>
              <a:gd name="T0" fmla="*/ 0 w 415"/>
              <a:gd name="T1" fmla="*/ 0 h 9"/>
              <a:gd name="T2" fmla="*/ 2147483647 w 415"/>
              <a:gd name="T3" fmla="*/ 0 h 9"/>
              <a:gd name="T4" fmla="*/ 2147483647 w 415"/>
              <a:gd name="T5" fmla="*/ 2147483647 h 9"/>
              <a:gd name="T6" fmla="*/ 0 60000 65536"/>
              <a:gd name="T7" fmla="*/ 0 60000 65536"/>
              <a:gd name="T8" fmla="*/ 0 60000 65536"/>
              <a:gd name="T9" fmla="*/ 0 w 415"/>
              <a:gd name="T10" fmla="*/ 0 h 9"/>
              <a:gd name="T11" fmla="*/ 415 w 415"/>
              <a:gd name="T12" fmla="*/ 9 h 9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15" h="9">
                <a:moveTo>
                  <a:pt x="0" y="0"/>
                </a:moveTo>
                <a:lnTo>
                  <a:pt x="60" y="0"/>
                </a:lnTo>
                <a:lnTo>
                  <a:pt x="415" y="9"/>
                </a:lnTo>
              </a:path>
            </a:pathLst>
          </a:custGeom>
          <a:noFill/>
          <a:ln w="762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en-NZ"/>
          </a:p>
        </p:txBody>
      </p:sp>
      <p:sp>
        <p:nvSpPr>
          <p:cNvPr id="47115" name="Freeform 22">
            <a:extLst>
              <a:ext uri="{FF2B5EF4-FFF2-40B4-BE49-F238E27FC236}">
                <a16:creationId xmlns:a16="http://schemas.microsoft.com/office/drawing/2014/main" id="{78755CC4-AC61-3DB7-0288-C0AA1A18CD52}"/>
              </a:ext>
            </a:extLst>
          </p:cNvPr>
          <p:cNvSpPr>
            <a:spLocks/>
          </p:cNvSpPr>
          <p:nvPr/>
        </p:nvSpPr>
        <p:spPr bwMode="auto">
          <a:xfrm>
            <a:off x="5892800" y="5667375"/>
            <a:ext cx="658813" cy="14288"/>
          </a:xfrm>
          <a:custGeom>
            <a:avLst/>
            <a:gdLst>
              <a:gd name="T0" fmla="*/ 0 w 415"/>
              <a:gd name="T1" fmla="*/ 0 h 9"/>
              <a:gd name="T2" fmla="*/ 2147483647 w 415"/>
              <a:gd name="T3" fmla="*/ 0 h 9"/>
              <a:gd name="T4" fmla="*/ 2147483647 w 415"/>
              <a:gd name="T5" fmla="*/ 2147483647 h 9"/>
              <a:gd name="T6" fmla="*/ 0 60000 65536"/>
              <a:gd name="T7" fmla="*/ 0 60000 65536"/>
              <a:gd name="T8" fmla="*/ 0 60000 65536"/>
              <a:gd name="T9" fmla="*/ 0 w 415"/>
              <a:gd name="T10" fmla="*/ 0 h 9"/>
              <a:gd name="T11" fmla="*/ 415 w 415"/>
              <a:gd name="T12" fmla="*/ 9 h 9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15" h="9">
                <a:moveTo>
                  <a:pt x="0" y="0"/>
                </a:moveTo>
                <a:lnTo>
                  <a:pt x="60" y="0"/>
                </a:lnTo>
                <a:lnTo>
                  <a:pt x="415" y="9"/>
                </a:lnTo>
              </a:path>
            </a:pathLst>
          </a:custGeom>
          <a:noFill/>
          <a:ln w="762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en-NZ"/>
          </a:p>
        </p:txBody>
      </p:sp>
      <p:sp>
        <p:nvSpPr>
          <p:cNvPr id="47116" name="Footer Placeholder 11">
            <a:extLst>
              <a:ext uri="{FF2B5EF4-FFF2-40B4-BE49-F238E27FC236}">
                <a16:creationId xmlns:a16="http://schemas.microsoft.com/office/drawing/2014/main" id="{2D78305D-97A6-BB9C-97A5-DB0DECF48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IN" altLang="ja-JP" sz="1400"/>
              <a:t>Contributed by National Academy of Statistical Administration</a:t>
            </a:r>
            <a:endParaRPr lang="en-US" altLang="ja-JP" sz="140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Slide Number Placeholder 4">
            <a:extLst>
              <a:ext uri="{FF2B5EF4-FFF2-40B4-BE49-F238E27FC236}">
                <a16:creationId xmlns:a16="http://schemas.microsoft.com/office/drawing/2014/main" id="{C235686E-CD08-00C8-01F3-D2D33C1FA0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B834CE07-3B8F-43DF-9A59-81380FAFF081}" type="slidenum">
              <a:rPr lang="en-US" altLang="en-US" sz="14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58</a:t>
            </a:fld>
            <a:endParaRPr lang="en-US" altLang="en-US" sz="1400"/>
          </a:p>
        </p:txBody>
      </p:sp>
      <p:sp>
        <p:nvSpPr>
          <p:cNvPr id="48131" name="Rectangle 2">
            <a:extLst>
              <a:ext uri="{FF2B5EF4-FFF2-40B4-BE49-F238E27FC236}">
                <a16:creationId xmlns:a16="http://schemas.microsoft.com/office/drawing/2014/main" id="{EE272C99-F407-0A17-56F2-E4B1C7F2460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600"/>
              <a:t>Smoothing techniques:</a:t>
            </a:r>
            <a:br>
              <a:rPr lang="en-US" altLang="en-US" sz="3600"/>
            </a:br>
            <a:r>
              <a:rPr lang="en-US" altLang="en-US" sz="3600"/>
              <a:t>Moving Average (MA)</a:t>
            </a:r>
          </a:p>
        </p:txBody>
      </p:sp>
      <p:graphicFrame>
        <p:nvGraphicFramePr>
          <p:cNvPr id="48132" name="Object 3">
            <a:extLst>
              <a:ext uri="{FF2B5EF4-FFF2-40B4-BE49-F238E27FC236}">
                <a16:creationId xmlns:a16="http://schemas.microsoft.com/office/drawing/2014/main" id="{864AE5E0-CB64-C3B4-5147-95FAE30CEFA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33450" y="1549400"/>
          <a:ext cx="6891338" cy="4479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hart" r:id="rId3" imgW="4553486" imgH="2324288" progId="Excel.Chart.8">
                  <p:embed/>
                </p:oleObj>
              </mc:Choice>
              <mc:Fallback>
                <p:oleObj name="Chart" r:id="rId3" imgW="4553486" imgH="2324288" progId="Excel.Chart.8">
                  <p:embed/>
                  <p:pic>
                    <p:nvPicPr>
                      <p:cNvPr id="48132" name="Object 3">
                        <a:extLst>
                          <a:ext uri="{FF2B5EF4-FFF2-40B4-BE49-F238E27FC236}">
                            <a16:creationId xmlns:a16="http://schemas.microsoft.com/office/drawing/2014/main" id="{864AE5E0-CB64-C3B4-5147-95FAE30CEFA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33450" y="1549400"/>
                        <a:ext cx="6891338" cy="4479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8133" name="Footer Placeholder 4">
            <a:extLst>
              <a:ext uri="{FF2B5EF4-FFF2-40B4-BE49-F238E27FC236}">
                <a16:creationId xmlns:a16="http://schemas.microsoft.com/office/drawing/2014/main" id="{6EC9BA82-697B-D4A5-94C4-ABB9772D88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IN" altLang="ja-JP" sz="1400"/>
              <a:t>Contributed by National Academy of Statistical Administration</a:t>
            </a:r>
            <a:endParaRPr lang="en-US" altLang="ja-JP" sz="140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Slide Number Placeholder 5">
            <a:extLst>
              <a:ext uri="{FF2B5EF4-FFF2-40B4-BE49-F238E27FC236}">
                <a16:creationId xmlns:a16="http://schemas.microsoft.com/office/drawing/2014/main" id="{42592061-03B8-4A05-0CCC-1E49ED654B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4F309629-14D2-4362-BF0C-D7BC885C4ED8}" type="slidenum">
              <a:rPr lang="en-US" altLang="en-US" sz="14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59</a:t>
            </a:fld>
            <a:endParaRPr lang="en-US" altLang="en-US" sz="1400"/>
          </a:p>
        </p:txBody>
      </p:sp>
      <p:sp>
        <p:nvSpPr>
          <p:cNvPr id="49155" name="Rectangle 2">
            <a:extLst>
              <a:ext uri="{FF2B5EF4-FFF2-40B4-BE49-F238E27FC236}">
                <a16:creationId xmlns:a16="http://schemas.microsoft.com/office/drawing/2014/main" id="{11495168-7E0E-4FF7-415B-FE372CF0EB8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600"/>
              <a:t>Smoothing techniques:</a:t>
            </a:r>
            <a:br>
              <a:rPr lang="en-US" altLang="en-US" sz="3600"/>
            </a:br>
            <a:r>
              <a:rPr lang="en-US" altLang="en-US" sz="3600"/>
              <a:t>Moving Average (MA)</a:t>
            </a:r>
            <a:endParaRPr lang="en-GB" altLang="en-US" sz="3600"/>
          </a:p>
        </p:txBody>
      </p:sp>
      <p:sp>
        <p:nvSpPr>
          <p:cNvPr id="49156" name="Rectangle 3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E78FE924-A4C1-F719-3A85-A57E17F6811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We need even numbered MA s for seasonal adjustments</a:t>
            </a:r>
          </a:p>
          <a:p>
            <a:pPr lvl="1" eaLnBrk="1" hangingPunct="1"/>
            <a:r>
              <a:rPr lang="en-US" altLang="en-US"/>
              <a:t>eg:  4 – quarterly data</a:t>
            </a:r>
          </a:p>
          <a:p>
            <a:pPr lvl="1" eaLnBrk="1" hangingPunct="1"/>
            <a:r>
              <a:rPr lang="en-US" altLang="en-US"/>
              <a:t>      12 – monthly data</a:t>
            </a:r>
          </a:p>
        </p:txBody>
      </p:sp>
      <p:sp>
        <p:nvSpPr>
          <p:cNvPr id="49157" name="Footer Placeholder 4">
            <a:extLst>
              <a:ext uri="{FF2B5EF4-FFF2-40B4-BE49-F238E27FC236}">
                <a16:creationId xmlns:a16="http://schemas.microsoft.com/office/drawing/2014/main" id="{F1E85721-205D-3CE1-3773-53849BEBB5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IN" altLang="ja-JP" sz="1400"/>
              <a:t>Contributed by National Academy of Statistical Administration</a:t>
            </a:r>
            <a:endParaRPr lang="en-US" altLang="ja-JP" sz="140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Slide Number Placeholder 5">
            <a:extLst>
              <a:ext uri="{FF2B5EF4-FFF2-40B4-BE49-F238E27FC236}">
                <a16:creationId xmlns:a16="http://schemas.microsoft.com/office/drawing/2014/main" id="{9DD82EC4-370A-BB12-57C2-20B76C9B00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89CB2223-8263-4C7B-95C5-6E38A222DBB7}" type="slidenum">
              <a:rPr lang="en-US" altLang="en-US" sz="14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60</a:t>
            </a:fld>
            <a:endParaRPr lang="en-US" altLang="en-US" sz="1400"/>
          </a:p>
        </p:txBody>
      </p:sp>
      <p:sp>
        <p:nvSpPr>
          <p:cNvPr id="50179" name="Rectangle 1026">
            <a:extLst>
              <a:ext uri="{FF2B5EF4-FFF2-40B4-BE49-F238E27FC236}">
                <a16:creationId xmlns:a16="http://schemas.microsoft.com/office/drawing/2014/main" id="{6D994492-C231-009D-8AE2-340F785E2E7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600"/>
              <a:t>Smoothing techniques:</a:t>
            </a:r>
            <a:br>
              <a:rPr lang="en-US" altLang="en-US" sz="3600"/>
            </a:br>
            <a:r>
              <a:rPr lang="en-US" altLang="en-US" sz="3600"/>
              <a:t>Moving Average (MA)</a:t>
            </a:r>
          </a:p>
        </p:txBody>
      </p:sp>
      <p:sp>
        <p:nvSpPr>
          <p:cNvPr id="50180" name="Rectangle 1027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63D1830E-76B2-4B36-8906-EBD0E4203BA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8200" y="1595438"/>
            <a:ext cx="7772400" cy="4424362"/>
          </a:xfrm>
        </p:spPr>
        <p:txBody>
          <a:bodyPr/>
          <a:lstStyle/>
          <a:p>
            <a:pPr eaLnBrk="1" hangingPunct="1"/>
            <a:r>
              <a:rPr lang="en-US" altLang="en-US">
                <a:solidFill>
                  <a:srgbClr val="FF3399"/>
                </a:solidFill>
              </a:rPr>
              <a:t>Even number of points.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>
                <a:solidFill>
                  <a:srgbClr val="FF3399"/>
                </a:solidFill>
              </a:rPr>
              <a:t>	</a:t>
            </a:r>
            <a:r>
              <a:rPr lang="en-US" altLang="en-US"/>
              <a:t>Two stages: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/>
              <a:t>	1. Obtain MA, centered halfway 	between t and t-1.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/>
              <a:t>	2. To get a trend take the average of 	two successive estimates. Estimate 	centered halfway between t and t-1.</a:t>
            </a:r>
            <a:endParaRPr lang="en-US" altLang="en-US">
              <a:solidFill>
                <a:srgbClr val="FF3399"/>
              </a:solidFill>
            </a:endParaRP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>
              <a:solidFill>
                <a:srgbClr val="FF3399"/>
              </a:solidFill>
            </a:endParaRPr>
          </a:p>
        </p:txBody>
      </p:sp>
      <p:sp>
        <p:nvSpPr>
          <p:cNvPr id="50181" name="Footer Placeholder 4">
            <a:extLst>
              <a:ext uri="{FF2B5EF4-FFF2-40B4-BE49-F238E27FC236}">
                <a16:creationId xmlns:a16="http://schemas.microsoft.com/office/drawing/2014/main" id="{FF91E9F0-D24F-55AE-6436-6DCC23B7AF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IN" altLang="ja-JP" sz="1400"/>
              <a:t>Contributed by National Academy of Statistical Administration</a:t>
            </a:r>
            <a:endParaRPr lang="en-US" altLang="ja-JP" sz="140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Slide Number Placeholder 5">
            <a:extLst>
              <a:ext uri="{FF2B5EF4-FFF2-40B4-BE49-F238E27FC236}">
                <a16:creationId xmlns:a16="http://schemas.microsoft.com/office/drawing/2014/main" id="{917AF094-2F04-A73F-DDC2-A9F682B669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88DCF7AF-7630-44AF-BD32-DAD457E95095}" type="slidenum">
              <a:rPr lang="en-US" altLang="en-US" sz="14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61</a:t>
            </a:fld>
            <a:endParaRPr lang="en-US" altLang="en-US" sz="1400"/>
          </a:p>
        </p:txBody>
      </p:sp>
      <p:sp>
        <p:nvSpPr>
          <p:cNvPr id="51203" name="Rectangle 2">
            <a:extLst>
              <a:ext uri="{FF2B5EF4-FFF2-40B4-BE49-F238E27FC236}">
                <a16:creationId xmlns:a16="http://schemas.microsoft.com/office/drawing/2014/main" id="{792AA378-5EF7-4723-54F4-806BA17B928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600"/>
              <a:t>Smoothing techniques:</a:t>
            </a:r>
            <a:br>
              <a:rPr lang="en-US" altLang="en-US" sz="3600"/>
            </a:br>
            <a:r>
              <a:rPr lang="en-US" altLang="en-US" sz="3600"/>
              <a:t>Moving Average (MA)</a:t>
            </a:r>
          </a:p>
        </p:txBody>
      </p:sp>
      <p:sp>
        <p:nvSpPr>
          <p:cNvPr id="51204" name="Rectangle 3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84AC736B-EEAE-4DEF-5DB0-602BB68CF8A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8200" y="1905000"/>
            <a:ext cx="7772400" cy="45085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/>
              <a:t>for k=4.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/>
              <a:t>	Stage 1.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en-US"/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en-US"/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/>
              <a:t>	Stage 2.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en-US"/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/>
              <a:t>				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/>
              <a:t>				and so on.</a:t>
            </a:r>
          </a:p>
        </p:txBody>
      </p:sp>
      <p:graphicFrame>
        <p:nvGraphicFramePr>
          <p:cNvPr id="51205" name="Object 4">
            <a:extLst>
              <a:ext uri="{FF2B5EF4-FFF2-40B4-BE49-F238E27FC236}">
                <a16:creationId xmlns:a16="http://schemas.microsoft.com/office/drawing/2014/main" id="{E05486E4-A5C6-E9BA-0FE6-E31A872C5B4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135313" y="2665413"/>
          <a:ext cx="3848100" cy="906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600054" imgH="381027" progId="Equation.3">
                  <p:embed/>
                </p:oleObj>
              </mc:Choice>
              <mc:Fallback>
                <p:oleObj name="Equation" r:id="rId3" imgW="1600054" imgH="381027" progId="Equation.3">
                  <p:embed/>
                  <p:pic>
                    <p:nvPicPr>
                      <p:cNvPr id="51205" name="Object 4">
                        <a:extLst>
                          <a:ext uri="{FF2B5EF4-FFF2-40B4-BE49-F238E27FC236}">
                            <a16:creationId xmlns:a16="http://schemas.microsoft.com/office/drawing/2014/main" id="{E05486E4-A5C6-E9BA-0FE6-E31A872C5B4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35313" y="2665413"/>
                        <a:ext cx="3848100" cy="906462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FFFFFF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06" name="Object 5">
            <a:extLst>
              <a:ext uri="{FF2B5EF4-FFF2-40B4-BE49-F238E27FC236}">
                <a16:creationId xmlns:a16="http://schemas.microsoft.com/office/drawing/2014/main" id="{7EEAF3F2-F568-F940-03AF-FF827EEEF30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071813" y="3581400"/>
          <a:ext cx="3867150" cy="844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638453" imgH="381027" progId="Equation.3">
                  <p:embed/>
                </p:oleObj>
              </mc:Choice>
              <mc:Fallback>
                <p:oleObj name="Equation" r:id="rId5" imgW="1638453" imgH="381027" progId="Equation.3">
                  <p:embed/>
                  <p:pic>
                    <p:nvPicPr>
                      <p:cNvPr id="51206" name="Object 5">
                        <a:extLst>
                          <a:ext uri="{FF2B5EF4-FFF2-40B4-BE49-F238E27FC236}">
                            <a16:creationId xmlns:a16="http://schemas.microsoft.com/office/drawing/2014/main" id="{7EEAF3F2-F568-F940-03AF-FF827EEEF30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71813" y="3581400"/>
                        <a:ext cx="3867150" cy="844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07" name="Object 6">
            <a:extLst>
              <a:ext uri="{FF2B5EF4-FFF2-40B4-BE49-F238E27FC236}">
                <a16:creationId xmlns:a16="http://schemas.microsoft.com/office/drawing/2014/main" id="{18624FEE-C1C3-8891-3700-9EA061C1995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170238" y="4672013"/>
          <a:ext cx="3144837" cy="860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257321" imgH="400110" progId="Equation.3">
                  <p:embed/>
                </p:oleObj>
              </mc:Choice>
              <mc:Fallback>
                <p:oleObj name="Equation" r:id="rId7" imgW="1257321" imgH="400110" progId="Equation.3">
                  <p:embed/>
                  <p:pic>
                    <p:nvPicPr>
                      <p:cNvPr id="51207" name="Object 6">
                        <a:extLst>
                          <a:ext uri="{FF2B5EF4-FFF2-40B4-BE49-F238E27FC236}">
                            <a16:creationId xmlns:a16="http://schemas.microsoft.com/office/drawing/2014/main" id="{18624FEE-C1C3-8891-3700-9EA061C1995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70238" y="4672013"/>
                        <a:ext cx="3144837" cy="860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208" name="Footer Placeholder 7">
            <a:extLst>
              <a:ext uri="{FF2B5EF4-FFF2-40B4-BE49-F238E27FC236}">
                <a16:creationId xmlns:a16="http://schemas.microsoft.com/office/drawing/2014/main" id="{AFD21CA6-B70F-C488-19BA-9B427B09D1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IN" altLang="ja-JP" sz="1400"/>
              <a:t>Contributed by National Academy of Statistical Administration</a:t>
            </a:r>
            <a:endParaRPr lang="en-US" altLang="ja-JP" sz="140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Slide Number Placeholder 4">
            <a:extLst>
              <a:ext uri="{FF2B5EF4-FFF2-40B4-BE49-F238E27FC236}">
                <a16:creationId xmlns:a16="http://schemas.microsoft.com/office/drawing/2014/main" id="{41626045-DF62-3A4C-ED96-A14D438727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517692FB-7AE9-4792-99D3-1793801B6441}" type="slidenum">
              <a:rPr lang="en-US" altLang="en-US" sz="14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62</a:t>
            </a:fld>
            <a:endParaRPr lang="en-US" altLang="en-US" sz="1400"/>
          </a:p>
        </p:txBody>
      </p:sp>
      <p:sp>
        <p:nvSpPr>
          <p:cNvPr id="52227" name="Rectangle 2">
            <a:extLst>
              <a:ext uri="{FF2B5EF4-FFF2-40B4-BE49-F238E27FC236}">
                <a16:creationId xmlns:a16="http://schemas.microsoft.com/office/drawing/2014/main" id="{3246F26A-14DA-3086-9897-8B69C9C04AF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7772400" cy="1039813"/>
          </a:xfrm>
        </p:spPr>
        <p:txBody>
          <a:bodyPr/>
          <a:lstStyle/>
          <a:p>
            <a:pPr eaLnBrk="1" hangingPunct="1"/>
            <a:r>
              <a:rPr lang="en-US" altLang="en-US" sz="3600"/>
              <a:t>Smoothing techniques:</a:t>
            </a:r>
            <a:br>
              <a:rPr lang="en-US" altLang="en-US" sz="3600"/>
            </a:br>
            <a:r>
              <a:rPr lang="en-US" altLang="en-US" sz="3600"/>
              <a:t>Moving Average (MA)</a:t>
            </a:r>
          </a:p>
        </p:txBody>
      </p:sp>
      <p:sp>
        <p:nvSpPr>
          <p:cNvPr id="52228" name="Text Box 81">
            <a:extLst>
              <a:ext uri="{FF2B5EF4-FFF2-40B4-BE49-F238E27FC236}">
                <a16:creationId xmlns:a16="http://schemas.microsoft.com/office/drawing/2014/main" id="{3EBEA95A-946C-7411-3157-969E8411BF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6588" y="1492250"/>
            <a:ext cx="17938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u="sng"/>
              <a:t>Observation</a:t>
            </a:r>
          </a:p>
        </p:txBody>
      </p:sp>
      <p:sp>
        <p:nvSpPr>
          <p:cNvPr id="52229" name="Text Box 82">
            <a:extLst>
              <a:ext uri="{FF2B5EF4-FFF2-40B4-BE49-F238E27FC236}">
                <a16:creationId xmlns:a16="http://schemas.microsoft.com/office/drawing/2014/main" id="{38D1BE52-1565-5164-2CFB-DB47B0DF58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60625" y="1462088"/>
            <a:ext cx="990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u="sng"/>
              <a:t>Series</a:t>
            </a:r>
          </a:p>
        </p:txBody>
      </p:sp>
      <p:sp>
        <p:nvSpPr>
          <p:cNvPr id="52230" name="Text Box 83">
            <a:extLst>
              <a:ext uri="{FF2B5EF4-FFF2-40B4-BE49-F238E27FC236}">
                <a16:creationId xmlns:a16="http://schemas.microsoft.com/office/drawing/2014/main" id="{4ECA2EA7-65CB-797F-7FDC-5CCD4C290E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36963" y="1447800"/>
            <a:ext cx="17367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u="sng"/>
              <a:t>MA stage 1</a:t>
            </a:r>
          </a:p>
        </p:txBody>
      </p:sp>
      <p:sp>
        <p:nvSpPr>
          <p:cNvPr id="52231" name="Text Box 85">
            <a:extLst>
              <a:ext uri="{FF2B5EF4-FFF2-40B4-BE49-F238E27FC236}">
                <a16:creationId xmlns:a16="http://schemas.microsoft.com/office/drawing/2014/main" id="{2D9E40AF-B9DF-807E-166B-DD699C0747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30850" y="1328738"/>
            <a:ext cx="1909763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u="sng"/>
              <a:t>MA stage 2: 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u="sng"/>
              <a:t>MA Centered</a:t>
            </a:r>
          </a:p>
        </p:txBody>
      </p:sp>
      <p:sp>
        <p:nvSpPr>
          <p:cNvPr id="52232" name="Text Box 87">
            <a:extLst>
              <a:ext uri="{FF2B5EF4-FFF2-40B4-BE49-F238E27FC236}">
                <a16:creationId xmlns:a16="http://schemas.microsoft.com/office/drawing/2014/main" id="{29E2B084-7BB1-A612-B921-D18475CF13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4575" y="2068513"/>
            <a:ext cx="8509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/>
              <a:t>1</a:t>
            </a:r>
          </a:p>
        </p:txBody>
      </p:sp>
      <p:sp>
        <p:nvSpPr>
          <p:cNvPr id="52233" name="Text Box 88">
            <a:extLst>
              <a:ext uri="{FF2B5EF4-FFF2-40B4-BE49-F238E27FC236}">
                <a16:creationId xmlns:a16="http://schemas.microsoft.com/office/drawing/2014/main" id="{B2A776F3-5654-8049-BB5E-D98BB9765D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2038" y="2654300"/>
            <a:ext cx="35083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/>
              <a:t>2</a:t>
            </a:r>
          </a:p>
        </p:txBody>
      </p:sp>
      <p:sp>
        <p:nvSpPr>
          <p:cNvPr id="52234" name="Text Box 89">
            <a:extLst>
              <a:ext uri="{FF2B5EF4-FFF2-40B4-BE49-F238E27FC236}">
                <a16:creationId xmlns:a16="http://schemas.microsoft.com/office/drawing/2014/main" id="{9CEC70C3-A249-664C-C8B5-1458038D64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27113" y="3306763"/>
            <a:ext cx="35083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/>
              <a:t>3</a:t>
            </a:r>
          </a:p>
        </p:txBody>
      </p:sp>
      <p:sp>
        <p:nvSpPr>
          <p:cNvPr id="52235" name="Text Box 90">
            <a:extLst>
              <a:ext uri="{FF2B5EF4-FFF2-40B4-BE49-F238E27FC236}">
                <a16:creationId xmlns:a16="http://schemas.microsoft.com/office/drawing/2014/main" id="{7A6FFFCA-B022-12FB-820C-E2284BE490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9650" y="3895725"/>
            <a:ext cx="3508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/>
              <a:t>4</a:t>
            </a:r>
          </a:p>
        </p:txBody>
      </p:sp>
      <p:sp>
        <p:nvSpPr>
          <p:cNvPr id="52236" name="Text Box 91">
            <a:extLst>
              <a:ext uri="{FF2B5EF4-FFF2-40B4-BE49-F238E27FC236}">
                <a16:creationId xmlns:a16="http://schemas.microsoft.com/office/drawing/2014/main" id="{51B35F9C-B1DA-5B93-F655-9105CC6FEE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11238" y="4532313"/>
            <a:ext cx="35083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/>
              <a:t>5</a:t>
            </a:r>
          </a:p>
        </p:txBody>
      </p:sp>
      <p:sp>
        <p:nvSpPr>
          <p:cNvPr id="52237" name="Text Box 92">
            <a:extLst>
              <a:ext uri="{FF2B5EF4-FFF2-40B4-BE49-F238E27FC236}">
                <a16:creationId xmlns:a16="http://schemas.microsoft.com/office/drawing/2014/main" id="{A8981E79-739C-1412-AB05-AE79F26650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0600" y="5135563"/>
            <a:ext cx="3508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/>
              <a:t>6</a:t>
            </a:r>
          </a:p>
        </p:txBody>
      </p:sp>
      <p:sp>
        <p:nvSpPr>
          <p:cNvPr id="52238" name="Text Box 93">
            <a:extLst>
              <a:ext uri="{FF2B5EF4-FFF2-40B4-BE49-F238E27FC236}">
                <a16:creationId xmlns:a16="http://schemas.microsoft.com/office/drawing/2014/main" id="{1CA36C2C-FEB9-B4A0-4150-F3F52BE9DC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2188" y="5688013"/>
            <a:ext cx="9017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/>
              <a:t>7</a:t>
            </a:r>
          </a:p>
        </p:txBody>
      </p:sp>
      <p:sp>
        <p:nvSpPr>
          <p:cNvPr id="52239" name="Text Box 96">
            <a:extLst>
              <a:ext uri="{FF2B5EF4-FFF2-40B4-BE49-F238E27FC236}">
                <a16:creationId xmlns:a16="http://schemas.microsoft.com/office/drawing/2014/main" id="{948EAD8B-54F1-DCD1-0A56-8F4D5B6618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65400" y="2032000"/>
            <a:ext cx="4460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/>
              <a:t> 5</a:t>
            </a:r>
          </a:p>
        </p:txBody>
      </p:sp>
      <p:sp>
        <p:nvSpPr>
          <p:cNvPr id="52240" name="Text Box 97">
            <a:extLst>
              <a:ext uri="{FF2B5EF4-FFF2-40B4-BE49-F238E27FC236}">
                <a16:creationId xmlns:a16="http://schemas.microsoft.com/office/drawing/2014/main" id="{00E3C31D-AD79-284F-47C1-CBF2D800A2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81275" y="2701925"/>
            <a:ext cx="4460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/>
              <a:t> 6</a:t>
            </a:r>
          </a:p>
        </p:txBody>
      </p:sp>
      <p:sp>
        <p:nvSpPr>
          <p:cNvPr id="52241" name="Text Box 98">
            <a:extLst>
              <a:ext uri="{FF2B5EF4-FFF2-40B4-BE49-F238E27FC236}">
                <a16:creationId xmlns:a16="http://schemas.microsoft.com/office/drawing/2014/main" id="{CA111CCD-0806-FC5E-F79A-33F1CC64F2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14613" y="3271838"/>
            <a:ext cx="4460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/>
              <a:t> 7</a:t>
            </a:r>
          </a:p>
        </p:txBody>
      </p:sp>
      <p:sp>
        <p:nvSpPr>
          <p:cNvPr id="52242" name="Text Box 99">
            <a:extLst>
              <a:ext uri="{FF2B5EF4-FFF2-40B4-BE49-F238E27FC236}">
                <a16:creationId xmlns:a16="http://schemas.microsoft.com/office/drawing/2014/main" id="{BD1309E6-2CD3-A297-018F-E13D1A9515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49538" y="3927475"/>
            <a:ext cx="4714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/>
              <a:t> 8</a:t>
            </a:r>
          </a:p>
        </p:txBody>
      </p:sp>
      <p:sp>
        <p:nvSpPr>
          <p:cNvPr id="52243" name="Text Box 100">
            <a:extLst>
              <a:ext uri="{FF2B5EF4-FFF2-40B4-BE49-F238E27FC236}">
                <a16:creationId xmlns:a16="http://schemas.microsoft.com/office/drawing/2014/main" id="{873EC8B8-E80C-A4BB-258F-EF76379ADB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14613" y="4478338"/>
            <a:ext cx="6127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/>
              <a:t> 10</a:t>
            </a:r>
          </a:p>
        </p:txBody>
      </p:sp>
      <p:sp>
        <p:nvSpPr>
          <p:cNvPr id="52244" name="Text Box 101">
            <a:extLst>
              <a:ext uri="{FF2B5EF4-FFF2-40B4-BE49-F238E27FC236}">
                <a16:creationId xmlns:a16="http://schemas.microsoft.com/office/drawing/2014/main" id="{2A1A9220-7104-8C72-6171-F7E3A2870A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79688" y="5100638"/>
            <a:ext cx="6127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/>
              <a:t> 11</a:t>
            </a:r>
          </a:p>
        </p:txBody>
      </p:sp>
      <p:sp>
        <p:nvSpPr>
          <p:cNvPr id="52245" name="Text Box 102">
            <a:extLst>
              <a:ext uri="{FF2B5EF4-FFF2-40B4-BE49-F238E27FC236}">
                <a16:creationId xmlns:a16="http://schemas.microsoft.com/office/drawing/2014/main" id="{191352F1-6F9C-25D9-C7C1-6B08F90588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79688" y="5703888"/>
            <a:ext cx="6127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/>
              <a:t> 12</a:t>
            </a:r>
          </a:p>
        </p:txBody>
      </p:sp>
      <p:sp>
        <p:nvSpPr>
          <p:cNvPr id="52246" name="AutoShape 103">
            <a:extLst>
              <a:ext uri="{FF2B5EF4-FFF2-40B4-BE49-F238E27FC236}">
                <a16:creationId xmlns:a16="http://schemas.microsoft.com/office/drawing/2014/main" id="{3D256016-77E4-5659-F2A4-5993E65BDEFB}"/>
              </a:ext>
            </a:extLst>
          </p:cNvPr>
          <p:cNvSpPr>
            <a:spLocks/>
          </p:cNvSpPr>
          <p:nvPr/>
        </p:nvSpPr>
        <p:spPr bwMode="auto">
          <a:xfrm>
            <a:off x="3381375" y="2208213"/>
            <a:ext cx="427038" cy="2017712"/>
          </a:xfrm>
          <a:prstGeom prst="rightBrace">
            <a:avLst>
              <a:gd name="adj1" fmla="val 39374"/>
              <a:gd name="adj2" fmla="val 50000"/>
            </a:avLst>
          </a:prstGeom>
          <a:noFill/>
          <a:ln w="28575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GB" altLang="en-US" sz="2400">
              <a:solidFill>
                <a:srgbClr val="FF3399"/>
              </a:solidFill>
            </a:endParaRPr>
          </a:p>
        </p:txBody>
      </p:sp>
      <p:sp>
        <p:nvSpPr>
          <p:cNvPr id="52247" name="AutoShape 104">
            <a:extLst>
              <a:ext uri="{FF2B5EF4-FFF2-40B4-BE49-F238E27FC236}">
                <a16:creationId xmlns:a16="http://schemas.microsoft.com/office/drawing/2014/main" id="{D4DA3E48-A414-C1E1-B6E8-0498640B66CC}"/>
              </a:ext>
            </a:extLst>
          </p:cNvPr>
          <p:cNvSpPr>
            <a:spLocks/>
          </p:cNvSpPr>
          <p:nvPr/>
        </p:nvSpPr>
        <p:spPr bwMode="auto">
          <a:xfrm>
            <a:off x="3654425" y="2828925"/>
            <a:ext cx="481013" cy="2017713"/>
          </a:xfrm>
          <a:prstGeom prst="rightBrace">
            <a:avLst>
              <a:gd name="adj1" fmla="val 34956"/>
              <a:gd name="adj2" fmla="val 50000"/>
            </a:avLst>
          </a:prstGeom>
          <a:noFill/>
          <a:ln w="28575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GB" altLang="en-US" sz="2400"/>
          </a:p>
        </p:txBody>
      </p:sp>
      <p:sp>
        <p:nvSpPr>
          <p:cNvPr id="52248" name="AutoShape 105">
            <a:extLst>
              <a:ext uri="{FF2B5EF4-FFF2-40B4-BE49-F238E27FC236}">
                <a16:creationId xmlns:a16="http://schemas.microsoft.com/office/drawing/2014/main" id="{D8C61AC0-B345-202F-B6C7-FD8D6497AA5E}"/>
              </a:ext>
            </a:extLst>
          </p:cNvPr>
          <p:cNvSpPr>
            <a:spLocks/>
          </p:cNvSpPr>
          <p:nvPr/>
        </p:nvSpPr>
        <p:spPr bwMode="auto">
          <a:xfrm>
            <a:off x="3878263" y="3429000"/>
            <a:ext cx="411162" cy="2017713"/>
          </a:xfrm>
          <a:prstGeom prst="rightBrace">
            <a:avLst>
              <a:gd name="adj1" fmla="val 40895"/>
              <a:gd name="adj2" fmla="val 50000"/>
            </a:avLst>
          </a:prstGeom>
          <a:noFill/>
          <a:ln w="28575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GB" altLang="en-US" sz="2400"/>
          </a:p>
        </p:txBody>
      </p:sp>
      <p:sp>
        <p:nvSpPr>
          <p:cNvPr id="52249" name="AutoShape 106">
            <a:extLst>
              <a:ext uri="{FF2B5EF4-FFF2-40B4-BE49-F238E27FC236}">
                <a16:creationId xmlns:a16="http://schemas.microsoft.com/office/drawing/2014/main" id="{40AD7397-6AEB-7329-299A-D61870353A6E}"/>
              </a:ext>
            </a:extLst>
          </p:cNvPr>
          <p:cNvSpPr>
            <a:spLocks/>
          </p:cNvSpPr>
          <p:nvPr/>
        </p:nvSpPr>
        <p:spPr bwMode="auto">
          <a:xfrm>
            <a:off x="4064000" y="4065588"/>
            <a:ext cx="463550" cy="2017712"/>
          </a:xfrm>
          <a:prstGeom prst="rightBrace">
            <a:avLst>
              <a:gd name="adj1" fmla="val 36273"/>
              <a:gd name="adj2" fmla="val 50000"/>
            </a:avLst>
          </a:prstGeom>
          <a:noFill/>
          <a:ln w="28575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GB" altLang="en-US" sz="2400"/>
          </a:p>
        </p:txBody>
      </p:sp>
      <p:sp>
        <p:nvSpPr>
          <p:cNvPr id="52250" name="Text Box 107">
            <a:extLst>
              <a:ext uri="{FF2B5EF4-FFF2-40B4-BE49-F238E27FC236}">
                <a16:creationId xmlns:a16="http://schemas.microsoft.com/office/drawing/2014/main" id="{E5B537CA-C9FE-F6B9-03BD-A83ABB30D5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52963" y="2946400"/>
            <a:ext cx="184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GB" altLang="en-US" sz="2400"/>
          </a:p>
        </p:txBody>
      </p:sp>
      <p:sp>
        <p:nvSpPr>
          <p:cNvPr id="52251" name="Text Box 108">
            <a:extLst>
              <a:ext uri="{FF2B5EF4-FFF2-40B4-BE49-F238E27FC236}">
                <a16:creationId xmlns:a16="http://schemas.microsoft.com/office/drawing/2014/main" id="{1CE58F41-5E69-0759-42F9-260C5D3923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65650" y="2982913"/>
            <a:ext cx="609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solidFill>
                  <a:schemeClr val="tx2"/>
                </a:solidFill>
              </a:rPr>
              <a:t>6.5</a:t>
            </a:r>
          </a:p>
        </p:txBody>
      </p:sp>
      <p:sp>
        <p:nvSpPr>
          <p:cNvPr id="52252" name="Rectangle 110">
            <a:extLst>
              <a:ext uri="{FF2B5EF4-FFF2-40B4-BE49-F238E27FC236}">
                <a16:creationId xmlns:a16="http://schemas.microsoft.com/office/drawing/2014/main" id="{349EB28E-F19A-F04D-534C-DF6506A442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6763" y="4219575"/>
            <a:ext cx="609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solidFill>
                  <a:schemeClr val="tx2"/>
                </a:solidFill>
              </a:rPr>
              <a:t>9.0</a:t>
            </a:r>
          </a:p>
        </p:txBody>
      </p:sp>
      <p:sp>
        <p:nvSpPr>
          <p:cNvPr id="52253" name="Rectangle 111">
            <a:extLst>
              <a:ext uri="{FF2B5EF4-FFF2-40B4-BE49-F238E27FC236}">
                <a16:creationId xmlns:a16="http://schemas.microsoft.com/office/drawing/2014/main" id="{0F3E5464-4740-52FD-8703-08E186B0D5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95813" y="4787900"/>
            <a:ext cx="7762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solidFill>
                  <a:schemeClr val="tx2"/>
                </a:solidFill>
              </a:rPr>
              <a:t>10.3</a:t>
            </a:r>
          </a:p>
        </p:txBody>
      </p:sp>
      <p:sp>
        <p:nvSpPr>
          <p:cNvPr id="52254" name="AutoShape 112">
            <a:extLst>
              <a:ext uri="{FF2B5EF4-FFF2-40B4-BE49-F238E27FC236}">
                <a16:creationId xmlns:a16="http://schemas.microsoft.com/office/drawing/2014/main" id="{E20FCD17-CB5F-227D-604E-040EACC57D09}"/>
              </a:ext>
            </a:extLst>
          </p:cNvPr>
          <p:cNvSpPr>
            <a:spLocks/>
          </p:cNvSpPr>
          <p:nvPr/>
        </p:nvSpPr>
        <p:spPr bwMode="auto">
          <a:xfrm>
            <a:off x="5400675" y="3087688"/>
            <a:ext cx="427038" cy="828675"/>
          </a:xfrm>
          <a:prstGeom prst="rightBrace">
            <a:avLst>
              <a:gd name="adj1" fmla="val 16171"/>
              <a:gd name="adj2" fmla="val 50000"/>
            </a:avLst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800"/>
          </a:p>
        </p:txBody>
      </p:sp>
      <p:sp>
        <p:nvSpPr>
          <p:cNvPr id="52255" name="AutoShape 113">
            <a:extLst>
              <a:ext uri="{FF2B5EF4-FFF2-40B4-BE49-F238E27FC236}">
                <a16:creationId xmlns:a16="http://schemas.microsoft.com/office/drawing/2014/main" id="{08336CAB-AB0B-BB98-21E8-6B3F50567021}"/>
              </a:ext>
            </a:extLst>
          </p:cNvPr>
          <p:cNvSpPr>
            <a:spLocks/>
          </p:cNvSpPr>
          <p:nvPr/>
        </p:nvSpPr>
        <p:spPr bwMode="auto">
          <a:xfrm>
            <a:off x="5830888" y="3722688"/>
            <a:ext cx="427037" cy="828675"/>
          </a:xfrm>
          <a:prstGeom prst="rightBrace">
            <a:avLst>
              <a:gd name="adj1" fmla="val 16171"/>
              <a:gd name="adj2" fmla="val 50000"/>
            </a:avLst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800"/>
          </a:p>
        </p:txBody>
      </p:sp>
      <p:sp>
        <p:nvSpPr>
          <p:cNvPr id="52256" name="AutoShape 114">
            <a:extLst>
              <a:ext uri="{FF2B5EF4-FFF2-40B4-BE49-F238E27FC236}">
                <a16:creationId xmlns:a16="http://schemas.microsoft.com/office/drawing/2014/main" id="{CE1BDA98-AFC1-ADF5-7232-97CAB7682EC7}"/>
              </a:ext>
            </a:extLst>
          </p:cNvPr>
          <p:cNvSpPr>
            <a:spLocks/>
          </p:cNvSpPr>
          <p:nvPr/>
        </p:nvSpPr>
        <p:spPr bwMode="auto">
          <a:xfrm>
            <a:off x="6088063" y="4378325"/>
            <a:ext cx="427037" cy="828675"/>
          </a:xfrm>
          <a:prstGeom prst="rightBrace">
            <a:avLst>
              <a:gd name="adj1" fmla="val 16171"/>
              <a:gd name="adj2" fmla="val 50000"/>
            </a:avLst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800"/>
          </a:p>
        </p:txBody>
      </p:sp>
      <p:sp>
        <p:nvSpPr>
          <p:cNvPr id="52257" name="Text Box 115">
            <a:extLst>
              <a:ext uri="{FF2B5EF4-FFF2-40B4-BE49-F238E27FC236}">
                <a16:creationId xmlns:a16="http://schemas.microsoft.com/office/drawing/2014/main" id="{74D3FBC7-2135-BF26-1175-6B97C4A650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70675" y="3275013"/>
            <a:ext cx="609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solidFill>
                  <a:srgbClr val="FF0000"/>
                </a:solidFill>
              </a:rPr>
              <a:t>7.1</a:t>
            </a:r>
          </a:p>
        </p:txBody>
      </p:sp>
      <p:sp>
        <p:nvSpPr>
          <p:cNvPr id="52258" name="Text Box 119">
            <a:extLst>
              <a:ext uri="{FF2B5EF4-FFF2-40B4-BE49-F238E27FC236}">
                <a16:creationId xmlns:a16="http://schemas.microsoft.com/office/drawing/2014/main" id="{E51E0EC2-004D-BF50-3E4E-D233531CE3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97638" y="2068513"/>
            <a:ext cx="7921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/>
              <a:t>#NA</a:t>
            </a:r>
          </a:p>
        </p:txBody>
      </p:sp>
      <p:sp>
        <p:nvSpPr>
          <p:cNvPr id="52259" name="Text Box 120">
            <a:extLst>
              <a:ext uri="{FF2B5EF4-FFF2-40B4-BE49-F238E27FC236}">
                <a16:creationId xmlns:a16="http://schemas.microsoft.com/office/drawing/2014/main" id="{B56B9D01-9FAB-6883-81D0-AEAF03769B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94463" y="2670175"/>
            <a:ext cx="7921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/>
              <a:t>#NA</a:t>
            </a:r>
          </a:p>
        </p:txBody>
      </p:sp>
      <p:sp>
        <p:nvSpPr>
          <p:cNvPr id="52260" name="Text Box 121">
            <a:extLst>
              <a:ext uri="{FF2B5EF4-FFF2-40B4-BE49-F238E27FC236}">
                <a16:creationId xmlns:a16="http://schemas.microsoft.com/office/drawing/2014/main" id="{D5612B9A-8D4B-5ED3-9252-2084BA4B61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64325" y="5116513"/>
            <a:ext cx="7921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/>
              <a:t>#NA</a:t>
            </a:r>
          </a:p>
        </p:txBody>
      </p:sp>
      <p:sp>
        <p:nvSpPr>
          <p:cNvPr id="52261" name="Text Box 122">
            <a:extLst>
              <a:ext uri="{FF2B5EF4-FFF2-40B4-BE49-F238E27FC236}">
                <a16:creationId xmlns:a16="http://schemas.microsoft.com/office/drawing/2014/main" id="{08AF4C4C-76ED-07F0-C9EB-C2F96501A6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81800" y="5751513"/>
            <a:ext cx="7921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/>
              <a:t>#NA</a:t>
            </a:r>
          </a:p>
        </p:txBody>
      </p:sp>
      <p:sp>
        <p:nvSpPr>
          <p:cNvPr id="52262" name="Text Box 123">
            <a:extLst>
              <a:ext uri="{FF2B5EF4-FFF2-40B4-BE49-F238E27FC236}">
                <a16:creationId xmlns:a16="http://schemas.microsoft.com/office/drawing/2014/main" id="{42AD5287-7A91-083B-BC59-168590DBA8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79925" y="2073275"/>
            <a:ext cx="8858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i="1">
                <a:solidFill>
                  <a:srgbClr val="FF3399"/>
                </a:solidFill>
              </a:rPr>
              <a:t>MA</a:t>
            </a:r>
            <a:r>
              <a:rPr lang="en-US" altLang="en-US" sz="1600" i="1">
                <a:solidFill>
                  <a:srgbClr val="FF3399"/>
                </a:solidFill>
              </a:rPr>
              <a:t>1,1</a:t>
            </a:r>
          </a:p>
        </p:txBody>
      </p:sp>
      <p:sp>
        <p:nvSpPr>
          <p:cNvPr id="52263" name="Line 124">
            <a:extLst>
              <a:ext uri="{FF2B5EF4-FFF2-40B4-BE49-F238E27FC236}">
                <a16:creationId xmlns:a16="http://schemas.microsoft.com/office/drawing/2014/main" id="{65F169A2-8DD5-A54B-8B17-A25057918E1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911725" y="2600325"/>
            <a:ext cx="1588" cy="449263"/>
          </a:xfrm>
          <a:prstGeom prst="line">
            <a:avLst/>
          </a:prstGeom>
          <a:noFill/>
          <a:ln w="9525">
            <a:solidFill>
              <a:srgbClr val="FF00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NZ"/>
          </a:p>
        </p:txBody>
      </p:sp>
      <p:sp>
        <p:nvSpPr>
          <p:cNvPr id="52264" name="Text Box 125">
            <a:extLst>
              <a:ext uri="{FF2B5EF4-FFF2-40B4-BE49-F238E27FC236}">
                <a16:creationId xmlns:a16="http://schemas.microsoft.com/office/drawing/2014/main" id="{DA51C349-532E-2963-64C5-B907D969E2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60788" y="2449513"/>
            <a:ext cx="8858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i="1">
                <a:solidFill>
                  <a:srgbClr val="FF3399"/>
                </a:solidFill>
              </a:rPr>
              <a:t>MA</a:t>
            </a:r>
            <a:r>
              <a:rPr lang="en-US" altLang="en-US" sz="1600" i="1">
                <a:solidFill>
                  <a:srgbClr val="FF3399"/>
                </a:solidFill>
              </a:rPr>
              <a:t>1,2</a:t>
            </a:r>
          </a:p>
        </p:txBody>
      </p:sp>
      <p:sp>
        <p:nvSpPr>
          <p:cNvPr id="52265" name="Line 127">
            <a:extLst>
              <a:ext uri="{FF2B5EF4-FFF2-40B4-BE49-F238E27FC236}">
                <a16:creationId xmlns:a16="http://schemas.microsoft.com/office/drawing/2014/main" id="{420065AD-EB17-E131-3574-6422E122D428}"/>
              </a:ext>
            </a:extLst>
          </p:cNvPr>
          <p:cNvSpPr>
            <a:spLocks noChangeShapeType="1"/>
          </p:cNvSpPr>
          <p:nvPr/>
        </p:nvSpPr>
        <p:spPr bwMode="auto">
          <a:xfrm>
            <a:off x="4035425" y="2867025"/>
            <a:ext cx="735013" cy="735013"/>
          </a:xfrm>
          <a:prstGeom prst="line">
            <a:avLst/>
          </a:prstGeom>
          <a:noFill/>
          <a:ln w="9525">
            <a:solidFill>
              <a:srgbClr val="FF00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NZ"/>
          </a:p>
        </p:txBody>
      </p:sp>
      <p:sp>
        <p:nvSpPr>
          <p:cNvPr id="52266" name="Text Box 128">
            <a:extLst>
              <a:ext uri="{FF2B5EF4-FFF2-40B4-BE49-F238E27FC236}">
                <a16:creationId xmlns:a16="http://schemas.microsoft.com/office/drawing/2014/main" id="{93ECCAD4-88DB-232A-A0A3-B97536F4B9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81900" y="3094038"/>
            <a:ext cx="184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GB" altLang="en-US" sz="2400"/>
          </a:p>
        </p:txBody>
      </p:sp>
      <p:graphicFrame>
        <p:nvGraphicFramePr>
          <p:cNvPr id="52267" name="Object 129">
            <a:extLst>
              <a:ext uri="{FF2B5EF4-FFF2-40B4-BE49-F238E27FC236}">
                <a16:creationId xmlns:a16="http://schemas.microsoft.com/office/drawing/2014/main" id="{4478F67A-4836-2849-136C-BDF211ACA7A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523163" y="2662238"/>
          <a:ext cx="787400" cy="581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95131" imgH="228680" progId="Equation.3">
                  <p:embed/>
                </p:oleObj>
              </mc:Choice>
              <mc:Fallback>
                <p:oleObj name="Equation" r:id="rId3" imgW="295131" imgH="228680" progId="Equation.3">
                  <p:embed/>
                  <p:pic>
                    <p:nvPicPr>
                      <p:cNvPr id="52267" name="Object 129">
                        <a:extLst>
                          <a:ext uri="{FF2B5EF4-FFF2-40B4-BE49-F238E27FC236}">
                            <a16:creationId xmlns:a16="http://schemas.microsoft.com/office/drawing/2014/main" id="{4478F67A-4836-2849-136C-BDF211ACA7A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23163" y="2662238"/>
                        <a:ext cx="787400" cy="581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2268" name="Line 130">
            <a:extLst>
              <a:ext uri="{FF2B5EF4-FFF2-40B4-BE49-F238E27FC236}">
                <a16:creationId xmlns:a16="http://schemas.microsoft.com/office/drawing/2014/main" id="{CECF9E06-E340-2C5F-4CD1-438C9724AC4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154863" y="3155950"/>
            <a:ext cx="430212" cy="303213"/>
          </a:xfrm>
          <a:prstGeom prst="line">
            <a:avLst/>
          </a:prstGeom>
          <a:noFill/>
          <a:ln w="9525">
            <a:solidFill>
              <a:srgbClr val="0000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NZ"/>
          </a:p>
        </p:txBody>
      </p:sp>
      <p:sp>
        <p:nvSpPr>
          <p:cNvPr id="52269" name="Line 131">
            <a:extLst>
              <a:ext uri="{FF2B5EF4-FFF2-40B4-BE49-F238E27FC236}">
                <a16:creationId xmlns:a16="http://schemas.microsoft.com/office/drawing/2014/main" id="{FD9C2705-C175-2E6D-91EC-18999D17071E}"/>
              </a:ext>
            </a:extLst>
          </p:cNvPr>
          <p:cNvSpPr>
            <a:spLocks noChangeShapeType="1"/>
          </p:cNvSpPr>
          <p:nvPr/>
        </p:nvSpPr>
        <p:spPr bwMode="auto">
          <a:xfrm>
            <a:off x="596900" y="2425700"/>
            <a:ext cx="67183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NZ"/>
          </a:p>
        </p:txBody>
      </p:sp>
      <p:sp>
        <p:nvSpPr>
          <p:cNvPr id="52270" name="Line 132">
            <a:extLst>
              <a:ext uri="{FF2B5EF4-FFF2-40B4-BE49-F238E27FC236}">
                <a16:creationId xmlns:a16="http://schemas.microsoft.com/office/drawing/2014/main" id="{3A0F99EE-CAB9-D2E9-4838-3D396B68802E}"/>
              </a:ext>
            </a:extLst>
          </p:cNvPr>
          <p:cNvSpPr>
            <a:spLocks noChangeShapeType="1"/>
          </p:cNvSpPr>
          <p:nvPr/>
        </p:nvSpPr>
        <p:spPr bwMode="auto">
          <a:xfrm>
            <a:off x="619125" y="2725738"/>
            <a:ext cx="67183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NZ"/>
          </a:p>
        </p:txBody>
      </p:sp>
      <p:sp>
        <p:nvSpPr>
          <p:cNvPr id="52271" name="Line 133">
            <a:extLst>
              <a:ext uri="{FF2B5EF4-FFF2-40B4-BE49-F238E27FC236}">
                <a16:creationId xmlns:a16="http://schemas.microsoft.com/office/drawing/2014/main" id="{D5252880-648E-2CE8-A009-BF5418AEAB1F}"/>
              </a:ext>
            </a:extLst>
          </p:cNvPr>
          <p:cNvSpPr>
            <a:spLocks noChangeShapeType="1"/>
          </p:cNvSpPr>
          <p:nvPr/>
        </p:nvSpPr>
        <p:spPr bwMode="auto">
          <a:xfrm>
            <a:off x="619125" y="3082925"/>
            <a:ext cx="67183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NZ"/>
          </a:p>
        </p:txBody>
      </p:sp>
      <p:sp>
        <p:nvSpPr>
          <p:cNvPr id="52272" name="Line 134">
            <a:extLst>
              <a:ext uri="{FF2B5EF4-FFF2-40B4-BE49-F238E27FC236}">
                <a16:creationId xmlns:a16="http://schemas.microsoft.com/office/drawing/2014/main" id="{5F39F744-8FC8-C9B7-FC6E-D5A8E5D03066}"/>
              </a:ext>
            </a:extLst>
          </p:cNvPr>
          <p:cNvSpPr>
            <a:spLocks noChangeShapeType="1"/>
          </p:cNvSpPr>
          <p:nvPr/>
        </p:nvSpPr>
        <p:spPr bwMode="auto">
          <a:xfrm>
            <a:off x="631825" y="3360738"/>
            <a:ext cx="67183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NZ"/>
          </a:p>
        </p:txBody>
      </p:sp>
      <p:sp>
        <p:nvSpPr>
          <p:cNvPr id="52273" name="Line 135">
            <a:extLst>
              <a:ext uri="{FF2B5EF4-FFF2-40B4-BE49-F238E27FC236}">
                <a16:creationId xmlns:a16="http://schemas.microsoft.com/office/drawing/2014/main" id="{0F7CF1E4-5AF7-96A1-A56E-D60B38D4CE69}"/>
              </a:ext>
            </a:extLst>
          </p:cNvPr>
          <p:cNvSpPr>
            <a:spLocks noChangeShapeType="1"/>
          </p:cNvSpPr>
          <p:nvPr/>
        </p:nvSpPr>
        <p:spPr bwMode="auto">
          <a:xfrm>
            <a:off x="604838" y="3694113"/>
            <a:ext cx="67183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NZ"/>
          </a:p>
        </p:txBody>
      </p:sp>
      <p:sp>
        <p:nvSpPr>
          <p:cNvPr id="52274" name="Line 136">
            <a:extLst>
              <a:ext uri="{FF2B5EF4-FFF2-40B4-BE49-F238E27FC236}">
                <a16:creationId xmlns:a16="http://schemas.microsoft.com/office/drawing/2014/main" id="{CF2EBD88-DF4B-546E-4169-588C491E257B}"/>
              </a:ext>
            </a:extLst>
          </p:cNvPr>
          <p:cNvSpPr>
            <a:spLocks noChangeShapeType="1"/>
          </p:cNvSpPr>
          <p:nvPr/>
        </p:nvSpPr>
        <p:spPr bwMode="auto">
          <a:xfrm>
            <a:off x="606425" y="3984625"/>
            <a:ext cx="67183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NZ"/>
          </a:p>
        </p:txBody>
      </p:sp>
      <p:sp>
        <p:nvSpPr>
          <p:cNvPr id="52275" name="Line 137">
            <a:extLst>
              <a:ext uri="{FF2B5EF4-FFF2-40B4-BE49-F238E27FC236}">
                <a16:creationId xmlns:a16="http://schemas.microsoft.com/office/drawing/2014/main" id="{FB1DCAFE-2647-DD32-D421-400908309786}"/>
              </a:ext>
            </a:extLst>
          </p:cNvPr>
          <p:cNvSpPr>
            <a:spLocks noChangeShapeType="1"/>
          </p:cNvSpPr>
          <p:nvPr/>
        </p:nvSpPr>
        <p:spPr bwMode="auto">
          <a:xfrm>
            <a:off x="592138" y="4289425"/>
            <a:ext cx="67183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NZ"/>
          </a:p>
        </p:txBody>
      </p:sp>
      <p:sp>
        <p:nvSpPr>
          <p:cNvPr id="52276" name="Line 138">
            <a:extLst>
              <a:ext uri="{FF2B5EF4-FFF2-40B4-BE49-F238E27FC236}">
                <a16:creationId xmlns:a16="http://schemas.microsoft.com/office/drawing/2014/main" id="{BA78BC45-AD82-D102-B371-B535757F29AE}"/>
              </a:ext>
            </a:extLst>
          </p:cNvPr>
          <p:cNvSpPr>
            <a:spLocks noChangeShapeType="1"/>
          </p:cNvSpPr>
          <p:nvPr/>
        </p:nvSpPr>
        <p:spPr bwMode="auto">
          <a:xfrm>
            <a:off x="604838" y="4579938"/>
            <a:ext cx="67183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NZ"/>
          </a:p>
        </p:txBody>
      </p:sp>
      <p:sp>
        <p:nvSpPr>
          <p:cNvPr id="52277" name="Line 139">
            <a:extLst>
              <a:ext uri="{FF2B5EF4-FFF2-40B4-BE49-F238E27FC236}">
                <a16:creationId xmlns:a16="http://schemas.microsoft.com/office/drawing/2014/main" id="{1F3C87AA-6237-C57F-3955-3724112D435C}"/>
              </a:ext>
            </a:extLst>
          </p:cNvPr>
          <p:cNvSpPr>
            <a:spLocks noChangeShapeType="1"/>
          </p:cNvSpPr>
          <p:nvPr/>
        </p:nvSpPr>
        <p:spPr bwMode="auto">
          <a:xfrm>
            <a:off x="644525" y="4953000"/>
            <a:ext cx="67183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NZ"/>
          </a:p>
        </p:txBody>
      </p:sp>
      <p:sp>
        <p:nvSpPr>
          <p:cNvPr id="52278" name="Footer Placeholder 53">
            <a:extLst>
              <a:ext uri="{FF2B5EF4-FFF2-40B4-BE49-F238E27FC236}">
                <a16:creationId xmlns:a16="http://schemas.microsoft.com/office/drawing/2014/main" id="{25175E06-6483-DD92-ACC9-6F8BF0FAC5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IN" altLang="ja-JP" sz="1400"/>
              <a:t>Contributed by National Academy of Statistical Administration</a:t>
            </a:r>
            <a:endParaRPr lang="en-US" altLang="ja-JP" sz="140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Slide Number Placeholder 3">
            <a:extLst>
              <a:ext uri="{FF2B5EF4-FFF2-40B4-BE49-F238E27FC236}">
                <a16:creationId xmlns:a16="http://schemas.microsoft.com/office/drawing/2014/main" id="{5D7D74AE-502E-B0D7-B21E-088520AD6D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047F68EA-5797-4482-8541-BE1413CFC57D}" type="slidenum">
              <a:rPr lang="en-US" altLang="en-US" sz="14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63</a:t>
            </a:fld>
            <a:endParaRPr lang="en-US" altLang="en-US" sz="1400"/>
          </a:p>
        </p:txBody>
      </p:sp>
      <p:sp>
        <p:nvSpPr>
          <p:cNvPr id="53251" name="Rectangle 2">
            <a:extLst>
              <a:ext uri="{FF2B5EF4-FFF2-40B4-BE49-F238E27FC236}">
                <a16:creationId xmlns:a16="http://schemas.microsoft.com/office/drawing/2014/main" id="{B5939CAA-D23D-65DB-6B73-5C6A67D0D7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3048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3600">
                <a:solidFill>
                  <a:schemeClr val="tx2"/>
                </a:solidFill>
              </a:rPr>
              <a:t>Measuring the seasonal effect</a:t>
            </a:r>
          </a:p>
        </p:txBody>
      </p:sp>
      <p:sp>
        <p:nvSpPr>
          <p:cNvPr id="53252" name="Rectangle 3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90EC63DA-9A49-2F46-608E-457BA8AC3F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19050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r>
              <a:rPr lang="en-US" altLang="en-US"/>
              <a:t>To measure seasonal effect construct seasonal indices. </a:t>
            </a:r>
          </a:p>
          <a:p>
            <a:pPr eaLnBrk="1" hangingPunct="1"/>
            <a:r>
              <a:rPr lang="en-US" altLang="en-US"/>
              <a:t>Seasonal indices is a degree to which the seasons differ from one another.</a:t>
            </a:r>
          </a:p>
          <a:p>
            <a:pPr eaLnBrk="1" hangingPunct="1"/>
            <a:r>
              <a:rPr lang="en-US" altLang="en-US">
                <a:solidFill>
                  <a:srgbClr val="FF3399"/>
                </a:solidFill>
              </a:rPr>
              <a:t>Requirement:</a:t>
            </a:r>
            <a:r>
              <a:rPr lang="en-US" altLang="en-US"/>
              <a:t> time series should be sufficiently long to allow to observe seasonal fluctuations.</a:t>
            </a:r>
          </a:p>
        </p:txBody>
      </p:sp>
      <p:sp>
        <p:nvSpPr>
          <p:cNvPr id="53253" name="Footer Placeholder 4">
            <a:extLst>
              <a:ext uri="{FF2B5EF4-FFF2-40B4-BE49-F238E27FC236}">
                <a16:creationId xmlns:a16="http://schemas.microsoft.com/office/drawing/2014/main" id="{C65A8A2F-12FF-B82B-74FC-8283F96E85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IN" altLang="ja-JP" sz="1400"/>
              <a:t>Contributed by National Academy of Statistical Administration</a:t>
            </a:r>
            <a:endParaRPr lang="en-US" altLang="ja-JP" sz="140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Slide Number Placeholder 5">
            <a:extLst>
              <a:ext uri="{FF2B5EF4-FFF2-40B4-BE49-F238E27FC236}">
                <a16:creationId xmlns:a16="http://schemas.microsoft.com/office/drawing/2014/main" id="{96C4492D-4C63-3A35-DE05-A2F7E2B77C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C84574D2-CE1C-4CD5-B88C-BA19E917BAC6}" type="slidenum">
              <a:rPr lang="en-US" altLang="en-US" sz="14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64</a:t>
            </a:fld>
            <a:endParaRPr lang="en-US" altLang="en-US" sz="1400"/>
          </a:p>
        </p:txBody>
      </p:sp>
      <p:sp>
        <p:nvSpPr>
          <p:cNvPr id="54275" name="Rectangle 1026">
            <a:extLst>
              <a:ext uri="{FF2B5EF4-FFF2-40B4-BE49-F238E27FC236}">
                <a16:creationId xmlns:a16="http://schemas.microsoft.com/office/drawing/2014/main" id="{08E2DD96-B29A-A22D-51DA-C53F8F66190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600"/>
              <a:t>Measuring the seasonal effect</a:t>
            </a:r>
          </a:p>
        </p:txBody>
      </p:sp>
      <p:sp>
        <p:nvSpPr>
          <p:cNvPr id="54276" name="Rectangle 1027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8C6B95C7-E1D8-9978-39E9-1F69BB6BD90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03275" y="1619250"/>
            <a:ext cx="7772400" cy="41148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/>
              <a:t>Computation: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/>
              <a:t>Calculating MA. 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/>
              <a:t>Set the number of periods equal to the number of types of season.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/>
              <a:t>Use multiplicative model:</a:t>
            </a:r>
          </a:p>
          <a:p>
            <a:pPr lvl="1" eaLnBrk="1" hangingPunct="1">
              <a:lnSpc>
                <a:spcPct val="90000"/>
              </a:lnSpc>
            </a:pPr>
            <a:endParaRPr lang="en-US" altLang="en-US"/>
          </a:p>
          <a:p>
            <a:pPr lvl="1" eaLnBrk="1" hangingPunct="1">
              <a:lnSpc>
                <a:spcPct val="90000"/>
              </a:lnSpc>
            </a:pPr>
            <a:endParaRPr lang="en-US" altLang="en-US"/>
          </a:p>
          <a:p>
            <a:pPr lvl="1" eaLnBrk="1" hangingPunct="1">
              <a:lnSpc>
                <a:spcPct val="90000"/>
              </a:lnSpc>
            </a:pPr>
            <a:r>
              <a:rPr lang="en-US" altLang="en-US"/>
              <a:t>MA remove </a:t>
            </a:r>
            <a:r>
              <a:rPr lang="en-US" altLang="en-US" sz="3200" i="1">
                <a:solidFill>
                  <a:srgbClr val="000000"/>
                </a:solidFill>
              </a:rPr>
              <a:t>S</a:t>
            </a:r>
            <a:r>
              <a:rPr lang="en-US" altLang="en-US" sz="1800" i="1">
                <a:solidFill>
                  <a:srgbClr val="000000"/>
                </a:solidFill>
              </a:rPr>
              <a:t>t</a:t>
            </a:r>
            <a:r>
              <a:rPr lang="en-US" altLang="en-US" i="1"/>
              <a:t>  </a:t>
            </a:r>
            <a:r>
              <a:rPr lang="en-US" altLang="en-US"/>
              <a:t>and </a:t>
            </a:r>
            <a:r>
              <a:rPr lang="en-US" altLang="en-US" sz="3200" i="1">
                <a:solidFill>
                  <a:srgbClr val="000000"/>
                </a:solidFill>
              </a:rPr>
              <a:t>R</a:t>
            </a:r>
            <a:r>
              <a:rPr lang="en-US" altLang="en-US" sz="1800" i="1">
                <a:solidFill>
                  <a:srgbClr val="000000"/>
                </a:solidFill>
              </a:rPr>
              <a:t>t</a:t>
            </a:r>
            <a:r>
              <a:rPr lang="en-US" altLang="en-US" sz="1800">
                <a:solidFill>
                  <a:srgbClr val="000000"/>
                </a:solidFill>
              </a:rPr>
              <a:t> 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en-US"/>
          </a:p>
        </p:txBody>
      </p:sp>
      <p:graphicFrame>
        <p:nvGraphicFramePr>
          <p:cNvPr id="54277" name="Object 1028">
            <a:extLst>
              <a:ext uri="{FF2B5EF4-FFF2-40B4-BE49-F238E27FC236}">
                <a16:creationId xmlns:a16="http://schemas.microsoft.com/office/drawing/2014/main" id="{BE3289D4-9CB7-4CF6-998F-4EEAC4FA9AE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701925" y="4111625"/>
          <a:ext cx="2452688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047874" imgH="219138" progId="Equation.3">
                  <p:embed/>
                </p:oleObj>
              </mc:Choice>
              <mc:Fallback>
                <p:oleObj name="Equation" r:id="rId3" imgW="1047874" imgH="219138" progId="Equation.3">
                  <p:embed/>
                  <p:pic>
                    <p:nvPicPr>
                      <p:cNvPr id="54277" name="Object 1028">
                        <a:extLst>
                          <a:ext uri="{FF2B5EF4-FFF2-40B4-BE49-F238E27FC236}">
                            <a16:creationId xmlns:a16="http://schemas.microsoft.com/office/drawing/2014/main" id="{BE3289D4-9CB7-4CF6-998F-4EEAC4FA9AE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01925" y="4111625"/>
                        <a:ext cx="2452688" cy="685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4278" name="Footer Placeholder 5">
            <a:extLst>
              <a:ext uri="{FF2B5EF4-FFF2-40B4-BE49-F238E27FC236}">
                <a16:creationId xmlns:a16="http://schemas.microsoft.com/office/drawing/2014/main" id="{937C7756-FF25-ECA1-E820-3B4C1D575B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IN" altLang="ja-JP" sz="1400"/>
              <a:t>Contributed by National Academy of Statistical Administration</a:t>
            </a:r>
            <a:endParaRPr lang="en-US" altLang="ja-JP" sz="140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Slide Number Placeholder 5">
            <a:extLst>
              <a:ext uri="{FF2B5EF4-FFF2-40B4-BE49-F238E27FC236}">
                <a16:creationId xmlns:a16="http://schemas.microsoft.com/office/drawing/2014/main" id="{2DF30518-9B9F-7DE1-992F-C8EBAAB426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6BC8841C-1C27-40F1-A993-665439D5C19E}" type="slidenum">
              <a:rPr lang="en-US" altLang="en-US" sz="14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65</a:t>
            </a:fld>
            <a:endParaRPr lang="en-US" altLang="en-US" sz="1400"/>
          </a:p>
        </p:txBody>
      </p:sp>
      <p:sp>
        <p:nvSpPr>
          <p:cNvPr id="55299" name="Rectangle 1026">
            <a:extLst>
              <a:ext uri="{FF2B5EF4-FFF2-40B4-BE49-F238E27FC236}">
                <a16:creationId xmlns:a16="http://schemas.microsoft.com/office/drawing/2014/main" id="{73ADC70D-F773-CC25-48C2-B524D9466EA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600"/>
              <a:t>Measuring the seasonal effect</a:t>
            </a:r>
          </a:p>
        </p:txBody>
      </p:sp>
      <p:sp>
        <p:nvSpPr>
          <p:cNvPr id="55300" name="Rectangle 1027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5D8998D5-657F-272B-2D64-C1FB22BA6E0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8200" y="1546225"/>
            <a:ext cx="7772400" cy="4473575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/>
              <a:t>Calculate 	   (step 1)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/>
              <a:t>Compute the ratio (step 2):</a:t>
            </a:r>
          </a:p>
          <a:p>
            <a:pPr eaLnBrk="1" hangingPunct="1">
              <a:lnSpc>
                <a:spcPct val="90000"/>
              </a:lnSpc>
            </a:pPr>
            <a:endParaRPr lang="en-US" altLang="en-US"/>
          </a:p>
          <a:p>
            <a:pPr eaLnBrk="1" hangingPunct="1">
              <a:lnSpc>
                <a:spcPct val="90000"/>
              </a:lnSpc>
            </a:pPr>
            <a:endParaRPr lang="en-US" altLang="en-US"/>
          </a:p>
          <a:p>
            <a:pPr eaLnBrk="1" hangingPunct="1">
              <a:lnSpc>
                <a:spcPct val="90000"/>
              </a:lnSpc>
            </a:pPr>
            <a:r>
              <a:rPr lang="en-US" altLang="en-US"/>
              <a:t>For each type of season calculate the average of the ratios (step 3).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/>
              <a:t>The seasonal indices are the average ratios from ratios step 3 adjusted. 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en-US"/>
          </a:p>
          <a:p>
            <a:pPr lvl="1" eaLnBrk="1" hangingPunct="1">
              <a:lnSpc>
                <a:spcPct val="90000"/>
              </a:lnSpc>
            </a:pPr>
            <a:endParaRPr lang="en-US" altLang="en-US"/>
          </a:p>
        </p:txBody>
      </p:sp>
      <p:graphicFrame>
        <p:nvGraphicFramePr>
          <p:cNvPr id="55301" name="Object 1028">
            <a:extLst>
              <a:ext uri="{FF2B5EF4-FFF2-40B4-BE49-F238E27FC236}">
                <a16:creationId xmlns:a16="http://schemas.microsoft.com/office/drawing/2014/main" id="{0A91B33B-C6F2-25D5-493E-A98D21AA5DD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546225" y="2516188"/>
          <a:ext cx="4759325" cy="1184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739900" imgH="431800" progId="Equation.3">
                  <p:embed/>
                </p:oleObj>
              </mc:Choice>
              <mc:Fallback>
                <p:oleObj name="Equation" r:id="rId3" imgW="1739900" imgH="431800" progId="Equation.3">
                  <p:embed/>
                  <p:pic>
                    <p:nvPicPr>
                      <p:cNvPr id="55301" name="Object 1028">
                        <a:extLst>
                          <a:ext uri="{FF2B5EF4-FFF2-40B4-BE49-F238E27FC236}">
                            <a16:creationId xmlns:a16="http://schemas.microsoft.com/office/drawing/2014/main" id="{0A91B33B-C6F2-25D5-493E-A98D21AA5DD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46225" y="2516188"/>
                        <a:ext cx="4759325" cy="1184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302" name="Object 1029">
            <a:extLst>
              <a:ext uri="{FF2B5EF4-FFF2-40B4-BE49-F238E27FC236}">
                <a16:creationId xmlns:a16="http://schemas.microsoft.com/office/drawing/2014/main" id="{1554F9EB-20C7-0BD7-CDD5-9CF6FA8B67B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133725" y="1565275"/>
          <a:ext cx="720725" cy="563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85611" imgH="219138" progId="Equation.3">
                  <p:embed/>
                </p:oleObj>
              </mc:Choice>
              <mc:Fallback>
                <p:oleObj name="Equation" r:id="rId5" imgW="285611" imgH="219138" progId="Equation.3">
                  <p:embed/>
                  <p:pic>
                    <p:nvPicPr>
                      <p:cNvPr id="55302" name="Object 1029">
                        <a:extLst>
                          <a:ext uri="{FF2B5EF4-FFF2-40B4-BE49-F238E27FC236}">
                            <a16:creationId xmlns:a16="http://schemas.microsoft.com/office/drawing/2014/main" id="{1554F9EB-20C7-0BD7-CDD5-9CF6FA8B67B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33725" y="1565275"/>
                        <a:ext cx="720725" cy="563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5303" name="Footer Placeholder 6">
            <a:extLst>
              <a:ext uri="{FF2B5EF4-FFF2-40B4-BE49-F238E27FC236}">
                <a16:creationId xmlns:a16="http://schemas.microsoft.com/office/drawing/2014/main" id="{21320C69-9818-58F6-A5EC-CE53E1CF4B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IN" altLang="ja-JP" sz="1400"/>
              <a:t>Contributed by National Academy of Statistical Administration</a:t>
            </a:r>
            <a:endParaRPr lang="en-US" altLang="ja-JP" sz="140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Slide Number Placeholder 3">
            <a:extLst>
              <a:ext uri="{FF2B5EF4-FFF2-40B4-BE49-F238E27FC236}">
                <a16:creationId xmlns:a16="http://schemas.microsoft.com/office/drawing/2014/main" id="{2E245650-188E-ADE8-9F43-A255C19129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25B6B06E-F920-4948-B054-A188AEBD774A}" type="slidenum">
              <a:rPr lang="en-US" altLang="en-US" sz="14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66</a:t>
            </a:fld>
            <a:endParaRPr lang="en-US" altLang="en-US" sz="1400"/>
          </a:p>
        </p:txBody>
      </p:sp>
      <p:graphicFrame>
        <p:nvGraphicFramePr>
          <p:cNvPr id="56323" name="Object 3">
            <a:extLst>
              <a:ext uri="{FF2B5EF4-FFF2-40B4-BE49-F238E27FC236}">
                <a16:creationId xmlns:a16="http://schemas.microsoft.com/office/drawing/2014/main" id="{C0027058-2086-5ABB-8162-DDD9D886274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906713" y="0"/>
          <a:ext cx="5772150" cy="6408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3" imgW="3505516" imgH="4096152" progId="Excel.Sheet.8">
                  <p:embed/>
                </p:oleObj>
              </mc:Choice>
              <mc:Fallback>
                <p:oleObj name="Worksheet" r:id="rId3" imgW="3505516" imgH="4096152" progId="Excel.Sheet.8">
                  <p:embed/>
                  <p:pic>
                    <p:nvPicPr>
                      <p:cNvPr id="56323" name="Object 3">
                        <a:extLst>
                          <a:ext uri="{FF2B5EF4-FFF2-40B4-BE49-F238E27FC236}">
                            <a16:creationId xmlns:a16="http://schemas.microsoft.com/office/drawing/2014/main" id="{C0027058-2086-5ABB-8162-DDD9D886274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06713" y="0"/>
                        <a:ext cx="5772150" cy="64087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6324" name="Text Box 4">
            <a:extLst>
              <a:ext uri="{FF2B5EF4-FFF2-40B4-BE49-F238E27FC236}">
                <a16:creationId xmlns:a16="http://schemas.microsoft.com/office/drawing/2014/main" id="{19C87C49-677F-9573-AA75-6ABBA20420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95413" y="2108200"/>
            <a:ext cx="10461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/>
              <a:t>Step 1</a:t>
            </a:r>
          </a:p>
        </p:txBody>
      </p:sp>
      <p:sp>
        <p:nvSpPr>
          <p:cNvPr id="56325" name="Line 5">
            <a:extLst>
              <a:ext uri="{FF2B5EF4-FFF2-40B4-BE49-F238E27FC236}">
                <a16:creationId xmlns:a16="http://schemas.microsoft.com/office/drawing/2014/main" id="{73AD3E97-1F8E-EB94-EADB-9B5223A2023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438400" y="1182688"/>
            <a:ext cx="3370263" cy="11842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NZ"/>
          </a:p>
        </p:txBody>
      </p:sp>
      <p:sp>
        <p:nvSpPr>
          <p:cNvPr id="56326" name="Rectangle 6">
            <a:extLst>
              <a:ext uri="{FF2B5EF4-FFF2-40B4-BE49-F238E27FC236}">
                <a16:creationId xmlns:a16="http://schemas.microsoft.com/office/drawing/2014/main" id="{3A407A76-E8B0-1393-C771-2923101588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7950" y="2895600"/>
            <a:ext cx="10461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/>
              <a:t>Step 2</a:t>
            </a:r>
          </a:p>
        </p:txBody>
      </p:sp>
      <p:sp>
        <p:nvSpPr>
          <p:cNvPr id="56327" name="Rectangle 7">
            <a:extLst>
              <a:ext uri="{FF2B5EF4-FFF2-40B4-BE49-F238E27FC236}">
                <a16:creationId xmlns:a16="http://schemas.microsoft.com/office/drawing/2014/main" id="{060DCAA5-1396-EDF9-EDAF-28DE8FEA8E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1988" y="3738563"/>
            <a:ext cx="2284412" cy="1552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/>
              <a:t>       Step 3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/>
              <a:t>(calculation  see next slide)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56328" name="Line 8">
            <a:extLst>
              <a:ext uri="{FF2B5EF4-FFF2-40B4-BE49-F238E27FC236}">
                <a16:creationId xmlns:a16="http://schemas.microsoft.com/office/drawing/2014/main" id="{8B492B77-0408-7478-7469-5751D777578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455863" y="1273175"/>
            <a:ext cx="4554537" cy="18462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NZ"/>
          </a:p>
        </p:txBody>
      </p:sp>
      <p:sp>
        <p:nvSpPr>
          <p:cNvPr id="56329" name="Line 9">
            <a:extLst>
              <a:ext uri="{FF2B5EF4-FFF2-40B4-BE49-F238E27FC236}">
                <a16:creationId xmlns:a16="http://schemas.microsoft.com/office/drawing/2014/main" id="{5F1FCD0D-1FF9-41F8-2DAC-03E5A9F65CA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330450" y="2295525"/>
            <a:ext cx="5486400" cy="17033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NZ"/>
          </a:p>
        </p:txBody>
      </p:sp>
      <p:sp>
        <p:nvSpPr>
          <p:cNvPr id="56330" name="Footer Placeholder 9">
            <a:extLst>
              <a:ext uri="{FF2B5EF4-FFF2-40B4-BE49-F238E27FC236}">
                <a16:creationId xmlns:a16="http://schemas.microsoft.com/office/drawing/2014/main" id="{1D35FD76-E7AF-046E-CAE4-FCABC2160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IN" altLang="ja-JP" sz="1400"/>
              <a:t>Contributed by National Academy of Statistical Administration</a:t>
            </a:r>
            <a:endParaRPr lang="en-US" altLang="ja-JP" sz="140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Slide Number Placeholder 3">
            <a:extLst>
              <a:ext uri="{FF2B5EF4-FFF2-40B4-BE49-F238E27FC236}">
                <a16:creationId xmlns:a16="http://schemas.microsoft.com/office/drawing/2014/main" id="{A0FEF797-70DF-7638-16EB-6A551934AE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7DB7FAD4-41A6-4D35-9253-0E10D92B0DE0}" type="slidenum">
              <a:rPr lang="en-US" altLang="en-US" sz="14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67</a:t>
            </a:fld>
            <a:endParaRPr lang="en-US" altLang="en-US" sz="1400"/>
          </a:p>
        </p:txBody>
      </p:sp>
      <p:graphicFrame>
        <p:nvGraphicFramePr>
          <p:cNvPr id="57347" name="Object 2">
            <a:extLst>
              <a:ext uri="{FF2B5EF4-FFF2-40B4-BE49-F238E27FC236}">
                <a16:creationId xmlns:a16="http://schemas.microsoft.com/office/drawing/2014/main" id="{30A74DE8-35B6-AAA7-86FF-5B4666C656D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90550" y="1466850"/>
          <a:ext cx="8267700" cy="3906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3" imgW="4305673" imgH="1629164" progId="Excel.Sheet.8">
                  <p:embed/>
                </p:oleObj>
              </mc:Choice>
              <mc:Fallback>
                <p:oleObj name="Worksheet" r:id="rId3" imgW="4305673" imgH="1629164" progId="Excel.Sheet.8">
                  <p:embed/>
                  <p:pic>
                    <p:nvPicPr>
                      <p:cNvPr id="57347" name="Object 2">
                        <a:extLst>
                          <a:ext uri="{FF2B5EF4-FFF2-40B4-BE49-F238E27FC236}">
                            <a16:creationId xmlns:a16="http://schemas.microsoft.com/office/drawing/2014/main" id="{30A74DE8-35B6-AAA7-86FF-5B4666C656D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0550" y="1466850"/>
                        <a:ext cx="8267700" cy="39068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7348" name="Text Box 3">
            <a:extLst>
              <a:ext uri="{FF2B5EF4-FFF2-40B4-BE49-F238E27FC236}">
                <a16:creationId xmlns:a16="http://schemas.microsoft.com/office/drawing/2014/main" id="{19B508E3-A57C-D5A4-D4D0-05FC7CEDF3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92275" y="404813"/>
            <a:ext cx="5254625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/>
              <a:t>Calculating seasonal index</a:t>
            </a:r>
          </a:p>
        </p:txBody>
      </p:sp>
      <p:sp>
        <p:nvSpPr>
          <p:cNvPr id="57349" name="Text Box 4">
            <a:extLst>
              <a:ext uri="{FF2B5EF4-FFF2-40B4-BE49-F238E27FC236}">
                <a16:creationId xmlns:a16="http://schemas.microsoft.com/office/drawing/2014/main" id="{3D62183D-AF5A-D37D-667B-7159439C54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5963" y="5424488"/>
            <a:ext cx="7994650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/>
              <a:t>Example: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/>
              <a:t>Seasonal index for Quarter 1 = 0.889/3.974*4.000=0.895</a:t>
            </a:r>
          </a:p>
        </p:txBody>
      </p:sp>
      <p:sp>
        <p:nvSpPr>
          <p:cNvPr id="57350" name="Footer Placeholder 5">
            <a:extLst>
              <a:ext uri="{FF2B5EF4-FFF2-40B4-BE49-F238E27FC236}">
                <a16:creationId xmlns:a16="http://schemas.microsoft.com/office/drawing/2014/main" id="{B19A4860-BBBA-5E89-C66A-6E5ACDE25E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IN" altLang="ja-JP" sz="1400"/>
              <a:t>Contributed by National Academy of Statistical Administration</a:t>
            </a:r>
            <a:endParaRPr lang="en-US" altLang="ja-JP" sz="140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Slide Number Placeholder 5">
            <a:extLst>
              <a:ext uri="{FF2B5EF4-FFF2-40B4-BE49-F238E27FC236}">
                <a16:creationId xmlns:a16="http://schemas.microsoft.com/office/drawing/2014/main" id="{50298BC1-EC6F-B3C1-4680-714DA63638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F1E2BFCF-FD25-440C-90B4-656F4A9D283D}" type="slidenum">
              <a:rPr lang="en-US" altLang="en-US" sz="14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68</a:t>
            </a:fld>
            <a:endParaRPr lang="en-US" altLang="en-US" sz="1400"/>
          </a:p>
        </p:txBody>
      </p:sp>
      <p:sp>
        <p:nvSpPr>
          <p:cNvPr id="58371" name="Rectangle 4">
            <a:extLst>
              <a:ext uri="{FF2B5EF4-FFF2-40B4-BE49-F238E27FC236}">
                <a16:creationId xmlns:a16="http://schemas.microsoft.com/office/drawing/2014/main" id="{4B066AA1-9D25-5C7D-C020-0C80E5DE2CC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600"/>
              <a:t>Negative trend is also a trend..</a:t>
            </a:r>
            <a:endParaRPr lang="th-TH" altLang="en-US" sz="3600"/>
          </a:p>
        </p:txBody>
      </p:sp>
      <p:graphicFrame>
        <p:nvGraphicFramePr>
          <p:cNvPr id="58372" name="Object 3">
            <a:extLst>
              <a:ext uri="{FF2B5EF4-FFF2-40B4-BE49-F238E27FC236}">
                <a16:creationId xmlns:a16="http://schemas.microsoft.com/office/drawing/2014/main" id="{44EDEF4B-9823-558F-D734-F90043BC1D67}"/>
              </a:ext>
            </a:extLst>
          </p:cNvPr>
          <p:cNvGraphicFramePr>
            <a:graphicFrameLocks noGrp="1" noChangeAspect="1"/>
          </p:cNvGraphicFramePr>
          <p:nvPr>
            <p:ph idx="1"/>
          </p:nvPr>
        </p:nvGraphicFramePr>
        <p:xfrm>
          <a:off x="307975" y="1704975"/>
          <a:ext cx="8470900" cy="4500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hart" r:id="rId3" imgW="6286712" imgH="2524174" progId="Excel.Chart.8">
                  <p:embed/>
                </p:oleObj>
              </mc:Choice>
              <mc:Fallback>
                <p:oleObj name="Chart" r:id="rId3" imgW="6286712" imgH="2524174" progId="Excel.Chart.8">
                  <p:embed/>
                  <p:pic>
                    <p:nvPicPr>
                      <p:cNvPr id="58372" name="Object 3">
                        <a:extLst>
                          <a:ext uri="{FF2B5EF4-FFF2-40B4-BE49-F238E27FC236}">
                            <a16:creationId xmlns:a16="http://schemas.microsoft.com/office/drawing/2014/main" id="{44EDEF4B-9823-558F-D734-F90043BC1D6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7975" y="1704975"/>
                        <a:ext cx="8470900" cy="4500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8373" name="Footer Placeholder 4">
            <a:extLst>
              <a:ext uri="{FF2B5EF4-FFF2-40B4-BE49-F238E27FC236}">
                <a16:creationId xmlns:a16="http://schemas.microsoft.com/office/drawing/2014/main" id="{15A2C82E-943B-93CC-10AE-02418869AE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IN" altLang="ja-JP" sz="1400"/>
              <a:t>Contributed by National Academy of Statistical Administration</a:t>
            </a:r>
            <a:endParaRPr lang="en-US" altLang="ja-JP" sz="140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Slide Number Placeholder 5">
            <a:extLst>
              <a:ext uri="{FF2B5EF4-FFF2-40B4-BE49-F238E27FC236}">
                <a16:creationId xmlns:a16="http://schemas.microsoft.com/office/drawing/2014/main" id="{A55D47E9-6BC5-5078-CFCB-F5E25945EE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5DAB761A-B25E-4F7A-9669-0636C0A60FAB}" type="slidenum">
              <a:rPr lang="en-US" altLang="en-US" sz="14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69</a:t>
            </a:fld>
            <a:endParaRPr lang="en-US" altLang="en-US" sz="1400"/>
          </a:p>
        </p:txBody>
      </p:sp>
      <p:sp>
        <p:nvSpPr>
          <p:cNvPr id="59395" name="Rectangle 2">
            <a:extLst>
              <a:ext uri="{FF2B5EF4-FFF2-40B4-BE49-F238E27FC236}">
                <a16:creationId xmlns:a16="http://schemas.microsoft.com/office/drawing/2014/main" id="{864484CC-93CF-D3AA-E63E-6F83FC66554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 Exercise </a:t>
            </a:r>
          </a:p>
        </p:txBody>
      </p:sp>
      <p:sp>
        <p:nvSpPr>
          <p:cNvPr id="59396" name="Rectangle 3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5E32047F-34B2-5286-6A32-137754F1199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Plot the time series in </a:t>
            </a:r>
            <a:r>
              <a:rPr lang="en-US" altLang="en-US" b="1"/>
              <a:t>unemployment.xls</a:t>
            </a:r>
            <a:r>
              <a:rPr lang="en-US" altLang="en-US"/>
              <a:t> </a:t>
            </a:r>
          </a:p>
          <a:p>
            <a:pPr eaLnBrk="1" hangingPunct="1"/>
            <a:r>
              <a:rPr lang="en-US" altLang="en-US"/>
              <a:t>Compute quarterly (seasonal) indices. .</a:t>
            </a:r>
          </a:p>
          <a:p>
            <a:pPr eaLnBrk="1" hangingPunct="1"/>
            <a:r>
              <a:rPr lang="en-US" altLang="en-US"/>
              <a:t>Plot components separately and show them in one graph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/>
          </a:p>
        </p:txBody>
      </p:sp>
      <p:sp>
        <p:nvSpPr>
          <p:cNvPr id="59397" name="Footer Placeholder 4">
            <a:extLst>
              <a:ext uri="{FF2B5EF4-FFF2-40B4-BE49-F238E27FC236}">
                <a16:creationId xmlns:a16="http://schemas.microsoft.com/office/drawing/2014/main" id="{4D515859-A34A-0942-CC01-D57710FCC4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IN" altLang="ja-JP" sz="1400"/>
              <a:t>Contributed by National Academy of Statistical Administration</a:t>
            </a:r>
            <a:endParaRPr lang="en-US" altLang="ja-JP" sz="140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DF61BC-5DBB-4885-B5A9-AC78207D403C}" type="slidenum">
              <a:rPr lang="en-US"/>
              <a:pPr/>
              <a:t>70</a:t>
            </a:fld>
            <a:endParaRPr lang="en-US"/>
          </a:p>
        </p:txBody>
      </p:sp>
      <p:sp>
        <p:nvSpPr>
          <p:cNvPr id="393218" name="Rectangle 2"/>
          <p:cNvSpPr>
            <a:spLocks noGrp="1" noChangeArrowheads="1"/>
          </p:cNvSpPr>
          <p:nvPr>
            <p:ph type="title"/>
          </p:nvPr>
        </p:nvSpPr>
        <p:spPr>
          <a:xfrm>
            <a:off x="1676400" y="762000"/>
            <a:ext cx="6172200" cy="533400"/>
          </a:xfrm>
          <a:noFill/>
          <a:ln w="44450">
            <a:solidFill>
              <a:schemeClr val="tx1"/>
            </a:solidFill>
          </a:ln>
        </p:spPr>
        <p:txBody>
          <a:bodyPr lIns="90488" tIns="44450" rIns="90488" bIns="44450" anchor="b"/>
          <a:lstStyle/>
          <a:p>
            <a:pPr algn="l"/>
            <a:r>
              <a:rPr lang="en-AU" sz="3200" b="1"/>
              <a:t>Summary of Time </a:t>
            </a:r>
            <a:r>
              <a:rPr lang="en-US" sz="3200" b="1"/>
              <a:t>S</a:t>
            </a:r>
            <a:r>
              <a:rPr lang="en-AU" sz="3200" b="1"/>
              <a:t>eries Lectures</a:t>
            </a:r>
            <a:endParaRPr lang="en-AU" b="1"/>
          </a:p>
        </p:txBody>
      </p:sp>
      <p:sp>
        <p:nvSpPr>
          <p:cNvPr id="3932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1524000"/>
            <a:ext cx="8534400" cy="4800600"/>
          </a:xfrm>
          <a:noFill/>
          <a:ln/>
        </p:spPr>
        <p:txBody>
          <a:bodyPr lIns="90488" tIns="44450" rIns="90488" bIns="44450"/>
          <a:lstStyle/>
          <a:p>
            <a:r>
              <a:rPr lang="en-AU" sz="2800" i="1"/>
              <a:t>Time series</a:t>
            </a:r>
            <a:r>
              <a:rPr lang="en-AU" sz="2800"/>
              <a:t> as opposed to </a:t>
            </a:r>
            <a:r>
              <a:rPr lang="en-AU" sz="2800" i="1"/>
              <a:t>snapshot data</a:t>
            </a:r>
            <a:endParaRPr lang="en-AU" sz="2800"/>
          </a:p>
          <a:p>
            <a:r>
              <a:rPr lang="en-AU" sz="2800"/>
              <a:t>Components</a:t>
            </a:r>
          </a:p>
          <a:p>
            <a:r>
              <a:rPr lang="en-AU" sz="2800"/>
              <a:t>Trend Analysis</a:t>
            </a:r>
          </a:p>
          <a:p>
            <a:r>
              <a:rPr lang="en-AU" sz="2800"/>
              <a:t>Measuring the Seasonal Effect</a:t>
            </a:r>
            <a:endParaRPr lang="en-AU"/>
          </a:p>
        </p:txBody>
      </p:sp>
      <p:sp>
        <p:nvSpPr>
          <p:cNvPr id="393220" name="Rectangle 4"/>
          <p:cNvSpPr>
            <a:spLocks noChangeArrowheads="1"/>
          </p:cNvSpPr>
          <p:nvPr/>
        </p:nvSpPr>
        <p:spPr bwMode="auto">
          <a:xfrm>
            <a:off x="228600" y="3581400"/>
            <a:ext cx="7772400" cy="3124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488" tIns="44450" rIns="90488" bIns="44450"/>
          <a:lstStyle/>
          <a:p>
            <a:pPr>
              <a:buFontTx/>
              <a:buChar char="•"/>
            </a:pPr>
            <a:r>
              <a:rPr lang="en-US" sz="3200"/>
              <a:t>  </a:t>
            </a:r>
            <a:r>
              <a:rPr lang="en-US" sz="2800"/>
              <a:t>F</a:t>
            </a:r>
            <a:r>
              <a:rPr lang="en-AU" sz="2800"/>
              <a:t>orecasting time series with</a:t>
            </a:r>
          </a:p>
          <a:p>
            <a:pPr lvl="2">
              <a:buFontTx/>
              <a:buChar char="•"/>
            </a:pPr>
            <a:r>
              <a:rPr lang="en-AU" sz="2800"/>
              <a:t>trend</a:t>
            </a:r>
          </a:p>
          <a:p>
            <a:pPr lvl="2">
              <a:buFontTx/>
              <a:buChar char="•"/>
            </a:pPr>
            <a:r>
              <a:rPr lang="en-AU" sz="2800"/>
              <a:t>trend and seasonality</a:t>
            </a:r>
            <a:endParaRPr lang="en-US" sz="2800"/>
          </a:p>
          <a:p>
            <a:r>
              <a:rPr lang="en-US" sz="2800"/>
              <a:t>  </a:t>
            </a:r>
          </a:p>
          <a:p>
            <a:r>
              <a:rPr lang="en-US" sz="2800"/>
              <a:t>    </a:t>
            </a:r>
            <a:endParaRPr lang="en-AU" sz="2800"/>
          </a:p>
        </p:txBody>
      </p:sp>
      <p:pic>
        <p:nvPicPr>
          <p:cNvPr id="393221" name="Picture 5" descr="en00190_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096000" y="2895600"/>
            <a:ext cx="1858963" cy="2362200"/>
          </a:xfrm>
          <a:prstGeom prst="rect">
            <a:avLst/>
          </a:prstGeom>
          <a:noFill/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9CA2CA9-79ED-66FB-27B5-3B642730F4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IDS, Faculty of Engineering, University of Jaffna</a:t>
            </a:r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393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2" dur="500"/>
                                        <p:tgtEl>
                                          <p:spTgt spid="393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3219" grpId="0" autoUpdateAnimBg="0"/>
      <p:bldP spid="393220" grpId="0" autoUpdateAnimBg="0"/>
    </p:bldLst>
  </p:timing>
</p:sld>
</file>

<file path=ppt/theme/theme1.xml><?xml version="1.0" encoding="utf-8"?>
<a:theme xmlns:a="http://schemas.openxmlformats.org/drawingml/2006/main" name="Blank Presentation">
  <a:themeElements>
    <a:clrScheme name="Blank Presentatio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Blank Presentatio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AU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AU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Blank Presenta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Office\Templates\Presentation Designs\Blank Presentation.pot</Template>
  <TotalTime>38</TotalTime>
  <Pages>38</Pages>
  <Words>3319</Words>
  <Application>Microsoft Office PowerPoint</Application>
  <PresentationFormat>On-screen Show (4:3)</PresentationFormat>
  <Paragraphs>650</Paragraphs>
  <Slides>70</Slides>
  <Notes>22</Notes>
  <HiddenSlides>0</HiddenSlides>
  <MMClips>0</MMClips>
  <ScaleCrop>false</ScaleCrop>
  <HeadingPairs>
    <vt:vector size="8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6</vt:i4>
      </vt:variant>
      <vt:variant>
        <vt:lpstr>Slide Titles</vt:lpstr>
      </vt:variant>
      <vt:variant>
        <vt:i4>70</vt:i4>
      </vt:variant>
    </vt:vector>
  </HeadingPairs>
  <TitlesOfParts>
    <vt:vector size="87" baseType="lpstr">
      <vt:lpstr>Batang</vt:lpstr>
      <vt:lpstr>Gungsuh</vt:lpstr>
      <vt:lpstr>MS PGothic</vt:lpstr>
      <vt:lpstr>Arial</vt:lpstr>
      <vt:lpstr>Arial Narrow</vt:lpstr>
      <vt:lpstr>Book Antiqua</vt:lpstr>
      <vt:lpstr>Bookman Old Style</vt:lpstr>
      <vt:lpstr>Tahoma</vt:lpstr>
      <vt:lpstr>Times New Roman</vt:lpstr>
      <vt:lpstr>Wingdings</vt:lpstr>
      <vt:lpstr>Blank Presentation</vt:lpstr>
      <vt:lpstr>Clip</vt:lpstr>
      <vt:lpstr>Chart</vt:lpstr>
      <vt:lpstr>Worksheet</vt:lpstr>
      <vt:lpstr>Equation</vt:lpstr>
      <vt:lpstr>Document</vt:lpstr>
      <vt:lpstr>Microsoft Equation 3.0</vt:lpstr>
      <vt:lpstr>Introduction to Time Series Analysis</vt:lpstr>
      <vt:lpstr>Module objectives</vt:lpstr>
      <vt:lpstr>What is a time series?</vt:lpstr>
      <vt:lpstr>Why are time series data different from other data?</vt:lpstr>
      <vt:lpstr>What Are Users Looking for in an Economic Time Series?</vt:lpstr>
      <vt:lpstr>When should time series analysis best be used?</vt:lpstr>
      <vt:lpstr>Forecasting Horizons</vt:lpstr>
      <vt:lpstr>Examples of Time series data</vt:lpstr>
      <vt:lpstr>Time Series example</vt:lpstr>
      <vt:lpstr>Time Series</vt:lpstr>
      <vt:lpstr>Time Series</vt:lpstr>
      <vt:lpstr>Importance of time series analysis </vt:lpstr>
      <vt:lpstr>Time-Series Components</vt:lpstr>
      <vt:lpstr>Components of Time Series</vt:lpstr>
      <vt:lpstr>      Components of Time Series               Trend (Tt )     </vt:lpstr>
      <vt:lpstr>Seasonal variation (St )</vt:lpstr>
      <vt:lpstr>PowerPoint Presentation</vt:lpstr>
      <vt:lpstr>Example</vt:lpstr>
      <vt:lpstr>Seasonal Components Removed</vt:lpstr>
      <vt:lpstr>Why Do Users Want Seasonally Adjusted Data?</vt:lpstr>
      <vt:lpstr>Causes of Seasonal Effects</vt:lpstr>
      <vt:lpstr>PowerPoint Presentation</vt:lpstr>
      <vt:lpstr>Cyclical Component</vt:lpstr>
      <vt:lpstr>Irregular Component</vt:lpstr>
      <vt:lpstr>Causes of Irregular Effects</vt:lpstr>
      <vt:lpstr>Classical Decomposition</vt:lpstr>
      <vt:lpstr>PowerPoint Presentation</vt:lpstr>
      <vt:lpstr>Our aim</vt:lpstr>
      <vt:lpstr>Forecasting</vt:lpstr>
      <vt:lpstr>PowerPoint Presentation</vt:lpstr>
      <vt:lpstr>Long-term forecasting  Forecasting using Trend only </vt:lpstr>
      <vt:lpstr>Forecasting Time Series with Trend</vt:lpstr>
      <vt:lpstr>Measuring the Seasonal Effect</vt:lpstr>
      <vt:lpstr>Measuring the Seasonal Effect</vt:lpstr>
      <vt:lpstr>Measuring the Seasonal Effect  - Using the Trend Equation [Rationale for the method] </vt:lpstr>
      <vt:lpstr>Measuring the Seasonal Effect  - Using the Trend Equation </vt:lpstr>
      <vt:lpstr>Measuring the Seasonal Effect  - Using the Trend Equation</vt:lpstr>
      <vt:lpstr>PowerPoint Presentation</vt:lpstr>
      <vt:lpstr>Measuring the Seasonal Effect  - Using the Trend Equation</vt:lpstr>
      <vt:lpstr>PowerPoint Presentation</vt:lpstr>
      <vt:lpstr>Measuring the Seasonal Effect   Interpreting the Seasonal Index</vt:lpstr>
      <vt:lpstr>Forecasting Time Series with Trend and Seasonality </vt:lpstr>
      <vt:lpstr>Forecasting with Trend and Seasonality</vt:lpstr>
      <vt:lpstr>Forecasting with Trend and Seasonality</vt:lpstr>
      <vt:lpstr>PowerPoint Presentation</vt:lpstr>
      <vt:lpstr>PowerPoint Presentation</vt:lpstr>
      <vt:lpstr>Forecasting with Trend and Seasonality</vt:lpstr>
      <vt:lpstr>Forecasting with Trend and Seasonality</vt:lpstr>
      <vt:lpstr>PowerPoint Presentation</vt:lpstr>
      <vt:lpstr>Smoothing techniques</vt:lpstr>
      <vt:lpstr>Smoothing techniques</vt:lpstr>
      <vt:lpstr>Smoothing the  Annual Time Series</vt:lpstr>
      <vt:lpstr>Moving Averages</vt:lpstr>
      <vt:lpstr>Smoothing techniques: Moving Average (MA)</vt:lpstr>
      <vt:lpstr>Smoothing techniques: Moving Average (MA) k=3</vt:lpstr>
      <vt:lpstr>Smoothing techniques: Moving Average (MA)</vt:lpstr>
      <vt:lpstr>Smoothing techniques: Moving Average (MA) k=5</vt:lpstr>
      <vt:lpstr>Smoothing techniques: Moving Average (MA)</vt:lpstr>
      <vt:lpstr>Smoothing techniques: Moving Average (MA)</vt:lpstr>
      <vt:lpstr>Smoothing techniques: Moving Average (MA)</vt:lpstr>
      <vt:lpstr>Smoothing techniques: Moving Average (MA)</vt:lpstr>
      <vt:lpstr>Smoothing techniques: Moving Average (MA)</vt:lpstr>
      <vt:lpstr>PowerPoint Presentation</vt:lpstr>
      <vt:lpstr>Measuring the seasonal effect</vt:lpstr>
      <vt:lpstr>Measuring the seasonal effect</vt:lpstr>
      <vt:lpstr>PowerPoint Presentation</vt:lpstr>
      <vt:lpstr>PowerPoint Presentation</vt:lpstr>
      <vt:lpstr>Negative trend is also a trend..</vt:lpstr>
      <vt:lpstr> Exercise </vt:lpstr>
      <vt:lpstr>Summary of Time Series Lectures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RELATIONSHIPS BETWEEN TWO VARIABLES</dc:title>
  <dc:subject/>
  <dc:creator>Mayooran</dc:creator>
  <cp:keywords/>
  <dc:description/>
  <cp:lastModifiedBy>Thevarajah Mayooran</cp:lastModifiedBy>
  <cp:revision>252</cp:revision>
  <cp:lastPrinted>1998-09-22T00:55:06Z</cp:lastPrinted>
  <dcterms:created xsi:type="dcterms:W3CDTF">1997-09-08T09:42:16Z</dcterms:created>
  <dcterms:modified xsi:type="dcterms:W3CDTF">2026-03-16T06:47:13Z</dcterms:modified>
</cp:coreProperties>
</file>
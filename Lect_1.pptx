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82"/>
  </p:notesMasterIdLst>
  <p:sldIdLst>
    <p:sldId id="352" r:id="rId2"/>
    <p:sldId id="278" r:id="rId3"/>
    <p:sldId id="263" r:id="rId4"/>
    <p:sldId id="279" r:id="rId5"/>
    <p:sldId id="280" r:id="rId6"/>
    <p:sldId id="281" r:id="rId7"/>
    <p:sldId id="282" r:id="rId8"/>
    <p:sldId id="357" r:id="rId9"/>
    <p:sldId id="369" r:id="rId10"/>
    <p:sldId id="283" r:id="rId11"/>
    <p:sldId id="284" r:id="rId12"/>
    <p:sldId id="285" r:id="rId13"/>
    <p:sldId id="286" r:id="rId14"/>
    <p:sldId id="287" r:id="rId15"/>
    <p:sldId id="288" r:id="rId16"/>
    <p:sldId id="299" r:id="rId17"/>
    <p:sldId id="375" r:id="rId18"/>
    <p:sldId id="290" r:id="rId19"/>
    <p:sldId id="291" r:id="rId20"/>
    <p:sldId id="292" r:id="rId21"/>
    <p:sldId id="293" r:id="rId22"/>
    <p:sldId id="347" r:id="rId23"/>
    <p:sldId id="370" r:id="rId24"/>
    <p:sldId id="371" r:id="rId25"/>
    <p:sldId id="358" r:id="rId26"/>
    <p:sldId id="360" r:id="rId27"/>
    <p:sldId id="300" r:id="rId28"/>
    <p:sldId id="294" r:id="rId29"/>
    <p:sldId id="348" r:id="rId30"/>
    <p:sldId id="296" r:id="rId31"/>
    <p:sldId id="297" r:id="rId32"/>
    <p:sldId id="301" r:id="rId33"/>
    <p:sldId id="302" r:id="rId34"/>
    <p:sldId id="303" r:id="rId35"/>
    <p:sldId id="305" r:id="rId36"/>
    <p:sldId id="304" r:id="rId37"/>
    <p:sldId id="372" r:id="rId38"/>
    <p:sldId id="306" r:id="rId39"/>
    <p:sldId id="307" r:id="rId40"/>
    <p:sldId id="308" r:id="rId41"/>
    <p:sldId id="309" r:id="rId42"/>
    <p:sldId id="310" r:id="rId43"/>
    <p:sldId id="311" r:id="rId44"/>
    <p:sldId id="312" r:id="rId45"/>
    <p:sldId id="317" r:id="rId46"/>
    <p:sldId id="313" r:id="rId47"/>
    <p:sldId id="314" r:id="rId48"/>
    <p:sldId id="330" r:id="rId49"/>
    <p:sldId id="315" r:id="rId50"/>
    <p:sldId id="316" r:id="rId51"/>
    <p:sldId id="318" r:id="rId52"/>
    <p:sldId id="319" r:id="rId53"/>
    <p:sldId id="334" r:id="rId54"/>
    <p:sldId id="320" r:id="rId55"/>
    <p:sldId id="321" r:id="rId56"/>
    <p:sldId id="322" r:id="rId57"/>
    <p:sldId id="323" r:id="rId58"/>
    <p:sldId id="340" r:id="rId59"/>
    <p:sldId id="331" r:id="rId60"/>
    <p:sldId id="332" r:id="rId61"/>
    <p:sldId id="335" r:id="rId62"/>
    <p:sldId id="333" r:id="rId63"/>
    <p:sldId id="336" r:id="rId64"/>
    <p:sldId id="338" r:id="rId65"/>
    <p:sldId id="324" r:id="rId66"/>
    <p:sldId id="325" r:id="rId67"/>
    <p:sldId id="339" r:id="rId68"/>
    <p:sldId id="326" r:id="rId69"/>
    <p:sldId id="341" r:id="rId70"/>
    <p:sldId id="327" r:id="rId71"/>
    <p:sldId id="328" r:id="rId72"/>
    <p:sldId id="343" r:id="rId73"/>
    <p:sldId id="344" r:id="rId74"/>
    <p:sldId id="337" r:id="rId75"/>
    <p:sldId id="374" r:id="rId76"/>
    <p:sldId id="346" r:id="rId77"/>
    <p:sldId id="350" r:id="rId78"/>
    <p:sldId id="349" r:id="rId79"/>
    <p:sldId id="351" r:id="rId80"/>
    <p:sldId id="373" r:id="rId81"/>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a:srgbClr val="990099"/>
    <a:srgbClr val="336699"/>
    <a:srgbClr val="CCECFF"/>
    <a:srgbClr val="2DCDED"/>
    <a:srgbClr val="006600"/>
    <a:srgbClr val="FF0000"/>
    <a:srgbClr val="FFFF99"/>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3" autoAdjust="0"/>
    <p:restoredTop sz="94602" autoAdjust="0"/>
  </p:normalViewPr>
  <p:slideViewPr>
    <p:cSldViewPr>
      <p:cViewPr varScale="1">
        <p:scale>
          <a:sx n="56" d="100"/>
          <a:sy n="56" d="100"/>
        </p:scale>
        <p:origin x="1806" y="2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evarajah Mayooran" userId="028ced5d-c088-4edf-a4ff-720435ef9709" providerId="ADAL" clId="{DC8E7E0F-80C3-4AF6-B417-59EB41DBE316}"/>
    <pc:docChg chg="modSld">
      <pc:chgData name="Thevarajah Mayooran" userId="028ced5d-c088-4edf-a4ff-720435ef9709" providerId="ADAL" clId="{DC8E7E0F-80C3-4AF6-B417-59EB41DBE316}" dt="2025-12-08T01:24:50.673" v="0" actId="20577"/>
      <pc:docMkLst>
        <pc:docMk/>
      </pc:docMkLst>
      <pc:sldChg chg="modSp mod">
        <pc:chgData name="Thevarajah Mayooran" userId="028ced5d-c088-4edf-a4ff-720435ef9709" providerId="ADAL" clId="{DC8E7E0F-80C3-4AF6-B417-59EB41DBE316}" dt="2025-12-08T01:24:50.673" v="0" actId="20577"/>
        <pc:sldMkLst>
          <pc:docMk/>
          <pc:sldMk cId="0" sldId="373"/>
        </pc:sldMkLst>
        <pc:spChg chg="mod">
          <ac:chgData name="Thevarajah Mayooran" userId="028ced5d-c088-4edf-a4ff-720435ef9709" providerId="ADAL" clId="{DC8E7E0F-80C3-4AF6-B417-59EB41DBE316}" dt="2025-12-08T01:24:50.673" v="0" actId="20577"/>
          <ac:spMkLst>
            <pc:docMk/>
            <pc:sldMk cId="0" sldId="373"/>
            <ac:spMk id="3" creationId="{5C86C50B-7B7B-66D7-95BB-6222A8749EE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F47A3A7F-ED21-4E4F-84F3-8EC39495DFD2}" type="datetimeFigureOut">
              <a:rPr lang="en-US"/>
              <a:pPr>
                <a:defRPr/>
              </a:pPr>
              <a:t>12/8/2025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F529802F-692C-4402-992F-168B735E8765}" type="slidenum">
              <a:rPr lang="en-IN"/>
              <a:pPr>
                <a:defRPr/>
              </a:pPr>
              <a:t>‹#›</a:t>
            </a:fld>
            <a:endParaRPr lang="en-IN"/>
          </a:p>
        </p:txBody>
      </p:sp>
    </p:spTree>
    <p:extLst>
      <p:ext uri="{BB962C8B-B14F-4D97-AF65-F5344CB8AC3E}">
        <p14:creationId xmlns:p14="http://schemas.microsoft.com/office/powerpoint/2010/main" val="56668663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F529802F-692C-4402-992F-168B735E8765}" type="slidenum">
              <a:rPr lang="en-IN" smtClean="0"/>
              <a:pPr>
                <a:defRPr/>
              </a:pPr>
              <a:t>68</a:t>
            </a:fld>
            <a:endParaRPr lang="en-IN"/>
          </a:p>
        </p:txBody>
      </p:sp>
    </p:spTree>
    <p:extLst>
      <p:ext uri="{BB962C8B-B14F-4D97-AF65-F5344CB8AC3E}">
        <p14:creationId xmlns:p14="http://schemas.microsoft.com/office/powerpoint/2010/main" val="12410060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5" name="Rectangle 4"/>
          <p:cNvSpPr>
            <a:spLocks noChangeArrowheads="1"/>
          </p:cNvSpPr>
          <p:nvPr/>
        </p:nvSpPr>
        <p:spPr bwMode="white">
          <a:xfrm>
            <a:off x="8991600" y="3175"/>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6" name="Rectangle 5"/>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7" name="Rectangle 6"/>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0" name="Rectangle 9"/>
          <p:cNvSpPr>
            <a:spLocks noChangeArrowheads="1"/>
          </p:cNvSpPr>
          <p:nvPr/>
        </p:nvSpPr>
        <p:spPr bwMode="auto">
          <a:xfrm>
            <a:off x="146050" y="6391275"/>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1" name="Straight Connector 10"/>
          <p:cNvSpPr>
            <a:spLocks noChangeShapeType="1"/>
          </p:cNvSpPr>
          <p:nvPr/>
        </p:nvSpPr>
        <p:spPr bwMode="auto">
          <a:xfrm>
            <a:off x="155575" y="241935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p>
        </p:txBody>
      </p:sp>
      <p:sp>
        <p:nvSpPr>
          <p:cNvPr id="12" name="Rectangle 11"/>
          <p:cNvSpPr>
            <a:spLocks noChangeArrowheads="1"/>
          </p:cNvSpPr>
          <p:nvPr/>
        </p:nvSpPr>
        <p:spPr bwMode="auto">
          <a:xfrm>
            <a:off x="152400" y="152400"/>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p>
        </p:txBody>
      </p:sp>
      <p:sp>
        <p:nvSpPr>
          <p:cNvPr id="13" name="Oval 12"/>
          <p:cNvSpPr/>
          <p:nvPr/>
        </p:nvSpPr>
        <p:spPr>
          <a:xfrm>
            <a:off x="4267200" y="211455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4" name="Oval 13"/>
          <p:cNvSpPr/>
          <p:nvPr/>
        </p:nvSpPr>
        <p:spPr>
          <a:xfrm>
            <a:off x="4362450" y="2209800"/>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685800" y="381000"/>
            <a:ext cx="7772400" cy="1752600"/>
          </a:xfrm>
        </p:spPr>
        <p:txBody>
          <a:bodyPr/>
          <a:lstStyle>
            <a:lvl1pPr>
              <a:defRPr sz="4200">
                <a:solidFill>
                  <a:schemeClr val="accent1"/>
                </a:solidFill>
              </a:defRPr>
            </a:lvl1pPr>
          </a:lstStyle>
          <a:p>
            <a:r>
              <a:rPr lang="en-US"/>
              <a:t>Click to edit Master title style</a:t>
            </a:r>
          </a:p>
        </p:txBody>
      </p:sp>
      <p:sp>
        <p:nvSpPr>
          <p:cNvPr id="15" name="Date Placeholder 27"/>
          <p:cNvSpPr>
            <a:spLocks noGrp="1"/>
          </p:cNvSpPr>
          <p:nvPr>
            <p:ph type="dt" sz="half" idx="10"/>
          </p:nvPr>
        </p:nvSpPr>
        <p:spPr/>
        <p:txBody>
          <a:bodyPr/>
          <a:lstStyle>
            <a:lvl1pPr>
              <a:defRPr/>
            </a:lvl1pPr>
          </a:lstStyle>
          <a:p>
            <a:pPr>
              <a:defRPr/>
            </a:pPr>
            <a:fld id="{0E6E7D6F-2E3D-4BE7-8208-67DF74B11AD0}" type="datetime2">
              <a:rPr lang="en-US" smtClean="0"/>
              <a:pPr>
                <a:defRPr/>
              </a:pPr>
              <a:t>Monday, December 8, 2025</a:t>
            </a:fld>
            <a:endParaRPr lang="en-US"/>
          </a:p>
        </p:txBody>
      </p:sp>
      <p:sp>
        <p:nvSpPr>
          <p:cNvPr id="16" name="Footer Placeholder 16"/>
          <p:cNvSpPr>
            <a:spLocks noGrp="1"/>
          </p:cNvSpPr>
          <p:nvPr>
            <p:ph type="ftr" sz="quarter" idx="11"/>
          </p:nvPr>
        </p:nvSpPr>
        <p:spPr/>
        <p:txBody>
          <a:bodyPr/>
          <a:lstStyle>
            <a:lvl1pPr>
              <a:defRPr/>
            </a:lvl1pPr>
          </a:lstStyle>
          <a:p>
            <a:pPr>
              <a:defRPr/>
            </a:pPr>
            <a:r>
              <a:rPr lang="en-US"/>
              <a:t>STAT 154 -09</a:t>
            </a:r>
          </a:p>
        </p:txBody>
      </p:sp>
      <p:sp>
        <p:nvSpPr>
          <p:cNvPr id="17" name="Slide Number Placeholder 28"/>
          <p:cNvSpPr>
            <a:spLocks noGrp="1"/>
          </p:cNvSpPr>
          <p:nvPr>
            <p:ph type="sldNum" sz="quarter" idx="12"/>
          </p:nvPr>
        </p:nvSpPr>
        <p:spPr>
          <a:xfrm>
            <a:off x="4343400" y="2198688"/>
            <a:ext cx="457200" cy="441325"/>
          </a:xfrm>
        </p:spPr>
        <p:txBody>
          <a:bodyPr/>
          <a:lstStyle>
            <a:lvl1pPr>
              <a:defRPr>
                <a:solidFill>
                  <a:schemeClr val="accent3">
                    <a:shade val="75000"/>
                  </a:schemeClr>
                </a:solidFill>
              </a:defRPr>
            </a:lvl1pPr>
          </a:lstStyle>
          <a:p>
            <a:pPr>
              <a:defRPr/>
            </a:pPr>
            <a:fld id="{D13D66EE-49DD-4888-B717-C82DBC1A8205}"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transition spd="slow">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lang="en-US"/>
              <a:t>Click to edit Master title style</a:t>
            </a:r>
          </a:p>
        </p:txBody>
      </p:sp>
      <p:sp>
        <p:nvSpPr>
          <p:cNvPr id="8" name="Content Placeholder 7"/>
          <p:cNvSpPr>
            <a:spLocks noGrp="1"/>
          </p:cNvSpPr>
          <p:nvPr>
            <p:ph sz="quarter" idx="1"/>
          </p:nvPr>
        </p:nvSpPr>
        <p:spPr>
          <a:xfrm>
            <a:off x="301752" y="1527048"/>
            <a:ext cx="850392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35B9553-B32A-4AA7-87D9-AACB6065D541}" type="datetime2">
              <a:rPr lang="en-US" smtClean="0"/>
              <a:pPr>
                <a:defRPr/>
              </a:pPr>
              <a:t>Monday, December 8, 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STAT 154 -09</a:t>
            </a:r>
          </a:p>
        </p:txBody>
      </p:sp>
      <p:sp>
        <p:nvSpPr>
          <p:cNvPr id="6" name="Slide Number Placeholder 5"/>
          <p:cNvSpPr>
            <a:spLocks noGrp="1"/>
          </p:cNvSpPr>
          <p:nvPr>
            <p:ph type="sldNum" sz="quarter" idx="12"/>
          </p:nvPr>
        </p:nvSpPr>
        <p:spPr>
          <a:xfrm>
            <a:off x="4362450" y="1027113"/>
            <a:ext cx="457200" cy="441325"/>
          </a:xfrm>
        </p:spPr>
        <p:txBody>
          <a:bodyPr/>
          <a:lstStyle>
            <a:lvl1pPr>
              <a:defRPr/>
            </a:lvl1pPr>
          </a:lstStyle>
          <a:p>
            <a:pPr>
              <a:defRPr/>
            </a:pPr>
            <a:fld id="{C70CFA2D-21B9-45B6-893F-7371CE3DE2D8}"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transition spd="slow">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5" name="Rectangle 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6" name="Rectangle 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7" name="Rectangle 6"/>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8" name="Rectangle 7"/>
          <p:cNvSpPr>
            <a:spLocks noChangeArrowheads="1"/>
          </p:cNvSpPr>
          <p:nvPr/>
        </p:nvSpPr>
        <p:spPr bwMode="white">
          <a:xfrm>
            <a:off x="152400" y="2286000"/>
            <a:ext cx="8832850" cy="3048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9" name="Rectangle 8"/>
          <p:cNvSpPr>
            <a:spLocks noChangeArrowheads="1"/>
          </p:cNvSpPr>
          <p:nvPr/>
        </p:nvSpPr>
        <p:spPr bwMode="auto">
          <a:xfrm>
            <a:off x="155575" y="142875"/>
            <a:ext cx="8832850" cy="2139950"/>
          </a:xfrm>
          <a:prstGeom prst="rect">
            <a:avLst/>
          </a:prstGeom>
          <a:solidFill>
            <a:schemeClr val="accent1"/>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0" name="Rectangle 9"/>
          <p:cNvSpPr>
            <a:spLocks noChangeArrowheads="1"/>
          </p:cNvSpPr>
          <p:nvPr/>
        </p:nvSpPr>
        <p:spPr bwMode="auto">
          <a:xfrm>
            <a:off x="146050" y="6391275"/>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1" name="Rectangle 10"/>
          <p:cNvSpPr>
            <a:spLocks noChangeArrowheads="1"/>
          </p:cNvSpPr>
          <p:nvPr/>
        </p:nvSpPr>
        <p:spPr bwMode="auto">
          <a:xfrm>
            <a:off x="152400" y="152400"/>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p>
        </p:txBody>
      </p:sp>
      <p:sp>
        <p:nvSpPr>
          <p:cNvPr id="12" name="Straight Connector 11"/>
          <p:cNvSpPr>
            <a:spLocks noChangeShapeType="1"/>
          </p:cNvSpPr>
          <p:nvPr/>
        </p:nvSpPr>
        <p:spPr bwMode="auto">
          <a:xfrm>
            <a:off x="152400" y="243840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p>
        </p:txBody>
      </p:sp>
      <p:sp>
        <p:nvSpPr>
          <p:cNvPr id="13" name="Oval 12"/>
          <p:cNvSpPr/>
          <p:nvPr/>
        </p:nvSpPr>
        <p:spPr>
          <a:xfrm>
            <a:off x="4267200" y="211455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4" name="Oval 13"/>
          <p:cNvSpPr/>
          <p:nvPr/>
        </p:nvSpPr>
        <p:spPr>
          <a:xfrm>
            <a:off x="4362450" y="2209800"/>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Text Placeholder 2"/>
          <p:cNvSpPr>
            <a:spLocks noGrp="1"/>
          </p:cNvSpPr>
          <p:nvPr>
            <p:ph type="body" idx="1"/>
          </p:nvPr>
        </p:nvSpPr>
        <p:spPr>
          <a:xfrm>
            <a:off x="1368426" y="2743200"/>
            <a:ext cx="6480174" cy="1673225"/>
          </a:xfrm>
        </p:spPr>
        <p:txBody>
          <a:bodyPr/>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722313" y="533400"/>
            <a:ext cx="7772400" cy="1524000"/>
          </a:xfrm>
        </p:spPr>
        <p:txBody>
          <a:bodyPr/>
          <a:lstStyle>
            <a:lvl1pPr algn="ctr">
              <a:buNone/>
              <a:defRPr sz="4200" b="0" cap="none" baseline="0">
                <a:solidFill>
                  <a:srgbClr val="FFFFFF"/>
                </a:solidFill>
              </a:defRPr>
            </a:lvl1pPr>
          </a:lstStyle>
          <a:p>
            <a:r>
              <a:rPr lang="en-US"/>
              <a:t>Click to edit Master title style</a:t>
            </a:r>
          </a:p>
        </p:txBody>
      </p:sp>
      <p:sp>
        <p:nvSpPr>
          <p:cNvPr id="15" name="Footer Placeholder 4"/>
          <p:cNvSpPr>
            <a:spLocks noGrp="1"/>
          </p:cNvSpPr>
          <p:nvPr>
            <p:ph type="ftr" sz="quarter" idx="10"/>
          </p:nvPr>
        </p:nvSpPr>
        <p:spPr/>
        <p:txBody>
          <a:bodyPr/>
          <a:lstStyle>
            <a:lvl1pPr>
              <a:defRPr/>
            </a:lvl1pPr>
          </a:lstStyle>
          <a:p>
            <a:pPr>
              <a:defRPr/>
            </a:pPr>
            <a:r>
              <a:rPr lang="en-US"/>
              <a:t>STAT 154 -09</a:t>
            </a:r>
          </a:p>
        </p:txBody>
      </p:sp>
      <p:sp>
        <p:nvSpPr>
          <p:cNvPr id="16" name="Date Placeholder 3"/>
          <p:cNvSpPr>
            <a:spLocks noGrp="1"/>
          </p:cNvSpPr>
          <p:nvPr>
            <p:ph type="dt" sz="half" idx="11"/>
          </p:nvPr>
        </p:nvSpPr>
        <p:spPr/>
        <p:txBody>
          <a:bodyPr/>
          <a:lstStyle>
            <a:lvl1pPr>
              <a:defRPr/>
            </a:lvl1pPr>
          </a:lstStyle>
          <a:p>
            <a:pPr>
              <a:defRPr/>
            </a:pPr>
            <a:fld id="{A4D6D4EA-5FB8-43CE-987D-0AC86465F95C}" type="datetime2">
              <a:rPr lang="en-US" smtClean="0"/>
              <a:pPr>
                <a:defRPr/>
              </a:pPr>
              <a:t>Monday, December 8, 2025</a:t>
            </a:fld>
            <a:endParaRPr lang="en-US"/>
          </a:p>
        </p:txBody>
      </p:sp>
      <p:sp>
        <p:nvSpPr>
          <p:cNvPr id="17" name="Slide Number Placeholder 5"/>
          <p:cNvSpPr>
            <a:spLocks noGrp="1"/>
          </p:cNvSpPr>
          <p:nvPr>
            <p:ph type="sldNum" sz="quarter" idx="12"/>
          </p:nvPr>
        </p:nvSpPr>
        <p:spPr>
          <a:xfrm>
            <a:off x="4343400" y="2198688"/>
            <a:ext cx="457200" cy="441325"/>
          </a:xfrm>
        </p:spPr>
        <p:txBody>
          <a:bodyPr/>
          <a:lstStyle>
            <a:lvl1pPr>
              <a:defRPr>
                <a:solidFill>
                  <a:schemeClr val="accent3">
                    <a:shade val="75000"/>
                  </a:schemeClr>
                </a:solidFill>
              </a:defRPr>
            </a:lvl1pPr>
          </a:lstStyle>
          <a:p>
            <a:pPr>
              <a:defRPr/>
            </a:pPr>
            <a:fld id="{ECCC039A-CD02-440D-B5AB-1E629846DA34}"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transition spd="slow">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Straight Connector 4"/>
          <p:cNvSpPr>
            <a:spLocks noChangeShapeType="1"/>
          </p:cNvSpPr>
          <p:nvPr/>
        </p:nvSpPr>
        <p:spPr bwMode="auto">
          <a:xfrm flipV="1">
            <a:off x="4562475" y="1576388"/>
            <a:ext cx="9525" cy="4818062"/>
          </a:xfrm>
          <a:prstGeom prst="line">
            <a:avLst/>
          </a:prstGeom>
          <a:noFill/>
          <a:ln w="9525" cap="flat" cmpd="sng" algn="ctr">
            <a:solidFill>
              <a:schemeClr val="tx2"/>
            </a:solidFill>
            <a:prstDash val="sysDash"/>
            <a:round/>
            <a:headEnd type="none" w="med" len="med"/>
            <a:tailEnd type="none" w="med" len="med"/>
          </a:ln>
          <a:effectLst/>
        </p:spPr>
        <p:txBody>
          <a:bodyPr wrap="none" anchor="ctr"/>
          <a:lstStyle/>
          <a:p>
            <a:pPr>
              <a:defRPr/>
            </a:pPr>
            <a:endParaRPr lang="en-US"/>
          </a:p>
        </p:txBody>
      </p:sp>
      <p:sp>
        <p:nvSpPr>
          <p:cNvPr id="2" name="Title 1"/>
          <p:cNvSpPr>
            <a:spLocks noGrp="1"/>
          </p:cNvSpPr>
          <p:nvPr>
            <p:ph type="title"/>
          </p:nvPr>
        </p:nvSpPr>
        <p:spPr>
          <a:xfrm>
            <a:off x="301752" y="228600"/>
            <a:ext cx="8534400" cy="758952"/>
          </a:xfrm>
        </p:spPr>
        <p:txBody>
          <a:bodyPr/>
          <a:lstStyle/>
          <a:p>
            <a:r>
              <a:rPr lang="en-US"/>
              <a:t>Click to edit Master title style</a:t>
            </a:r>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p:cNvSpPr>
            <a:spLocks noGrp="1"/>
          </p:cNvSpPr>
          <p:nvPr>
            <p:ph type="dt" sz="half" idx="10"/>
          </p:nvPr>
        </p:nvSpPr>
        <p:spPr>
          <a:xfrm>
            <a:off x="5791200" y="6410325"/>
            <a:ext cx="3044825" cy="365125"/>
          </a:xfrm>
        </p:spPr>
        <p:txBody>
          <a:bodyPr/>
          <a:lstStyle>
            <a:lvl1pPr>
              <a:defRPr/>
            </a:lvl1pPr>
          </a:lstStyle>
          <a:p>
            <a:pPr>
              <a:defRPr/>
            </a:pPr>
            <a:fld id="{42785495-EF89-4103-9EEF-357E42F1C782}" type="datetime2">
              <a:rPr lang="en-US" smtClean="0"/>
              <a:pPr>
                <a:defRPr/>
              </a:pPr>
              <a:t>Monday, December 8, 2025</a:t>
            </a:fld>
            <a:endParaRPr lang="en-US"/>
          </a:p>
        </p:txBody>
      </p:sp>
      <p:sp>
        <p:nvSpPr>
          <p:cNvPr id="7" name="Footer Placeholder 5"/>
          <p:cNvSpPr>
            <a:spLocks noGrp="1"/>
          </p:cNvSpPr>
          <p:nvPr>
            <p:ph type="ftr" sz="quarter" idx="11"/>
          </p:nvPr>
        </p:nvSpPr>
        <p:spPr/>
        <p:txBody>
          <a:bodyPr/>
          <a:lstStyle>
            <a:lvl1pPr>
              <a:defRPr/>
            </a:lvl1pPr>
          </a:lstStyle>
          <a:p>
            <a:pPr>
              <a:defRPr/>
            </a:pPr>
            <a:r>
              <a:rPr lang="en-US"/>
              <a:t>STAT 154 -09</a:t>
            </a:r>
          </a:p>
        </p:txBody>
      </p:sp>
      <p:sp>
        <p:nvSpPr>
          <p:cNvPr id="8" name="Slide Number Placeholder 6"/>
          <p:cNvSpPr>
            <a:spLocks noGrp="1"/>
          </p:cNvSpPr>
          <p:nvPr>
            <p:ph type="sldNum" sz="quarter" idx="12"/>
          </p:nvPr>
        </p:nvSpPr>
        <p:spPr/>
        <p:txBody>
          <a:bodyPr/>
          <a:lstStyle>
            <a:lvl1pPr>
              <a:defRPr/>
            </a:lvl1pPr>
          </a:lstStyle>
          <a:p>
            <a:pPr>
              <a:defRPr/>
            </a:pPr>
            <a:fld id="{351DA6A0-3665-4606-85C2-A64CA6D14BED}"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transition spd="slow">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Straight Connector 6"/>
          <p:cNvSpPr>
            <a:spLocks noChangeShapeType="1"/>
          </p:cNvSpPr>
          <p:nvPr/>
        </p:nvSpPr>
        <p:spPr bwMode="auto">
          <a:xfrm flipV="1">
            <a:off x="4572000" y="2200275"/>
            <a:ext cx="0" cy="4187825"/>
          </a:xfrm>
          <a:prstGeom prst="line">
            <a:avLst/>
          </a:prstGeom>
          <a:noFill/>
          <a:ln w="9525" cap="flat" cmpd="sng" algn="ctr">
            <a:solidFill>
              <a:schemeClr val="tx2"/>
            </a:solidFill>
            <a:prstDash val="sysDash"/>
            <a:round/>
            <a:headEnd type="none" w="med" len="med"/>
            <a:tailEnd type="none" w="med" len="med"/>
          </a:ln>
          <a:effectLst/>
        </p:spPr>
        <p:txBody>
          <a:bodyPr wrap="none" anchor="ctr"/>
          <a:lstStyle/>
          <a:p>
            <a:pPr>
              <a:defRPr/>
            </a:pPr>
            <a:endParaRPr lang="en-US"/>
          </a:p>
        </p:txBody>
      </p:sp>
      <p:sp>
        <p:nvSpPr>
          <p:cNvPr id="8" name="Rectangle 7"/>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9" name="Rectangle 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1" name="Rectangle 10"/>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2" name="Rectangle 11"/>
          <p:cNvSpPr/>
          <p:nvPr/>
        </p:nvSpPr>
        <p:spPr>
          <a:xfrm>
            <a:off x="152400" y="1371600"/>
            <a:ext cx="8832850"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3" name="Rectangle 12"/>
          <p:cNvSpPr>
            <a:spLocks noChangeArrowheads="1"/>
          </p:cNvSpPr>
          <p:nvPr/>
        </p:nvSpPr>
        <p:spPr bwMode="auto">
          <a:xfrm>
            <a:off x="146050" y="6391275"/>
            <a:ext cx="8832850" cy="311150"/>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4" name="Straight Connector 13"/>
          <p:cNvSpPr>
            <a:spLocks noChangeShapeType="1"/>
          </p:cNvSpPr>
          <p:nvPr/>
        </p:nvSpPr>
        <p:spPr bwMode="auto">
          <a:xfrm>
            <a:off x="152400" y="1279525"/>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p>
        </p:txBody>
      </p:sp>
      <p:sp>
        <p:nvSpPr>
          <p:cNvPr id="15" name="Rectangle 14"/>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p>
        </p:txBody>
      </p:sp>
      <p:sp>
        <p:nvSpPr>
          <p:cNvPr id="16" name="Oval 15"/>
          <p:cNvSpPr/>
          <p:nvPr/>
        </p:nvSpPr>
        <p:spPr>
          <a:xfrm>
            <a:off x="4267200" y="955675"/>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7" name="Oval 16"/>
          <p:cNvSpPr/>
          <p:nvPr/>
        </p:nvSpPr>
        <p:spPr>
          <a:xfrm>
            <a:off x="4362450" y="1050925"/>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24" name="Content Placeholder 23"/>
          <p:cNvSpPr>
            <a:spLocks noGrp="1"/>
          </p:cNvSpPr>
          <p:nvPr>
            <p:ph sz="quarter" idx="2"/>
          </p:nvPr>
        </p:nvSpPr>
        <p:spPr>
          <a:xfrm>
            <a:off x="301752" y="2471383"/>
            <a:ext cx="4041648" cy="38184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p:cNvSpPr>
            <a:spLocks noGrp="1"/>
          </p:cNvSpPr>
          <p:nvPr>
            <p:ph sz="quarter" idx="4"/>
          </p:nvPr>
        </p:nvSpPr>
        <p:spPr>
          <a:xfrm>
            <a:off x="4800600" y="2471383"/>
            <a:ext cx="4038600" cy="3822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22"/>
          <p:cNvSpPr>
            <a:spLocks noGrp="1"/>
          </p:cNvSpPr>
          <p:nvPr>
            <p:ph type="title"/>
          </p:nvPr>
        </p:nvSpPr>
        <p:spPr/>
        <p:txBody>
          <a:bodyPr rtlCol="0"/>
          <a:lstStyle/>
          <a:p>
            <a:r>
              <a:rPr lang="en-US"/>
              <a:t>Click to edit Master title style</a:t>
            </a:r>
          </a:p>
        </p:txBody>
      </p:sp>
      <p:sp>
        <p:nvSpPr>
          <p:cNvPr id="18" name="Date Placeholder 6"/>
          <p:cNvSpPr>
            <a:spLocks noGrp="1"/>
          </p:cNvSpPr>
          <p:nvPr>
            <p:ph type="dt" sz="half" idx="10"/>
          </p:nvPr>
        </p:nvSpPr>
        <p:spPr/>
        <p:txBody>
          <a:bodyPr/>
          <a:lstStyle>
            <a:lvl1pPr>
              <a:defRPr/>
            </a:lvl1pPr>
          </a:lstStyle>
          <a:p>
            <a:pPr>
              <a:defRPr/>
            </a:pPr>
            <a:fld id="{9BC1A9D4-ECF7-4FE9-B7A9-F213BC46A62C}" type="datetime2">
              <a:rPr lang="en-US" smtClean="0"/>
              <a:pPr>
                <a:defRPr/>
              </a:pPr>
              <a:t>Monday, December 8, 2025</a:t>
            </a:fld>
            <a:endParaRPr lang="en-US"/>
          </a:p>
        </p:txBody>
      </p:sp>
      <p:sp>
        <p:nvSpPr>
          <p:cNvPr id="19" name="Footer Placeholder 7"/>
          <p:cNvSpPr>
            <a:spLocks noGrp="1"/>
          </p:cNvSpPr>
          <p:nvPr>
            <p:ph type="ftr" sz="quarter" idx="11"/>
          </p:nvPr>
        </p:nvSpPr>
        <p:spPr>
          <a:xfrm>
            <a:off x="304800" y="6410325"/>
            <a:ext cx="3581400" cy="365125"/>
          </a:xfrm>
        </p:spPr>
        <p:txBody>
          <a:bodyPr/>
          <a:lstStyle>
            <a:lvl1pPr>
              <a:defRPr/>
            </a:lvl1pPr>
          </a:lstStyle>
          <a:p>
            <a:pPr>
              <a:defRPr/>
            </a:pPr>
            <a:r>
              <a:rPr lang="en-US"/>
              <a:t>STAT 154 -09</a:t>
            </a:r>
          </a:p>
        </p:txBody>
      </p:sp>
      <p:sp>
        <p:nvSpPr>
          <p:cNvPr id="20" name="Slide Number Placeholder 8"/>
          <p:cNvSpPr>
            <a:spLocks noGrp="1"/>
          </p:cNvSpPr>
          <p:nvPr>
            <p:ph type="sldNum" sz="quarter" idx="12"/>
          </p:nvPr>
        </p:nvSpPr>
        <p:spPr>
          <a:xfrm>
            <a:off x="4343400" y="1042988"/>
            <a:ext cx="457200" cy="441325"/>
          </a:xfrm>
        </p:spPr>
        <p:txBody>
          <a:bodyPr/>
          <a:lstStyle>
            <a:lvl1pPr algn="ctr">
              <a:defRPr/>
            </a:lvl1pPr>
          </a:lstStyle>
          <a:p>
            <a:pPr>
              <a:defRPr/>
            </a:pPr>
            <a:fld id="{97EADBE9-D7D4-4BA7-9E0A-B79E1CEDA01B}"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transition spd="slow">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pPr>
              <a:defRPr/>
            </a:pPr>
            <a:fld id="{C687CDBB-032F-45F0-9944-B85F137AC2FD}" type="datetime2">
              <a:rPr lang="en-US" smtClean="0"/>
              <a:pPr>
                <a:defRPr/>
              </a:pPr>
              <a:t>Monday, December 8, 2025</a:t>
            </a:fld>
            <a:endParaRPr lang="en-US"/>
          </a:p>
        </p:txBody>
      </p:sp>
      <p:sp>
        <p:nvSpPr>
          <p:cNvPr id="4" name="Footer Placeholder 3"/>
          <p:cNvSpPr>
            <a:spLocks noGrp="1"/>
          </p:cNvSpPr>
          <p:nvPr>
            <p:ph type="ftr" sz="quarter" idx="11"/>
          </p:nvPr>
        </p:nvSpPr>
        <p:spPr/>
        <p:txBody>
          <a:bodyPr/>
          <a:lstStyle>
            <a:lvl1pPr>
              <a:defRPr/>
            </a:lvl1pPr>
          </a:lstStyle>
          <a:p>
            <a:pPr>
              <a:defRPr/>
            </a:pPr>
            <a:r>
              <a:rPr lang="en-US"/>
              <a:t>STAT 154 -09</a:t>
            </a:r>
          </a:p>
        </p:txBody>
      </p:sp>
      <p:sp>
        <p:nvSpPr>
          <p:cNvPr id="5" name="Slide Number Placeholder 4"/>
          <p:cNvSpPr>
            <a:spLocks noGrp="1"/>
          </p:cNvSpPr>
          <p:nvPr>
            <p:ph type="sldNum" sz="quarter" idx="12"/>
          </p:nvPr>
        </p:nvSpPr>
        <p:spPr>
          <a:xfrm>
            <a:off x="4343400" y="1036638"/>
            <a:ext cx="457200" cy="441325"/>
          </a:xfrm>
        </p:spPr>
        <p:txBody>
          <a:bodyPr/>
          <a:lstStyle>
            <a:lvl1pPr>
              <a:defRPr/>
            </a:lvl1pPr>
          </a:lstStyle>
          <a:p>
            <a:pPr>
              <a:defRPr/>
            </a:pPr>
            <a:fld id="{783E2562-2ECC-4861-A78A-24AEECA763EC}" type="slidenum">
              <a:rPr lang="en-US"/>
              <a:pPr>
                <a:defRPr/>
              </a:pPr>
              <a:t>‹#›</a:t>
            </a:fld>
            <a:endParaRPr lang="en-US"/>
          </a:p>
        </p:txBody>
      </p:sp>
    </p:spTree>
  </p:cSld>
  <p:clrMapOvr>
    <a:masterClrMapping/>
  </p:clrMapOvr>
  <p:transition spd="slow">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3" name="Rectangle 2"/>
          <p:cNvSpPr>
            <a:spLocks noChangeArrowheads="1"/>
          </p:cNvSpPr>
          <p:nvPr/>
        </p:nvSpPr>
        <p:spPr bwMode="white">
          <a:xfrm>
            <a:off x="0" y="0"/>
            <a:ext cx="9144000" cy="155575"/>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4" name="Rectangle 3"/>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5" name="Rectangle 4"/>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6" name="Rectangle 5"/>
          <p:cNvSpPr>
            <a:spLocks noChangeArrowheads="1"/>
          </p:cNvSpPr>
          <p:nvPr/>
        </p:nvSpPr>
        <p:spPr bwMode="auto">
          <a:xfrm>
            <a:off x="146050" y="6391275"/>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7" name="Rectangle 6"/>
          <p:cNvSpPr>
            <a:spLocks noChangeArrowheads="1"/>
          </p:cNvSpPr>
          <p:nvPr/>
        </p:nvSpPr>
        <p:spPr bwMode="auto">
          <a:xfrm>
            <a:off x="152400" y="158750"/>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p>
        </p:txBody>
      </p:sp>
      <p:sp>
        <p:nvSpPr>
          <p:cNvPr id="8" name="Date Placeholder 1"/>
          <p:cNvSpPr>
            <a:spLocks noGrp="1"/>
          </p:cNvSpPr>
          <p:nvPr>
            <p:ph type="dt" sz="half" idx="10"/>
          </p:nvPr>
        </p:nvSpPr>
        <p:spPr/>
        <p:txBody>
          <a:bodyPr/>
          <a:lstStyle>
            <a:lvl1pPr>
              <a:defRPr/>
            </a:lvl1pPr>
          </a:lstStyle>
          <a:p>
            <a:pPr>
              <a:defRPr/>
            </a:pPr>
            <a:fld id="{798F6783-B2F5-4388-9B96-2CDFDC6A283F}" type="datetime2">
              <a:rPr lang="en-US" smtClean="0"/>
              <a:pPr>
                <a:defRPr/>
              </a:pPr>
              <a:t>Monday, December 8, 2025</a:t>
            </a:fld>
            <a:endParaRPr lang="en-US"/>
          </a:p>
        </p:txBody>
      </p:sp>
      <p:sp>
        <p:nvSpPr>
          <p:cNvPr id="9" name="Footer Placeholder 2"/>
          <p:cNvSpPr>
            <a:spLocks noGrp="1"/>
          </p:cNvSpPr>
          <p:nvPr>
            <p:ph type="ftr" sz="quarter" idx="11"/>
          </p:nvPr>
        </p:nvSpPr>
        <p:spPr/>
        <p:txBody>
          <a:bodyPr/>
          <a:lstStyle>
            <a:lvl1pPr>
              <a:defRPr/>
            </a:lvl1pPr>
          </a:lstStyle>
          <a:p>
            <a:pPr>
              <a:defRPr/>
            </a:pPr>
            <a:r>
              <a:rPr lang="en-US"/>
              <a:t>STAT 154 -09</a:t>
            </a:r>
          </a:p>
        </p:txBody>
      </p:sp>
      <p:sp>
        <p:nvSpPr>
          <p:cNvPr id="10" name="Slide Number Placeholder 3"/>
          <p:cNvSpPr>
            <a:spLocks noGrp="1"/>
          </p:cNvSpPr>
          <p:nvPr>
            <p:ph type="sldNum" sz="quarter" idx="12"/>
          </p:nvPr>
        </p:nvSpPr>
        <p:spPr>
          <a:xfrm>
            <a:off x="4267200" y="6324600"/>
            <a:ext cx="609600" cy="441325"/>
          </a:xfrm>
        </p:spPr>
        <p:txBody>
          <a:bodyPr/>
          <a:lstStyle>
            <a:lvl1pPr>
              <a:defRPr>
                <a:solidFill>
                  <a:srgbClr val="FFFFFF"/>
                </a:solidFill>
              </a:defRPr>
            </a:lvl1pPr>
          </a:lstStyle>
          <a:p>
            <a:pPr>
              <a:defRPr/>
            </a:pPr>
            <a:fld id="{77C6793F-F3F8-41D8-9428-CCF50DA353AF}" type="slidenum">
              <a:rPr lang="en-US"/>
              <a:pPr>
                <a:defRPr/>
              </a:pPr>
              <a:t>‹#›</a:t>
            </a:fld>
            <a:endParaRPr lang="en-US"/>
          </a:p>
        </p:txBody>
      </p:sp>
    </p:spTree>
  </p:cSld>
  <p:clrMapOvr>
    <a:masterClrMapping/>
  </p:clrMapOvr>
  <p:transition spd="slow">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a:spLocks noChangeArrowheads="1"/>
          </p:cNvSpPr>
          <p:nvPr/>
        </p:nvSpPr>
        <p:spPr bwMode="auto">
          <a:xfrm>
            <a:off x="152400" y="152400"/>
            <a:ext cx="8832850" cy="304800"/>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6" name="Rectangle 5"/>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7" name="Rectangle 6"/>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8" name="Rectangle 7"/>
          <p:cNvSpPr>
            <a:spLocks noChangeArrowheads="1"/>
          </p:cNvSpPr>
          <p:nvPr/>
        </p:nvSpPr>
        <p:spPr bwMode="white">
          <a:xfrm>
            <a:off x="0" y="0"/>
            <a:ext cx="9144000" cy="119063"/>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0" name="Rectangle 9"/>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1" name="Rectangle 10"/>
          <p:cNvSpPr>
            <a:spLocks noChangeArrowheads="1"/>
          </p:cNvSpPr>
          <p:nvPr/>
        </p:nvSpPr>
        <p:spPr bwMode="auto">
          <a:xfrm>
            <a:off x="152400" y="152400"/>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p>
        </p:txBody>
      </p:sp>
      <p:sp>
        <p:nvSpPr>
          <p:cNvPr id="12" name="Straight Connector 11"/>
          <p:cNvSpPr>
            <a:spLocks noChangeShapeType="1"/>
          </p:cNvSpPr>
          <p:nvPr/>
        </p:nvSpPr>
        <p:spPr bwMode="auto">
          <a:xfrm>
            <a:off x="152400" y="53340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p>
        </p:txBody>
      </p:sp>
      <p:sp>
        <p:nvSpPr>
          <p:cNvPr id="13" name="Oval 12"/>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4" name="Oval 13"/>
          <p:cNvSpPr/>
          <p:nvPr/>
        </p:nvSpPr>
        <p:spPr>
          <a:xfrm>
            <a:off x="1390650" y="323850"/>
            <a:ext cx="419100"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5" name="Rectangle 14"/>
          <p:cNvSpPr>
            <a:spLocks noChangeArrowheads="1"/>
          </p:cNvSpPr>
          <p:nvPr/>
        </p:nvSpPr>
        <p:spPr bwMode="auto">
          <a:xfrm>
            <a:off x="149225" y="6388100"/>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2" name="Title 1"/>
          <p:cNvSpPr>
            <a:spLocks noGrp="1"/>
          </p:cNvSpPr>
          <p:nvPr>
            <p:ph type="title"/>
          </p:nvPr>
        </p:nvSpPr>
        <p:spPr>
          <a:xfrm>
            <a:off x="381000" y="914400"/>
            <a:ext cx="2362200" cy="990600"/>
          </a:xfrm>
        </p:spPr>
        <p:txBody>
          <a:bodyPr>
            <a:noAutofit/>
          </a:bodyPr>
          <a:lstStyle>
            <a:lvl1pPr algn="l">
              <a:buNone/>
              <a:defRPr sz="2200" b="1">
                <a:solidFill>
                  <a:srgbClr val="FFFFFF"/>
                </a:solidFill>
              </a:defRPr>
            </a:lvl1pPr>
          </a:lstStyle>
          <a:p>
            <a:r>
              <a:rPr lang="en-US"/>
              <a:t>Click to edit Master title style</a:t>
            </a:r>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20" name="Content Placeholder 19"/>
          <p:cNvSpPr>
            <a:spLocks noGrp="1"/>
          </p:cNvSpPr>
          <p:nvPr>
            <p:ph sz="quarter" idx="1"/>
          </p:nvPr>
        </p:nvSpPr>
        <p:spPr>
          <a:xfrm>
            <a:off x="3124200" y="685800"/>
            <a:ext cx="56388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Slide Number Placeholder 6"/>
          <p:cNvSpPr>
            <a:spLocks noGrp="1"/>
          </p:cNvSpPr>
          <p:nvPr>
            <p:ph type="sldNum" sz="quarter" idx="10"/>
          </p:nvPr>
        </p:nvSpPr>
        <p:spPr>
          <a:xfrm>
            <a:off x="1371600" y="312738"/>
            <a:ext cx="457200" cy="441325"/>
          </a:xfrm>
        </p:spPr>
        <p:txBody>
          <a:bodyPr/>
          <a:lstStyle>
            <a:lvl1pPr>
              <a:defRPr>
                <a:solidFill>
                  <a:schemeClr val="accent3">
                    <a:shade val="75000"/>
                  </a:schemeClr>
                </a:solidFill>
              </a:defRPr>
            </a:lvl1pPr>
          </a:lstStyle>
          <a:p>
            <a:pPr>
              <a:defRPr/>
            </a:pPr>
            <a:fld id="{0DC4B981-BD34-43D6-B7AC-8A6AD6B22268}" type="slidenum">
              <a:rPr lang="en-US"/>
              <a:pPr>
                <a:defRPr/>
              </a:pPr>
              <a:t>‹#›</a:t>
            </a:fld>
            <a:endParaRPr lang="en-US"/>
          </a:p>
        </p:txBody>
      </p:sp>
      <p:sp>
        <p:nvSpPr>
          <p:cNvPr id="17" name="Date Placeholder 4"/>
          <p:cNvSpPr>
            <a:spLocks noGrp="1"/>
          </p:cNvSpPr>
          <p:nvPr>
            <p:ph type="dt" sz="half" idx="11"/>
          </p:nvPr>
        </p:nvSpPr>
        <p:spPr/>
        <p:txBody>
          <a:bodyPr/>
          <a:lstStyle>
            <a:lvl1pPr>
              <a:defRPr/>
            </a:lvl1pPr>
          </a:lstStyle>
          <a:p>
            <a:pPr>
              <a:defRPr/>
            </a:pPr>
            <a:fld id="{63C6DBB0-F886-46D6-880D-8C686ED42AEF}" type="datetime2">
              <a:rPr lang="en-US" smtClean="0"/>
              <a:pPr>
                <a:defRPr/>
              </a:pPr>
              <a:t>Monday, December 8, 2025</a:t>
            </a:fld>
            <a:endParaRPr lang="en-US"/>
          </a:p>
        </p:txBody>
      </p:sp>
      <p:sp>
        <p:nvSpPr>
          <p:cNvPr id="18" name="Footer Placeholder 5"/>
          <p:cNvSpPr>
            <a:spLocks noGrp="1"/>
          </p:cNvSpPr>
          <p:nvPr>
            <p:ph type="ftr" sz="quarter" idx="12"/>
          </p:nvPr>
        </p:nvSpPr>
        <p:spPr>
          <a:xfrm>
            <a:off x="301625" y="6410325"/>
            <a:ext cx="3382963" cy="366713"/>
          </a:xfrm>
        </p:spPr>
        <p:txBody>
          <a:bodyPr/>
          <a:lstStyle>
            <a:lvl1pPr>
              <a:defRPr/>
            </a:lvl1pPr>
          </a:lstStyle>
          <a:p>
            <a:pPr>
              <a:defRPr/>
            </a:pPr>
            <a:r>
              <a:rPr lang="en-US"/>
              <a:t>STAT 154 -09</a:t>
            </a:r>
          </a:p>
        </p:txBody>
      </p:sp>
    </p:spTree>
  </p:cSld>
  <p:clrMapOvr>
    <a:overrideClrMapping bg1="lt1" tx1="dk1" bg2="lt2" tx2="dk2" accent1="accent1" accent2="accent2" accent3="accent3" accent4="accent4" accent5="accent5" accent6="accent6" hlink="hlink" folHlink="folHlink"/>
  </p:clrMapOvr>
  <p:transition spd="slow">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152400" y="53340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p>
        </p:txBody>
      </p:sp>
      <p:sp>
        <p:nvSpPr>
          <p:cNvPr id="6" name="Rectangle 5"/>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7" name="Rectangle 6"/>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8" name="Rectangle 7"/>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dirty="0"/>
          </a:p>
        </p:txBody>
      </p:sp>
      <p:sp>
        <p:nvSpPr>
          <p:cNvPr id="10" name="Rectangle 9"/>
          <p:cNvSpPr>
            <a:spLocks noChangeArrowheads="1"/>
          </p:cNvSpPr>
          <p:nvPr/>
        </p:nvSpPr>
        <p:spPr bwMode="auto">
          <a:xfrm>
            <a:off x="152400" y="152400"/>
            <a:ext cx="8832850" cy="301625"/>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1" name="Rectangle 10"/>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2" name="Rectangle 11"/>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p>
        </p:txBody>
      </p:sp>
      <p:sp>
        <p:nvSpPr>
          <p:cNvPr id="13" name="Oval 12"/>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4" name="Oval 13"/>
          <p:cNvSpPr/>
          <p:nvPr/>
        </p:nvSpPr>
        <p:spPr>
          <a:xfrm>
            <a:off x="1390650" y="323850"/>
            <a:ext cx="419100"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5" name="Rectangle 14"/>
          <p:cNvSpPr>
            <a:spLocks noChangeArrowheads="1"/>
          </p:cNvSpPr>
          <p:nvPr/>
        </p:nvSpPr>
        <p:spPr bwMode="auto">
          <a:xfrm>
            <a:off x="149225" y="6388100"/>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lang="en-US"/>
              <a:t>Click to edit Master title style</a:t>
            </a:r>
          </a:p>
        </p:txBody>
      </p:sp>
      <p:sp>
        <p:nvSpPr>
          <p:cNvPr id="3" name="Picture Placeholder 2"/>
          <p:cNvSpPr>
            <a:spLocks noGrp="1"/>
          </p:cNvSpPr>
          <p:nvPr>
            <p:ph type="pic" idx="1"/>
          </p:nvPr>
        </p:nvSpPr>
        <p:spPr>
          <a:xfrm>
            <a:off x="3000375" y="609600"/>
            <a:ext cx="5867400" cy="4267200"/>
          </a:xfrm>
        </p:spPr>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a:r>
              <a:rPr lang="en-US"/>
              <a:t>Click to edit Master text styles</a:t>
            </a:r>
          </a:p>
        </p:txBody>
      </p:sp>
      <p:sp>
        <p:nvSpPr>
          <p:cNvPr id="16" name="Slide Number Placeholder 6"/>
          <p:cNvSpPr>
            <a:spLocks noGrp="1"/>
          </p:cNvSpPr>
          <p:nvPr>
            <p:ph type="sldNum" sz="quarter" idx="10"/>
          </p:nvPr>
        </p:nvSpPr>
        <p:spPr>
          <a:xfrm>
            <a:off x="1371600" y="312738"/>
            <a:ext cx="457200" cy="441325"/>
          </a:xfrm>
        </p:spPr>
        <p:txBody>
          <a:bodyPr/>
          <a:lstStyle>
            <a:lvl1pPr>
              <a:defRPr/>
            </a:lvl1pPr>
          </a:lstStyle>
          <a:p>
            <a:pPr>
              <a:defRPr/>
            </a:pPr>
            <a:fld id="{8D8B793C-AABB-4D73-BAAD-D91CB1E1101A}" type="slidenum">
              <a:rPr lang="en-US"/>
              <a:pPr>
                <a:defRPr/>
              </a:pPr>
              <a:t>‹#›</a:t>
            </a:fld>
            <a:endParaRPr lang="en-US"/>
          </a:p>
        </p:txBody>
      </p:sp>
      <p:sp>
        <p:nvSpPr>
          <p:cNvPr id="17" name="Date Placeholder 4"/>
          <p:cNvSpPr>
            <a:spLocks noGrp="1"/>
          </p:cNvSpPr>
          <p:nvPr>
            <p:ph type="dt" sz="half" idx="11"/>
          </p:nvPr>
        </p:nvSpPr>
        <p:spPr>
          <a:xfrm>
            <a:off x="5788025" y="6405563"/>
            <a:ext cx="3044825" cy="365125"/>
          </a:xfrm>
        </p:spPr>
        <p:txBody>
          <a:bodyPr/>
          <a:lstStyle>
            <a:lvl1pPr>
              <a:defRPr/>
            </a:lvl1pPr>
          </a:lstStyle>
          <a:p>
            <a:pPr>
              <a:defRPr/>
            </a:pPr>
            <a:fld id="{3EC0228A-6402-4E70-9AB8-18904C9ED195}" type="datetime2">
              <a:rPr lang="en-US" smtClean="0"/>
              <a:pPr>
                <a:defRPr/>
              </a:pPr>
              <a:t>Monday, December 8, 2025</a:t>
            </a:fld>
            <a:endParaRPr lang="en-US"/>
          </a:p>
        </p:txBody>
      </p:sp>
      <p:sp>
        <p:nvSpPr>
          <p:cNvPr id="18" name="Footer Placeholder 5"/>
          <p:cNvSpPr>
            <a:spLocks noGrp="1"/>
          </p:cNvSpPr>
          <p:nvPr>
            <p:ph type="ftr" sz="quarter" idx="12"/>
          </p:nvPr>
        </p:nvSpPr>
        <p:spPr>
          <a:xfrm>
            <a:off x="301625" y="6410325"/>
            <a:ext cx="3584575" cy="366713"/>
          </a:xfrm>
        </p:spPr>
        <p:txBody>
          <a:bodyPr/>
          <a:lstStyle>
            <a:lvl1pPr>
              <a:defRPr/>
            </a:lvl1pPr>
          </a:lstStyle>
          <a:p>
            <a:pPr>
              <a:defRPr/>
            </a:pPr>
            <a:r>
              <a:rPr lang="en-US"/>
              <a:t>STAT 154 -09</a:t>
            </a:r>
          </a:p>
        </p:txBody>
      </p:sp>
    </p:spTree>
  </p:cSld>
  <p:clrMapOvr>
    <a:masterClrMapping/>
  </p:clrMapOvr>
  <p:transition spd="slow">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4372069-B488-426E-9C0F-DE0EB888DBC3}" type="datetime2">
              <a:rPr lang="en-US" smtClean="0"/>
              <a:pPr>
                <a:defRPr/>
              </a:pPr>
              <a:t>Monday, December 8, 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STAT 154 -09</a:t>
            </a:r>
          </a:p>
        </p:txBody>
      </p:sp>
      <p:sp>
        <p:nvSpPr>
          <p:cNvPr id="6" name="Slide Number Placeholder 5"/>
          <p:cNvSpPr>
            <a:spLocks noGrp="1"/>
          </p:cNvSpPr>
          <p:nvPr>
            <p:ph type="sldNum" sz="quarter" idx="12"/>
          </p:nvPr>
        </p:nvSpPr>
        <p:spPr/>
        <p:txBody>
          <a:bodyPr/>
          <a:lstStyle>
            <a:lvl1pPr>
              <a:defRPr/>
            </a:lvl1pPr>
          </a:lstStyle>
          <a:p>
            <a:pPr>
              <a:defRPr/>
            </a:pPr>
            <a:fld id="{AE6FB1A6-0F8B-4D25-ACD5-F40DBDEA5215}"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transition spd="slow">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4" name="Rectangle 3"/>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5" name="Rectangle 4"/>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6" name="Rectangle 5"/>
          <p:cNvSpPr>
            <a:spLocks noChangeArrowheads="1"/>
          </p:cNvSpPr>
          <p:nvPr/>
        </p:nvSpPr>
        <p:spPr bwMode="white">
          <a:xfrm>
            <a:off x="0" y="0"/>
            <a:ext cx="9144000" cy="155575"/>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7" name="Rectangle 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8" name="Rectangle 7"/>
          <p:cNvSpPr>
            <a:spLocks noChangeArrowheads="1"/>
          </p:cNvSpPr>
          <p:nvPr/>
        </p:nvSpPr>
        <p:spPr bwMode="auto">
          <a:xfrm>
            <a:off x="146050" y="6391275"/>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9" name="Rectangle 8"/>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p>
        </p:txBody>
      </p:sp>
      <p:sp>
        <p:nvSpPr>
          <p:cNvPr id="10" name="Straight Connector 9"/>
          <p:cNvSpPr>
            <a:spLocks noChangeShapeType="1"/>
          </p:cNvSpPr>
          <p:nvPr/>
        </p:nvSpPr>
        <p:spPr bwMode="auto">
          <a:xfrm rot="5400000">
            <a:off x="4021137" y="3278188"/>
            <a:ext cx="6245225"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p>
        </p:txBody>
      </p:sp>
      <p:sp>
        <p:nvSpPr>
          <p:cNvPr id="11" name="Oval 10"/>
          <p:cNvSpPr/>
          <p:nvPr/>
        </p:nvSpPr>
        <p:spPr>
          <a:xfrm>
            <a:off x="6838950"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2" name="Oval 11"/>
          <p:cNvSpPr/>
          <p:nvPr/>
        </p:nvSpPr>
        <p:spPr>
          <a:xfrm>
            <a:off x="6934200" y="3021013"/>
            <a:ext cx="420688"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Vertical Title 1"/>
          <p:cNvSpPr>
            <a:spLocks noGrp="1"/>
          </p:cNvSpPr>
          <p:nvPr>
            <p:ph type="title" orient="vert"/>
          </p:nvPr>
        </p:nvSpPr>
        <p:spPr>
          <a:xfrm>
            <a:off x="7391400" y="304801"/>
            <a:ext cx="1447800" cy="5851525"/>
          </a:xfrm>
        </p:spPr>
        <p:txBody>
          <a:bodyPr vert="eaVert"/>
          <a:lstStyle/>
          <a:p>
            <a:r>
              <a:rPr lang="en-US"/>
              <a:t>Click to edit Master title style</a:t>
            </a:r>
          </a:p>
        </p:txBody>
      </p:sp>
      <p:sp>
        <p:nvSpPr>
          <p:cNvPr id="13" name="Slide Number Placeholder 5"/>
          <p:cNvSpPr>
            <a:spLocks noGrp="1"/>
          </p:cNvSpPr>
          <p:nvPr>
            <p:ph type="sldNum" sz="quarter" idx="10"/>
          </p:nvPr>
        </p:nvSpPr>
        <p:spPr>
          <a:xfrm>
            <a:off x="6915150" y="3009900"/>
            <a:ext cx="457200" cy="441325"/>
          </a:xfrm>
        </p:spPr>
        <p:txBody>
          <a:bodyPr/>
          <a:lstStyle>
            <a:lvl1pPr>
              <a:defRPr/>
            </a:lvl1pPr>
          </a:lstStyle>
          <a:p>
            <a:pPr>
              <a:defRPr/>
            </a:pPr>
            <a:fld id="{DE029B50-1419-4528-A2BB-7AF803BDC0B4}" type="slidenum">
              <a:rPr lang="en-US"/>
              <a:pPr>
                <a:defRPr/>
              </a:pPr>
              <a:t>‹#›</a:t>
            </a:fld>
            <a:endParaRPr lang="en-US"/>
          </a:p>
        </p:txBody>
      </p:sp>
      <p:sp>
        <p:nvSpPr>
          <p:cNvPr id="14" name="Date Placeholder 3"/>
          <p:cNvSpPr>
            <a:spLocks noGrp="1"/>
          </p:cNvSpPr>
          <p:nvPr>
            <p:ph type="dt" sz="half" idx="11"/>
          </p:nvPr>
        </p:nvSpPr>
        <p:spPr/>
        <p:txBody>
          <a:bodyPr/>
          <a:lstStyle>
            <a:lvl1pPr>
              <a:defRPr/>
            </a:lvl1pPr>
          </a:lstStyle>
          <a:p>
            <a:pPr>
              <a:defRPr/>
            </a:pPr>
            <a:fld id="{64C6F9F0-C39E-43A1-9925-A94E2D3059B1}" type="datetime2">
              <a:rPr lang="en-US" smtClean="0"/>
              <a:pPr>
                <a:defRPr/>
              </a:pPr>
              <a:t>Monday, December 8, 2025</a:t>
            </a:fld>
            <a:endParaRPr lang="en-US"/>
          </a:p>
        </p:txBody>
      </p:sp>
      <p:sp>
        <p:nvSpPr>
          <p:cNvPr id="15" name="Footer Placeholder 4"/>
          <p:cNvSpPr>
            <a:spLocks noGrp="1"/>
          </p:cNvSpPr>
          <p:nvPr>
            <p:ph type="ftr" sz="quarter" idx="12"/>
          </p:nvPr>
        </p:nvSpPr>
        <p:spPr/>
        <p:txBody>
          <a:bodyPr/>
          <a:lstStyle>
            <a:lvl1pPr>
              <a:defRPr/>
            </a:lvl1pPr>
          </a:lstStyle>
          <a:p>
            <a:pPr>
              <a:defRPr/>
            </a:pPr>
            <a:r>
              <a:rPr lang="en-US"/>
              <a:t>STAT 154 -09</a:t>
            </a:r>
          </a:p>
        </p:txBody>
      </p:sp>
    </p:spTree>
  </p:cSld>
  <p:clrMapOvr>
    <a:overrideClrMapping bg1="lt1" tx1="dk1" bg2="lt2" tx2="dk2" accent1="accent1" accent2="accent2" accent3="accent3" accent4="accent4" accent5="accent5" accent6="accent6" hlink="hlink" folHlink="folHlink"/>
  </p:clrMapOvr>
  <p:transition spd="slow">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5D222-CBF5-E2A6-4452-664405432286}"/>
              </a:ext>
            </a:extLst>
          </p:cNvPr>
          <p:cNvSpPr>
            <a:spLocks noGrp="1"/>
          </p:cNvSpPr>
          <p:nvPr>
            <p:ph type="title"/>
          </p:nvPr>
        </p:nvSpPr>
        <p:spPr>
          <a:xfrm>
            <a:off x="685800" y="609600"/>
            <a:ext cx="7772400" cy="1143000"/>
          </a:xfrm>
        </p:spPr>
        <p:txBody>
          <a:bodyPr/>
          <a:lstStyle/>
          <a:p>
            <a:r>
              <a:rPr lang="en-US"/>
              <a:t>Click to edit Master title style</a:t>
            </a:r>
          </a:p>
        </p:txBody>
      </p:sp>
      <p:sp>
        <p:nvSpPr>
          <p:cNvPr id="3" name="Table Placeholder 2">
            <a:extLst>
              <a:ext uri="{FF2B5EF4-FFF2-40B4-BE49-F238E27FC236}">
                <a16:creationId xmlns:a16="http://schemas.microsoft.com/office/drawing/2014/main" id="{107E93B8-5BEB-CD52-26DD-A1199A1A174D}"/>
              </a:ext>
            </a:extLst>
          </p:cNvPr>
          <p:cNvSpPr>
            <a:spLocks noGrp="1"/>
          </p:cNvSpPr>
          <p:nvPr>
            <p:ph type="tbl" idx="1"/>
          </p:nvPr>
        </p:nvSpPr>
        <p:spPr>
          <a:xfrm>
            <a:off x="685800" y="1981200"/>
            <a:ext cx="7772400" cy="4114800"/>
          </a:xfrm>
        </p:spPr>
        <p:txBody>
          <a:bodyPr/>
          <a:lstStyle/>
          <a:p>
            <a:endParaRPr lang="en-US"/>
          </a:p>
        </p:txBody>
      </p:sp>
    </p:spTree>
    <p:extLst>
      <p:ext uri="{BB962C8B-B14F-4D97-AF65-F5344CB8AC3E}">
        <p14:creationId xmlns:p14="http://schemas.microsoft.com/office/powerpoint/2010/main" val="21409427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6" name="Rectangle 15"/>
          <p:cNvSpPr>
            <a:spLocks noChangeArrowheads="1"/>
          </p:cNvSpPr>
          <p:nvPr/>
        </p:nvSpPr>
        <p:spPr bwMode="white">
          <a:xfrm>
            <a:off x="0" y="0"/>
            <a:ext cx="9144000" cy="1393825"/>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9" name="Rectangle 8"/>
          <p:cNvSpPr>
            <a:spLocks noChangeArrowheads="1"/>
          </p:cNvSpPr>
          <p:nvPr/>
        </p:nvSpPr>
        <p:spPr bwMode="auto">
          <a:xfrm>
            <a:off x="149225" y="6388100"/>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4" name="Date Placeholder 13"/>
          <p:cNvSpPr>
            <a:spLocks noGrp="1"/>
          </p:cNvSpPr>
          <p:nvPr>
            <p:ph type="dt" sz="half" idx="2"/>
          </p:nvPr>
        </p:nvSpPr>
        <p:spPr>
          <a:xfrm>
            <a:off x="5791200" y="6405563"/>
            <a:ext cx="3044825" cy="365125"/>
          </a:xfrm>
          <a:prstGeom prst="rect">
            <a:avLst/>
          </a:prstGeom>
        </p:spPr>
        <p:txBody>
          <a:bodyPr vert="horz"/>
          <a:lstStyle>
            <a:lvl1pPr algn="r" eaLnBrk="1" latinLnBrk="0" hangingPunct="1">
              <a:defRPr kumimoji="0" sz="1400">
                <a:solidFill>
                  <a:srgbClr val="FFFFFF"/>
                </a:solidFill>
              </a:defRPr>
            </a:lvl1pPr>
          </a:lstStyle>
          <a:p>
            <a:pPr>
              <a:defRPr/>
            </a:pPr>
            <a:fld id="{FA793E4B-0A71-4F19-A1A9-20DF7FBEC736}" type="datetime2">
              <a:rPr lang="en-US" smtClean="0"/>
              <a:pPr>
                <a:defRPr/>
              </a:pPr>
              <a:t>Monday, December 8, 2025</a:t>
            </a:fld>
            <a:endParaRPr lang="en-US"/>
          </a:p>
        </p:txBody>
      </p:sp>
      <p:sp>
        <p:nvSpPr>
          <p:cNvPr id="3" name="Footer Placeholder 2"/>
          <p:cNvSpPr>
            <a:spLocks noGrp="1"/>
          </p:cNvSpPr>
          <p:nvPr>
            <p:ph type="ftr" sz="quarter" idx="3"/>
          </p:nvPr>
        </p:nvSpPr>
        <p:spPr>
          <a:xfrm>
            <a:off x="304800" y="6410325"/>
            <a:ext cx="3581400" cy="366713"/>
          </a:xfrm>
          <a:prstGeom prst="rect">
            <a:avLst/>
          </a:prstGeom>
        </p:spPr>
        <p:txBody>
          <a:bodyPr vert="horz"/>
          <a:lstStyle>
            <a:lvl1pPr algn="l" eaLnBrk="1" latinLnBrk="0" hangingPunct="1">
              <a:defRPr kumimoji="0" sz="1200">
                <a:solidFill>
                  <a:srgbClr val="FFFFFF"/>
                </a:solidFill>
              </a:defRPr>
            </a:lvl1pPr>
          </a:lstStyle>
          <a:p>
            <a:pPr>
              <a:defRPr/>
            </a:pPr>
            <a:r>
              <a:rPr lang="en-US"/>
              <a:t>STAT 154 -09</a:t>
            </a:r>
          </a:p>
        </p:txBody>
      </p:sp>
      <p:sp>
        <p:nvSpPr>
          <p:cNvPr id="8" name="Rectangle 7"/>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p>
        </p:txBody>
      </p:sp>
      <p:sp>
        <p:nvSpPr>
          <p:cNvPr id="10" name="Straight Connector 9"/>
          <p:cNvSpPr>
            <a:spLocks noChangeShapeType="1"/>
          </p:cNvSpPr>
          <p:nvPr/>
        </p:nvSpPr>
        <p:spPr bwMode="auto">
          <a:xfrm>
            <a:off x="152400" y="1276350"/>
            <a:ext cx="8832850"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p>
        </p:txBody>
      </p:sp>
      <p:sp>
        <p:nvSpPr>
          <p:cNvPr id="12" name="Oval 11"/>
          <p:cNvSpPr/>
          <p:nvPr/>
        </p:nvSpPr>
        <p:spPr>
          <a:xfrm>
            <a:off x="4267200" y="955675"/>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5" name="Oval 14"/>
          <p:cNvSpPr/>
          <p:nvPr/>
        </p:nvSpPr>
        <p:spPr>
          <a:xfrm>
            <a:off x="4362450" y="1050925"/>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3" name="Slide Number Placeholder 22"/>
          <p:cNvSpPr>
            <a:spLocks noGrp="1"/>
          </p:cNvSpPr>
          <p:nvPr>
            <p:ph type="sldNum" sz="quarter" idx="4"/>
          </p:nvPr>
        </p:nvSpPr>
        <p:spPr>
          <a:xfrm>
            <a:off x="4343400" y="1039813"/>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defRPr/>
            </a:pPr>
            <a:fld id="{35E43E84-AF71-47A3-8E6F-9DEA17384D24}" type="slidenum">
              <a:rPr lang="en-US"/>
              <a:pPr>
                <a:defRPr/>
              </a:pPr>
              <a:t>‹#›</a:t>
            </a:fld>
            <a:endParaRPr lang="en-US"/>
          </a:p>
        </p:txBody>
      </p:sp>
      <p:sp>
        <p:nvSpPr>
          <p:cNvPr id="6158" name="Title Placeholder 21"/>
          <p:cNvSpPr>
            <a:spLocks noGrp="1"/>
          </p:cNvSpPr>
          <p:nvPr>
            <p:ph type="title"/>
          </p:nvPr>
        </p:nvSpPr>
        <p:spPr bwMode="auto">
          <a:xfrm>
            <a:off x="301625" y="228600"/>
            <a:ext cx="8534400" cy="758825"/>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6159" name="Text Placeholder 12"/>
          <p:cNvSpPr>
            <a:spLocks noGrp="1"/>
          </p:cNvSpPr>
          <p:nvPr>
            <p:ph type="body" idx="1"/>
          </p:nvPr>
        </p:nvSpPr>
        <p:spPr bwMode="auto">
          <a:xfrm>
            <a:off x="301625" y="1524000"/>
            <a:ext cx="8534400" cy="45989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037" r:id="rId1"/>
    <p:sldLayoutId id="2147484038" r:id="rId2"/>
    <p:sldLayoutId id="2147484039" r:id="rId3"/>
    <p:sldLayoutId id="2147484040" r:id="rId4"/>
    <p:sldLayoutId id="2147484041" r:id="rId5"/>
    <p:sldLayoutId id="2147484042" r:id="rId6"/>
    <p:sldLayoutId id="2147484043" r:id="rId7"/>
    <p:sldLayoutId id="2147484044" r:id="rId8"/>
    <p:sldLayoutId id="2147484045" r:id="rId9"/>
    <p:sldLayoutId id="2147484046" r:id="rId10"/>
    <p:sldLayoutId id="2147484047" r:id="rId11"/>
    <p:sldLayoutId id="2147484048" r:id="rId12"/>
  </p:sldLayoutIdLst>
  <p:transition spd="slow">
    <p:wipe dir="r"/>
  </p:transition>
  <p:hf hdr="0"/>
  <p:txStyles>
    <p:titleStyle>
      <a:lvl1pPr algn="ctr" rtl="0" eaLnBrk="0" fontAlgn="base" hangingPunct="0">
        <a:spcBef>
          <a:spcPct val="0"/>
        </a:spcBef>
        <a:spcAft>
          <a:spcPct val="0"/>
        </a:spcAft>
        <a:defRPr sz="3300" kern="1200">
          <a:solidFill>
            <a:srgbClr val="7B9899"/>
          </a:solidFill>
          <a:latin typeface="+mj-lt"/>
          <a:ea typeface="+mj-ea"/>
          <a:cs typeface="+mj-cs"/>
        </a:defRPr>
      </a:lvl1pPr>
      <a:lvl2pPr algn="ctr" rtl="0" eaLnBrk="0" fontAlgn="base" hangingPunct="0">
        <a:spcBef>
          <a:spcPct val="0"/>
        </a:spcBef>
        <a:spcAft>
          <a:spcPct val="0"/>
        </a:spcAft>
        <a:defRPr sz="3300">
          <a:solidFill>
            <a:srgbClr val="7B9899"/>
          </a:solidFill>
          <a:latin typeface="Georgia" pitchFamily="18" charset="0"/>
        </a:defRPr>
      </a:lvl2pPr>
      <a:lvl3pPr algn="ctr" rtl="0" eaLnBrk="0" fontAlgn="base" hangingPunct="0">
        <a:spcBef>
          <a:spcPct val="0"/>
        </a:spcBef>
        <a:spcAft>
          <a:spcPct val="0"/>
        </a:spcAft>
        <a:defRPr sz="3300">
          <a:solidFill>
            <a:srgbClr val="7B9899"/>
          </a:solidFill>
          <a:latin typeface="Georgia" pitchFamily="18" charset="0"/>
        </a:defRPr>
      </a:lvl3pPr>
      <a:lvl4pPr algn="ctr" rtl="0" eaLnBrk="0" fontAlgn="base" hangingPunct="0">
        <a:spcBef>
          <a:spcPct val="0"/>
        </a:spcBef>
        <a:spcAft>
          <a:spcPct val="0"/>
        </a:spcAft>
        <a:defRPr sz="3300">
          <a:solidFill>
            <a:srgbClr val="7B9899"/>
          </a:solidFill>
          <a:latin typeface="Georgia" pitchFamily="18" charset="0"/>
        </a:defRPr>
      </a:lvl4pPr>
      <a:lvl5pPr algn="ctr" rtl="0" eaLnBrk="0" fontAlgn="base" hangingPunct="0">
        <a:spcBef>
          <a:spcPct val="0"/>
        </a:spcBef>
        <a:spcAft>
          <a:spcPct val="0"/>
        </a:spcAft>
        <a:defRPr sz="3300">
          <a:solidFill>
            <a:srgbClr val="7B9899"/>
          </a:solidFill>
          <a:latin typeface="Georgia" pitchFamily="18" charset="0"/>
        </a:defRPr>
      </a:lvl5pPr>
      <a:lvl6pPr marL="457200" algn="ctr" rtl="0" fontAlgn="base">
        <a:spcBef>
          <a:spcPct val="0"/>
        </a:spcBef>
        <a:spcAft>
          <a:spcPct val="0"/>
        </a:spcAft>
        <a:defRPr sz="3300">
          <a:solidFill>
            <a:srgbClr val="7B9899"/>
          </a:solidFill>
          <a:latin typeface="Georgia" pitchFamily="18" charset="0"/>
        </a:defRPr>
      </a:lvl6pPr>
      <a:lvl7pPr marL="914400" algn="ctr" rtl="0" fontAlgn="base">
        <a:spcBef>
          <a:spcPct val="0"/>
        </a:spcBef>
        <a:spcAft>
          <a:spcPct val="0"/>
        </a:spcAft>
        <a:defRPr sz="3300">
          <a:solidFill>
            <a:srgbClr val="7B9899"/>
          </a:solidFill>
          <a:latin typeface="Georgia" pitchFamily="18" charset="0"/>
        </a:defRPr>
      </a:lvl7pPr>
      <a:lvl8pPr marL="1371600" algn="ctr" rtl="0" fontAlgn="base">
        <a:spcBef>
          <a:spcPct val="0"/>
        </a:spcBef>
        <a:spcAft>
          <a:spcPct val="0"/>
        </a:spcAft>
        <a:defRPr sz="3300">
          <a:solidFill>
            <a:srgbClr val="7B9899"/>
          </a:solidFill>
          <a:latin typeface="Georgia" pitchFamily="18" charset="0"/>
        </a:defRPr>
      </a:lvl8pPr>
      <a:lvl9pPr marL="1828800" algn="ctr" rtl="0" fontAlgn="base">
        <a:spcBef>
          <a:spcPct val="0"/>
        </a:spcBef>
        <a:spcAft>
          <a:spcPct val="0"/>
        </a:spcAft>
        <a:defRPr sz="3300">
          <a:solidFill>
            <a:srgbClr val="7B9899"/>
          </a:solidFill>
          <a:latin typeface="Georgia" pitchFamily="18" charset="0"/>
        </a:defRPr>
      </a:lvl9pPr>
    </p:titleStyle>
    <p:bodyStyle>
      <a:lvl1pPr marL="273050" indent="-273050" algn="l" rtl="0" eaLnBrk="0" fontAlgn="base" hangingPunct="0">
        <a:spcBef>
          <a:spcPct val="20000"/>
        </a:spcBef>
        <a:spcAft>
          <a:spcPct val="0"/>
        </a:spcAft>
        <a:buClr>
          <a:schemeClr val="accent1"/>
        </a:buClr>
        <a:buSzPct val="85000"/>
        <a:buFont typeface="Wingdings 2" pitchFamily="18" charset="2"/>
        <a:buChar char=""/>
        <a:defRPr sz="2700" kern="1200">
          <a:solidFill>
            <a:schemeClr val="tx1"/>
          </a:solidFill>
          <a:latin typeface="+mn-lt"/>
          <a:ea typeface="+mn-ea"/>
          <a:cs typeface="+mn-cs"/>
        </a:defRPr>
      </a:lvl1pPr>
      <a:lvl2pPr marL="547688" indent="-273050" algn="l" rtl="0" eaLnBrk="0" fontAlgn="base" hangingPunct="0">
        <a:spcBef>
          <a:spcPct val="20000"/>
        </a:spcBef>
        <a:spcAft>
          <a:spcPct val="0"/>
        </a:spcAft>
        <a:buClr>
          <a:schemeClr val="accent2"/>
        </a:buClr>
        <a:buSzPct val="70000"/>
        <a:buFont typeface="Wingdings" pitchFamily="2" charset="2"/>
        <a:buChar char=""/>
        <a:defRPr sz="2200" kern="1200">
          <a:solidFill>
            <a:schemeClr val="tx2"/>
          </a:solidFill>
          <a:latin typeface="+mn-lt"/>
          <a:ea typeface="+mn-ea"/>
          <a:cs typeface="+mn-cs"/>
        </a:defRPr>
      </a:lvl2pPr>
      <a:lvl3pPr marL="822325" indent="-228600" algn="l" rtl="0" eaLnBrk="0" fontAlgn="base" hangingPunct="0">
        <a:spcBef>
          <a:spcPct val="20000"/>
        </a:spcBef>
        <a:spcAft>
          <a:spcPct val="0"/>
        </a:spcAft>
        <a:buClr>
          <a:srgbClr val="8CADAE"/>
        </a:buClr>
        <a:buSzPct val="75000"/>
        <a:buFont typeface="Wingdings 2" pitchFamily="18" charset="2"/>
        <a:buChar char=""/>
        <a:defRPr sz="2000" kern="1200">
          <a:solidFill>
            <a:schemeClr val="tx1"/>
          </a:solidFill>
          <a:latin typeface="+mn-lt"/>
          <a:ea typeface="+mn-ea"/>
          <a:cs typeface="+mn-cs"/>
        </a:defRPr>
      </a:lvl3pPr>
      <a:lvl4pPr marL="1096963" indent="-228600" algn="l" rtl="0" eaLnBrk="0" fontAlgn="base" hangingPunct="0">
        <a:spcBef>
          <a:spcPct val="20000"/>
        </a:spcBef>
        <a:spcAft>
          <a:spcPct val="0"/>
        </a:spcAft>
        <a:buClr>
          <a:srgbClr val="8C7B70"/>
        </a:buClr>
        <a:buSzPct val="70000"/>
        <a:buFont typeface="Wingdings" pitchFamily="2" charset="2"/>
        <a:buChar char=""/>
        <a:defRPr sz="2000" kern="1200">
          <a:solidFill>
            <a:schemeClr val="tx2"/>
          </a:solidFill>
          <a:latin typeface="+mn-lt"/>
          <a:ea typeface="+mn-ea"/>
          <a:cs typeface="+mn-cs"/>
        </a:defRPr>
      </a:lvl4pPr>
      <a:lvl5pPr marL="1371600" indent="-228600" algn="l" rtl="0" eaLnBrk="0" fontAlgn="base" hangingPunct="0">
        <a:spcBef>
          <a:spcPct val="20000"/>
        </a:spcBef>
        <a:spcAft>
          <a:spcPct val="0"/>
        </a:spcAft>
        <a:buClr>
          <a:srgbClr val="8FB08C"/>
        </a:buClr>
        <a:buChar char="•"/>
        <a:defRPr sz="20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budgetstockphoto.com/samples/pics/dice.jpg" TargetMode="External"/><Relationship Id="rId7" Type="http://schemas.openxmlformats.org/officeDocument/2006/relationships/hyperlink" Target="mailto:mayooran@eng.jfn.ac.lk" TargetMode="External"/><Relationship Id="rId2" Type="http://schemas.openxmlformats.org/officeDocument/2006/relationships/image" Target="../media/image3.wmf"/><Relationship Id="rId1" Type="http://schemas.openxmlformats.org/officeDocument/2006/relationships/slideLayout" Target="../slideLayouts/slideLayout7.xml"/><Relationship Id="rId6" Type="http://schemas.openxmlformats.org/officeDocument/2006/relationships/image" Target="../media/image6.gif"/><Relationship Id="rId5" Type="http://schemas.openxmlformats.org/officeDocument/2006/relationships/image" Target="../media/image5.gif"/><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image" Target="../media/image48.png"/><Relationship Id="rId7" Type="http://schemas.openxmlformats.org/officeDocument/2006/relationships/oleObject" Target="../embeddings/oleObject1.bin"/><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7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55.wmf"/><Relationship Id="rId4" Type="http://schemas.openxmlformats.org/officeDocument/2006/relationships/oleObject" Target="../embeddings/oleObject3.bin"/></Relationships>
</file>

<file path=ppt/slides/_rels/slide73.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6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hyperlink" Target="https://mayooran1987.github.io/MC3020-E23/"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3" descr="en00892_">
            <a:extLst>
              <a:ext uri="{FF2B5EF4-FFF2-40B4-BE49-F238E27FC236}">
                <a16:creationId xmlns:a16="http://schemas.microsoft.com/office/drawing/2014/main" id="{0DDC47BD-CBFB-1D43-110B-E77BE3D200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26300" y="134938"/>
            <a:ext cx="1774825" cy="177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5" descr="dice">
            <a:hlinkClick r:id="rId3"/>
            <a:extLst>
              <a:ext uri="{FF2B5EF4-FFF2-40B4-BE49-F238E27FC236}">
                <a16:creationId xmlns:a16="http://schemas.microsoft.com/office/drawing/2014/main" id="{3ABCE456-DA6B-46EC-2099-DAA87EDD1ED7}"/>
              </a:ext>
            </a:extLst>
          </p:cNvPr>
          <p:cNvPicPr>
            <a:picLocks noChangeAspect="1" noChangeArrowheads="1"/>
          </p:cNvPicPr>
          <p:nvPr/>
        </p:nvPicPr>
        <p:blipFill>
          <a:blip r:embed="rId4"/>
          <a:srcRect/>
          <a:stretch>
            <a:fillRect/>
          </a:stretch>
        </p:blipFill>
        <p:spPr bwMode="auto">
          <a:xfrm>
            <a:off x="142844" y="152400"/>
            <a:ext cx="1546225" cy="1600200"/>
          </a:xfrm>
          <a:prstGeom prst="rect">
            <a:avLst/>
          </a:prstGeom>
          <a:ln>
            <a:noFill/>
          </a:ln>
          <a:effectLst>
            <a:softEdge rad="112500"/>
          </a:effectLst>
        </p:spPr>
      </p:pic>
      <p:pic>
        <p:nvPicPr>
          <p:cNvPr id="14340" name="Picture 9" descr="http://www.mythopoetry.com/images/cointoss_ani.gif">
            <a:extLst>
              <a:ext uri="{FF2B5EF4-FFF2-40B4-BE49-F238E27FC236}">
                <a16:creationId xmlns:a16="http://schemas.microsoft.com/office/drawing/2014/main" id="{79B67115-C527-29E0-7FC5-1D004244BDF3}"/>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398463" y="4051300"/>
            <a:ext cx="1165225" cy="233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1" name="Picture 11" descr="http://www.learnenglish.de/img/vocab/verbs/throw.gif">
            <a:extLst>
              <a:ext uri="{FF2B5EF4-FFF2-40B4-BE49-F238E27FC236}">
                <a16:creationId xmlns:a16="http://schemas.microsoft.com/office/drawing/2014/main" id="{ADE7BCD7-ED6D-5835-F90C-E4C9A193E1C7}"/>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7000875" y="4429125"/>
            <a:ext cx="19050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2" name="Date Placeholder 1">
            <a:extLst>
              <a:ext uri="{FF2B5EF4-FFF2-40B4-BE49-F238E27FC236}">
                <a16:creationId xmlns:a16="http://schemas.microsoft.com/office/drawing/2014/main" id="{4EEC6268-1279-0E54-C34F-25B331A126C2}"/>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CF7824C9-B44E-4285-9463-998663B32CB4}" type="datetime2">
              <a:rPr lang="en-US" altLang="en-US" sz="1400">
                <a:solidFill>
                  <a:srgbClr val="FFFFFF"/>
                </a:solidFill>
              </a:rPr>
              <a:pPr/>
              <a:t>Monday, December 8, 2025</a:t>
            </a:fld>
            <a:endParaRPr lang="en-US" altLang="en-US" sz="1400">
              <a:solidFill>
                <a:srgbClr val="FFFFFF"/>
              </a:solidFill>
            </a:endParaRPr>
          </a:p>
        </p:txBody>
      </p:sp>
      <p:sp>
        <p:nvSpPr>
          <p:cNvPr id="14343" name="Slide Number Placeholder 3">
            <a:extLst>
              <a:ext uri="{FF2B5EF4-FFF2-40B4-BE49-F238E27FC236}">
                <a16:creationId xmlns:a16="http://schemas.microsoft.com/office/drawing/2014/main" id="{0FDF255F-0841-1678-00ED-3D0B5A5F674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45720" bIns="45720" numCol="1"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0DAC2400-B097-4218-97CC-DADA92D59E69}" type="slidenum">
              <a:rPr lang="en-US" altLang="en-US" sz="1600" smtClean="0">
                <a:solidFill>
                  <a:srgbClr val="FFFFFF"/>
                </a:solidFill>
              </a:rPr>
              <a:pPr/>
              <a:t>1</a:t>
            </a:fld>
            <a:endParaRPr lang="en-US" altLang="en-US" sz="1600">
              <a:solidFill>
                <a:srgbClr val="FFFFFF"/>
              </a:solidFill>
            </a:endParaRPr>
          </a:p>
        </p:txBody>
      </p:sp>
      <p:sp>
        <p:nvSpPr>
          <p:cNvPr id="14344" name="Footer Placeholder 8">
            <a:extLst>
              <a:ext uri="{FF2B5EF4-FFF2-40B4-BE49-F238E27FC236}">
                <a16:creationId xmlns:a16="http://schemas.microsoft.com/office/drawing/2014/main" id="{D246A9E9-4C34-FBC3-BA12-FB5ED31AC671}"/>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200">
                <a:solidFill>
                  <a:srgbClr val="FFFFFF"/>
                </a:solidFill>
              </a:rPr>
              <a:t>MC3020</a:t>
            </a:r>
          </a:p>
        </p:txBody>
      </p:sp>
      <p:sp>
        <p:nvSpPr>
          <p:cNvPr id="14345" name="Rectangle 13">
            <a:extLst>
              <a:ext uri="{FF2B5EF4-FFF2-40B4-BE49-F238E27FC236}">
                <a16:creationId xmlns:a16="http://schemas.microsoft.com/office/drawing/2014/main" id="{8139DEB0-88F1-49C8-D356-F1BB6F2DCFE8}"/>
              </a:ext>
            </a:extLst>
          </p:cNvPr>
          <p:cNvSpPr>
            <a:spLocks noChangeArrowheads="1"/>
          </p:cNvSpPr>
          <p:nvPr/>
        </p:nvSpPr>
        <p:spPr bwMode="auto">
          <a:xfrm>
            <a:off x="1295400" y="2981325"/>
            <a:ext cx="64008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Wingdings 2" panose="05020102010507070707" pitchFamily="18" charset="2"/>
              <a:buChar char=""/>
              <a:defRPr sz="2700">
                <a:solidFill>
                  <a:schemeClr val="tx1"/>
                </a:solidFill>
                <a:latin typeface="Georgia" panose="02040502050405020303" pitchFamily="18" charset="0"/>
              </a:defRPr>
            </a:lvl1pPr>
            <a:lvl2pPr marL="742950" indent="-285750">
              <a:spcBef>
                <a:spcPct val="20000"/>
              </a:spcBef>
              <a:buClr>
                <a:schemeClr val="accent2"/>
              </a:buClr>
              <a:buSzPct val="70000"/>
              <a:buFont typeface="Wingdings" panose="05000000000000000000" pitchFamily="2" charset="2"/>
              <a:buChar char=""/>
              <a:defRPr sz="2200">
                <a:solidFill>
                  <a:schemeClr val="tx2"/>
                </a:solidFill>
                <a:latin typeface="Georgia" panose="02040502050405020303" pitchFamily="18" charset="0"/>
              </a:defRPr>
            </a:lvl2pPr>
            <a:lvl3pPr marL="1143000" indent="-228600">
              <a:spcBef>
                <a:spcPct val="20000"/>
              </a:spcBef>
              <a:buClr>
                <a:srgbClr val="8CADAE"/>
              </a:buClr>
              <a:buSzPct val="75000"/>
              <a:buFont typeface="Wingdings 2" panose="05020102010507070707" pitchFamily="18" charset="2"/>
              <a:buChar char=""/>
              <a:defRPr sz="2000">
                <a:solidFill>
                  <a:schemeClr val="tx1"/>
                </a:solidFill>
                <a:latin typeface="Georgia" panose="02040502050405020303" pitchFamily="18" charset="0"/>
              </a:defRPr>
            </a:lvl3pPr>
            <a:lvl4pPr marL="1600200" indent="-228600">
              <a:spcBef>
                <a:spcPct val="20000"/>
              </a:spcBef>
              <a:buClr>
                <a:srgbClr val="8C7B70"/>
              </a:buClr>
              <a:buSzPct val="70000"/>
              <a:buFont typeface="Wingdings" panose="05000000000000000000" pitchFamily="2" charset="2"/>
              <a:buChar char=""/>
              <a:defRPr sz="2000">
                <a:solidFill>
                  <a:schemeClr val="tx2"/>
                </a:solidFill>
                <a:latin typeface="Georgia" panose="02040502050405020303" pitchFamily="18" charset="0"/>
              </a:defRPr>
            </a:lvl4pPr>
            <a:lvl5pPr marL="2057400" indent="-228600">
              <a:spcBef>
                <a:spcPct val="20000"/>
              </a:spcBef>
              <a:buClr>
                <a:srgbClr val="8FB08C"/>
              </a:buClr>
              <a:buChar char="•"/>
              <a:defRPr sz="2000">
                <a:solidFill>
                  <a:schemeClr val="tx1"/>
                </a:solidFill>
                <a:latin typeface="Georgia" panose="02040502050405020303" pitchFamily="18" charset="0"/>
              </a:defRPr>
            </a:lvl5pPr>
            <a:lvl6pPr marL="25146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6pPr>
            <a:lvl7pPr marL="29718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7pPr>
            <a:lvl8pPr marL="34290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8pPr>
            <a:lvl9pPr marL="38862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9pPr>
          </a:lstStyle>
          <a:p>
            <a:pPr algn="ctr" eaLnBrk="1" hangingPunct="1">
              <a:spcBef>
                <a:spcPct val="0"/>
              </a:spcBef>
              <a:buClrTx/>
              <a:buSzTx/>
              <a:buFontTx/>
              <a:buNone/>
            </a:pPr>
            <a:endParaRPr lang="en-US" altLang="en-US" sz="2400" b="1" dirty="0">
              <a:latin typeface="Bookman Old Style" panose="02050604050505020204" pitchFamily="18" charset="0"/>
              <a:cs typeface="Arabic Typesetting" panose="03020402040406030203" pitchFamily="66" charset="-78"/>
            </a:endParaRPr>
          </a:p>
          <a:p>
            <a:pPr algn="ctr" eaLnBrk="1" hangingPunct="1">
              <a:spcBef>
                <a:spcPct val="0"/>
              </a:spcBef>
              <a:buClrTx/>
              <a:buSzTx/>
              <a:buFontTx/>
              <a:buNone/>
            </a:pPr>
            <a:r>
              <a:rPr lang="en-US" altLang="en-US" sz="2400" dirty="0">
                <a:latin typeface="Bookman Old Style" panose="02050604050505020204" pitchFamily="18" charset="0"/>
                <a:cs typeface="Arabic Typesetting" panose="03020402040406030203" pitchFamily="66" charset="-78"/>
              </a:rPr>
              <a:t> Dr T. Mayooran,</a:t>
            </a:r>
          </a:p>
          <a:p>
            <a:pPr algn="ctr" eaLnBrk="1" hangingPunct="1">
              <a:spcBef>
                <a:spcPct val="0"/>
              </a:spcBef>
              <a:buClrTx/>
              <a:buSzTx/>
              <a:buFontTx/>
              <a:buNone/>
            </a:pPr>
            <a:r>
              <a:rPr lang="en-US" altLang="en-US" sz="2400" dirty="0">
                <a:latin typeface="Bookman Old Style" panose="02050604050505020204" pitchFamily="18" charset="0"/>
                <a:cs typeface="Arabic Typesetting" panose="03020402040406030203" pitchFamily="66" charset="-78"/>
              </a:rPr>
              <a:t>Senior Lecturer, </a:t>
            </a:r>
          </a:p>
          <a:p>
            <a:pPr algn="ctr" eaLnBrk="1" hangingPunct="1">
              <a:spcBef>
                <a:spcPct val="0"/>
              </a:spcBef>
              <a:buClrTx/>
              <a:buSzTx/>
              <a:buFontTx/>
              <a:buNone/>
            </a:pPr>
            <a:r>
              <a:rPr lang="en-US" altLang="en-US" sz="2400" dirty="0">
                <a:latin typeface="Bookman Old Style" panose="02050604050505020204" pitchFamily="18" charset="0"/>
                <a:cs typeface="Arabic Typesetting" panose="03020402040406030203" pitchFamily="66" charset="-78"/>
              </a:rPr>
              <a:t>Department of Interdisciplinary Studies,</a:t>
            </a:r>
          </a:p>
          <a:p>
            <a:pPr algn="ctr" eaLnBrk="1" hangingPunct="1">
              <a:lnSpc>
                <a:spcPct val="110000"/>
              </a:lnSpc>
              <a:spcBef>
                <a:spcPct val="0"/>
              </a:spcBef>
              <a:buClrTx/>
              <a:buSzTx/>
              <a:buFontTx/>
              <a:buNone/>
            </a:pPr>
            <a:r>
              <a:rPr lang="en-US" altLang="en-US" sz="2400" dirty="0">
                <a:latin typeface="Bookman Old Style" panose="02050604050505020204" pitchFamily="18" charset="0"/>
                <a:cs typeface="Arabic Typesetting" panose="03020402040406030203" pitchFamily="66" charset="-78"/>
              </a:rPr>
              <a:t>Faculty of Engineering,</a:t>
            </a:r>
          </a:p>
          <a:p>
            <a:pPr algn="ctr" eaLnBrk="1" hangingPunct="1">
              <a:lnSpc>
                <a:spcPct val="110000"/>
              </a:lnSpc>
              <a:spcBef>
                <a:spcPct val="0"/>
              </a:spcBef>
              <a:buClrTx/>
              <a:buSzTx/>
              <a:buFontTx/>
              <a:buNone/>
            </a:pPr>
            <a:r>
              <a:rPr lang="en-US" altLang="en-US" sz="2400" dirty="0">
                <a:latin typeface="Bookman Old Style" panose="02050604050505020204" pitchFamily="18" charset="0"/>
                <a:cs typeface="Arabic Typesetting" panose="03020402040406030203" pitchFamily="66" charset="-78"/>
              </a:rPr>
              <a:t>University of Jaffna</a:t>
            </a:r>
            <a:r>
              <a:rPr lang="en-US" altLang="en-US" sz="2400" b="1" dirty="0">
                <a:latin typeface="Bookman Old Style" panose="02050604050505020204" pitchFamily="18" charset="0"/>
                <a:cs typeface="Arabic Typesetting" panose="03020402040406030203" pitchFamily="66" charset="-78"/>
              </a:rPr>
              <a:t>.</a:t>
            </a:r>
          </a:p>
          <a:p>
            <a:pPr algn="ctr" eaLnBrk="1" hangingPunct="1">
              <a:lnSpc>
                <a:spcPct val="110000"/>
              </a:lnSpc>
              <a:spcBef>
                <a:spcPct val="0"/>
              </a:spcBef>
              <a:buClrTx/>
              <a:buSzTx/>
              <a:buFontTx/>
              <a:buNone/>
            </a:pPr>
            <a:r>
              <a:rPr lang="en-US" altLang="en-US" sz="2400" dirty="0">
                <a:latin typeface="Bookman Old Style" panose="02050604050505020204" pitchFamily="18" charset="0"/>
                <a:cs typeface="Arabic Typesetting" panose="03020402040406030203" pitchFamily="66" charset="-78"/>
              </a:rPr>
              <a:t>Email: </a:t>
            </a:r>
            <a:r>
              <a:rPr lang="en-US" altLang="en-US" sz="2400" dirty="0">
                <a:latin typeface="Bookman Old Style" panose="02050604050505020204" pitchFamily="18" charset="0"/>
                <a:cs typeface="Arabic Typesetting" panose="03020402040406030203" pitchFamily="66" charset="-78"/>
                <a:hlinkClick r:id="rId7"/>
              </a:rPr>
              <a:t>mayooran@eng.jfn.ac.lk</a:t>
            </a:r>
            <a:endParaRPr lang="en-US" altLang="en-US" sz="2400" dirty="0">
              <a:latin typeface="Bookman Old Style" panose="02050604050505020204" pitchFamily="18" charset="0"/>
              <a:cs typeface="Arabic Typesetting" panose="03020402040406030203" pitchFamily="66" charset="-78"/>
            </a:endParaRPr>
          </a:p>
          <a:p>
            <a:pPr algn="ctr" eaLnBrk="1" hangingPunct="1">
              <a:spcBef>
                <a:spcPct val="0"/>
              </a:spcBef>
              <a:buClrTx/>
              <a:buSzTx/>
              <a:buFontTx/>
              <a:buNone/>
            </a:pPr>
            <a:r>
              <a:rPr lang="en-US" altLang="en-US" sz="2400" b="1" dirty="0">
                <a:latin typeface="Bookman Old Style" panose="02050604050505020204" pitchFamily="18" charset="0"/>
                <a:cs typeface="Arabic Typesetting" panose="03020402040406030203" pitchFamily="66" charset="-78"/>
              </a:rPr>
              <a:t>	</a:t>
            </a:r>
            <a:r>
              <a:rPr lang="en-US" altLang="en-US" sz="2400" b="1" dirty="0">
                <a:latin typeface="Bookman Old Style" panose="02050604050505020204" pitchFamily="18" charset="0"/>
                <a:cs typeface="Tahoma" panose="020B0604030504040204" pitchFamily="34" charset="0"/>
              </a:rPr>
              <a:t> </a:t>
            </a:r>
          </a:p>
        </p:txBody>
      </p:sp>
      <p:sp>
        <p:nvSpPr>
          <p:cNvPr id="14346" name="Rectangle 2">
            <a:extLst>
              <a:ext uri="{FF2B5EF4-FFF2-40B4-BE49-F238E27FC236}">
                <a16:creationId xmlns:a16="http://schemas.microsoft.com/office/drawing/2014/main" id="{BDB6C04F-CE91-304F-0CDE-ECD21118C0D5}"/>
              </a:ext>
            </a:extLst>
          </p:cNvPr>
          <p:cNvSpPr txBox="1">
            <a:spLocks noChangeArrowheads="1"/>
          </p:cNvSpPr>
          <p:nvPr/>
        </p:nvSpPr>
        <p:spPr bwMode="auto">
          <a:xfrm>
            <a:off x="685800" y="1641475"/>
            <a:ext cx="80010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Wingdings 2" panose="05020102010507070707" pitchFamily="18" charset="2"/>
              <a:buChar char=""/>
              <a:defRPr sz="2700">
                <a:solidFill>
                  <a:schemeClr val="tx1"/>
                </a:solidFill>
                <a:latin typeface="Georgia" panose="02040502050405020303" pitchFamily="18" charset="0"/>
              </a:defRPr>
            </a:lvl1pPr>
            <a:lvl2pPr marL="547688" indent="-273050">
              <a:spcBef>
                <a:spcPct val="20000"/>
              </a:spcBef>
              <a:buClr>
                <a:schemeClr val="accent2"/>
              </a:buClr>
              <a:buSzPct val="70000"/>
              <a:buFont typeface="Wingdings" panose="05000000000000000000" pitchFamily="2" charset="2"/>
              <a:buChar char=""/>
              <a:defRPr sz="2200">
                <a:solidFill>
                  <a:schemeClr val="tx2"/>
                </a:solidFill>
                <a:latin typeface="Georgia" panose="02040502050405020303" pitchFamily="18" charset="0"/>
              </a:defRPr>
            </a:lvl2pPr>
            <a:lvl3pPr marL="822325" indent="-228600">
              <a:spcBef>
                <a:spcPct val="20000"/>
              </a:spcBef>
              <a:buClr>
                <a:srgbClr val="8CADAE"/>
              </a:buClr>
              <a:buSzPct val="75000"/>
              <a:buFont typeface="Wingdings 2" panose="05020102010507070707" pitchFamily="18" charset="2"/>
              <a:buChar char=""/>
              <a:defRPr sz="2000">
                <a:solidFill>
                  <a:schemeClr val="tx1"/>
                </a:solidFill>
                <a:latin typeface="Georgia" panose="02040502050405020303" pitchFamily="18" charset="0"/>
              </a:defRPr>
            </a:lvl3pPr>
            <a:lvl4pPr marL="1096963" indent="-228600">
              <a:spcBef>
                <a:spcPct val="20000"/>
              </a:spcBef>
              <a:buClr>
                <a:srgbClr val="8C7B70"/>
              </a:buClr>
              <a:buSzPct val="70000"/>
              <a:buFont typeface="Wingdings" panose="05000000000000000000" pitchFamily="2" charset="2"/>
              <a:buChar char=""/>
              <a:defRPr sz="2000">
                <a:solidFill>
                  <a:schemeClr val="tx2"/>
                </a:solidFill>
                <a:latin typeface="Georgia" panose="02040502050405020303" pitchFamily="18" charset="0"/>
              </a:defRPr>
            </a:lvl4pPr>
            <a:lvl5pPr marL="1371600" indent="-228600">
              <a:spcBef>
                <a:spcPct val="20000"/>
              </a:spcBef>
              <a:buClr>
                <a:srgbClr val="8FB08C"/>
              </a:buClr>
              <a:buChar char="•"/>
              <a:defRPr sz="2000">
                <a:solidFill>
                  <a:schemeClr val="tx1"/>
                </a:solidFill>
                <a:latin typeface="Georgia" panose="02040502050405020303" pitchFamily="18" charset="0"/>
              </a:defRPr>
            </a:lvl5pPr>
            <a:lvl6pPr marL="18288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6pPr>
            <a:lvl7pPr marL="22860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7pPr>
            <a:lvl8pPr marL="27432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8pPr>
            <a:lvl9pPr marL="32004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9pPr>
          </a:lstStyle>
          <a:p>
            <a:pPr algn="ctr" eaLnBrk="1" hangingPunct="1">
              <a:spcBef>
                <a:spcPct val="0"/>
              </a:spcBef>
              <a:buClrTx/>
              <a:buSzTx/>
              <a:buFontTx/>
              <a:buNone/>
            </a:pPr>
            <a:r>
              <a:rPr lang="en-GB" altLang="en-US" sz="4800">
                <a:solidFill>
                  <a:srgbClr val="C00000"/>
                </a:solidFill>
                <a:latin typeface="Algerian" panose="04020705040A02060702" pitchFamily="82" charset="0"/>
              </a:rPr>
              <a:t>MC3020- basic concept of probability</a:t>
            </a:r>
            <a:endParaRPr lang="en-US" altLang="en-US" sz="3600">
              <a:solidFill>
                <a:srgbClr val="C00000"/>
              </a:solidFill>
            </a:endParaRPr>
          </a:p>
        </p:txBody>
      </p:sp>
    </p:spTree>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3284" y="285728"/>
            <a:ext cx="4817344" cy="784830"/>
          </a:xfrm>
          <a:prstGeom prst="rect">
            <a:avLst/>
          </a:prstGeom>
        </p:spPr>
        <p:txBody>
          <a:bodyPr wrap="none">
            <a:spAutoFit/>
          </a:bodyPr>
          <a:lstStyle/>
          <a:p>
            <a:r>
              <a:rPr lang="en-US" sz="4500" dirty="0">
                <a:solidFill>
                  <a:srgbClr val="C00000"/>
                </a:solidFill>
                <a:effectLst>
                  <a:outerShdw blurRad="38100" dist="38100" dir="2700000" algn="tl">
                    <a:srgbClr val="000000">
                      <a:alpha val="43137"/>
                    </a:srgbClr>
                  </a:outerShdw>
                </a:effectLst>
              </a:rPr>
              <a:t>Inferential Statistics</a:t>
            </a:r>
          </a:p>
        </p:txBody>
      </p:sp>
      <p:sp>
        <p:nvSpPr>
          <p:cNvPr id="3" name="Rectangle 2"/>
          <p:cNvSpPr/>
          <p:nvPr/>
        </p:nvSpPr>
        <p:spPr>
          <a:xfrm>
            <a:off x="285720" y="1601356"/>
            <a:ext cx="8858280" cy="4131900"/>
          </a:xfrm>
          <a:prstGeom prst="rect">
            <a:avLst/>
          </a:prstGeom>
        </p:spPr>
        <p:txBody>
          <a:bodyPr wrap="square">
            <a:spAutoFit/>
          </a:bodyPr>
          <a:lstStyle/>
          <a:p>
            <a:pPr>
              <a:lnSpc>
                <a:spcPct val="150000"/>
              </a:lnSpc>
              <a:buClr>
                <a:srgbClr val="006600"/>
              </a:buClr>
              <a:buFont typeface="Wingdings" pitchFamily="2" charset="2"/>
              <a:buChar char="q"/>
            </a:pPr>
            <a:r>
              <a:rPr lang="en-IN" sz="3500" dirty="0"/>
              <a:t> Definitions </a:t>
            </a:r>
          </a:p>
          <a:p>
            <a:pPr>
              <a:lnSpc>
                <a:spcPct val="150000"/>
              </a:lnSpc>
              <a:buClr>
                <a:srgbClr val="006600"/>
              </a:buClr>
              <a:buFont typeface="Wingdings" pitchFamily="2" charset="2"/>
              <a:buChar char="q"/>
            </a:pPr>
            <a:r>
              <a:rPr lang="en-IN" sz="3500" dirty="0"/>
              <a:t> Basic Approaches to Computing Probability </a:t>
            </a:r>
          </a:p>
          <a:p>
            <a:pPr>
              <a:lnSpc>
                <a:spcPct val="150000"/>
              </a:lnSpc>
              <a:buClr>
                <a:srgbClr val="006600"/>
              </a:buClr>
              <a:buFont typeface="Wingdings" pitchFamily="2" charset="2"/>
              <a:buChar char="q"/>
            </a:pPr>
            <a:r>
              <a:rPr lang="en-IN" sz="3500" dirty="0"/>
              <a:t> Relationships among Events </a:t>
            </a:r>
          </a:p>
          <a:p>
            <a:pPr>
              <a:lnSpc>
                <a:spcPct val="150000"/>
              </a:lnSpc>
              <a:buClr>
                <a:srgbClr val="006600"/>
              </a:buClr>
              <a:buFont typeface="Wingdings" pitchFamily="2" charset="2"/>
              <a:buChar char="q"/>
            </a:pPr>
            <a:r>
              <a:rPr lang="en-IN" sz="3500" dirty="0"/>
              <a:t> Conditional Probability </a:t>
            </a:r>
          </a:p>
          <a:p>
            <a:pPr>
              <a:lnSpc>
                <a:spcPct val="150000"/>
              </a:lnSpc>
              <a:buClr>
                <a:srgbClr val="006600"/>
              </a:buClr>
              <a:buFont typeface="Wingdings" pitchFamily="2" charset="2"/>
              <a:buChar char="q"/>
            </a:pPr>
            <a:r>
              <a:rPr lang="en-IN" sz="3500" dirty="0"/>
              <a:t> Counting</a:t>
            </a:r>
            <a:endParaRPr lang="en-US" sz="3500" dirty="0"/>
          </a:p>
        </p:txBody>
      </p:sp>
      <p:sp>
        <p:nvSpPr>
          <p:cNvPr id="4" name="Date Placeholder 3"/>
          <p:cNvSpPr>
            <a:spLocks noGrp="1"/>
          </p:cNvSpPr>
          <p:nvPr>
            <p:ph type="dt" sz="half" idx="10"/>
          </p:nvPr>
        </p:nvSpPr>
        <p:spPr/>
        <p:txBody>
          <a:bodyPr/>
          <a:lstStyle/>
          <a:p>
            <a:pPr>
              <a:defRPr/>
            </a:pPr>
            <a:fld id="{E2BCF996-6B88-4387-9969-9A36951ED464}"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77C6793F-F3F8-41D8-9428-CCF50DA353AF}" type="slidenum">
              <a:rPr lang="en-US" smtClean="0"/>
              <a:pPr>
                <a:defRPr/>
              </a:pPr>
              <a:t>2</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Autofit/>
          </a:bodyPr>
          <a:lstStyle/>
          <a:p>
            <a:pPr algn="l" eaLnBrk="1" fontAlgn="auto" hangingPunct="1">
              <a:spcAft>
                <a:spcPts val="0"/>
              </a:spcAft>
              <a:defRPr/>
            </a:pPr>
            <a:r>
              <a:rPr lang="en-US"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Definition: Inferential Statistics</a:t>
            </a:r>
          </a:p>
        </p:txBody>
      </p:sp>
      <p:sp>
        <p:nvSpPr>
          <p:cNvPr id="19459" name="Rectangle 3"/>
          <p:cNvSpPr>
            <a:spLocks noGrp="1" noChangeArrowheads="1"/>
          </p:cNvSpPr>
          <p:nvPr>
            <p:ph sz="quarter" idx="1"/>
          </p:nvPr>
        </p:nvSpPr>
        <p:spPr>
          <a:xfrm>
            <a:off x="271490" y="1500174"/>
            <a:ext cx="8229600" cy="4525963"/>
          </a:xfrm>
        </p:spPr>
        <p:txBody>
          <a:bodyPr/>
          <a:lstStyle/>
          <a:p>
            <a:pPr marL="0" indent="0" algn="just" eaLnBrk="1" hangingPunct="1">
              <a:buNone/>
            </a:pPr>
            <a:r>
              <a:rPr lang="en-IN" sz="3500" dirty="0">
                <a:latin typeface="Times New Roman" pitchFamily="18" charset="0"/>
                <a:cs typeface="Times New Roman" pitchFamily="18" charset="0"/>
              </a:rPr>
              <a:t>It involves drawing conclusions about a population based on the information from a sample of the population. It involves gathering data on a sample of a population and also involves analyzing this data in order to make inferences about the entire population.</a:t>
            </a:r>
            <a:endParaRPr lang="en-US" sz="3500" dirty="0">
              <a:latin typeface="Times New Roman" pitchFamily="18" charset="0"/>
              <a:cs typeface="Times New Roman" pitchFamily="18" charset="0"/>
            </a:endParaRPr>
          </a:p>
        </p:txBody>
      </p:sp>
      <p:sp>
        <p:nvSpPr>
          <p:cNvPr id="2" name="Date Placeholder 1"/>
          <p:cNvSpPr>
            <a:spLocks noGrp="1"/>
          </p:cNvSpPr>
          <p:nvPr>
            <p:ph type="dt" sz="half" idx="10"/>
          </p:nvPr>
        </p:nvSpPr>
        <p:spPr/>
        <p:txBody>
          <a:bodyPr/>
          <a:lstStyle/>
          <a:p>
            <a:pPr>
              <a:defRPr/>
            </a:pPr>
            <a:fld id="{AEC43330-4A09-48D6-B3EE-14717E735396}" type="datetime2">
              <a:rPr lang="en-US" smtClean="0"/>
              <a:pPr>
                <a:defRPr/>
              </a:pPr>
              <a:t>Monday, December 8, 2025</a:t>
            </a:fld>
            <a:endParaRPr lang="en-US"/>
          </a:p>
        </p:txBody>
      </p:sp>
      <p:sp>
        <p:nvSpPr>
          <p:cNvPr id="3" name="Slide Number Placeholder 2"/>
          <p:cNvSpPr>
            <a:spLocks noGrp="1"/>
          </p:cNvSpPr>
          <p:nvPr>
            <p:ph type="sldNum" sz="quarter" idx="12"/>
          </p:nvPr>
        </p:nvSpPr>
        <p:spPr/>
        <p:txBody>
          <a:bodyPr/>
          <a:lstStyle/>
          <a:p>
            <a:pPr>
              <a:defRPr/>
            </a:pPr>
            <a:fld id="{C70CFA2D-21B9-45B6-893F-7371CE3DE2D8}" type="slidenum">
              <a:rPr lang="en-US" smtClean="0"/>
              <a:pPr>
                <a:defRPr/>
              </a:pPr>
              <a:t>3</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Example 1:</a:t>
            </a:r>
            <a:endParaRPr lang="en-US"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sz="quarter" idx="1"/>
          </p:nvPr>
        </p:nvSpPr>
        <p:spPr/>
        <p:txBody>
          <a:bodyPr/>
          <a:lstStyle/>
          <a:p>
            <a:pPr marL="0" indent="0" algn="just">
              <a:buNone/>
            </a:pPr>
            <a:r>
              <a:rPr lang="en-IN" sz="3500" dirty="0"/>
              <a:t>In October 2002, ABCNEWS poll found that 73 percent of Americans </a:t>
            </a:r>
            <a:r>
              <a:rPr lang="en-IN" sz="3500" dirty="0" err="1"/>
              <a:t>favor</a:t>
            </a:r>
            <a:r>
              <a:rPr lang="en-IN" sz="3500" dirty="0"/>
              <a:t> a law that would require every gun sold in the United States to be test-fired first, so law enforcement would have its ballistic fingerprint in case it were ever used in a crime.</a:t>
            </a:r>
          </a:p>
          <a:p>
            <a:pPr algn="just"/>
            <a:endParaRPr lang="en-US" sz="3500" dirty="0"/>
          </a:p>
        </p:txBody>
      </p:sp>
      <p:sp>
        <p:nvSpPr>
          <p:cNvPr id="4" name="Date Placeholder 3"/>
          <p:cNvSpPr>
            <a:spLocks noGrp="1"/>
          </p:cNvSpPr>
          <p:nvPr>
            <p:ph type="dt" sz="half" idx="10"/>
          </p:nvPr>
        </p:nvSpPr>
        <p:spPr/>
        <p:txBody>
          <a:bodyPr/>
          <a:lstStyle/>
          <a:p>
            <a:pPr>
              <a:defRPr/>
            </a:pPr>
            <a:fld id="{1DC5DC52-C046-4DB4-82EB-B7295F1B95C1}"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4</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Example 2:</a:t>
            </a:r>
            <a:endParaRPr lang="en-US"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sz="quarter" idx="1"/>
          </p:nvPr>
        </p:nvSpPr>
        <p:spPr/>
        <p:txBody>
          <a:bodyPr/>
          <a:lstStyle/>
          <a:p>
            <a:pPr marL="0" indent="0" algn="just">
              <a:buNone/>
            </a:pPr>
            <a:r>
              <a:rPr lang="en-IN" sz="3500" dirty="0">
                <a:latin typeface="Times New Roman" pitchFamily="18" charset="0"/>
                <a:cs typeface="Times New Roman" pitchFamily="18" charset="0"/>
              </a:rPr>
              <a:t>A </a:t>
            </a:r>
            <a:r>
              <a:rPr lang="en-IN" sz="3500" dirty="0" err="1">
                <a:latin typeface="Times New Roman" pitchFamily="18" charset="0"/>
                <a:cs typeface="Times New Roman" pitchFamily="18" charset="0"/>
              </a:rPr>
              <a:t>StarBucks</a:t>
            </a:r>
            <a:r>
              <a:rPr lang="en-IN" sz="3500" dirty="0">
                <a:latin typeface="Times New Roman" pitchFamily="18" charset="0"/>
                <a:cs typeface="Times New Roman" pitchFamily="18" charset="0"/>
              </a:rPr>
              <a:t> manager examines the amount of brewed coffee sold in the last five weeks in order to guess the demand for this week.</a:t>
            </a:r>
            <a:endParaRPr lang="en-US" sz="35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pPr>
              <a:defRPr/>
            </a:pPr>
            <a:fld id="{FEC6F691-4E70-4B5B-947B-72CF44D6B7A0}"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5</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pPr marL="0" indent="0" algn="just">
              <a:buNone/>
            </a:pPr>
            <a:r>
              <a:rPr lang="en-IN" sz="3500" dirty="0">
                <a:latin typeface="Times New Roman" pitchFamily="18" charset="0"/>
                <a:cs typeface="Times New Roman" pitchFamily="18" charset="0"/>
              </a:rPr>
              <a:t>In making inferences about unknown population parameters based on the information from a sample of the population, understanding of likelihood or probability is essential. </a:t>
            </a:r>
          </a:p>
          <a:p>
            <a:pPr marL="0" indent="0" algn="just">
              <a:buNone/>
            </a:pPr>
            <a:endParaRPr lang="en-IN" sz="3500" dirty="0">
              <a:latin typeface="Times New Roman" pitchFamily="18" charset="0"/>
              <a:cs typeface="Times New Roman" pitchFamily="18" charset="0"/>
            </a:endParaRPr>
          </a:p>
        </p:txBody>
      </p:sp>
      <p:sp>
        <p:nvSpPr>
          <p:cNvPr id="2" name="Date Placeholder 1"/>
          <p:cNvSpPr>
            <a:spLocks noGrp="1"/>
          </p:cNvSpPr>
          <p:nvPr>
            <p:ph type="dt" sz="half" idx="10"/>
          </p:nvPr>
        </p:nvSpPr>
        <p:spPr/>
        <p:txBody>
          <a:bodyPr/>
          <a:lstStyle/>
          <a:p>
            <a:pPr>
              <a:defRPr/>
            </a:pPr>
            <a:fld id="{47B37D4D-ACE2-4E15-A0B4-453BBF65CE0B}" type="datetime2">
              <a:rPr lang="en-US" smtClean="0"/>
              <a:pPr>
                <a:defRPr/>
              </a:pPr>
              <a:t>Monday, December 8, 2025</a:t>
            </a:fld>
            <a:endParaRPr lang="en-US"/>
          </a:p>
        </p:txBody>
      </p:sp>
      <p:sp>
        <p:nvSpPr>
          <p:cNvPr id="4" name="Slide Number Placeholder 3"/>
          <p:cNvSpPr>
            <a:spLocks noGrp="1"/>
          </p:cNvSpPr>
          <p:nvPr>
            <p:ph type="sldNum" sz="quarter" idx="12"/>
          </p:nvPr>
        </p:nvSpPr>
        <p:spPr/>
        <p:txBody>
          <a:bodyPr/>
          <a:lstStyle/>
          <a:p>
            <a:pPr>
              <a:defRPr/>
            </a:pPr>
            <a:fld id="{C70CFA2D-21B9-45B6-893F-7371CE3DE2D8}" type="slidenum">
              <a:rPr lang="en-US" smtClean="0"/>
              <a:pPr>
                <a:defRPr/>
              </a:pPr>
              <a:t>6</a:t>
            </a:fld>
            <a:endParaRPr lang="en-US"/>
          </a:p>
        </p:txBody>
      </p:sp>
      <p:sp>
        <p:nvSpPr>
          <p:cNvPr id="5" name="Footer Placeholder 4"/>
          <p:cNvSpPr>
            <a:spLocks noGrp="1"/>
          </p:cNvSpPr>
          <p:nvPr>
            <p:ph type="ftr" sz="quarter" idx="11"/>
          </p:nvPr>
        </p:nvSpPr>
        <p:spPr/>
        <p:txBody>
          <a:bodyPr/>
          <a:lstStyle/>
          <a:p>
            <a:pPr>
              <a:defRPr/>
            </a:pPr>
            <a:r>
              <a:rPr lang="en-US"/>
              <a:t>STAT 154 -09</a:t>
            </a:r>
          </a:p>
        </p:txBody>
      </p:sp>
    </p:spTree>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pPr marL="0" indent="0" algn="just">
              <a:buNone/>
            </a:pPr>
            <a:r>
              <a:rPr lang="en-IN" sz="3500" dirty="0">
                <a:latin typeface="Times New Roman" pitchFamily="18" charset="0"/>
                <a:cs typeface="Times New Roman" pitchFamily="18" charset="0"/>
              </a:rPr>
              <a:t>Probabilities or chances are computed relative to the idealistic or the perfect world points of view. </a:t>
            </a:r>
          </a:p>
          <a:p>
            <a:pPr marL="0" indent="0" algn="just">
              <a:buNone/>
            </a:pPr>
            <a:endParaRPr lang="en-IN" sz="3500" dirty="0">
              <a:latin typeface="Times New Roman" pitchFamily="18" charset="0"/>
              <a:cs typeface="Times New Roman" pitchFamily="18" charset="0"/>
            </a:endParaRPr>
          </a:p>
          <a:p>
            <a:pPr marL="0" indent="0" algn="just">
              <a:buNone/>
            </a:pPr>
            <a:r>
              <a:rPr lang="en-IN" sz="3500" dirty="0">
                <a:latin typeface="Times New Roman" pitchFamily="18" charset="0"/>
                <a:cs typeface="Times New Roman" pitchFamily="18" charset="0"/>
              </a:rPr>
              <a:t>To understand the probabilities and hence the population distributions, the concepts listed in the next few slides are introduced:</a:t>
            </a:r>
            <a:endParaRPr lang="en-US" sz="3500" dirty="0">
              <a:latin typeface="Times New Roman" pitchFamily="18" charset="0"/>
              <a:cs typeface="Times New Roman" pitchFamily="18" charset="0"/>
            </a:endParaRPr>
          </a:p>
          <a:p>
            <a:pPr>
              <a:buNone/>
            </a:pPr>
            <a:endParaRPr lang="en-US" sz="3500" dirty="0"/>
          </a:p>
        </p:txBody>
      </p:sp>
      <p:sp>
        <p:nvSpPr>
          <p:cNvPr id="4" name="Date Placeholder 3"/>
          <p:cNvSpPr>
            <a:spLocks noGrp="1"/>
          </p:cNvSpPr>
          <p:nvPr>
            <p:ph type="dt" sz="half" idx="10"/>
          </p:nvPr>
        </p:nvSpPr>
        <p:spPr/>
        <p:txBody>
          <a:bodyPr/>
          <a:lstStyle/>
          <a:p>
            <a:pPr>
              <a:defRPr/>
            </a:pPr>
            <a:fld id="{E3383671-AF5E-47C7-8B33-44A002172B3F}"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7</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62" name="Rectangle 2">
            <a:extLst>
              <a:ext uri="{FF2B5EF4-FFF2-40B4-BE49-F238E27FC236}">
                <a16:creationId xmlns:a16="http://schemas.microsoft.com/office/drawing/2014/main" id="{5DEA550D-DD8F-A6FD-F627-73219803A0F3}"/>
              </a:ext>
            </a:extLst>
          </p:cNvPr>
          <p:cNvSpPr>
            <a:spLocks noGrp="1" noChangeArrowheads="1"/>
          </p:cNvSpPr>
          <p:nvPr>
            <p:ph type="title"/>
          </p:nvPr>
        </p:nvSpPr>
        <p:spPr>
          <a:xfrm>
            <a:off x="533400" y="282238"/>
            <a:ext cx="7772400" cy="838200"/>
          </a:xfrm>
        </p:spPr>
        <p:txBody>
          <a:bodyPr/>
          <a:lstStyle/>
          <a:p>
            <a:r>
              <a:rPr lang="en-US" altLang="en-US"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Why Learn Probability?</a:t>
            </a:r>
          </a:p>
        </p:txBody>
      </p:sp>
      <p:sp>
        <p:nvSpPr>
          <p:cNvPr id="143363" name="Rectangle 3">
            <a:extLst>
              <a:ext uri="{FF2B5EF4-FFF2-40B4-BE49-F238E27FC236}">
                <a16:creationId xmlns:a16="http://schemas.microsoft.com/office/drawing/2014/main" id="{EC920937-1BDC-7D13-7C01-201F65E65C4B}"/>
              </a:ext>
            </a:extLst>
          </p:cNvPr>
          <p:cNvSpPr>
            <a:spLocks noGrp="1" noChangeArrowheads="1"/>
          </p:cNvSpPr>
          <p:nvPr>
            <p:ph type="body" idx="1"/>
          </p:nvPr>
        </p:nvSpPr>
        <p:spPr>
          <a:xfrm>
            <a:off x="419100" y="1387137"/>
            <a:ext cx="8153400" cy="2895600"/>
          </a:xfrm>
        </p:spPr>
        <p:txBody>
          <a:bodyPr/>
          <a:lstStyle/>
          <a:p>
            <a:pPr algn="just"/>
            <a:r>
              <a:rPr lang="en-US" altLang="en-US" sz="2800" dirty="0">
                <a:solidFill>
                  <a:schemeClr val="tx1"/>
                </a:solidFill>
                <a:latin typeface="Times New Roman" panose="02020603050405020304" pitchFamily="18" charset="0"/>
                <a:cs typeface="Times New Roman" panose="02020603050405020304" pitchFamily="18" charset="0"/>
              </a:rPr>
              <a:t>Nothing in life is certain. In everything we do, we gauge the chances of successful outcomes, from business to medicine to the weather</a:t>
            </a:r>
          </a:p>
          <a:p>
            <a:pPr algn="just"/>
            <a:r>
              <a:rPr lang="en-US" altLang="en-US" sz="2800" dirty="0">
                <a:solidFill>
                  <a:schemeClr val="tx1"/>
                </a:solidFill>
                <a:latin typeface="Times New Roman" panose="02020603050405020304" pitchFamily="18" charset="0"/>
                <a:cs typeface="Times New Roman" panose="02020603050405020304" pitchFamily="18" charset="0"/>
              </a:rPr>
              <a:t>A probability provides a quantitative description of the chances or likelihoods associated with various outcomes</a:t>
            </a:r>
          </a:p>
          <a:p>
            <a:pPr algn="just"/>
            <a:r>
              <a:rPr lang="en-US" altLang="en-US" sz="2800" dirty="0">
                <a:solidFill>
                  <a:schemeClr val="tx1"/>
                </a:solidFill>
                <a:latin typeface="Times New Roman" panose="02020603050405020304" pitchFamily="18" charset="0"/>
                <a:cs typeface="Times New Roman" panose="02020603050405020304" pitchFamily="18" charset="0"/>
              </a:rPr>
              <a:t>It provides a bridge between descriptive and inferential statistics</a:t>
            </a:r>
          </a:p>
          <a:p>
            <a:pPr algn="just"/>
            <a:endParaRPr lang="en-US" altLang="en-US" sz="2800" dirty="0">
              <a:solidFill>
                <a:schemeClr val="tx1"/>
              </a:solidFill>
              <a:latin typeface="Times New Roman" panose="02020603050405020304" pitchFamily="18" charset="0"/>
              <a:cs typeface="Times New Roman" panose="02020603050405020304" pitchFamily="18" charset="0"/>
            </a:endParaRPr>
          </a:p>
        </p:txBody>
      </p:sp>
      <p:sp>
        <p:nvSpPr>
          <p:cNvPr id="143364" name="Oval 4">
            <a:extLst>
              <a:ext uri="{FF2B5EF4-FFF2-40B4-BE49-F238E27FC236}">
                <a16:creationId xmlns:a16="http://schemas.microsoft.com/office/drawing/2014/main" id="{A9513FD5-6CBC-1054-7B81-7E73746FFB0D}"/>
              </a:ext>
            </a:extLst>
          </p:cNvPr>
          <p:cNvSpPr>
            <a:spLocks noChangeArrowheads="1"/>
          </p:cNvSpPr>
          <p:nvPr/>
        </p:nvSpPr>
        <p:spPr bwMode="auto">
          <a:xfrm>
            <a:off x="1219200" y="5410200"/>
            <a:ext cx="1752600" cy="6096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dirty="0"/>
              <a:t>Population</a:t>
            </a:r>
          </a:p>
        </p:txBody>
      </p:sp>
      <p:sp>
        <p:nvSpPr>
          <p:cNvPr id="143365" name="Oval 5">
            <a:extLst>
              <a:ext uri="{FF2B5EF4-FFF2-40B4-BE49-F238E27FC236}">
                <a16:creationId xmlns:a16="http://schemas.microsoft.com/office/drawing/2014/main" id="{877CFDA5-3291-8F9D-84E6-4C248448AB48}"/>
              </a:ext>
            </a:extLst>
          </p:cNvPr>
          <p:cNvSpPr>
            <a:spLocks noChangeArrowheads="1"/>
          </p:cNvSpPr>
          <p:nvPr/>
        </p:nvSpPr>
        <p:spPr bwMode="auto">
          <a:xfrm>
            <a:off x="4724400" y="5410200"/>
            <a:ext cx="1676400" cy="533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Sample</a:t>
            </a:r>
          </a:p>
        </p:txBody>
      </p:sp>
      <p:sp>
        <p:nvSpPr>
          <p:cNvPr id="143375" name="Line 15">
            <a:extLst>
              <a:ext uri="{FF2B5EF4-FFF2-40B4-BE49-F238E27FC236}">
                <a16:creationId xmlns:a16="http://schemas.microsoft.com/office/drawing/2014/main" id="{DD69DD6F-48C1-8BB8-0436-B34361C4059B}"/>
              </a:ext>
            </a:extLst>
          </p:cNvPr>
          <p:cNvSpPr>
            <a:spLocks noChangeShapeType="1"/>
          </p:cNvSpPr>
          <p:nvPr/>
        </p:nvSpPr>
        <p:spPr bwMode="auto">
          <a:xfrm>
            <a:off x="2667000" y="5410200"/>
            <a:ext cx="2286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376" name="Line 16">
            <a:extLst>
              <a:ext uri="{FF2B5EF4-FFF2-40B4-BE49-F238E27FC236}">
                <a16:creationId xmlns:a16="http://schemas.microsoft.com/office/drawing/2014/main" id="{14CEF9AE-4158-6A89-4305-32464EB87BF3}"/>
              </a:ext>
            </a:extLst>
          </p:cNvPr>
          <p:cNvSpPr>
            <a:spLocks noChangeShapeType="1"/>
          </p:cNvSpPr>
          <p:nvPr/>
        </p:nvSpPr>
        <p:spPr bwMode="auto">
          <a:xfrm flipH="1">
            <a:off x="2667000" y="5943600"/>
            <a:ext cx="2286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377" name="Text Box 17">
            <a:extLst>
              <a:ext uri="{FF2B5EF4-FFF2-40B4-BE49-F238E27FC236}">
                <a16:creationId xmlns:a16="http://schemas.microsoft.com/office/drawing/2014/main" id="{2FABB499-C702-7116-57A9-98B8F345780F}"/>
              </a:ext>
            </a:extLst>
          </p:cNvPr>
          <p:cNvSpPr txBox="1">
            <a:spLocks noChangeArrowheads="1"/>
          </p:cNvSpPr>
          <p:nvPr/>
        </p:nvSpPr>
        <p:spPr bwMode="auto">
          <a:xfrm>
            <a:off x="2971800" y="4876800"/>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CC0066"/>
                </a:solidFill>
              </a:rPr>
              <a:t>Probability</a:t>
            </a:r>
          </a:p>
        </p:txBody>
      </p:sp>
      <p:sp>
        <p:nvSpPr>
          <p:cNvPr id="143378" name="Text Box 18">
            <a:extLst>
              <a:ext uri="{FF2B5EF4-FFF2-40B4-BE49-F238E27FC236}">
                <a16:creationId xmlns:a16="http://schemas.microsoft.com/office/drawing/2014/main" id="{9369D386-6FA6-3C6E-FBCD-B94492592E88}"/>
              </a:ext>
            </a:extLst>
          </p:cNvPr>
          <p:cNvSpPr txBox="1">
            <a:spLocks noChangeArrowheads="1"/>
          </p:cNvSpPr>
          <p:nvPr/>
        </p:nvSpPr>
        <p:spPr bwMode="auto">
          <a:xfrm>
            <a:off x="3124200" y="5943600"/>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CC0066"/>
                </a:solidFill>
              </a:rPr>
              <a:t>Statistics</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336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336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43364"/>
                                        </p:tgtEl>
                                        <p:attrNameLst>
                                          <p:attrName>style.visibility</p:attrName>
                                        </p:attrNameLst>
                                      </p:cBhvr>
                                      <p:to>
                                        <p:strVal val="visible"/>
                                      </p:to>
                                    </p:set>
                                    <p:anim calcmode="lin" valueType="num">
                                      <p:cBhvr additive="base">
                                        <p:cTn id="19" dur="500" fill="hold"/>
                                        <p:tgtEl>
                                          <p:spTgt spid="143364"/>
                                        </p:tgtEl>
                                        <p:attrNameLst>
                                          <p:attrName>ppt_x</p:attrName>
                                        </p:attrNameLst>
                                      </p:cBhvr>
                                      <p:tavLst>
                                        <p:tav tm="0">
                                          <p:val>
                                            <p:strVal val="#ppt_x"/>
                                          </p:val>
                                        </p:tav>
                                        <p:tav tm="100000">
                                          <p:val>
                                            <p:strVal val="#ppt_x"/>
                                          </p:val>
                                        </p:tav>
                                      </p:tavLst>
                                    </p:anim>
                                    <p:anim calcmode="lin" valueType="num">
                                      <p:cBhvr additive="base">
                                        <p:cTn id="20" dur="500" fill="hold"/>
                                        <p:tgtEl>
                                          <p:spTgt spid="143364"/>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43365"/>
                                        </p:tgtEl>
                                        <p:attrNameLst>
                                          <p:attrName>style.visibility</p:attrName>
                                        </p:attrNameLst>
                                      </p:cBhvr>
                                      <p:to>
                                        <p:strVal val="visible"/>
                                      </p:to>
                                    </p:set>
                                    <p:anim calcmode="lin" valueType="num">
                                      <p:cBhvr additive="base">
                                        <p:cTn id="23" dur="500" fill="hold"/>
                                        <p:tgtEl>
                                          <p:spTgt spid="143365"/>
                                        </p:tgtEl>
                                        <p:attrNameLst>
                                          <p:attrName>ppt_x</p:attrName>
                                        </p:attrNameLst>
                                      </p:cBhvr>
                                      <p:tavLst>
                                        <p:tav tm="0">
                                          <p:val>
                                            <p:strVal val="#ppt_x"/>
                                          </p:val>
                                        </p:tav>
                                        <p:tav tm="100000">
                                          <p:val>
                                            <p:strVal val="#ppt_x"/>
                                          </p:val>
                                        </p:tav>
                                      </p:tavLst>
                                    </p:anim>
                                    <p:anim calcmode="lin" valueType="num">
                                      <p:cBhvr additive="base">
                                        <p:cTn id="24" dur="500" fill="hold"/>
                                        <p:tgtEl>
                                          <p:spTgt spid="143365"/>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143377"/>
                                        </p:tgtEl>
                                        <p:attrNameLst>
                                          <p:attrName>style.visibility</p:attrName>
                                        </p:attrNameLst>
                                      </p:cBhvr>
                                      <p:to>
                                        <p:strVal val="visible"/>
                                      </p:to>
                                    </p:set>
                                    <p:anim calcmode="lin" valueType="num">
                                      <p:cBhvr additive="base">
                                        <p:cTn id="29" dur="500" fill="hold"/>
                                        <p:tgtEl>
                                          <p:spTgt spid="143377"/>
                                        </p:tgtEl>
                                        <p:attrNameLst>
                                          <p:attrName>ppt_x</p:attrName>
                                        </p:attrNameLst>
                                      </p:cBhvr>
                                      <p:tavLst>
                                        <p:tav tm="0">
                                          <p:val>
                                            <p:strVal val="#ppt_x"/>
                                          </p:val>
                                        </p:tav>
                                        <p:tav tm="100000">
                                          <p:val>
                                            <p:strVal val="#ppt_x"/>
                                          </p:val>
                                        </p:tav>
                                      </p:tavLst>
                                    </p:anim>
                                    <p:anim calcmode="lin" valueType="num">
                                      <p:cBhvr additive="base">
                                        <p:cTn id="30" dur="500" fill="hold"/>
                                        <p:tgtEl>
                                          <p:spTgt spid="143377"/>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43375"/>
                                        </p:tgtEl>
                                        <p:attrNameLst>
                                          <p:attrName>style.visibility</p:attrName>
                                        </p:attrNameLst>
                                      </p:cBhvr>
                                      <p:to>
                                        <p:strVal val="visible"/>
                                      </p:to>
                                    </p:set>
                                    <p:anim calcmode="lin" valueType="num">
                                      <p:cBhvr additive="base">
                                        <p:cTn id="33" dur="500" fill="hold"/>
                                        <p:tgtEl>
                                          <p:spTgt spid="143375"/>
                                        </p:tgtEl>
                                        <p:attrNameLst>
                                          <p:attrName>ppt_x</p:attrName>
                                        </p:attrNameLst>
                                      </p:cBhvr>
                                      <p:tavLst>
                                        <p:tav tm="0">
                                          <p:val>
                                            <p:strVal val="#ppt_x"/>
                                          </p:val>
                                        </p:tav>
                                        <p:tav tm="100000">
                                          <p:val>
                                            <p:strVal val="#ppt_x"/>
                                          </p:val>
                                        </p:tav>
                                      </p:tavLst>
                                    </p:anim>
                                    <p:anim calcmode="lin" valueType="num">
                                      <p:cBhvr additive="base">
                                        <p:cTn id="34" dur="500" fill="hold"/>
                                        <p:tgtEl>
                                          <p:spTgt spid="143375"/>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143376"/>
                                        </p:tgtEl>
                                        <p:attrNameLst>
                                          <p:attrName>style.visibility</p:attrName>
                                        </p:attrNameLst>
                                      </p:cBhvr>
                                      <p:to>
                                        <p:strVal val="visible"/>
                                      </p:to>
                                    </p:set>
                                    <p:anim calcmode="lin" valueType="num">
                                      <p:cBhvr additive="base">
                                        <p:cTn id="39" dur="500" fill="hold"/>
                                        <p:tgtEl>
                                          <p:spTgt spid="143376"/>
                                        </p:tgtEl>
                                        <p:attrNameLst>
                                          <p:attrName>ppt_x</p:attrName>
                                        </p:attrNameLst>
                                      </p:cBhvr>
                                      <p:tavLst>
                                        <p:tav tm="0">
                                          <p:val>
                                            <p:strVal val="#ppt_x"/>
                                          </p:val>
                                        </p:tav>
                                        <p:tav tm="100000">
                                          <p:val>
                                            <p:strVal val="#ppt_x"/>
                                          </p:val>
                                        </p:tav>
                                      </p:tavLst>
                                    </p:anim>
                                    <p:anim calcmode="lin" valueType="num">
                                      <p:cBhvr additive="base">
                                        <p:cTn id="40" dur="500" fill="hold"/>
                                        <p:tgtEl>
                                          <p:spTgt spid="143376"/>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43378"/>
                                        </p:tgtEl>
                                        <p:attrNameLst>
                                          <p:attrName>style.visibility</p:attrName>
                                        </p:attrNameLst>
                                      </p:cBhvr>
                                      <p:to>
                                        <p:strVal val="visible"/>
                                      </p:to>
                                    </p:set>
                                    <p:anim calcmode="lin" valueType="num">
                                      <p:cBhvr additive="base">
                                        <p:cTn id="43" dur="500" fill="hold"/>
                                        <p:tgtEl>
                                          <p:spTgt spid="143378"/>
                                        </p:tgtEl>
                                        <p:attrNameLst>
                                          <p:attrName>ppt_x</p:attrName>
                                        </p:attrNameLst>
                                      </p:cBhvr>
                                      <p:tavLst>
                                        <p:tav tm="0">
                                          <p:val>
                                            <p:strVal val="#ppt_x"/>
                                          </p:val>
                                        </p:tav>
                                        <p:tav tm="100000">
                                          <p:val>
                                            <p:strVal val="#ppt_x"/>
                                          </p:val>
                                        </p:tav>
                                      </p:tavLst>
                                    </p:anim>
                                    <p:anim calcmode="lin" valueType="num">
                                      <p:cBhvr additive="base">
                                        <p:cTn id="44" dur="500" fill="hold"/>
                                        <p:tgtEl>
                                          <p:spTgt spid="1433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p:bldP spid="143364" grpId="0" animBg="1"/>
      <p:bldP spid="143365" grpId="0" animBg="1"/>
      <p:bldP spid="143377" grpId="0"/>
      <p:bldP spid="14337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a:extLst>
              <a:ext uri="{FF2B5EF4-FFF2-40B4-BE49-F238E27FC236}">
                <a16:creationId xmlns:a16="http://schemas.microsoft.com/office/drawing/2014/main" id="{D8C50F59-02CA-E2C3-D2B8-8DE0436417F3}"/>
              </a:ext>
            </a:extLst>
          </p:cNvPr>
          <p:cNvSpPr>
            <a:spLocks noGrp="1" noChangeArrowheads="1"/>
          </p:cNvSpPr>
          <p:nvPr>
            <p:ph type="title"/>
          </p:nvPr>
        </p:nvSpPr>
        <p:spPr>
          <a:xfrm>
            <a:off x="76200" y="0"/>
            <a:ext cx="9067800" cy="1143000"/>
          </a:xfrm>
        </p:spPr>
        <p:txBody>
          <a:bodyPr/>
          <a:lstStyle/>
          <a:p>
            <a:r>
              <a:rPr lang="en-US" altLang="en-US"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Probabilistic vs Statistical Reasoning</a:t>
            </a:r>
          </a:p>
        </p:txBody>
      </p:sp>
      <p:sp>
        <p:nvSpPr>
          <p:cNvPr id="169987" name="Rectangle 3">
            <a:extLst>
              <a:ext uri="{FF2B5EF4-FFF2-40B4-BE49-F238E27FC236}">
                <a16:creationId xmlns:a16="http://schemas.microsoft.com/office/drawing/2014/main" id="{114883E7-7E68-6034-B221-56BC863A34F0}"/>
              </a:ext>
            </a:extLst>
          </p:cNvPr>
          <p:cNvSpPr>
            <a:spLocks noGrp="1" noChangeArrowheads="1"/>
          </p:cNvSpPr>
          <p:nvPr>
            <p:ph type="body" idx="1"/>
          </p:nvPr>
        </p:nvSpPr>
        <p:spPr>
          <a:xfrm>
            <a:off x="649550" y="1524000"/>
            <a:ext cx="7772400" cy="4114800"/>
          </a:xfrm>
        </p:spPr>
        <p:txBody>
          <a:bodyPr/>
          <a:lstStyle/>
          <a:p>
            <a:pPr algn="just">
              <a:lnSpc>
                <a:spcPct val="120000"/>
              </a:lnSpc>
            </a:pPr>
            <a:r>
              <a:rPr lang="en-US" altLang="en-US" sz="2400" dirty="0">
                <a:solidFill>
                  <a:schemeClr val="tx1"/>
                </a:solidFill>
                <a:latin typeface="Times New Roman" panose="02020603050405020304" pitchFamily="18" charset="0"/>
                <a:cs typeface="Times New Roman" panose="02020603050405020304" pitchFamily="18" charset="0"/>
              </a:rPr>
              <a:t>Suppose I know exactly the proportions of </a:t>
            </a:r>
            <a:r>
              <a:rPr lang="en-US" altLang="en-US" sz="2400" dirty="0" err="1">
                <a:latin typeface="Times New Roman" panose="02020603050405020304" pitchFamily="18" charset="0"/>
                <a:cs typeface="Times New Roman" panose="02020603050405020304" pitchFamily="18" charset="0"/>
              </a:rPr>
              <a:t>Senaro</a:t>
            </a:r>
            <a:r>
              <a:rPr lang="en-US" altLang="en-US" sz="2400" dirty="0">
                <a:latin typeface="Times New Roman" panose="02020603050405020304" pitchFamily="18" charset="0"/>
                <a:cs typeface="Times New Roman" panose="02020603050405020304" pitchFamily="18" charset="0"/>
              </a:rPr>
              <a:t> </a:t>
            </a:r>
            <a:r>
              <a:rPr lang="en-US" sz="2400" dirty="0"/>
              <a:t>GN 125</a:t>
            </a:r>
            <a:r>
              <a:rPr lang="en-US" altLang="en-US" sz="2400" dirty="0">
                <a:latin typeface="Times New Roman" panose="02020603050405020304" pitchFamily="18" charset="0"/>
                <a:cs typeface="Times New Roman" panose="02020603050405020304" pitchFamily="18" charset="0"/>
              </a:rPr>
              <a:t> motorbike</a:t>
            </a:r>
            <a:r>
              <a:rPr lang="en-US" altLang="en-US" sz="2400" dirty="0">
                <a:solidFill>
                  <a:schemeClr val="tx1"/>
                </a:solidFill>
                <a:latin typeface="Times New Roman" panose="02020603050405020304" pitchFamily="18" charset="0"/>
                <a:cs typeface="Times New Roman" panose="02020603050405020304" pitchFamily="18" charset="0"/>
              </a:rPr>
              <a:t> </a:t>
            </a:r>
            <a:r>
              <a:rPr lang="en-US" sz="2400" dirty="0"/>
              <a:t>assembles</a:t>
            </a:r>
            <a:r>
              <a:rPr lang="en-US" altLang="en-US" sz="2400" dirty="0">
                <a:solidFill>
                  <a:schemeClr val="tx1"/>
                </a:solidFill>
                <a:latin typeface="Times New Roman" panose="02020603050405020304" pitchFamily="18" charset="0"/>
                <a:cs typeface="Times New Roman" panose="02020603050405020304" pitchFamily="18" charset="0"/>
              </a:rPr>
              <a:t> in Sri Lanka. Then I can find the probability that the first bike I see in the street is a </a:t>
            </a:r>
            <a:r>
              <a:rPr lang="en-US" altLang="en-US" sz="2400" dirty="0" err="1">
                <a:latin typeface="Times New Roman" panose="02020603050405020304" pitchFamily="18" charset="0"/>
                <a:cs typeface="Times New Roman" panose="02020603050405020304" pitchFamily="18" charset="0"/>
              </a:rPr>
              <a:t>Senaro</a:t>
            </a:r>
            <a:r>
              <a:rPr lang="en-US" altLang="en-US" sz="2400" dirty="0">
                <a:latin typeface="Times New Roman" panose="02020603050405020304" pitchFamily="18" charset="0"/>
                <a:cs typeface="Times New Roman" panose="02020603050405020304" pitchFamily="18" charset="0"/>
              </a:rPr>
              <a:t> </a:t>
            </a:r>
            <a:r>
              <a:rPr lang="en-US" sz="2400" dirty="0"/>
              <a:t>GN 125</a:t>
            </a:r>
            <a:r>
              <a:rPr lang="en-US" altLang="en-US" sz="2400" dirty="0">
                <a:solidFill>
                  <a:schemeClr val="tx1"/>
                </a:solidFill>
                <a:latin typeface="Times New Roman" panose="02020603050405020304" pitchFamily="18" charset="0"/>
                <a:cs typeface="Times New Roman" panose="02020603050405020304" pitchFamily="18" charset="0"/>
              </a:rPr>
              <a:t>. This is </a:t>
            </a:r>
            <a:r>
              <a:rPr lang="en-US" altLang="en-US" sz="2400" dirty="0">
                <a:solidFill>
                  <a:srgbClr val="CC0066"/>
                </a:solidFill>
                <a:latin typeface="Times New Roman" panose="02020603050405020304" pitchFamily="18" charset="0"/>
                <a:cs typeface="Times New Roman" panose="02020603050405020304" pitchFamily="18" charset="0"/>
              </a:rPr>
              <a:t>probabilistic reasoning</a:t>
            </a:r>
            <a:r>
              <a:rPr lang="en-US" altLang="en-US" sz="2400" dirty="0">
                <a:solidFill>
                  <a:schemeClr val="tx1"/>
                </a:solidFill>
                <a:latin typeface="Times New Roman" panose="02020603050405020304" pitchFamily="18" charset="0"/>
                <a:cs typeface="Times New Roman" panose="02020603050405020304" pitchFamily="18" charset="0"/>
              </a:rPr>
              <a:t> as I know the population and predict the sample.</a:t>
            </a:r>
          </a:p>
          <a:p>
            <a:pPr algn="just">
              <a:lnSpc>
                <a:spcPct val="120000"/>
              </a:lnSpc>
            </a:pPr>
            <a:r>
              <a:rPr lang="en-US" altLang="en-US" sz="2400" dirty="0">
                <a:solidFill>
                  <a:schemeClr val="tx1"/>
                </a:solidFill>
                <a:latin typeface="Times New Roman" panose="02020603050405020304" pitchFamily="18" charset="0"/>
                <a:cs typeface="Times New Roman" panose="02020603050405020304" pitchFamily="18" charset="0"/>
              </a:rPr>
              <a:t>Now, suppose that I do not know the proportions of </a:t>
            </a:r>
            <a:r>
              <a:rPr lang="en-US" altLang="en-US" sz="2400" dirty="0" err="1">
                <a:latin typeface="Times New Roman" panose="02020603050405020304" pitchFamily="18" charset="0"/>
                <a:cs typeface="Times New Roman" panose="02020603050405020304" pitchFamily="18" charset="0"/>
              </a:rPr>
              <a:t>Senaro</a:t>
            </a:r>
            <a:r>
              <a:rPr lang="en-US" altLang="en-US" sz="2400" dirty="0">
                <a:latin typeface="Times New Roman" panose="02020603050405020304" pitchFamily="18" charset="0"/>
                <a:cs typeface="Times New Roman" panose="02020603050405020304" pitchFamily="18" charset="0"/>
              </a:rPr>
              <a:t> </a:t>
            </a:r>
            <a:r>
              <a:rPr lang="en-US" sz="2400" dirty="0"/>
              <a:t>GN 125</a:t>
            </a:r>
            <a:r>
              <a:rPr lang="en-US" altLang="en-US" sz="2400" dirty="0">
                <a:latin typeface="Times New Roman" panose="02020603050405020304" pitchFamily="18" charset="0"/>
                <a:cs typeface="Times New Roman" panose="02020603050405020304" pitchFamily="18" charset="0"/>
              </a:rPr>
              <a:t> motorbike </a:t>
            </a:r>
            <a:r>
              <a:rPr lang="en-US" sz="2400" dirty="0"/>
              <a:t>assembles</a:t>
            </a:r>
            <a:r>
              <a:rPr lang="en-US" altLang="en-US" sz="2400" dirty="0">
                <a:latin typeface="Times New Roman" panose="02020603050405020304" pitchFamily="18" charset="0"/>
                <a:cs typeface="Times New Roman" panose="02020603050405020304" pitchFamily="18" charset="0"/>
              </a:rPr>
              <a:t> in Sri Lanka</a:t>
            </a:r>
            <a:r>
              <a:rPr lang="en-US" altLang="en-US" sz="2400" dirty="0">
                <a:solidFill>
                  <a:schemeClr val="tx1"/>
                </a:solidFill>
                <a:latin typeface="Times New Roman" panose="02020603050405020304" pitchFamily="18" charset="0"/>
                <a:cs typeface="Times New Roman" panose="02020603050405020304" pitchFamily="18" charset="0"/>
              </a:rPr>
              <a:t>, but would like to estimate them. I observe a random sample of </a:t>
            </a:r>
            <a:r>
              <a:rPr lang="en-US" altLang="en-US" sz="2400" dirty="0" err="1">
                <a:latin typeface="Times New Roman" panose="02020603050405020304" pitchFamily="18" charset="0"/>
                <a:cs typeface="Times New Roman" panose="02020603050405020304" pitchFamily="18" charset="0"/>
              </a:rPr>
              <a:t>Senaro</a:t>
            </a:r>
            <a:r>
              <a:rPr lang="en-US" altLang="en-US" sz="2400" dirty="0">
                <a:latin typeface="Times New Roman" panose="02020603050405020304" pitchFamily="18" charset="0"/>
                <a:cs typeface="Times New Roman" panose="02020603050405020304" pitchFamily="18" charset="0"/>
              </a:rPr>
              <a:t> </a:t>
            </a:r>
            <a:r>
              <a:rPr lang="en-US" sz="2400" dirty="0"/>
              <a:t>GN 125</a:t>
            </a:r>
            <a:r>
              <a:rPr lang="en-US" altLang="en-US" sz="2400" dirty="0">
                <a:latin typeface="Times New Roman" panose="02020603050405020304" pitchFamily="18" charset="0"/>
                <a:cs typeface="Times New Roman" panose="02020603050405020304" pitchFamily="18" charset="0"/>
              </a:rPr>
              <a:t> </a:t>
            </a:r>
            <a:r>
              <a:rPr lang="en-US" altLang="en-US" sz="2400" dirty="0">
                <a:solidFill>
                  <a:schemeClr val="tx1"/>
                </a:solidFill>
                <a:latin typeface="Times New Roman" panose="02020603050405020304" pitchFamily="18" charset="0"/>
                <a:cs typeface="Times New Roman" panose="02020603050405020304" pitchFamily="18" charset="0"/>
              </a:rPr>
              <a:t>bikes in the street and then I have an estimate of the proportions of the population. This is </a:t>
            </a:r>
            <a:r>
              <a:rPr lang="en-US" altLang="en-US" sz="2400" dirty="0">
                <a:solidFill>
                  <a:srgbClr val="CC0066"/>
                </a:solidFill>
                <a:latin typeface="Times New Roman" panose="02020603050405020304" pitchFamily="18" charset="0"/>
                <a:cs typeface="Times New Roman" panose="02020603050405020304" pitchFamily="18" charset="0"/>
              </a:rPr>
              <a:t>statistical reasoning</a:t>
            </a:r>
            <a:r>
              <a:rPr lang="en-US" altLang="en-US" sz="2400" dirty="0">
                <a:solidFill>
                  <a:schemeClr val="tx1"/>
                </a:solidFill>
                <a:latin typeface="Times New Roman" panose="02020603050405020304" pitchFamily="18" charset="0"/>
                <a:cs typeface="Times New Roman" panose="02020603050405020304" pitchFamily="18" charset="0"/>
              </a:rPr>
              <a:t> </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69987">
                                            <p:txEl>
                                              <p:pRg st="0" end="0"/>
                                            </p:txEl>
                                          </p:spTgt>
                                        </p:tgtEl>
                                        <p:attrNameLst>
                                          <p:attrName>style.visibility</p:attrName>
                                        </p:attrNameLst>
                                      </p:cBhvr>
                                      <p:to>
                                        <p:strVal val="visible"/>
                                      </p:to>
                                    </p:set>
                                    <p:animEffect transition="in" filter="wipe(down)">
                                      <p:cBhvr>
                                        <p:cTn id="7" dur="500"/>
                                        <p:tgtEl>
                                          <p:spTgt spid="1699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69987">
                                            <p:txEl>
                                              <p:pRg st="1" end="1"/>
                                            </p:txEl>
                                          </p:spTgt>
                                        </p:tgtEl>
                                        <p:attrNameLst>
                                          <p:attrName>style.visibility</p:attrName>
                                        </p:attrNameLst>
                                      </p:cBhvr>
                                      <p:to>
                                        <p:strVal val="visible"/>
                                      </p:to>
                                    </p:set>
                                    <p:animEffect transition="in" filter="wipe(down)">
                                      <p:cBhvr>
                                        <p:cTn id="12" dur="500"/>
                                        <p:tgtEl>
                                          <p:spTgt spid="16998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Experiment:</a:t>
            </a:r>
            <a:endParaRPr lang="en-US"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sz="quarter" idx="1"/>
          </p:nvPr>
        </p:nvSpPr>
        <p:spPr/>
        <p:txBody>
          <a:bodyPr/>
          <a:lstStyle/>
          <a:p>
            <a:pPr marL="0" indent="0" algn="just">
              <a:buNone/>
            </a:pPr>
            <a:r>
              <a:rPr lang="en-IN" sz="3500" dirty="0">
                <a:latin typeface="Times New Roman" pitchFamily="18" charset="0"/>
                <a:cs typeface="Times New Roman" pitchFamily="18" charset="0"/>
              </a:rPr>
              <a:t>Conducting an activity in generating data. It could be just gathering information or performing an experiment. </a:t>
            </a:r>
            <a:endParaRPr lang="en-US" sz="3500" dirty="0">
              <a:latin typeface="Times New Roman" pitchFamily="18" charset="0"/>
              <a:cs typeface="Times New Roman" pitchFamily="18" charset="0"/>
            </a:endParaRPr>
          </a:p>
        </p:txBody>
      </p:sp>
      <p:pic>
        <p:nvPicPr>
          <p:cNvPr id="4" name="Picture 4" descr="MCj03686680000[1]"/>
          <p:cNvPicPr>
            <a:picLocks noChangeAspect="1" noChangeArrowheads="1"/>
          </p:cNvPicPr>
          <p:nvPr/>
        </p:nvPicPr>
        <p:blipFill>
          <a:blip r:embed="rId2"/>
          <a:srcRect/>
          <a:stretch>
            <a:fillRect/>
          </a:stretch>
        </p:blipFill>
        <p:spPr bwMode="auto">
          <a:xfrm>
            <a:off x="6572264" y="3214686"/>
            <a:ext cx="1970088" cy="1443038"/>
          </a:xfrm>
          <a:prstGeom prst="rect">
            <a:avLst/>
          </a:prstGeom>
          <a:noFill/>
          <a:ln w="9525">
            <a:noFill/>
            <a:miter lim="800000"/>
            <a:headEnd/>
            <a:tailEnd/>
          </a:ln>
        </p:spPr>
      </p:pic>
      <p:pic>
        <p:nvPicPr>
          <p:cNvPr id="5" name="Picture 4" descr="j0281092"/>
          <p:cNvPicPr>
            <a:picLocks noChangeAspect="1" noChangeArrowheads="1"/>
          </p:cNvPicPr>
          <p:nvPr/>
        </p:nvPicPr>
        <p:blipFill>
          <a:blip r:embed="rId3"/>
          <a:srcRect/>
          <a:stretch>
            <a:fillRect/>
          </a:stretch>
        </p:blipFill>
        <p:spPr bwMode="auto">
          <a:xfrm>
            <a:off x="357158" y="4572008"/>
            <a:ext cx="1481138" cy="1590675"/>
          </a:xfrm>
          <a:prstGeom prst="rect">
            <a:avLst/>
          </a:prstGeom>
          <a:noFill/>
          <a:ln w="9525">
            <a:noFill/>
            <a:miter lim="800000"/>
            <a:headEnd/>
            <a:tailEnd/>
          </a:ln>
        </p:spPr>
      </p:pic>
      <p:sp>
        <p:nvSpPr>
          <p:cNvPr id="6" name="Date Placeholder 5"/>
          <p:cNvSpPr>
            <a:spLocks noGrp="1"/>
          </p:cNvSpPr>
          <p:nvPr>
            <p:ph type="dt" sz="half" idx="10"/>
          </p:nvPr>
        </p:nvSpPr>
        <p:spPr/>
        <p:txBody>
          <a:bodyPr/>
          <a:lstStyle/>
          <a:p>
            <a:pPr>
              <a:defRPr/>
            </a:pPr>
            <a:fld id="{2B6E55B9-907D-41B6-8ED1-F811A4E95012}" type="datetime2">
              <a:rPr lang="en-US" smtClean="0"/>
              <a:pPr>
                <a:defRPr/>
              </a:pPr>
              <a:t>Monday, December 8, 2025</a:t>
            </a:fld>
            <a:endParaRPr lang="en-US"/>
          </a:p>
        </p:txBody>
      </p:sp>
      <p:sp>
        <p:nvSpPr>
          <p:cNvPr id="7" name="Slide Number Placeholder 6"/>
          <p:cNvSpPr>
            <a:spLocks noGrp="1"/>
          </p:cNvSpPr>
          <p:nvPr>
            <p:ph type="sldNum" sz="quarter" idx="12"/>
          </p:nvPr>
        </p:nvSpPr>
        <p:spPr/>
        <p:txBody>
          <a:bodyPr/>
          <a:lstStyle/>
          <a:p>
            <a:pPr>
              <a:defRPr/>
            </a:pPr>
            <a:fld id="{C70CFA2D-21B9-45B6-893F-7371CE3DE2D8}" type="slidenum">
              <a:rPr lang="en-US" smtClean="0"/>
              <a:pPr>
                <a:defRPr/>
              </a:pPr>
              <a:t>10</a:t>
            </a:fld>
            <a:endParaRPr lang="en-US"/>
          </a:p>
        </p:txBody>
      </p:sp>
      <p:sp>
        <p:nvSpPr>
          <p:cNvPr id="8" name="Footer Placeholder 7"/>
          <p:cNvSpPr>
            <a:spLocks noGrp="1"/>
          </p:cNvSpPr>
          <p:nvPr>
            <p:ph type="ftr" sz="quarter" idx="11"/>
          </p:nvPr>
        </p:nvSpPr>
        <p:spPr/>
        <p:txBody>
          <a:bodyPr/>
          <a:lstStyle/>
          <a:p>
            <a:pPr>
              <a:defRPr/>
            </a:pPr>
            <a:r>
              <a:rPr lang="en-US"/>
              <a:t>STAT 154 -09</a:t>
            </a:r>
          </a:p>
        </p:txBody>
      </p:sp>
    </p:spTree>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Examples</a:t>
            </a:r>
            <a:endParaRPr lang="en-US" sz="4500" dirty="0">
              <a:solidFill>
                <a:srgbClr val="C00000"/>
              </a:solidFill>
              <a:effectLst>
                <a:outerShdw blurRad="38100" dist="38100" dir="2700000" algn="tl">
                  <a:srgbClr val="000000">
                    <a:alpha val="43137"/>
                  </a:srgbClr>
                </a:outerShdw>
              </a:effectLst>
            </a:endParaRPr>
          </a:p>
        </p:txBody>
      </p:sp>
      <p:sp>
        <p:nvSpPr>
          <p:cNvPr id="3" name="Content Placeholder 2"/>
          <p:cNvSpPr>
            <a:spLocks noGrp="1"/>
          </p:cNvSpPr>
          <p:nvPr>
            <p:ph sz="quarter" idx="1"/>
          </p:nvPr>
        </p:nvSpPr>
        <p:spPr/>
        <p:txBody>
          <a:bodyPr/>
          <a:lstStyle/>
          <a:p>
            <a:pPr algn="just"/>
            <a:r>
              <a:rPr lang="en-IN" sz="3500" dirty="0">
                <a:solidFill>
                  <a:srgbClr val="C00000"/>
                </a:solidFill>
                <a:latin typeface="Times New Roman" pitchFamily="18" charset="0"/>
                <a:cs typeface="Times New Roman" pitchFamily="18" charset="0"/>
              </a:rPr>
              <a:t>Example 3: </a:t>
            </a:r>
            <a:r>
              <a:rPr lang="en-IN" sz="3500" dirty="0">
                <a:latin typeface="Times New Roman" pitchFamily="18" charset="0"/>
                <a:cs typeface="Times New Roman" pitchFamily="18" charset="0"/>
              </a:rPr>
              <a:t>Toss a fair coin three times and observe the sequences of heads and tails.</a:t>
            </a:r>
          </a:p>
          <a:p>
            <a:pPr algn="just">
              <a:buNone/>
            </a:pPr>
            <a:endParaRPr lang="en-IN" sz="3500" dirty="0">
              <a:latin typeface="Times New Roman" pitchFamily="18" charset="0"/>
              <a:cs typeface="Times New Roman" pitchFamily="18" charset="0"/>
            </a:endParaRPr>
          </a:p>
          <a:p>
            <a:pPr algn="just"/>
            <a:r>
              <a:rPr lang="en-IN" sz="3500" dirty="0">
                <a:solidFill>
                  <a:srgbClr val="C00000"/>
                </a:solidFill>
                <a:latin typeface="Times New Roman" pitchFamily="18" charset="0"/>
                <a:cs typeface="Times New Roman" pitchFamily="18" charset="0"/>
              </a:rPr>
              <a:t>Example 4: </a:t>
            </a:r>
            <a:r>
              <a:rPr lang="en-IN" sz="3500" dirty="0">
                <a:latin typeface="Times New Roman" pitchFamily="18" charset="0"/>
                <a:cs typeface="Times New Roman" pitchFamily="18" charset="0"/>
              </a:rPr>
              <a:t>Record the ages of a randomly selected group of graduates from a four-year college</a:t>
            </a:r>
            <a:endParaRPr lang="en-US" sz="3500" dirty="0">
              <a:latin typeface="Times New Roman" pitchFamily="18" charset="0"/>
              <a:cs typeface="Times New Roman" pitchFamily="18" charset="0"/>
            </a:endParaRPr>
          </a:p>
        </p:txBody>
      </p:sp>
      <p:pic>
        <p:nvPicPr>
          <p:cNvPr id="4" name="Picture 4" descr="bd05036_"/>
          <p:cNvPicPr>
            <a:picLocks noChangeAspect="1" noChangeArrowheads="1"/>
          </p:cNvPicPr>
          <p:nvPr/>
        </p:nvPicPr>
        <p:blipFill>
          <a:blip r:embed="rId2"/>
          <a:srcRect/>
          <a:stretch>
            <a:fillRect/>
          </a:stretch>
        </p:blipFill>
        <p:spPr bwMode="auto">
          <a:xfrm>
            <a:off x="7786710" y="4714884"/>
            <a:ext cx="1017588" cy="1695450"/>
          </a:xfrm>
          <a:prstGeom prst="rect">
            <a:avLst/>
          </a:prstGeom>
          <a:noFill/>
          <a:ln w="9525">
            <a:noFill/>
            <a:miter lim="800000"/>
            <a:headEnd/>
            <a:tailEnd/>
          </a:ln>
        </p:spPr>
      </p:pic>
      <p:sp>
        <p:nvSpPr>
          <p:cNvPr id="5" name="Date Placeholder 4"/>
          <p:cNvSpPr>
            <a:spLocks noGrp="1"/>
          </p:cNvSpPr>
          <p:nvPr>
            <p:ph type="dt" sz="half" idx="10"/>
          </p:nvPr>
        </p:nvSpPr>
        <p:spPr/>
        <p:txBody>
          <a:bodyPr/>
          <a:lstStyle/>
          <a:p>
            <a:pPr>
              <a:defRPr/>
            </a:pPr>
            <a:fld id="{562B53DA-A819-4068-8ABE-87B319F3B730}" type="datetime2">
              <a:rPr lang="en-US" smtClean="0"/>
              <a:pPr>
                <a:defRPr/>
              </a:pPr>
              <a:t>Monday, December 8, 2025</a:t>
            </a:fld>
            <a:endParaRPr lang="en-US"/>
          </a:p>
        </p:txBody>
      </p:sp>
      <p:sp>
        <p:nvSpPr>
          <p:cNvPr id="6" name="Slide Number Placeholder 5"/>
          <p:cNvSpPr>
            <a:spLocks noGrp="1"/>
          </p:cNvSpPr>
          <p:nvPr>
            <p:ph type="sldNum" sz="quarter" idx="12"/>
          </p:nvPr>
        </p:nvSpPr>
        <p:spPr/>
        <p:txBody>
          <a:bodyPr/>
          <a:lstStyle/>
          <a:p>
            <a:pPr>
              <a:defRPr/>
            </a:pPr>
            <a:fld id="{C70CFA2D-21B9-45B6-893F-7371CE3DE2D8}" type="slidenum">
              <a:rPr lang="en-US" smtClean="0"/>
              <a:pPr>
                <a:defRPr/>
              </a:pPr>
              <a:t>11</a:t>
            </a:fld>
            <a:endParaRPr lang="en-US"/>
          </a:p>
        </p:txBody>
      </p:sp>
      <p:sp>
        <p:nvSpPr>
          <p:cNvPr id="7" name="Footer Placeholder 6"/>
          <p:cNvSpPr>
            <a:spLocks noGrp="1"/>
          </p:cNvSpPr>
          <p:nvPr>
            <p:ph type="ftr" sz="quarter" idx="11"/>
          </p:nvPr>
        </p:nvSpPr>
        <p:spPr/>
        <p:txBody>
          <a:bodyPr/>
          <a:lstStyle/>
          <a:p>
            <a:pPr>
              <a:defRPr/>
            </a:pPr>
            <a:r>
              <a:rPr lang="en-US"/>
              <a:t>STAT 154 -09</a:t>
            </a:r>
          </a:p>
        </p:txBody>
      </p:sp>
    </p:spTree>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Sample Space</a:t>
            </a:r>
            <a:endParaRPr lang="en-US"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sz="quarter" idx="1"/>
          </p:nvPr>
        </p:nvSpPr>
        <p:spPr/>
        <p:txBody>
          <a:bodyPr/>
          <a:lstStyle/>
          <a:p>
            <a:pPr marL="0" indent="0" algn="just">
              <a:buNone/>
            </a:pPr>
            <a:r>
              <a:rPr lang="en-IN" sz="3500" dirty="0">
                <a:latin typeface="Times New Roman" pitchFamily="18" charset="0"/>
                <a:cs typeface="Times New Roman" pitchFamily="18" charset="0"/>
              </a:rPr>
              <a:t>Sample Space (also called Outcome Space): Set of all possible outcomes of an experiment.</a:t>
            </a:r>
          </a:p>
          <a:p>
            <a:pPr marL="0" indent="0" algn="just">
              <a:buNone/>
            </a:pPr>
            <a:r>
              <a:rPr lang="en-IN" sz="3500" dirty="0">
                <a:solidFill>
                  <a:srgbClr val="C00000"/>
                </a:solidFill>
                <a:latin typeface="Times New Roman" pitchFamily="18" charset="0"/>
                <a:cs typeface="Times New Roman" pitchFamily="18" charset="0"/>
              </a:rPr>
              <a:t>Example 5: </a:t>
            </a:r>
          </a:p>
          <a:p>
            <a:pPr marL="0" indent="0" algn="just">
              <a:buNone/>
            </a:pPr>
            <a:r>
              <a:rPr lang="en-IN" sz="3500" dirty="0">
                <a:latin typeface="Times New Roman" pitchFamily="18" charset="0"/>
                <a:cs typeface="Times New Roman" pitchFamily="18" charset="0"/>
              </a:rPr>
              <a:t>For the experiment of tossing a fair coin three times, the sample space </a:t>
            </a:r>
          </a:p>
          <a:p>
            <a:pPr marL="0" indent="0" algn="just">
              <a:buNone/>
            </a:pPr>
            <a:r>
              <a:rPr lang="en-IN" sz="3500" dirty="0">
                <a:latin typeface="Times New Roman" pitchFamily="18" charset="0"/>
                <a:cs typeface="Times New Roman" pitchFamily="18" charset="0"/>
              </a:rPr>
              <a:t>S={TTT, TTH, THT, HTT, THH, HTH, HHT, </a:t>
            </a:r>
          </a:p>
          <a:p>
            <a:pPr marL="0" indent="0" algn="just">
              <a:buNone/>
            </a:pPr>
            <a:r>
              <a:rPr lang="en-IN" sz="3500" dirty="0">
                <a:latin typeface="Times New Roman" pitchFamily="18" charset="0"/>
                <a:cs typeface="Times New Roman" pitchFamily="18" charset="0"/>
              </a:rPr>
              <a:t>       HHH}.</a:t>
            </a:r>
            <a:endParaRPr lang="en-US" sz="35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pPr>
              <a:defRPr/>
            </a:pPr>
            <a:fld id="{549EB291-BA60-4C96-B03A-0AEEAF5F7E96}"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12</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cSld>
  <p:clrMapOvr>
    <a:masterClrMapping/>
  </p:clrMapOvr>
  <p:transition spd="slow">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Example</a:t>
            </a:r>
            <a:endParaRPr lang="en-US"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sz="quarter" idx="1"/>
          </p:nvPr>
        </p:nvSpPr>
        <p:spPr/>
        <p:txBody>
          <a:bodyPr/>
          <a:lstStyle/>
          <a:p>
            <a:pPr marL="0" indent="0">
              <a:buNone/>
            </a:pPr>
            <a:r>
              <a:rPr lang="en-IN" sz="3500" dirty="0">
                <a:solidFill>
                  <a:srgbClr val="C00000"/>
                </a:solidFill>
                <a:latin typeface="Times New Roman" pitchFamily="18" charset="0"/>
                <a:cs typeface="Times New Roman" pitchFamily="18" charset="0"/>
              </a:rPr>
              <a:t>Example 6:</a:t>
            </a:r>
          </a:p>
          <a:p>
            <a:pPr marL="0" indent="0" algn="just">
              <a:buNone/>
            </a:pPr>
            <a:r>
              <a:rPr lang="en-IN" sz="3500" dirty="0">
                <a:latin typeface="Times New Roman" pitchFamily="18" charset="0"/>
                <a:cs typeface="Times New Roman" pitchFamily="18" charset="0"/>
              </a:rPr>
              <a:t>For the experiment of recording the ages of four-year college graduates, the sample space is the set of all real numbers between 10 and 80.</a:t>
            </a:r>
          </a:p>
          <a:p>
            <a:pPr marL="0" indent="0" algn="just">
              <a:buNone/>
            </a:pPr>
            <a:r>
              <a:rPr lang="en-IN" sz="3500" dirty="0">
                <a:latin typeface="Times New Roman" pitchFamily="18" charset="0"/>
                <a:cs typeface="Times New Roman" pitchFamily="18" charset="0"/>
              </a:rPr>
              <a:t>[Assuming that there is no known four-year college graduate who is younger than 10 and older than 80.]</a:t>
            </a:r>
            <a:endParaRPr lang="en-US" sz="35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pPr>
              <a:defRPr/>
            </a:pPr>
            <a:fld id="{38D690A4-18EA-4DC5-8806-C7BBEE3D56E2}"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13</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cSld>
  <p:clrMapOvr>
    <a:masterClrMapping/>
  </p:clrMapOvr>
  <p:transition spd="slow">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Definitions:</a:t>
            </a:r>
            <a:endParaRPr lang="en-US"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sz="quarter" idx="1"/>
          </p:nvPr>
        </p:nvSpPr>
        <p:spPr/>
        <p:txBody>
          <a:bodyPr/>
          <a:lstStyle/>
          <a:p>
            <a:pPr algn="just"/>
            <a:r>
              <a:rPr lang="en-IN" sz="3500" dirty="0">
                <a:solidFill>
                  <a:srgbClr val="C00000"/>
                </a:solidFill>
                <a:latin typeface="Times New Roman" pitchFamily="18" charset="0"/>
                <a:cs typeface="Times New Roman" pitchFamily="18" charset="0"/>
              </a:rPr>
              <a:t>Event: </a:t>
            </a:r>
            <a:r>
              <a:rPr lang="en-IN" sz="3500" dirty="0">
                <a:latin typeface="Times New Roman" pitchFamily="18" charset="0"/>
                <a:cs typeface="Times New Roman" pitchFamily="18" charset="0"/>
              </a:rPr>
              <a:t>Any subset or part of a sample space. </a:t>
            </a:r>
          </a:p>
          <a:p>
            <a:pPr algn="just"/>
            <a:endParaRPr lang="en-IN" sz="3500" dirty="0">
              <a:latin typeface="Times New Roman" pitchFamily="18" charset="0"/>
              <a:cs typeface="Times New Roman" pitchFamily="18" charset="0"/>
            </a:endParaRPr>
          </a:p>
          <a:p>
            <a:pPr algn="just"/>
            <a:r>
              <a:rPr lang="en-IN" sz="3500" dirty="0">
                <a:solidFill>
                  <a:srgbClr val="C00000"/>
                </a:solidFill>
                <a:latin typeface="Times New Roman" pitchFamily="18" charset="0"/>
                <a:cs typeface="Times New Roman" pitchFamily="18" charset="0"/>
              </a:rPr>
              <a:t>Simple Event: </a:t>
            </a:r>
            <a:r>
              <a:rPr lang="en-IN" sz="3500" dirty="0">
                <a:latin typeface="Times New Roman" pitchFamily="18" charset="0"/>
                <a:cs typeface="Times New Roman" pitchFamily="18" charset="0"/>
              </a:rPr>
              <a:t>Each individual element of a sample space. </a:t>
            </a:r>
          </a:p>
          <a:p>
            <a:pPr algn="just"/>
            <a:endParaRPr lang="en-IN" sz="3500" dirty="0">
              <a:latin typeface="Times New Roman" pitchFamily="18" charset="0"/>
              <a:cs typeface="Times New Roman" pitchFamily="18" charset="0"/>
            </a:endParaRPr>
          </a:p>
          <a:p>
            <a:pPr algn="just"/>
            <a:r>
              <a:rPr lang="en-IN" sz="3500" dirty="0">
                <a:solidFill>
                  <a:srgbClr val="C00000"/>
                </a:solidFill>
                <a:latin typeface="Times New Roman" pitchFamily="18" charset="0"/>
                <a:cs typeface="Times New Roman" pitchFamily="18" charset="0"/>
              </a:rPr>
              <a:t>Compound Event: </a:t>
            </a:r>
            <a:r>
              <a:rPr lang="en-IN" sz="3500" dirty="0">
                <a:latin typeface="Times New Roman" pitchFamily="18" charset="0"/>
                <a:cs typeface="Times New Roman" pitchFamily="18" charset="0"/>
              </a:rPr>
              <a:t>Any event including two or more simple events.</a:t>
            </a:r>
            <a:endParaRPr lang="en-US" sz="35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pPr>
              <a:defRPr/>
            </a:pPr>
            <a:fld id="{FA099FC6-FBB6-435E-92E1-672525EC953D}"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14</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cSld>
  <p:clrMapOvr>
    <a:masterClrMapping/>
  </p:clrMapOvr>
  <p:transition spd="slow">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Probability:</a:t>
            </a:r>
            <a:endParaRPr lang="en-US" sz="4500" dirty="0">
              <a:solidFill>
                <a:srgbClr val="C00000"/>
              </a:solidFill>
              <a:effectLst>
                <a:outerShdw blurRad="38100" dist="38100" dir="2700000" algn="tl">
                  <a:srgbClr val="000000">
                    <a:alpha val="43137"/>
                  </a:srgbClr>
                </a:outerShdw>
              </a:effectLst>
            </a:endParaRPr>
          </a:p>
        </p:txBody>
      </p:sp>
      <p:sp>
        <p:nvSpPr>
          <p:cNvPr id="3" name="Content Placeholder 2"/>
          <p:cNvSpPr>
            <a:spLocks noGrp="1"/>
          </p:cNvSpPr>
          <p:nvPr>
            <p:ph sz="quarter" idx="1"/>
          </p:nvPr>
        </p:nvSpPr>
        <p:spPr/>
        <p:txBody>
          <a:bodyPr/>
          <a:lstStyle/>
          <a:p>
            <a:pPr marL="0" indent="0" algn="just">
              <a:buNone/>
            </a:pPr>
            <a:r>
              <a:rPr lang="en-IN" sz="3500" dirty="0">
                <a:solidFill>
                  <a:srgbClr val="C00000"/>
                </a:solidFill>
                <a:latin typeface="Times New Roman" pitchFamily="18" charset="0"/>
                <a:cs typeface="Times New Roman" pitchFamily="18" charset="0"/>
              </a:rPr>
              <a:t>Probability: </a:t>
            </a:r>
            <a:r>
              <a:rPr lang="en-IN" sz="3500" dirty="0">
                <a:latin typeface="Times New Roman" pitchFamily="18" charset="0"/>
                <a:cs typeface="Times New Roman" pitchFamily="18" charset="0"/>
              </a:rPr>
              <a:t>A notion of chance or likelihood is known as probability. </a:t>
            </a:r>
          </a:p>
          <a:p>
            <a:pPr marL="0" indent="0" algn="just">
              <a:buNone/>
            </a:pPr>
            <a:r>
              <a:rPr lang="en-IN" sz="3500" dirty="0">
                <a:latin typeface="Times New Roman" pitchFamily="18" charset="0"/>
                <a:cs typeface="Times New Roman" pitchFamily="18" charset="0"/>
              </a:rPr>
              <a:t>The probability values are always between zero and one, inclusive. </a:t>
            </a:r>
          </a:p>
          <a:p>
            <a:pPr marL="0" indent="0" algn="just">
              <a:buNone/>
            </a:pPr>
            <a:r>
              <a:rPr lang="en-IN" sz="3500" dirty="0">
                <a:latin typeface="Times New Roman" pitchFamily="18" charset="0"/>
                <a:cs typeface="Times New Roman" pitchFamily="18" charset="0"/>
              </a:rPr>
              <a:t>The probability of the sample space is one and the probability of an unlikely or improbable event is zero.</a:t>
            </a:r>
            <a:endParaRPr lang="en-US" sz="35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pPr>
              <a:defRPr/>
            </a:pPr>
            <a:fld id="{F58B5E8A-CF6B-4335-8415-CC9F94D93224}"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15</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cSld>
  <p:clrMapOvr>
    <a:masterClrMapping/>
  </p:clrMapOvr>
  <p:transition spd="slow">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57158" y="2857496"/>
            <a:ext cx="8534400" cy="758825"/>
          </a:xfrm>
        </p:spPr>
        <p:txBody>
          <a:bodyPr/>
          <a:lstStyle/>
          <a:p>
            <a:pPr algn="l"/>
            <a:r>
              <a:rPr lang="en-IN" sz="3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Basic Approaches to Computing Probability</a:t>
            </a:r>
            <a:endParaRPr lang="en-US" sz="3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 name="Date Placeholder 1"/>
          <p:cNvSpPr>
            <a:spLocks noGrp="1"/>
          </p:cNvSpPr>
          <p:nvPr>
            <p:ph type="dt" sz="half" idx="10"/>
          </p:nvPr>
        </p:nvSpPr>
        <p:spPr/>
        <p:txBody>
          <a:bodyPr/>
          <a:lstStyle/>
          <a:p>
            <a:pPr>
              <a:defRPr/>
            </a:pPr>
            <a:fld id="{6B79ED75-8D62-4034-B54F-596186692571}" type="datetime2">
              <a:rPr lang="en-US" smtClean="0"/>
              <a:pPr>
                <a:defRPr/>
              </a:pPr>
              <a:t>Monday, December 8, 2025</a:t>
            </a:fld>
            <a:endParaRPr lang="en-US"/>
          </a:p>
        </p:txBody>
      </p:sp>
      <p:sp>
        <p:nvSpPr>
          <p:cNvPr id="3" name="Slide Number Placeholder 2"/>
          <p:cNvSpPr>
            <a:spLocks noGrp="1"/>
          </p:cNvSpPr>
          <p:nvPr>
            <p:ph type="sldNum" sz="quarter" idx="12"/>
          </p:nvPr>
        </p:nvSpPr>
        <p:spPr/>
        <p:txBody>
          <a:bodyPr/>
          <a:lstStyle/>
          <a:p>
            <a:pPr>
              <a:defRPr/>
            </a:pPr>
            <a:fld id="{C70CFA2D-21B9-45B6-893F-7371CE3DE2D8}" type="slidenum">
              <a:rPr lang="en-US" smtClean="0"/>
              <a:pPr>
                <a:defRPr/>
              </a:pPr>
              <a:t>16</a:t>
            </a:fld>
            <a:endParaRPr lang="en-US"/>
          </a:p>
        </p:txBody>
      </p:sp>
      <p:sp>
        <p:nvSpPr>
          <p:cNvPr id="5" name="Footer Placeholder 4"/>
          <p:cNvSpPr>
            <a:spLocks noGrp="1"/>
          </p:cNvSpPr>
          <p:nvPr>
            <p:ph type="ftr" sz="quarter" idx="11"/>
          </p:nvPr>
        </p:nvSpPr>
        <p:spPr/>
        <p:txBody>
          <a:bodyPr/>
          <a:lstStyle/>
          <a:p>
            <a:pPr>
              <a:defRPr/>
            </a:pPr>
            <a:r>
              <a:rPr lang="en-US"/>
              <a:t>STAT 154 -09</a:t>
            </a:r>
          </a:p>
        </p:txBody>
      </p:sp>
    </p:spTree>
  </p:cSld>
  <p:clrMapOvr>
    <a:masterClrMapping/>
  </p:clrMapOvr>
  <p:transition spd="slow">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52442" y="214290"/>
            <a:ext cx="8534400" cy="1000132"/>
          </a:xfrm>
        </p:spPr>
        <p:txBody>
          <a:bodyPr/>
          <a:lstStyle/>
          <a:p>
            <a:pPr algn="l"/>
            <a:r>
              <a:rPr lang="en-IN"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Approach #1</a:t>
            </a:r>
            <a:r>
              <a:rPr lang="en-IN" sz="3200" dirty="0">
                <a:solidFill>
                  <a:srgbClr val="C00000"/>
                </a:solidFill>
                <a:latin typeface="Times New Roman" pitchFamily="18" charset="0"/>
                <a:cs typeface="Times New Roman" pitchFamily="18" charset="0"/>
              </a:rPr>
              <a:t>: </a:t>
            </a:r>
            <a:endParaRPr lang="en-US" dirty="0"/>
          </a:p>
        </p:txBody>
      </p:sp>
      <p:sp>
        <p:nvSpPr>
          <p:cNvPr id="2" name="Date Placeholder 1"/>
          <p:cNvSpPr>
            <a:spLocks noGrp="1"/>
          </p:cNvSpPr>
          <p:nvPr>
            <p:ph type="dt" sz="half" idx="10"/>
          </p:nvPr>
        </p:nvSpPr>
        <p:spPr/>
        <p:txBody>
          <a:bodyPr/>
          <a:lstStyle/>
          <a:p>
            <a:pPr>
              <a:defRPr/>
            </a:pPr>
            <a:fld id="{F624600F-42B4-476E-9489-DA30615A3DAF}"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17</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
        <p:nvSpPr>
          <p:cNvPr id="8" name="Content Placeholder 7">
            <a:extLst>
              <a:ext uri="{FF2B5EF4-FFF2-40B4-BE49-F238E27FC236}">
                <a16:creationId xmlns:a16="http://schemas.microsoft.com/office/drawing/2014/main" id="{65BD0830-ED04-9171-97FB-A4DEA78B53A2}"/>
              </a:ext>
            </a:extLst>
          </p:cNvPr>
          <p:cNvSpPr>
            <a:spLocks noGrp="1"/>
          </p:cNvSpPr>
          <p:nvPr>
            <p:ph sz="quarter" idx="1"/>
          </p:nvPr>
        </p:nvSpPr>
        <p:spPr>
          <a:xfrm>
            <a:off x="245515" y="1521612"/>
            <a:ext cx="8503920" cy="4572000"/>
          </a:xfrm>
        </p:spPr>
        <p:txBody>
          <a:bodyPr/>
          <a:lstStyle/>
          <a:p>
            <a:pPr marL="0" indent="0">
              <a:buNone/>
            </a:pPr>
            <a:r>
              <a:rPr lang="en-NZ" sz="3200" dirty="0">
                <a:solidFill>
                  <a:srgbClr val="00B0F0"/>
                </a:solidFill>
              </a:rPr>
              <a:t>Subjective probability</a:t>
            </a:r>
            <a:endParaRPr lang="en-NZ" sz="3200" dirty="0"/>
          </a:p>
          <a:p>
            <a:pPr marL="0" indent="0" algn="just">
              <a:buNone/>
            </a:pPr>
            <a:r>
              <a:rPr lang="en-NZ" sz="3200" dirty="0"/>
              <a:t>The probability of event A ,  is estimated by using an individual’s personal judgment of the relevant circumstances.</a:t>
            </a:r>
          </a:p>
          <a:p>
            <a:pPr marL="0" indent="0" algn="just">
              <a:buNone/>
            </a:pPr>
            <a:endParaRPr lang="en-NZ" sz="3200" dirty="0"/>
          </a:p>
          <a:p>
            <a:pPr marL="0" indent="0" algn="just">
              <a:buNone/>
            </a:pPr>
            <a:r>
              <a:rPr lang="en-NZ" sz="3200" dirty="0">
                <a:solidFill>
                  <a:srgbClr val="C00000"/>
                </a:solidFill>
              </a:rPr>
              <a:t>Example 7: </a:t>
            </a:r>
            <a:r>
              <a:rPr lang="en-NZ" sz="3200" dirty="0"/>
              <a:t>James thinks the probability that Timberwolves beat the Rockets this weekend is 70%.</a:t>
            </a:r>
          </a:p>
        </p:txBody>
      </p:sp>
    </p:spTree>
    <p:extLst>
      <p:ext uri="{BB962C8B-B14F-4D97-AF65-F5344CB8AC3E}">
        <p14:creationId xmlns:p14="http://schemas.microsoft.com/office/powerpoint/2010/main" val="1211385017"/>
      </p:ext>
    </p:extLst>
  </p:cSld>
  <p:clrMapOvr>
    <a:masterClrMapping/>
  </p:clrMapOvr>
  <p:transition spd="slow">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Approach #2: </a:t>
            </a:r>
            <a:endParaRPr lang="en-US" sz="4500" dirty="0">
              <a:effectLst>
                <a:outerShdw blurRad="38100" dist="38100" dir="2700000" algn="tl">
                  <a:srgbClr val="000000">
                    <a:alpha val="43137"/>
                  </a:srgbClr>
                </a:outerShdw>
              </a:effectLst>
            </a:endParaRPr>
          </a:p>
        </p:txBody>
      </p:sp>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2151" t="-2133" r="-3441"/>
            </a:stretch>
          </a:blipFill>
        </p:spPr>
        <p:txBody>
          <a:bodyPr/>
          <a:lstStyle/>
          <a:p>
            <a:pPr>
              <a:buNone/>
            </a:pPr>
            <a:r>
              <a:rPr lang="en-GB" dirty="0">
                <a:noFill/>
              </a:rPr>
              <a:t>  </a:t>
            </a:r>
          </a:p>
        </p:txBody>
      </p:sp>
      <p:sp>
        <p:nvSpPr>
          <p:cNvPr id="4" name="Date Placeholder 3"/>
          <p:cNvSpPr>
            <a:spLocks noGrp="1"/>
          </p:cNvSpPr>
          <p:nvPr>
            <p:ph type="dt" sz="half" idx="10"/>
          </p:nvPr>
        </p:nvSpPr>
        <p:spPr/>
        <p:txBody>
          <a:bodyPr/>
          <a:lstStyle/>
          <a:p>
            <a:pPr>
              <a:defRPr/>
            </a:pPr>
            <a:fld id="{6793F064-1F89-431E-B96D-F36148A1FE71}"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18</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cSld>
  <p:clrMapOvr>
    <a:masterClrMapping/>
  </p:clrMapOvr>
  <p:transition spd="slow">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Example 8:</a:t>
            </a:r>
            <a:endParaRPr lang="en-US"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sz="quarter" idx="1"/>
          </p:nvPr>
        </p:nvSpPr>
        <p:spPr/>
        <p:txBody>
          <a:bodyPr/>
          <a:lstStyle/>
          <a:p>
            <a:pPr marL="0" indent="0" algn="just">
              <a:buNone/>
            </a:pPr>
            <a:r>
              <a:rPr lang="en-IN" sz="3500" dirty="0">
                <a:latin typeface="Times New Roman" pitchFamily="18" charset="0"/>
                <a:cs typeface="Times New Roman" pitchFamily="18" charset="0"/>
              </a:rPr>
              <a:t>In 2009, there were 10.8 million vehicle accidents in the United States. 33,800 people involved in the accidents died within 30 days (based on data from The 2012 Statistical Abstract). The probability of the accident death rate in 2009 can be approximated as</a:t>
            </a:r>
            <a:endParaRPr lang="en-US" sz="3500"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4" name="TextBox 3"/>
              <p:cNvSpPr txBox="1"/>
              <p:nvPr/>
            </p:nvSpPr>
            <p:spPr>
              <a:xfrm>
                <a:off x="2555776" y="5013176"/>
                <a:ext cx="2769733" cy="644920"/>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b="0" i="1" smtClean="0">
                              <a:latin typeface="Cambria Math"/>
                            </a:rPr>
                            <m:t>33,800</m:t>
                          </m:r>
                        </m:num>
                        <m:den>
                          <m:r>
                            <a:rPr lang="en-GB" b="0" i="1" smtClean="0">
                              <a:latin typeface="Cambria Math"/>
                            </a:rPr>
                            <m:t>10,800,000</m:t>
                          </m:r>
                        </m:den>
                      </m:f>
                      <m:r>
                        <a:rPr lang="en-GB" b="0" i="1" smtClean="0">
                          <a:latin typeface="Cambria Math"/>
                        </a:rPr>
                        <m:t> </m:t>
                      </m:r>
                      <m:r>
                        <a:rPr lang="en-GB" b="0" i="1" smtClean="0">
                          <a:latin typeface="Cambria Math"/>
                          <a:ea typeface="Cambria Math"/>
                        </a:rPr>
                        <m:t>≈0.0031</m:t>
                      </m:r>
                    </m:oMath>
                  </m:oMathPara>
                </a14:m>
                <a:endParaRPr lang="en-GB" dirty="0"/>
              </a:p>
            </p:txBody>
          </p:sp>
        </mc:Choice>
        <mc:Fallback xmlns="">
          <p:sp>
            <p:nvSpPr>
              <p:cNvPr id="4" name="TextBox 3"/>
              <p:cNvSpPr txBox="1">
                <a:spLocks noRot="1" noChangeAspect="1" noMove="1" noResize="1" noEditPoints="1" noAdjustHandles="1" noChangeArrowheads="1" noChangeShapeType="1" noTextEdit="1"/>
              </p:cNvSpPr>
              <p:nvPr/>
            </p:nvSpPr>
            <p:spPr>
              <a:xfrm>
                <a:off x="2555776" y="5013176"/>
                <a:ext cx="2769733" cy="644920"/>
              </a:xfrm>
              <a:prstGeom prst="rect">
                <a:avLst/>
              </a:prstGeom>
              <a:blipFill rotWithShape="1">
                <a:blip r:embed="rId2"/>
                <a:stretch>
                  <a:fillRect r="-5495" b="-3774"/>
                </a:stretch>
              </a:blipFill>
            </p:spPr>
            <p:txBody>
              <a:bodyPr/>
              <a:lstStyle/>
              <a:p>
                <a:r>
                  <a:rPr lang="en-GB">
                    <a:noFill/>
                  </a:rPr>
                  <a:t> </a:t>
                </a:r>
              </a:p>
            </p:txBody>
          </p:sp>
        </mc:Fallback>
      </mc:AlternateContent>
      <p:sp>
        <p:nvSpPr>
          <p:cNvPr id="5" name="Date Placeholder 4"/>
          <p:cNvSpPr>
            <a:spLocks noGrp="1"/>
          </p:cNvSpPr>
          <p:nvPr>
            <p:ph type="dt" sz="half" idx="10"/>
          </p:nvPr>
        </p:nvSpPr>
        <p:spPr/>
        <p:txBody>
          <a:bodyPr/>
          <a:lstStyle/>
          <a:p>
            <a:pPr>
              <a:defRPr/>
            </a:pPr>
            <a:fld id="{A423BD74-69FA-4DA6-ABEC-C90E6EA062E2}" type="datetime2">
              <a:rPr lang="en-US" smtClean="0"/>
              <a:pPr>
                <a:defRPr/>
              </a:pPr>
              <a:t>Monday, December 8, 2025</a:t>
            </a:fld>
            <a:endParaRPr lang="en-US"/>
          </a:p>
        </p:txBody>
      </p:sp>
      <p:sp>
        <p:nvSpPr>
          <p:cNvPr id="6" name="Slide Number Placeholder 5"/>
          <p:cNvSpPr>
            <a:spLocks noGrp="1"/>
          </p:cNvSpPr>
          <p:nvPr>
            <p:ph type="sldNum" sz="quarter" idx="12"/>
          </p:nvPr>
        </p:nvSpPr>
        <p:spPr/>
        <p:txBody>
          <a:bodyPr/>
          <a:lstStyle/>
          <a:p>
            <a:pPr>
              <a:defRPr/>
            </a:pPr>
            <a:fld id="{C70CFA2D-21B9-45B6-893F-7371CE3DE2D8}" type="slidenum">
              <a:rPr lang="en-US" smtClean="0"/>
              <a:pPr>
                <a:defRPr/>
              </a:pPr>
              <a:t>19</a:t>
            </a:fld>
            <a:endParaRPr lang="en-US"/>
          </a:p>
        </p:txBody>
      </p:sp>
      <p:sp>
        <p:nvSpPr>
          <p:cNvPr id="7" name="Footer Placeholder 6"/>
          <p:cNvSpPr>
            <a:spLocks noGrp="1"/>
          </p:cNvSpPr>
          <p:nvPr>
            <p:ph type="ftr" sz="quarter" idx="11"/>
          </p:nvPr>
        </p:nvSpPr>
        <p:spPr/>
        <p:txBody>
          <a:bodyPr/>
          <a:lstStyle/>
          <a:p>
            <a:pPr>
              <a:defRPr/>
            </a:pPr>
            <a:r>
              <a:rPr lang="en-US"/>
              <a:t>STAT 154 -09</a:t>
            </a:r>
          </a:p>
        </p:txBody>
      </p:sp>
    </p:spTree>
  </p:cSld>
  <p:clrMapOvr>
    <a:masterClrMapping/>
  </p:clrMapOvr>
  <p:transition spd="slow">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404664"/>
            <a:ext cx="8534400" cy="758825"/>
          </a:xfrm>
        </p:spPr>
        <p:txBody>
          <a:bodyPr/>
          <a:lstStyle/>
          <a:p>
            <a:pPr algn="l"/>
            <a:r>
              <a:rPr lang="en-IN"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Approach #3:</a:t>
            </a:r>
            <a:endParaRPr lang="en-US"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2151" t="-2133" r="-3441"/>
            </a:stretch>
          </a:blipFill>
        </p:spPr>
        <p:txBody>
          <a:bodyPr/>
          <a:lstStyle/>
          <a:p>
            <a:pPr>
              <a:buNone/>
            </a:pPr>
            <a:r>
              <a:rPr lang="en-GB" dirty="0">
                <a:noFill/>
              </a:rPr>
              <a:t>  </a:t>
            </a:r>
          </a:p>
        </p:txBody>
      </p:sp>
      <p:sp>
        <p:nvSpPr>
          <p:cNvPr id="4" name="Date Placeholder 3"/>
          <p:cNvSpPr>
            <a:spLocks noGrp="1"/>
          </p:cNvSpPr>
          <p:nvPr>
            <p:ph type="dt" sz="half" idx="10"/>
          </p:nvPr>
        </p:nvSpPr>
        <p:spPr/>
        <p:txBody>
          <a:bodyPr/>
          <a:lstStyle/>
          <a:p>
            <a:pPr>
              <a:defRPr/>
            </a:pPr>
            <a:fld id="{8B0012C7-3552-4B7F-AFC0-8B51D166D057}"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20</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cSld>
  <p:clrMapOvr>
    <a:masterClrMapping/>
  </p:clrMapOvr>
  <p:transition spd="slow">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625" y="437927"/>
            <a:ext cx="8534400" cy="758825"/>
          </a:xfrm>
        </p:spPr>
        <p:txBody>
          <a:bodyPr/>
          <a:lstStyle/>
          <a:p>
            <a:pPr algn="l"/>
            <a:r>
              <a:rPr lang="en-IN"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Example 9:</a:t>
            </a:r>
            <a:endParaRPr lang="en-US" sz="4500" dirty="0">
              <a:solidFill>
                <a:srgbClr val="C00000"/>
              </a:solidFill>
              <a:effectLst>
                <a:outerShdw blurRad="38100" dist="38100" dir="2700000" algn="tl">
                  <a:srgbClr val="000000">
                    <a:alpha val="43137"/>
                  </a:srgbClr>
                </a:outerShdw>
              </a:effectLst>
            </a:endParaRPr>
          </a:p>
        </p:txBody>
      </p:sp>
      <p:sp>
        <p:nvSpPr>
          <p:cNvPr id="3" name="Content Placeholder 2"/>
          <p:cNvSpPr>
            <a:spLocks noGrp="1"/>
          </p:cNvSpPr>
          <p:nvPr>
            <p:ph sz="quarter" idx="1"/>
          </p:nvPr>
        </p:nvSpPr>
        <p:spPr/>
        <p:txBody>
          <a:bodyPr/>
          <a:lstStyle/>
          <a:p>
            <a:pPr marL="0" indent="0" algn="just">
              <a:buNone/>
            </a:pPr>
            <a:r>
              <a:rPr lang="en-IN" sz="3000" dirty="0">
                <a:latin typeface="Times New Roman" pitchFamily="18" charset="0"/>
                <a:cs typeface="Times New Roman" pitchFamily="18" charset="0"/>
              </a:rPr>
              <a:t>In Spring 2011, Minnesota State University, Mankato had enrolled 719 international students (based on the Population Statistics from MSU International Student &amp; Scholar Services). The total enrolment was about 15,000. The probability that a randomly chosen MSU student is an international student can be calculated as</a:t>
            </a:r>
          </a:p>
          <a:p>
            <a:pPr marL="0" indent="0" algn="just">
              <a:buNone/>
            </a:pPr>
            <a:endParaRPr lang="en-US" sz="3000"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4" name="Rectangle 3"/>
              <p:cNvSpPr/>
              <p:nvPr/>
            </p:nvSpPr>
            <p:spPr>
              <a:xfrm>
                <a:off x="611560" y="4581128"/>
                <a:ext cx="3951916" cy="7862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i="1" smtClean="0">
                          <a:solidFill>
                            <a:schemeClr val="tx1"/>
                          </a:solidFill>
                          <a:latin typeface="Cambria Math"/>
                          <a:cs typeface="Times New Roman" pitchFamily="18" charset="0"/>
                        </a:rPr>
                        <m:t>𝑃</m:t>
                      </m:r>
                      <m:d>
                        <m:dPr>
                          <m:ctrlPr>
                            <a:rPr lang="en-GB" i="1">
                              <a:solidFill>
                                <a:schemeClr val="tx1"/>
                              </a:solidFill>
                              <a:latin typeface="Cambria Math" panose="02040503050406030204" pitchFamily="18" charset="0"/>
                              <a:cs typeface="Times New Roman" pitchFamily="18" charset="0"/>
                            </a:rPr>
                          </m:ctrlPr>
                        </m:dPr>
                        <m:e>
                          <m:r>
                            <a:rPr lang="en-GB" i="1">
                              <a:solidFill>
                                <a:schemeClr val="tx1"/>
                              </a:solidFill>
                              <a:latin typeface="Cambria Math"/>
                              <a:cs typeface="Times New Roman" pitchFamily="18" charset="0"/>
                            </a:rPr>
                            <m:t>𝐴</m:t>
                          </m:r>
                        </m:e>
                      </m:d>
                      <m:r>
                        <a:rPr lang="en-GB" i="1">
                          <a:solidFill>
                            <a:schemeClr val="tx1"/>
                          </a:solidFill>
                          <a:latin typeface="Cambria Math"/>
                          <a:cs typeface="Times New Roman" pitchFamily="18" charset="0"/>
                        </a:rPr>
                        <m:t>=</m:t>
                      </m:r>
                      <m:f>
                        <m:fPr>
                          <m:ctrlPr>
                            <a:rPr lang="en-GB" i="1">
                              <a:solidFill>
                                <a:schemeClr val="tx1"/>
                              </a:solidFill>
                              <a:latin typeface="Cambria Math" panose="02040503050406030204" pitchFamily="18" charset="0"/>
                              <a:cs typeface="Times New Roman" pitchFamily="18" charset="0"/>
                            </a:rPr>
                          </m:ctrlPr>
                        </m:fPr>
                        <m:num>
                          <m:r>
                            <a:rPr lang="en-GB" i="1">
                              <a:solidFill>
                                <a:schemeClr val="tx1"/>
                              </a:solidFill>
                              <a:latin typeface="Cambria Math"/>
                              <a:cs typeface="Times New Roman" pitchFamily="18" charset="0"/>
                            </a:rPr>
                            <m:t>𝑠</m:t>
                          </m:r>
                        </m:num>
                        <m:den>
                          <m:r>
                            <a:rPr lang="en-GB" i="1">
                              <a:solidFill>
                                <a:schemeClr val="tx1"/>
                              </a:solidFill>
                              <a:latin typeface="Cambria Math"/>
                              <a:cs typeface="Times New Roman" pitchFamily="18" charset="0"/>
                            </a:rPr>
                            <m:t>𝑛</m:t>
                          </m:r>
                        </m:den>
                      </m:f>
                      <m:r>
                        <a:rPr lang="en-GB" b="0" i="1" smtClean="0">
                          <a:solidFill>
                            <a:schemeClr val="tx1"/>
                          </a:solidFill>
                          <a:latin typeface="Cambria Math"/>
                          <a:cs typeface="Times New Roman" pitchFamily="18" charset="0"/>
                        </a:rPr>
                        <m:t>= </m:t>
                      </m:r>
                      <m:f>
                        <m:fPr>
                          <m:ctrlPr>
                            <a:rPr lang="en-GB" b="0" i="1" smtClean="0">
                              <a:solidFill>
                                <a:schemeClr val="tx1"/>
                              </a:solidFill>
                              <a:latin typeface="Cambria Math" panose="02040503050406030204" pitchFamily="18" charset="0"/>
                              <a:cs typeface="Times New Roman" pitchFamily="18" charset="0"/>
                            </a:rPr>
                          </m:ctrlPr>
                        </m:fPr>
                        <m:num>
                          <m:r>
                            <a:rPr lang="en-GB" b="0" i="1" smtClean="0">
                              <a:solidFill>
                                <a:schemeClr val="tx1"/>
                              </a:solidFill>
                              <a:latin typeface="Cambria Math"/>
                              <a:cs typeface="Times New Roman" pitchFamily="18" charset="0"/>
                            </a:rPr>
                            <m:t>719</m:t>
                          </m:r>
                        </m:num>
                        <m:den>
                          <m:r>
                            <a:rPr lang="en-GB" b="0" i="1" smtClean="0">
                              <a:solidFill>
                                <a:schemeClr val="tx1"/>
                              </a:solidFill>
                              <a:latin typeface="Cambria Math"/>
                              <a:cs typeface="Times New Roman" pitchFamily="18" charset="0"/>
                            </a:rPr>
                            <m:t>150</m:t>
                          </m:r>
                          <m:r>
                            <a:rPr lang="en-US" b="0" i="1" smtClean="0">
                              <a:solidFill>
                                <a:schemeClr val="tx1"/>
                              </a:solidFill>
                              <a:latin typeface="Cambria Math" panose="02040503050406030204" pitchFamily="18" charset="0"/>
                              <a:cs typeface="Times New Roman" pitchFamily="18" charset="0"/>
                            </a:rPr>
                            <m:t>0</m:t>
                          </m:r>
                          <m:r>
                            <a:rPr lang="en-GB" b="0" i="1" smtClean="0">
                              <a:solidFill>
                                <a:schemeClr val="tx1"/>
                              </a:solidFill>
                              <a:latin typeface="Cambria Math"/>
                              <a:cs typeface="Times New Roman" pitchFamily="18" charset="0"/>
                            </a:rPr>
                            <m:t>0</m:t>
                          </m:r>
                        </m:den>
                      </m:f>
                      <m:r>
                        <a:rPr lang="en-GB" b="0" i="1" smtClean="0">
                          <a:solidFill>
                            <a:schemeClr val="tx1"/>
                          </a:solidFill>
                          <a:latin typeface="Cambria Math"/>
                          <a:ea typeface="Cambria Math"/>
                          <a:cs typeface="Times New Roman" pitchFamily="18" charset="0"/>
                        </a:rPr>
                        <m:t>≈</m:t>
                      </m:r>
                      <m:r>
                        <a:rPr lang="en-GB" b="0" i="1" smtClean="0">
                          <a:solidFill>
                            <a:schemeClr val="tx1"/>
                          </a:solidFill>
                          <a:latin typeface="Cambria Math"/>
                          <a:cs typeface="Times New Roman" pitchFamily="18" charset="0"/>
                        </a:rPr>
                        <m:t>0.048</m:t>
                      </m:r>
                    </m:oMath>
                  </m:oMathPara>
                </a14:m>
                <a:endParaRPr lang="en-GB" dirty="0">
                  <a:solidFill>
                    <a:schemeClr val="tx1"/>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611560" y="4581128"/>
                <a:ext cx="3951916" cy="786241"/>
              </a:xfrm>
              <a:prstGeom prst="rect">
                <a:avLst/>
              </a:prstGeom>
              <a:blipFill>
                <a:blip r:embed="rId2"/>
                <a:stretch>
                  <a:fillRect/>
                </a:stretch>
              </a:blipFill>
            </p:spPr>
            <p:txBody>
              <a:bodyPr/>
              <a:lstStyle/>
              <a:p>
                <a:r>
                  <a:rPr lang="en-NZ">
                    <a:noFill/>
                  </a:rPr>
                  <a:t> </a:t>
                </a:r>
              </a:p>
            </p:txBody>
          </p:sp>
        </mc:Fallback>
      </mc:AlternateContent>
      <p:sp>
        <p:nvSpPr>
          <p:cNvPr id="5" name="Date Placeholder 4"/>
          <p:cNvSpPr>
            <a:spLocks noGrp="1"/>
          </p:cNvSpPr>
          <p:nvPr>
            <p:ph type="dt" sz="half" idx="10"/>
          </p:nvPr>
        </p:nvSpPr>
        <p:spPr/>
        <p:txBody>
          <a:bodyPr/>
          <a:lstStyle/>
          <a:p>
            <a:pPr>
              <a:defRPr/>
            </a:pPr>
            <a:fld id="{424F6011-B263-4286-A845-0CABBBE73AC2}" type="datetime2">
              <a:rPr lang="en-US" smtClean="0"/>
              <a:pPr>
                <a:defRPr/>
              </a:pPr>
              <a:t>Monday, December 8, 2025</a:t>
            </a:fld>
            <a:endParaRPr lang="en-US"/>
          </a:p>
        </p:txBody>
      </p:sp>
      <p:sp>
        <p:nvSpPr>
          <p:cNvPr id="6" name="Slide Number Placeholder 5"/>
          <p:cNvSpPr>
            <a:spLocks noGrp="1"/>
          </p:cNvSpPr>
          <p:nvPr>
            <p:ph type="sldNum" sz="quarter" idx="12"/>
          </p:nvPr>
        </p:nvSpPr>
        <p:spPr/>
        <p:txBody>
          <a:bodyPr/>
          <a:lstStyle/>
          <a:p>
            <a:pPr>
              <a:defRPr/>
            </a:pPr>
            <a:fld id="{C70CFA2D-21B9-45B6-893F-7371CE3DE2D8}" type="slidenum">
              <a:rPr lang="en-US" smtClean="0"/>
              <a:pPr>
                <a:defRPr/>
              </a:pPr>
              <a:t>21</a:t>
            </a:fld>
            <a:endParaRPr lang="en-US"/>
          </a:p>
        </p:txBody>
      </p:sp>
      <p:sp>
        <p:nvSpPr>
          <p:cNvPr id="7" name="Footer Placeholder 6"/>
          <p:cNvSpPr>
            <a:spLocks noGrp="1"/>
          </p:cNvSpPr>
          <p:nvPr>
            <p:ph type="ftr" sz="quarter" idx="11"/>
          </p:nvPr>
        </p:nvSpPr>
        <p:spPr/>
        <p:txBody>
          <a:bodyPr/>
          <a:lstStyle/>
          <a:p>
            <a:pPr>
              <a:defRPr/>
            </a:pPr>
            <a:r>
              <a:rPr lang="en-US"/>
              <a:t>STAT 154 -09</a:t>
            </a:r>
          </a:p>
        </p:txBody>
      </p:sp>
    </p:spTree>
  </p:cSld>
  <p:clrMapOvr>
    <a:masterClrMapping/>
  </p:clrMapOvr>
  <p:transition spd="slow">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625" y="384175"/>
            <a:ext cx="8534400" cy="758825"/>
          </a:xfrm>
        </p:spPr>
        <p:txBody>
          <a:bodyPr/>
          <a:lstStyle/>
          <a:p>
            <a:pPr algn="l"/>
            <a:r>
              <a:rPr lang="en-US" sz="4200" dirty="0">
                <a:solidFill>
                  <a:srgbClr val="FF0000"/>
                </a:solidFill>
                <a:effectLst>
                  <a:outerShdw blurRad="38100" dist="38100" dir="2700000" algn="tl">
                    <a:srgbClr val="000000">
                      <a:alpha val="43137"/>
                    </a:srgbClr>
                  </a:outerShdw>
                </a:effectLst>
              </a:rPr>
              <a:t>Example:</a:t>
            </a:r>
          </a:p>
        </p:txBody>
      </p:sp>
      <p:sp>
        <p:nvSpPr>
          <p:cNvPr id="3" name="Content Placeholder 2"/>
          <p:cNvSpPr>
            <a:spLocks noGrp="1"/>
          </p:cNvSpPr>
          <p:nvPr>
            <p:ph sz="quarter" idx="1"/>
          </p:nvPr>
        </p:nvSpPr>
        <p:spPr/>
        <p:txBody>
          <a:bodyPr/>
          <a:lstStyle/>
          <a:p>
            <a:pPr marL="0" indent="0" algn="just">
              <a:buNone/>
            </a:pPr>
            <a:r>
              <a:rPr lang="en-US" sz="3500" dirty="0"/>
              <a:t>On the first date, Kelly asks Mike to guess the </a:t>
            </a:r>
            <a:r>
              <a:rPr lang="en-US" sz="3500" u="sng" dirty="0"/>
              <a:t>Month of her birth</a:t>
            </a:r>
            <a:r>
              <a:rPr lang="en-US" sz="3500" dirty="0"/>
              <a:t>, not including the year and date. What is the probability that Mike will guess correctly? </a:t>
            </a:r>
          </a:p>
          <a:p>
            <a:pPr marL="0" indent="0" algn="just">
              <a:buNone/>
            </a:pPr>
            <a:endParaRPr lang="en-US" sz="3500" dirty="0"/>
          </a:p>
        </p:txBody>
      </p:sp>
      <p:sp>
        <p:nvSpPr>
          <p:cNvPr id="4" name="Date Placeholder 3"/>
          <p:cNvSpPr>
            <a:spLocks noGrp="1"/>
          </p:cNvSpPr>
          <p:nvPr>
            <p:ph type="dt" sz="half" idx="10"/>
          </p:nvPr>
        </p:nvSpPr>
        <p:spPr/>
        <p:txBody>
          <a:bodyPr/>
          <a:lstStyle/>
          <a:p>
            <a:pPr>
              <a:defRPr/>
            </a:pPr>
            <a:fld id="{435B9553-B32A-4AA7-87D9-AACB6065D541}" type="datetime2">
              <a:rPr lang="en-US" smtClean="0"/>
              <a:pPr>
                <a:defRPr/>
              </a:pPr>
              <a:t>Monday, December 8, 2025</a:t>
            </a:fld>
            <a:endParaRPr lang="en-US"/>
          </a:p>
        </p:txBody>
      </p:sp>
      <p:sp>
        <p:nvSpPr>
          <p:cNvPr id="5" name="Footer Placeholder 4"/>
          <p:cNvSpPr>
            <a:spLocks noGrp="1"/>
          </p:cNvSpPr>
          <p:nvPr>
            <p:ph type="ftr" sz="quarter" idx="11"/>
          </p:nvPr>
        </p:nvSpPr>
        <p:spPr/>
        <p:txBody>
          <a:bodyPr/>
          <a:lstStyle/>
          <a:p>
            <a:pPr>
              <a:defRPr/>
            </a:pPr>
            <a:r>
              <a:rPr lang="en-US"/>
              <a:t>STAT 154 -09</a:t>
            </a:r>
          </a:p>
        </p:txBody>
      </p:sp>
      <p:sp>
        <p:nvSpPr>
          <p:cNvPr id="6" name="Slide Number Placeholder 5"/>
          <p:cNvSpPr>
            <a:spLocks noGrp="1"/>
          </p:cNvSpPr>
          <p:nvPr>
            <p:ph type="sldNum" sz="quarter" idx="12"/>
          </p:nvPr>
        </p:nvSpPr>
        <p:spPr/>
        <p:txBody>
          <a:bodyPr/>
          <a:lstStyle/>
          <a:p>
            <a:pPr>
              <a:defRPr/>
            </a:pPr>
            <a:fld id="{C70CFA2D-21B9-45B6-893F-7371CE3DE2D8}" type="slidenum">
              <a:rPr lang="en-US" smtClean="0"/>
              <a:pPr>
                <a:defRPr/>
              </a:pPr>
              <a:t>22</a:t>
            </a:fld>
            <a:endParaRPr lang="en-US"/>
          </a:p>
        </p:txBody>
      </p:sp>
    </p:spTree>
    <p:extLst>
      <p:ext uri="{BB962C8B-B14F-4D97-AF65-F5344CB8AC3E}">
        <p14:creationId xmlns:p14="http://schemas.microsoft.com/office/powerpoint/2010/main" val="3593505507"/>
      </p:ext>
    </p:extLst>
  </p:cSld>
  <p:clrMapOvr>
    <a:masterClrMapping/>
  </p:clrMapOvr>
  <p:transition spd="slow">
    <p:wipe dir="r"/>
  </p:transition>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86019" name="Picture 3">
            <a:extLst>
              <a:ext uri="{FF2B5EF4-FFF2-40B4-BE49-F238E27FC236}">
                <a16:creationId xmlns:a16="http://schemas.microsoft.com/office/drawing/2014/main" id="{833B67A5-716E-E323-82AF-057650405B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28600"/>
            <a:ext cx="304800" cy="6400800"/>
          </a:xfrm>
          <a:prstGeom prst="rect">
            <a:avLst/>
          </a:prstGeom>
          <a:noFill/>
          <a:extLst>
            <a:ext uri="{909E8E84-426E-40DD-AFC4-6F175D3DCCD1}">
              <a14:hiddenFill xmlns:a14="http://schemas.microsoft.com/office/drawing/2010/main">
                <a:solidFill>
                  <a:srgbClr val="FFFFFF"/>
                </a:solidFill>
              </a14:hiddenFill>
            </a:ext>
          </a:extLst>
        </p:spPr>
      </p:pic>
      <p:sp>
        <p:nvSpPr>
          <p:cNvPr id="86020" name="Rectangle 4">
            <a:extLst>
              <a:ext uri="{FF2B5EF4-FFF2-40B4-BE49-F238E27FC236}">
                <a16:creationId xmlns:a16="http://schemas.microsoft.com/office/drawing/2014/main" id="{0B0BF641-A3D5-BE1C-67BA-DB80D15D76CB}"/>
              </a:ext>
            </a:extLst>
          </p:cNvPr>
          <p:cNvSpPr>
            <a:spLocks noGrp="1" noChangeArrowheads="1"/>
          </p:cNvSpPr>
          <p:nvPr>
            <p:ph type="body" idx="1"/>
          </p:nvPr>
        </p:nvSpPr>
        <p:spPr>
          <a:xfrm>
            <a:off x="685800" y="1752600"/>
            <a:ext cx="8229600" cy="1143000"/>
          </a:xfrm>
          <a:noFill/>
          <a:ln/>
        </p:spPr>
        <p:txBody>
          <a:bodyPr/>
          <a:lstStyle/>
          <a:p>
            <a:pPr algn="just">
              <a:buFontTx/>
              <a:buNone/>
            </a:pPr>
            <a:r>
              <a:rPr lang="en-US" altLang="en-US" sz="3200" dirty="0">
                <a:solidFill>
                  <a:schemeClr val="tx1"/>
                </a:solidFill>
              </a:rPr>
              <a:t>  Toss a fair coin twice. What is the probability of observing at least one head?</a:t>
            </a:r>
          </a:p>
        </p:txBody>
      </p:sp>
      <p:grpSp>
        <p:nvGrpSpPr>
          <p:cNvPr id="86050" name="Group 34">
            <a:extLst>
              <a:ext uri="{FF2B5EF4-FFF2-40B4-BE49-F238E27FC236}">
                <a16:creationId xmlns:a16="http://schemas.microsoft.com/office/drawing/2014/main" id="{C19B9213-B3B6-B620-482A-FDAD8CF9B5A9}"/>
              </a:ext>
            </a:extLst>
          </p:cNvPr>
          <p:cNvGrpSpPr>
            <a:grpSpLocks/>
          </p:cNvGrpSpPr>
          <p:nvPr/>
        </p:nvGrpSpPr>
        <p:grpSpPr bwMode="auto">
          <a:xfrm>
            <a:off x="1614488" y="3657600"/>
            <a:ext cx="1738312" cy="547688"/>
            <a:chOff x="1017" y="2304"/>
            <a:chExt cx="1095" cy="345"/>
          </a:xfrm>
        </p:grpSpPr>
        <p:sp>
          <p:nvSpPr>
            <p:cNvPr id="86031" name="Text Box 15">
              <a:extLst>
                <a:ext uri="{FF2B5EF4-FFF2-40B4-BE49-F238E27FC236}">
                  <a16:creationId xmlns:a16="http://schemas.microsoft.com/office/drawing/2014/main" id="{F3CE2BDA-A5EE-8689-C9EF-B66DEF45FC34}"/>
                </a:ext>
              </a:extLst>
            </p:cNvPr>
            <p:cNvSpPr txBox="1">
              <a:spLocks noChangeArrowheads="1"/>
            </p:cNvSpPr>
            <p:nvPr/>
          </p:nvSpPr>
          <p:spPr bwMode="auto">
            <a:xfrm>
              <a:off x="1776" y="2304"/>
              <a:ext cx="336" cy="306"/>
            </a:xfrm>
            <a:prstGeom prst="rect">
              <a:avLst/>
            </a:prstGeom>
            <a:solidFill>
              <a:srgbClr val="F4ECC6"/>
            </a:solidFill>
            <a:ln w="28575">
              <a:solidFill>
                <a:srgbClr val="CC0066"/>
              </a:solidFill>
              <a:miter lim="800000"/>
              <a:headEnd/>
              <a:tailEnd/>
            </a:ln>
            <a:effectLst>
              <a:outerShdw dist="107763" dir="2700000" algn="ctr" rotWithShape="0">
                <a:schemeClr val="bg2"/>
              </a:outerShdw>
            </a:effectLst>
          </p:spPr>
          <p:txBody>
            <a:bodyPr>
              <a:spAutoFit/>
            </a:bodyPr>
            <a:lstStyle/>
            <a:p>
              <a:pPr algn="ctr">
                <a:spcBef>
                  <a:spcPct val="50000"/>
                </a:spcBef>
              </a:pPr>
              <a:r>
                <a:rPr lang="en-US" altLang="en-US" b="1">
                  <a:solidFill>
                    <a:srgbClr val="333333"/>
                  </a:solidFill>
                </a:rPr>
                <a:t>H</a:t>
              </a:r>
            </a:p>
          </p:txBody>
        </p:sp>
        <p:cxnSp>
          <p:nvCxnSpPr>
            <p:cNvPr id="86032" name="AutoShape 16">
              <a:extLst>
                <a:ext uri="{FF2B5EF4-FFF2-40B4-BE49-F238E27FC236}">
                  <a16:creationId xmlns:a16="http://schemas.microsoft.com/office/drawing/2014/main" id="{CFCF06AC-06FA-9561-68A7-E78B4760A6F3}"/>
                </a:ext>
              </a:extLst>
            </p:cNvPr>
            <p:cNvCxnSpPr>
              <a:cxnSpLocks noChangeShapeType="1"/>
              <a:stCxn id="86034" idx="3"/>
              <a:endCxn id="86031" idx="1"/>
            </p:cNvCxnSpPr>
            <p:nvPr/>
          </p:nvCxnSpPr>
          <p:spPr bwMode="auto">
            <a:xfrm flipV="1">
              <a:off x="1017" y="2457"/>
              <a:ext cx="750" cy="192"/>
            </a:xfrm>
            <a:prstGeom prst="straightConnector1">
              <a:avLst/>
            </a:prstGeom>
            <a:noFill/>
            <a:ln w="28575">
              <a:solidFill>
                <a:srgbClr val="CC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6033" name="Text Box 17">
            <a:extLst>
              <a:ext uri="{FF2B5EF4-FFF2-40B4-BE49-F238E27FC236}">
                <a16:creationId xmlns:a16="http://schemas.microsoft.com/office/drawing/2014/main" id="{E7FBDA07-C3C8-6E7D-C791-EEFFCE21991A}"/>
              </a:ext>
            </a:extLst>
          </p:cNvPr>
          <p:cNvSpPr txBox="1">
            <a:spLocks noChangeArrowheads="1"/>
          </p:cNvSpPr>
          <p:nvPr/>
        </p:nvSpPr>
        <p:spPr bwMode="auto">
          <a:xfrm>
            <a:off x="914400" y="3200400"/>
            <a:ext cx="464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u="sng">
                <a:solidFill>
                  <a:srgbClr val="339933"/>
                </a:solidFill>
              </a:rPr>
              <a:t>1st Coin     2nd Coin     E</a:t>
            </a:r>
            <a:r>
              <a:rPr lang="en-US" altLang="en-US" i="1" u="sng" baseline="-25000">
                <a:solidFill>
                  <a:srgbClr val="339933"/>
                </a:solidFill>
              </a:rPr>
              <a:t>i</a:t>
            </a:r>
            <a:r>
              <a:rPr lang="en-US" altLang="en-US" u="sng">
                <a:solidFill>
                  <a:srgbClr val="339933"/>
                </a:solidFill>
              </a:rPr>
              <a:t>         P(E</a:t>
            </a:r>
            <a:r>
              <a:rPr lang="en-US" altLang="en-US" i="1" u="sng" baseline="-25000">
                <a:solidFill>
                  <a:srgbClr val="339933"/>
                </a:solidFill>
              </a:rPr>
              <a:t>i</a:t>
            </a:r>
            <a:r>
              <a:rPr lang="en-US" altLang="en-US" u="sng">
                <a:solidFill>
                  <a:srgbClr val="339933"/>
                </a:solidFill>
              </a:rPr>
              <a:t>)</a:t>
            </a:r>
            <a:r>
              <a:rPr lang="en-US" altLang="en-US" baseline="-25000">
                <a:solidFill>
                  <a:srgbClr val="339933"/>
                </a:solidFill>
              </a:rPr>
              <a:t> </a:t>
            </a:r>
          </a:p>
        </p:txBody>
      </p:sp>
      <p:sp>
        <p:nvSpPr>
          <p:cNvPr id="86034" name="Text Box 18">
            <a:extLst>
              <a:ext uri="{FF2B5EF4-FFF2-40B4-BE49-F238E27FC236}">
                <a16:creationId xmlns:a16="http://schemas.microsoft.com/office/drawing/2014/main" id="{D7637D93-7F28-C985-0B53-8A574A8CCC01}"/>
              </a:ext>
            </a:extLst>
          </p:cNvPr>
          <p:cNvSpPr txBox="1">
            <a:spLocks noChangeArrowheads="1"/>
          </p:cNvSpPr>
          <p:nvPr/>
        </p:nvSpPr>
        <p:spPr bwMode="auto">
          <a:xfrm>
            <a:off x="1066800" y="3962400"/>
            <a:ext cx="533400" cy="485775"/>
          </a:xfrm>
          <a:prstGeom prst="rect">
            <a:avLst/>
          </a:prstGeom>
          <a:solidFill>
            <a:srgbClr val="F4ECC6"/>
          </a:solidFill>
          <a:ln w="28575">
            <a:solidFill>
              <a:srgbClr val="CC0066"/>
            </a:solidFill>
            <a:miter lim="800000"/>
            <a:headEnd/>
            <a:tailEnd/>
          </a:ln>
          <a:effectLst>
            <a:outerShdw dist="107763" dir="2700000" algn="ctr" rotWithShape="0">
              <a:schemeClr val="bg2"/>
            </a:outerShdw>
          </a:effectLst>
        </p:spPr>
        <p:txBody>
          <a:bodyPr>
            <a:spAutoFit/>
          </a:bodyPr>
          <a:lstStyle/>
          <a:p>
            <a:pPr algn="ctr">
              <a:spcBef>
                <a:spcPct val="50000"/>
              </a:spcBef>
            </a:pPr>
            <a:r>
              <a:rPr lang="en-US" altLang="en-US" b="1">
                <a:solidFill>
                  <a:srgbClr val="333333"/>
                </a:solidFill>
              </a:rPr>
              <a:t>H</a:t>
            </a:r>
          </a:p>
        </p:txBody>
      </p:sp>
      <p:sp>
        <p:nvSpPr>
          <p:cNvPr id="86036" name="Text Box 20">
            <a:extLst>
              <a:ext uri="{FF2B5EF4-FFF2-40B4-BE49-F238E27FC236}">
                <a16:creationId xmlns:a16="http://schemas.microsoft.com/office/drawing/2014/main" id="{6F28125C-FFE9-B253-DBDE-ED88490BAC97}"/>
              </a:ext>
            </a:extLst>
          </p:cNvPr>
          <p:cNvSpPr txBox="1">
            <a:spLocks noChangeArrowheads="1"/>
          </p:cNvSpPr>
          <p:nvPr/>
        </p:nvSpPr>
        <p:spPr bwMode="auto">
          <a:xfrm>
            <a:off x="1066800" y="5229225"/>
            <a:ext cx="533400" cy="485775"/>
          </a:xfrm>
          <a:prstGeom prst="rect">
            <a:avLst/>
          </a:prstGeom>
          <a:solidFill>
            <a:srgbClr val="F4ECC6"/>
          </a:solidFill>
          <a:ln w="28575">
            <a:solidFill>
              <a:srgbClr val="CC0066"/>
            </a:solidFill>
            <a:miter lim="800000"/>
            <a:headEnd/>
            <a:tailEnd/>
          </a:ln>
          <a:effectLst>
            <a:outerShdw dist="107763" dir="2700000" algn="ctr" rotWithShape="0">
              <a:schemeClr val="bg2"/>
            </a:outerShdw>
          </a:effectLst>
        </p:spPr>
        <p:txBody>
          <a:bodyPr>
            <a:spAutoFit/>
          </a:bodyPr>
          <a:lstStyle/>
          <a:p>
            <a:pPr algn="ctr">
              <a:spcBef>
                <a:spcPct val="50000"/>
              </a:spcBef>
            </a:pPr>
            <a:r>
              <a:rPr lang="en-US" altLang="en-US" b="1">
                <a:solidFill>
                  <a:srgbClr val="333333"/>
                </a:solidFill>
              </a:rPr>
              <a:t>T</a:t>
            </a:r>
          </a:p>
        </p:txBody>
      </p:sp>
      <p:grpSp>
        <p:nvGrpSpPr>
          <p:cNvPr id="86051" name="Group 35">
            <a:extLst>
              <a:ext uri="{FF2B5EF4-FFF2-40B4-BE49-F238E27FC236}">
                <a16:creationId xmlns:a16="http://schemas.microsoft.com/office/drawing/2014/main" id="{681F6E4F-40D6-34D8-E972-83C4E8CF144F}"/>
              </a:ext>
            </a:extLst>
          </p:cNvPr>
          <p:cNvGrpSpPr>
            <a:grpSpLocks/>
          </p:cNvGrpSpPr>
          <p:nvPr/>
        </p:nvGrpSpPr>
        <p:grpSpPr bwMode="auto">
          <a:xfrm>
            <a:off x="1614488" y="4205288"/>
            <a:ext cx="1738312" cy="547687"/>
            <a:chOff x="1017" y="2649"/>
            <a:chExt cx="1095" cy="345"/>
          </a:xfrm>
        </p:grpSpPr>
        <p:sp>
          <p:nvSpPr>
            <p:cNvPr id="86038" name="Text Box 22">
              <a:extLst>
                <a:ext uri="{FF2B5EF4-FFF2-40B4-BE49-F238E27FC236}">
                  <a16:creationId xmlns:a16="http://schemas.microsoft.com/office/drawing/2014/main" id="{116C63DC-29CE-18A0-FAB8-E6AD4ED23551}"/>
                </a:ext>
              </a:extLst>
            </p:cNvPr>
            <p:cNvSpPr txBox="1">
              <a:spLocks noChangeArrowheads="1"/>
            </p:cNvSpPr>
            <p:nvPr/>
          </p:nvSpPr>
          <p:spPr bwMode="auto">
            <a:xfrm>
              <a:off x="1776" y="2688"/>
              <a:ext cx="336" cy="306"/>
            </a:xfrm>
            <a:prstGeom prst="rect">
              <a:avLst/>
            </a:prstGeom>
            <a:solidFill>
              <a:srgbClr val="F4ECC6"/>
            </a:solidFill>
            <a:ln w="28575">
              <a:solidFill>
                <a:srgbClr val="CC0066"/>
              </a:solidFill>
              <a:miter lim="800000"/>
              <a:headEnd/>
              <a:tailEnd/>
            </a:ln>
            <a:effectLst>
              <a:outerShdw dist="107763" dir="2700000" algn="ctr" rotWithShape="0">
                <a:schemeClr val="bg2"/>
              </a:outerShdw>
            </a:effectLst>
          </p:spPr>
          <p:txBody>
            <a:bodyPr>
              <a:spAutoFit/>
            </a:bodyPr>
            <a:lstStyle/>
            <a:p>
              <a:pPr algn="ctr">
                <a:spcBef>
                  <a:spcPct val="50000"/>
                </a:spcBef>
              </a:pPr>
              <a:r>
                <a:rPr lang="en-US" altLang="en-US" b="1">
                  <a:solidFill>
                    <a:srgbClr val="333333"/>
                  </a:solidFill>
                </a:rPr>
                <a:t>T</a:t>
              </a:r>
            </a:p>
          </p:txBody>
        </p:sp>
        <p:cxnSp>
          <p:nvCxnSpPr>
            <p:cNvPr id="86039" name="AutoShape 23">
              <a:extLst>
                <a:ext uri="{FF2B5EF4-FFF2-40B4-BE49-F238E27FC236}">
                  <a16:creationId xmlns:a16="http://schemas.microsoft.com/office/drawing/2014/main" id="{DEAEDA7E-7A2A-B1E5-B556-30901550C7F0}"/>
                </a:ext>
              </a:extLst>
            </p:cNvPr>
            <p:cNvCxnSpPr>
              <a:cxnSpLocks noChangeShapeType="1"/>
              <a:stCxn id="86034" idx="3"/>
              <a:endCxn id="86038" idx="1"/>
            </p:cNvCxnSpPr>
            <p:nvPr/>
          </p:nvCxnSpPr>
          <p:spPr bwMode="auto">
            <a:xfrm>
              <a:off x="1017" y="2649"/>
              <a:ext cx="750" cy="192"/>
            </a:xfrm>
            <a:prstGeom prst="straightConnector1">
              <a:avLst/>
            </a:prstGeom>
            <a:noFill/>
            <a:ln w="28575">
              <a:solidFill>
                <a:srgbClr val="CC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6052" name="Group 36">
            <a:extLst>
              <a:ext uri="{FF2B5EF4-FFF2-40B4-BE49-F238E27FC236}">
                <a16:creationId xmlns:a16="http://schemas.microsoft.com/office/drawing/2014/main" id="{AC646CE8-138F-F627-67B8-7BE50F36CCF1}"/>
              </a:ext>
            </a:extLst>
          </p:cNvPr>
          <p:cNvGrpSpPr>
            <a:grpSpLocks/>
          </p:cNvGrpSpPr>
          <p:nvPr/>
        </p:nvGrpSpPr>
        <p:grpSpPr bwMode="auto">
          <a:xfrm>
            <a:off x="1614488" y="4848225"/>
            <a:ext cx="1738312" cy="623888"/>
            <a:chOff x="1017" y="3054"/>
            <a:chExt cx="1095" cy="393"/>
          </a:xfrm>
        </p:grpSpPr>
        <p:sp>
          <p:nvSpPr>
            <p:cNvPr id="86035" name="Text Box 19">
              <a:extLst>
                <a:ext uri="{FF2B5EF4-FFF2-40B4-BE49-F238E27FC236}">
                  <a16:creationId xmlns:a16="http://schemas.microsoft.com/office/drawing/2014/main" id="{7242DFE9-758E-D197-4FB1-F5346EB29297}"/>
                </a:ext>
              </a:extLst>
            </p:cNvPr>
            <p:cNvSpPr txBox="1">
              <a:spLocks noChangeArrowheads="1"/>
            </p:cNvSpPr>
            <p:nvPr/>
          </p:nvSpPr>
          <p:spPr bwMode="auto">
            <a:xfrm>
              <a:off x="1776" y="3054"/>
              <a:ext cx="336" cy="306"/>
            </a:xfrm>
            <a:prstGeom prst="rect">
              <a:avLst/>
            </a:prstGeom>
            <a:solidFill>
              <a:srgbClr val="F4ECC6"/>
            </a:solidFill>
            <a:ln w="28575">
              <a:solidFill>
                <a:srgbClr val="CC0066"/>
              </a:solidFill>
              <a:miter lim="800000"/>
              <a:headEnd/>
              <a:tailEnd/>
            </a:ln>
            <a:effectLst>
              <a:outerShdw dist="107763" dir="2700000" algn="ctr" rotWithShape="0">
                <a:schemeClr val="bg2"/>
              </a:outerShdw>
            </a:effectLst>
          </p:spPr>
          <p:txBody>
            <a:bodyPr>
              <a:spAutoFit/>
            </a:bodyPr>
            <a:lstStyle/>
            <a:p>
              <a:pPr algn="ctr">
                <a:spcBef>
                  <a:spcPct val="50000"/>
                </a:spcBef>
              </a:pPr>
              <a:r>
                <a:rPr lang="en-US" altLang="en-US" b="1">
                  <a:solidFill>
                    <a:srgbClr val="333333"/>
                  </a:solidFill>
                </a:rPr>
                <a:t>H</a:t>
              </a:r>
            </a:p>
          </p:txBody>
        </p:sp>
        <p:cxnSp>
          <p:nvCxnSpPr>
            <p:cNvPr id="86040" name="AutoShape 24">
              <a:extLst>
                <a:ext uri="{FF2B5EF4-FFF2-40B4-BE49-F238E27FC236}">
                  <a16:creationId xmlns:a16="http://schemas.microsoft.com/office/drawing/2014/main" id="{53C4E12C-2482-EBCA-0973-22E949B60694}"/>
                </a:ext>
              </a:extLst>
            </p:cNvPr>
            <p:cNvCxnSpPr>
              <a:cxnSpLocks noChangeShapeType="1"/>
              <a:stCxn id="86036" idx="3"/>
              <a:endCxn id="86035" idx="1"/>
            </p:cNvCxnSpPr>
            <p:nvPr/>
          </p:nvCxnSpPr>
          <p:spPr bwMode="auto">
            <a:xfrm flipV="1">
              <a:off x="1017" y="3207"/>
              <a:ext cx="750" cy="240"/>
            </a:xfrm>
            <a:prstGeom prst="straightConnector1">
              <a:avLst/>
            </a:prstGeom>
            <a:noFill/>
            <a:ln w="28575">
              <a:solidFill>
                <a:srgbClr val="CC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6053" name="Group 37">
            <a:extLst>
              <a:ext uri="{FF2B5EF4-FFF2-40B4-BE49-F238E27FC236}">
                <a16:creationId xmlns:a16="http://schemas.microsoft.com/office/drawing/2014/main" id="{ECBFA259-D35F-F6B7-E09D-984381A7059C}"/>
              </a:ext>
            </a:extLst>
          </p:cNvPr>
          <p:cNvGrpSpPr>
            <a:grpSpLocks/>
          </p:cNvGrpSpPr>
          <p:nvPr/>
        </p:nvGrpSpPr>
        <p:grpSpPr bwMode="auto">
          <a:xfrm>
            <a:off x="1614488" y="5472113"/>
            <a:ext cx="1738312" cy="547687"/>
            <a:chOff x="1017" y="3447"/>
            <a:chExt cx="1095" cy="345"/>
          </a:xfrm>
        </p:grpSpPr>
        <p:sp>
          <p:nvSpPr>
            <p:cNvPr id="86037" name="Text Box 21">
              <a:extLst>
                <a:ext uri="{FF2B5EF4-FFF2-40B4-BE49-F238E27FC236}">
                  <a16:creationId xmlns:a16="http://schemas.microsoft.com/office/drawing/2014/main" id="{90A0D525-D288-9592-161B-44428BF1855F}"/>
                </a:ext>
              </a:extLst>
            </p:cNvPr>
            <p:cNvSpPr txBox="1">
              <a:spLocks noChangeArrowheads="1"/>
            </p:cNvSpPr>
            <p:nvPr/>
          </p:nvSpPr>
          <p:spPr bwMode="auto">
            <a:xfrm>
              <a:off x="1776" y="3486"/>
              <a:ext cx="336" cy="306"/>
            </a:xfrm>
            <a:prstGeom prst="rect">
              <a:avLst/>
            </a:prstGeom>
            <a:solidFill>
              <a:srgbClr val="F4ECC6"/>
            </a:solidFill>
            <a:ln w="28575">
              <a:solidFill>
                <a:srgbClr val="CC0066"/>
              </a:solidFill>
              <a:miter lim="800000"/>
              <a:headEnd/>
              <a:tailEnd/>
            </a:ln>
            <a:effectLst>
              <a:outerShdw dist="107763" dir="2700000" algn="ctr" rotWithShape="0">
                <a:schemeClr val="bg2"/>
              </a:outerShdw>
            </a:effectLst>
          </p:spPr>
          <p:txBody>
            <a:bodyPr>
              <a:spAutoFit/>
            </a:bodyPr>
            <a:lstStyle/>
            <a:p>
              <a:pPr algn="ctr">
                <a:spcBef>
                  <a:spcPct val="50000"/>
                </a:spcBef>
              </a:pPr>
              <a:r>
                <a:rPr lang="en-US" altLang="en-US" b="1">
                  <a:solidFill>
                    <a:srgbClr val="333333"/>
                  </a:solidFill>
                </a:rPr>
                <a:t>T</a:t>
              </a:r>
            </a:p>
          </p:txBody>
        </p:sp>
        <p:cxnSp>
          <p:nvCxnSpPr>
            <p:cNvPr id="86041" name="AutoShape 25">
              <a:extLst>
                <a:ext uri="{FF2B5EF4-FFF2-40B4-BE49-F238E27FC236}">
                  <a16:creationId xmlns:a16="http://schemas.microsoft.com/office/drawing/2014/main" id="{1D362873-56C6-3397-F40F-A7B390DD8A45}"/>
                </a:ext>
              </a:extLst>
            </p:cNvPr>
            <p:cNvCxnSpPr>
              <a:cxnSpLocks noChangeShapeType="1"/>
              <a:stCxn id="86036" idx="3"/>
              <a:endCxn id="86037" idx="1"/>
            </p:cNvCxnSpPr>
            <p:nvPr/>
          </p:nvCxnSpPr>
          <p:spPr bwMode="auto">
            <a:xfrm>
              <a:off x="1017" y="3447"/>
              <a:ext cx="750" cy="192"/>
            </a:xfrm>
            <a:prstGeom prst="straightConnector1">
              <a:avLst/>
            </a:prstGeom>
            <a:noFill/>
            <a:ln w="28575">
              <a:solidFill>
                <a:srgbClr val="CC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6042" name="Text Box 26">
            <a:extLst>
              <a:ext uri="{FF2B5EF4-FFF2-40B4-BE49-F238E27FC236}">
                <a16:creationId xmlns:a16="http://schemas.microsoft.com/office/drawing/2014/main" id="{7574637D-770D-93D4-7DC7-24242DB1757A}"/>
              </a:ext>
            </a:extLst>
          </p:cNvPr>
          <p:cNvSpPr txBox="1">
            <a:spLocks noChangeArrowheads="1"/>
          </p:cNvSpPr>
          <p:nvPr/>
        </p:nvSpPr>
        <p:spPr bwMode="auto">
          <a:xfrm>
            <a:off x="3810000" y="3657600"/>
            <a:ext cx="762000" cy="485775"/>
          </a:xfrm>
          <a:prstGeom prst="rect">
            <a:avLst/>
          </a:prstGeom>
          <a:solidFill>
            <a:srgbClr val="F4ECC6"/>
          </a:solidFill>
          <a:ln w="28575">
            <a:solidFill>
              <a:srgbClr val="CC0066"/>
            </a:solidFill>
            <a:miter lim="800000"/>
            <a:headEnd/>
            <a:tailEnd/>
          </a:ln>
          <a:effectLst>
            <a:outerShdw dist="107763" dir="2700000" algn="ctr" rotWithShape="0">
              <a:schemeClr val="bg2"/>
            </a:outerShdw>
          </a:effectLst>
        </p:spPr>
        <p:txBody>
          <a:bodyPr>
            <a:spAutoFit/>
          </a:bodyPr>
          <a:lstStyle/>
          <a:p>
            <a:pPr algn="ctr">
              <a:spcBef>
                <a:spcPct val="50000"/>
              </a:spcBef>
            </a:pPr>
            <a:r>
              <a:rPr lang="en-US" altLang="en-US" b="1">
                <a:solidFill>
                  <a:srgbClr val="333333"/>
                </a:solidFill>
              </a:rPr>
              <a:t>HH</a:t>
            </a:r>
          </a:p>
        </p:txBody>
      </p:sp>
      <p:sp>
        <p:nvSpPr>
          <p:cNvPr id="86044" name="Text Box 28">
            <a:extLst>
              <a:ext uri="{FF2B5EF4-FFF2-40B4-BE49-F238E27FC236}">
                <a16:creationId xmlns:a16="http://schemas.microsoft.com/office/drawing/2014/main" id="{50806DE8-15CC-8761-4F9E-AE308D878A3C}"/>
              </a:ext>
            </a:extLst>
          </p:cNvPr>
          <p:cNvSpPr txBox="1">
            <a:spLocks noChangeArrowheads="1"/>
          </p:cNvSpPr>
          <p:nvPr/>
        </p:nvSpPr>
        <p:spPr bwMode="auto">
          <a:xfrm>
            <a:off x="3810000" y="4267200"/>
            <a:ext cx="762000" cy="485775"/>
          </a:xfrm>
          <a:prstGeom prst="rect">
            <a:avLst/>
          </a:prstGeom>
          <a:solidFill>
            <a:srgbClr val="F4ECC6"/>
          </a:solidFill>
          <a:ln w="28575">
            <a:solidFill>
              <a:srgbClr val="CC0066"/>
            </a:solidFill>
            <a:miter lim="800000"/>
            <a:headEnd/>
            <a:tailEnd/>
          </a:ln>
          <a:effectLst>
            <a:outerShdw dist="107763" dir="2700000" algn="ctr" rotWithShape="0">
              <a:schemeClr val="bg2"/>
            </a:outerShdw>
          </a:effectLst>
        </p:spPr>
        <p:txBody>
          <a:bodyPr>
            <a:spAutoFit/>
          </a:bodyPr>
          <a:lstStyle/>
          <a:p>
            <a:pPr algn="ctr">
              <a:spcBef>
                <a:spcPct val="50000"/>
              </a:spcBef>
            </a:pPr>
            <a:r>
              <a:rPr lang="en-US" altLang="en-US" b="1">
                <a:solidFill>
                  <a:srgbClr val="333333"/>
                </a:solidFill>
              </a:rPr>
              <a:t>HT</a:t>
            </a:r>
          </a:p>
        </p:txBody>
      </p:sp>
      <p:sp>
        <p:nvSpPr>
          <p:cNvPr id="86045" name="Text Box 29">
            <a:extLst>
              <a:ext uri="{FF2B5EF4-FFF2-40B4-BE49-F238E27FC236}">
                <a16:creationId xmlns:a16="http://schemas.microsoft.com/office/drawing/2014/main" id="{77FDBC37-F479-6DA7-795D-29C233FF05F7}"/>
              </a:ext>
            </a:extLst>
          </p:cNvPr>
          <p:cNvSpPr txBox="1">
            <a:spLocks noChangeArrowheads="1"/>
          </p:cNvSpPr>
          <p:nvPr/>
        </p:nvSpPr>
        <p:spPr bwMode="auto">
          <a:xfrm>
            <a:off x="3810000" y="4876800"/>
            <a:ext cx="762000" cy="485775"/>
          </a:xfrm>
          <a:prstGeom prst="rect">
            <a:avLst/>
          </a:prstGeom>
          <a:solidFill>
            <a:srgbClr val="F4ECC6"/>
          </a:solidFill>
          <a:ln w="28575">
            <a:solidFill>
              <a:srgbClr val="CC0066"/>
            </a:solidFill>
            <a:miter lim="800000"/>
            <a:headEnd/>
            <a:tailEnd/>
          </a:ln>
          <a:effectLst>
            <a:outerShdw dist="107763" dir="2700000" algn="ctr" rotWithShape="0">
              <a:schemeClr val="bg2"/>
            </a:outerShdw>
          </a:effectLst>
        </p:spPr>
        <p:txBody>
          <a:bodyPr>
            <a:spAutoFit/>
          </a:bodyPr>
          <a:lstStyle/>
          <a:p>
            <a:pPr algn="ctr">
              <a:spcBef>
                <a:spcPct val="50000"/>
              </a:spcBef>
            </a:pPr>
            <a:r>
              <a:rPr lang="en-US" altLang="en-US" b="1">
                <a:solidFill>
                  <a:srgbClr val="333333"/>
                </a:solidFill>
              </a:rPr>
              <a:t>TH</a:t>
            </a:r>
          </a:p>
        </p:txBody>
      </p:sp>
      <p:sp>
        <p:nvSpPr>
          <p:cNvPr id="86046" name="Text Box 30">
            <a:extLst>
              <a:ext uri="{FF2B5EF4-FFF2-40B4-BE49-F238E27FC236}">
                <a16:creationId xmlns:a16="http://schemas.microsoft.com/office/drawing/2014/main" id="{47FC30F0-4C32-7396-3747-1DB4B2842A05}"/>
              </a:ext>
            </a:extLst>
          </p:cNvPr>
          <p:cNvSpPr txBox="1">
            <a:spLocks noChangeArrowheads="1"/>
          </p:cNvSpPr>
          <p:nvPr/>
        </p:nvSpPr>
        <p:spPr bwMode="auto">
          <a:xfrm>
            <a:off x="3810000" y="5486400"/>
            <a:ext cx="762000" cy="485775"/>
          </a:xfrm>
          <a:prstGeom prst="rect">
            <a:avLst/>
          </a:prstGeom>
          <a:solidFill>
            <a:srgbClr val="F4ECC6"/>
          </a:solidFill>
          <a:ln w="28575">
            <a:solidFill>
              <a:srgbClr val="CC0066"/>
            </a:solidFill>
            <a:miter lim="800000"/>
            <a:headEnd/>
            <a:tailEnd/>
          </a:ln>
          <a:effectLst>
            <a:outerShdw dist="107763" dir="2700000" algn="ctr" rotWithShape="0">
              <a:schemeClr val="bg2"/>
            </a:outerShdw>
          </a:effectLst>
        </p:spPr>
        <p:txBody>
          <a:bodyPr>
            <a:spAutoFit/>
          </a:bodyPr>
          <a:lstStyle/>
          <a:p>
            <a:pPr algn="ctr">
              <a:spcBef>
                <a:spcPct val="50000"/>
              </a:spcBef>
            </a:pPr>
            <a:r>
              <a:rPr lang="en-US" altLang="en-US" b="1">
                <a:solidFill>
                  <a:srgbClr val="333333"/>
                </a:solidFill>
              </a:rPr>
              <a:t>TT</a:t>
            </a:r>
          </a:p>
        </p:txBody>
      </p:sp>
      <p:sp>
        <p:nvSpPr>
          <p:cNvPr id="86048" name="Text Box 32">
            <a:extLst>
              <a:ext uri="{FF2B5EF4-FFF2-40B4-BE49-F238E27FC236}">
                <a16:creationId xmlns:a16="http://schemas.microsoft.com/office/drawing/2014/main" id="{2A95653D-043C-41A7-9062-177A32B0C83A}"/>
              </a:ext>
            </a:extLst>
          </p:cNvPr>
          <p:cNvSpPr txBox="1">
            <a:spLocks noChangeArrowheads="1"/>
          </p:cNvSpPr>
          <p:nvPr/>
        </p:nvSpPr>
        <p:spPr bwMode="auto">
          <a:xfrm>
            <a:off x="4953000" y="3733800"/>
            <a:ext cx="762000" cy="210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339933"/>
                </a:solidFill>
              </a:rPr>
              <a:t>1/4</a:t>
            </a:r>
          </a:p>
          <a:p>
            <a:pPr>
              <a:spcBef>
                <a:spcPct val="50000"/>
              </a:spcBef>
            </a:pPr>
            <a:r>
              <a:rPr lang="en-US" altLang="en-US">
                <a:solidFill>
                  <a:srgbClr val="339933"/>
                </a:solidFill>
              </a:rPr>
              <a:t>1/4</a:t>
            </a:r>
          </a:p>
          <a:p>
            <a:pPr>
              <a:spcBef>
                <a:spcPct val="50000"/>
              </a:spcBef>
            </a:pPr>
            <a:r>
              <a:rPr lang="en-US" altLang="en-US">
                <a:solidFill>
                  <a:srgbClr val="339933"/>
                </a:solidFill>
              </a:rPr>
              <a:t>1/4</a:t>
            </a:r>
          </a:p>
          <a:p>
            <a:pPr>
              <a:spcBef>
                <a:spcPct val="50000"/>
              </a:spcBef>
            </a:pPr>
            <a:r>
              <a:rPr lang="en-US" altLang="en-US">
                <a:solidFill>
                  <a:srgbClr val="339933"/>
                </a:solidFill>
              </a:rPr>
              <a:t>1/4</a:t>
            </a:r>
            <a:endParaRPr lang="en-US" altLang="en-US"/>
          </a:p>
        </p:txBody>
      </p:sp>
      <p:sp>
        <p:nvSpPr>
          <p:cNvPr id="86049" name="Text Box 33">
            <a:extLst>
              <a:ext uri="{FF2B5EF4-FFF2-40B4-BE49-F238E27FC236}">
                <a16:creationId xmlns:a16="http://schemas.microsoft.com/office/drawing/2014/main" id="{4598CED4-FB89-10D9-B48C-2CDF6DB46594}"/>
              </a:ext>
            </a:extLst>
          </p:cNvPr>
          <p:cNvSpPr txBox="1">
            <a:spLocks noChangeArrowheads="1"/>
          </p:cNvSpPr>
          <p:nvPr/>
        </p:nvSpPr>
        <p:spPr bwMode="auto">
          <a:xfrm>
            <a:off x="5791200" y="3808413"/>
            <a:ext cx="3124200" cy="1581150"/>
          </a:xfrm>
          <a:prstGeom prst="rect">
            <a:avLst/>
          </a:prstGeom>
          <a:solidFill>
            <a:srgbClr val="F4ECC6"/>
          </a:solidFill>
          <a:ln w="28575">
            <a:solidFill>
              <a:srgbClr val="CC0066"/>
            </a:solidFill>
            <a:miter lim="800000"/>
            <a:headEnd/>
            <a:tailEnd/>
          </a:ln>
          <a:effectLst>
            <a:outerShdw dist="107763" dir="2700000" algn="ctr" rotWithShape="0">
              <a:schemeClr val="bg2"/>
            </a:outerShdw>
          </a:effectLst>
        </p:spPr>
        <p:txBody>
          <a:bodyPr>
            <a:spAutoFit/>
          </a:bodyPr>
          <a:lstStyle/>
          <a:p>
            <a:pPr>
              <a:spcBef>
                <a:spcPct val="50000"/>
              </a:spcBef>
            </a:pPr>
            <a:r>
              <a:rPr lang="en-US" altLang="en-US">
                <a:solidFill>
                  <a:srgbClr val="333333"/>
                </a:solidFill>
              </a:rPr>
              <a:t>P(at least 1 head) </a:t>
            </a:r>
          </a:p>
          <a:p>
            <a:pPr>
              <a:spcBef>
                <a:spcPct val="50000"/>
              </a:spcBef>
            </a:pPr>
            <a:r>
              <a:rPr lang="en-US" altLang="en-US">
                <a:solidFill>
                  <a:srgbClr val="333333"/>
                </a:solidFill>
              </a:rPr>
              <a:t>= P(E</a:t>
            </a:r>
            <a:r>
              <a:rPr lang="en-US" altLang="en-US" baseline="-25000">
                <a:solidFill>
                  <a:srgbClr val="333333"/>
                </a:solidFill>
              </a:rPr>
              <a:t>1</a:t>
            </a:r>
            <a:r>
              <a:rPr lang="en-US" altLang="en-US">
                <a:solidFill>
                  <a:srgbClr val="333333"/>
                </a:solidFill>
              </a:rPr>
              <a:t>) + P(E</a:t>
            </a:r>
            <a:r>
              <a:rPr lang="en-US" altLang="en-US" baseline="-25000">
                <a:solidFill>
                  <a:srgbClr val="333333"/>
                </a:solidFill>
              </a:rPr>
              <a:t>2</a:t>
            </a:r>
            <a:r>
              <a:rPr lang="en-US" altLang="en-US">
                <a:solidFill>
                  <a:srgbClr val="333333"/>
                </a:solidFill>
              </a:rPr>
              <a:t>) + P(E</a:t>
            </a:r>
            <a:r>
              <a:rPr lang="en-US" altLang="en-US" baseline="-25000">
                <a:solidFill>
                  <a:srgbClr val="333333"/>
                </a:solidFill>
              </a:rPr>
              <a:t>3</a:t>
            </a:r>
            <a:r>
              <a:rPr lang="en-US" altLang="en-US">
                <a:solidFill>
                  <a:srgbClr val="333333"/>
                </a:solidFill>
              </a:rPr>
              <a:t>)</a:t>
            </a:r>
          </a:p>
          <a:p>
            <a:pPr>
              <a:spcBef>
                <a:spcPct val="50000"/>
              </a:spcBef>
            </a:pPr>
            <a:r>
              <a:rPr lang="en-US" altLang="en-US">
                <a:solidFill>
                  <a:srgbClr val="333333"/>
                </a:solidFill>
              </a:rPr>
              <a:t> = 1/4 + 1/4 + 1/4 = 3/4</a:t>
            </a:r>
          </a:p>
        </p:txBody>
      </p:sp>
      <p:grpSp>
        <p:nvGrpSpPr>
          <p:cNvPr id="86061" name="Group 45">
            <a:extLst>
              <a:ext uri="{FF2B5EF4-FFF2-40B4-BE49-F238E27FC236}">
                <a16:creationId xmlns:a16="http://schemas.microsoft.com/office/drawing/2014/main" id="{7C3DC936-CE75-6C8E-C227-B5FCAFC05FE3}"/>
              </a:ext>
            </a:extLst>
          </p:cNvPr>
          <p:cNvGrpSpPr>
            <a:grpSpLocks/>
          </p:cNvGrpSpPr>
          <p:nvPr/>
        </p:nvGrpSpPr>
        <p:grpSpPr bwMode="auto">
          <a:xfrm>
            <a:off x="7239000" y="76200"/>
            <a:ext cx="1752600" cy="1524000"/>
            <a:chOff x="4560" y="48"/>
            <a:chExt cx="1104" cy="960"/>
          </a:xfrm>
        </p:grpSpPr>
        <p:sp>
          <p:nvSpPr>
            <p:cNvPr id="86062" name="Rectangle 46">
              <a:extLst>
                <a:ext uri="{FF2B5EF4-FFF2-40B4-BE49-F238E27FC236}">
                  <a16:creationId xmlns:a16="http://schemas.microsoft.com/office/drawing/2014/main" id="{0F32430C-DBFB-2FEB-76C9-644451EB8448}"/>
                </a:ext>
              </a:extLst>
            </p:cNvPr>
            <p:cNvSpPr>
              <a:spLocks noChangeArrowheads="1"/>
            </p:cNvSpPr>
            <p:nvPr/>
          </p:nvSpPr>
          <p:spPr bwMode="auto">
            <a:xfrm>
              <a:off x="4560" y="48"/>
              <a:ext cx="1104" cy="960"/>
            </a:xfrm>
            <a:prstGeom prst="rect">
              <a:avLst/>
            </a:prstGeom>
            <a:solidFill>
              <a:srgbClr val="F4ECC6"/>
            </a:solidFill>
            <a:ln>
              <a:noFill/>
            </a:ln>
            <a:effectLst>
              <a:outerShdw dist="107763" dir="2700000" algn="ctr" rotWithShape="0">
                <a:schemeClr val="bg2"/>
              </a:outerShdw>
            </a:effectLst>
            <a:extLst>
              <a:ext uri="{91240B29-F687-4F45-9708-019B960494DF}">
                <a14:hiddenLine xmlns:a14="http://schemas.microsoft.com/office/drawing/2010/main" w="28575">
                  <a:solidFill>
                    <a:srgbClr val="CC0066"/>
                  </a:solidFill>
                  <a:miter lim="800000"/>
                  <a:headEnd/>
                  <a:tailEnd/>
                </a14:hiddenLine>
              </a:ext>
            </a:extLst>
          </p:spPr>
          <p:txBody>
            <a:bodyPr wrap="none" anchor="ctr"/>
            <a:lstStyle/>
            <a:p>
              <a:endParaRPr lang="en-US"/>
            </a:p>
          </p:txBody>
        </p:sp>
        <p:pic>
          <p:nvPicPr>
            <p:cNvPr id="86063" name="Picture 47">
              <a:extLst>
                <a:ext uri="{FF2B5EF4-FFF2-40B4-BE49-F238E27FC236}">
                  <a16:creationId xmlns:a16="http://schemas.microsoft.com/office/drawing/2014/main" id="{D1D25EA3-D6FC-EB45-F828-C6338B4156E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08" y="108"/>
              <a:ext cx="1010" cy="852"/>
            </a:xfrm>
            <a:prstGeom prst="rect">
              <a:avLst/>
            </a:prstGeom>
            <a:noFill/>
            <a:ln w="9525">
              <a:solidFill>
                <a:srgbClr val="CC0066"/>
              </a:solidFill>
              <a:miter lim="800000"/>
              <a:headEnd/>
              <a:tailEnd/>
            </a:ln>
            <a:extLst>
              <a:ext uri="{909E8E84-426E-40DD-AFC4-6F175D3DCCD1}">
                <a14:hiddenFill xmlns:a14="http://schemas.microsoft.com/office/drawing/2010/main">
                  <a:solidFill>
                    <a:srgbClr val="FFFFFF"/>
                  </a:solidFill>
                </a14:hiddenFill>
              </a:ext>
            </a:extLst>
          </p:spPr>
        </p:pic>
      </p:grpSp>
      <p:sp>
        <p:nvSpPr>
          <p:cNvPr id="2" name="Title 1">
            <a:extLst>
              <a:ext uri="{FF2B5EF4-FFF2-40B4-BE49-F238E27FC236}">
                <a16:creationId xmlns:a16="http://schemas.microsoft.com/office/drawing/2014/main" id="{2DED70D0-A896-B7BA-17B1-5D2685408846}"/>
              </a:ext>
            </a:extLst>
          </p:cNvPr>
          <p:cNvSpPr txBox="1">
            <a:spLocks/>
          </p:cNvSpPr>
          <p:nvPr/>
        </p:nvSpPr>
        <p:spPr bwMode="auto">
          <a:xfrm>
            <a:off x="662866" y="412750"/>
            <a:ext cx="8534400"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3300" kern="1200">
                <a:solidFill>
                  <a:schemeClr val="accent3">
                    <a:shade val="75000"/>
                  </a:schemeClr>
                </a:solidFill>
                <a:latin typeface="+mj-lt"/>
                <a:ea typeface="+mj-ea"/>
                <a:cs typeface="+mj-cs"/>
              </a:defRPr>
            </a:lvl1pPr>
            <a:lvl2pPr algn="ctr" rtl="0" eaLnBrk="0" fontAlgn="base" hangingPunct="0">
              <a:spcBef>
                <a:spcPct val="0"/>
              </a:spcBef>
              <a:spcAft>
                <a:spcPct val="0"/>
              </a:spcAft>
              <a:defRPr sz="3300">
                <a:solidFill>
                  <a:srgbClr val="7B9899"/>
                </a:solidFill>
                <a:latin typeface="Georgia" pitchFamily="18" charset="0"/>
              </a:defRPr>
            </a:lvl2pPr>
            <a:lvl3pPr algn="ctr" rtl="0" eaLnBrk="0" fontAlgn="base" hangingPunct="0">
              <a:spcBef>
                <a:spcPct val="0"/>
              </a:spcBef>
              <a:spcAft>
                <a:spcPct val="0"/>
              </a:spcAft>
              <a:defRPr sz="3300">
                <a:solidFill>
                  <a:srgbClr val="7B9899"/>
                </a:solidFill>
                <a:latin typeface="Georgia" pitchFamily="18" charset="0"/>
              </a:defRPr>
            </a:lvl3pPr>
            <a:lvl4pPr algn="ctr" rtl="0" eaLnBrk="0" fontAlgn="base" hangingPunct="0">
              <a:spcBef>
                <a:spcPct val="0"/>
              </a:spcBef>
              <a:spcAft>
                <a:spcPct val="0"/>
              </a:spcAft>
              <a:defRPr sz="3300">
                <a:solidFill>
                  <a:srgbClr val="7B9899"/>
                </a:solidFill>
                <a:latin typeface="Georgia" pitchFamily="18" charset="0"/>
              </a:defRPr>
            </a:lvl4pPr>
            <a:lvl5pPr algn="ctr" rtl="0" eaLnBrk="0" fontAlgn="base" hangingPunct="0">
              <a:spcBef>
                <a:spcPct val="0"/>
              </a:spcBef>
              <a:spcAft>
                <a:spcPct val="0"/>
              </a:spcAft>
              <a:defRPr sz="3300">
                <a:solidFill>
                  <a:srgbClr val="7B9899"/>
                </a:solidFill>
                <a:latin typeface="Georgia" pitchFamily="18" charset="0"/>
              </a:defRPr>
            </a:lvl5pPr>
            <a:lvl6pPr marL="457200" algn="ctr" rtl="0" fontAlgn="base">
              <a:spcBef>
                <a:spcPct val="0"/>
              </a:spcBef>
              <a:spcAft>
                <a:spcPct val="0"/>
              </a:spcAft>
              <a:defRPr sz="3300">
                <a:solidFill>
                  <a:srgbClr val="7B9899"/>
                </a:solidFill>
                <a:latin typeface="Georgia" pitchFamily="18" charset="0"/>
              </a:defRPr>
            </a:lvl6pPr>
            <a:lvl7pPr marL="914400" algn="ctr" rtl="0" fontAlgn="base">
              <a:spcBef>
                <a:spcPct val="0"/>
              </a:spcBef>
              <a:spcAft>
                <a:spcPct val="0"/>
              </a:spcAft>
              <a:defRPr sz="3300">
                <a:solidFill>
                  <a:srgbClr val="7B9899"/>
                </a:solidFill>
                <a:latin typeface="Georgia" pitchFamily="18" charset="0"/>
              </a:defRPr>
            </a:lvl7pPr>
            <a:lvl8pPr marL="1371600" algn="ctr" rtl="0" fontAlgn="base">
              <a:spcBef>
                <a:spcPct val="0"/>
              </a:spcBef>
              <a:spcAft>
                <a:spcPct val="0"/>
              </a:spcAft>
              <a:defRPr sz="3300">
                <a:solidFill>
                  <a:srgbClr val="7B9899"/>
                </a:solidFill>
                <a:latin typeface="Georgia" pitchFamily="18" charset="0"/>
              </a:defRPr>
            </a:lvl8pPr>
            <a:lvl9pPr marL="1828800" algn="ctr" rtl="0" fontAlgn="base">
              <a:spcBef>
                <a:spcPct val="0"/>
              </a:spcBef>
              <a:spcAft>
                <a:spcPct val="0"/>
              </a:spcAft>
              <a:defRPr sz="3300">
                <a:solidFill>
                  <a:srgbClr val="7B9899"/>
                </a:solidFill>
                <a:latin typeface="Georgia" pitchFamily="18" charset="0"/>
              </a:defRPr>
            </a:lvl9pPr>
          </a:lstStyle>
          <a:p>
            <a:pPr algn="l">
              <a:defRPr/>
            </a:pPr>
            <a:r>
              <a:rPr lang="en-US" sz="4200" dirty="0">
                <a:solidFill>
                  <a:srgbClr val="FF0000"/>
                </a:solidFill>
                <a:effectLst>
                  <a:outerShdw blurRad="38100" dist="38100" dir="2700000" algn="tl">
                    <a:srgbClr val="000000">
                      <a:alpha val="43137"/>
                    </a:srgbClr>
                  </a:outerShdw>
                </a:effectLst>
              </a:rPr>
              <a:t>Example:</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86034"/>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nodeType="afterEffect">
                                  <p:stCondLst>
                                    <p:cond delay="1000"/>
                                  </p:stCondLst>
                                  <p:childTnLst>
                                    <p:set>
                                      <p:cBhvr>
                                        <p:cTn id="9" dur="1" fill="hold">
                                          <p:stCondLst>
                                            <p:cond delay="499"/>
                                          </p:stCondLst>
                                        </p:cTn>
                                        <p:tgtEl>
                                          <p:spTgt spid="86036"/>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1" fill="hold" nodeType="clickEffect">
                                  <p:stCondLst>
                                    <p:cond delay="0"/>
                                  </p:stCondLst>
                                  <p:childTnLst>
                                    <p:set>
                                      <p:cBhvr>
                                        <p:cTn id="13" dur="1" fill="hold">
                                          <p:stCondLst>
                                            <p:cond delay="0"/>
                                          </p:stCondLst>
                                        </p:cTn>
                                        <p:tgtEl>
                                          <p:spTgt spid="86050"/>
                                        </p:tgtEl>
                                        <p:attrNameLst>
                                          <p:attrName>style.visibility</p:attrName>
                                        </p:attrNameLst>
                                      </p:cBhvr>
                                      <p:to>
                                        <p:strVal val="visible"/>
                                      </p:to>
                                    </p:set>
                                    <p:animEffect transition="in" filter="wipe(up)">
                                      <p:cBhvr>
                                        <p:cTn id="14" dur="500"/>
                                        <p:tgtEl>
                                          <p:spTgt spid="86050"/>
                                        </p:tgtEl>
                                      </p:cBhvr>
                                    </p:animEffect>
                                  </p:childTnLst>
                                </p:cTn>
                              </p:par>
                            </p:childTnLst>
                          </p:cTn>
                        </p:par>
                        <p:par>
                          <p:cTn id="15" fill="hold" nodeType="afterGroup">
                            <p:stCondLst>
                              <p:cond delay="500"/>
                            </p:stCondLst>
                            <p:childTnLst>
                              <p:par>
                                <p:cTn id="16" presetID="22" presetClass="entr" presetSubtype="1" fill="hold" nodeType="afterEffect">
                                  <p:stCondLst>
                                    <p:cond delay="0"/>
                                  </p:stCondLst>
                                  <p:childTnLst>
                                    <p:set>
                                      <p:cBhvr>
                                        <p:cTn id="17" dur="1" fill="hold">
                                          <p:stCondLst>
                                            <p:cond delay="0"/>
                                          </p:stCondLst>
                                        </p:cTn>
                                        <p:tgtEl>
                                          <p:spTgt spid="86051"/>
                                        </p:tgtEl>
                                        <p:attrNameLst>
                                          <p:attrName>style.visibility</p:attrName>
                                        </p:attrNameLst>
                                      </p:cBhvr>
                                      <p:to>
                                        <p:strVal val="visible"/>
                                      </p:to>
                                    </p:set>
                                    <p:animEffect transition="in" filter="wipe(up)">
                                      <p:cBhvr>
                                        <p:cTn id="18" dur="500"/>
                                        <p:tgtEl>
                                          <p:spTgt spid="8605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nodeType="clickEffect">
                                  <p:stCondLst>
                                    <p:cond delay="0"/>
                                  </p:stCondLst>
                                  <p:childTnLst>
                                    <p:set>
                                      <p:cBhvr>
                                        <p:cTn id="22" dur="1" fill="hold">
                                          <p:stCondLst>
                                            <p:cond delay="0"/>
                                          </p:stCondLst>
                                        </p:cTn>
                                        <p:tgtEl>
                                          <p:spTgt spid="86052"/>
                                        </p:tgtEl>
                                        <p:attrNameLst>
                                          <p:attrName>style.visibility</p:attrName>
                                        </p:attrNameLst>
                                      </p:cBhvr>
                                      <p:to>
                                        <p:strVal val="visible"/>
                                      </p:to>
                                    </p:set>
                                    <p:animEffect transition="in" filter="wipe(up)">
                                      <p:cBhvr>
                                        <p:cTn id="23" dur="500"/>
                                        <p:tgtEl>
                                          <p:spTgt spid="86052"/>
                                        </p:tgtEl>
                                      </p:cBhvr>
                                    </p:animEffect>
                                  </p:childTnLst>
                                </p:cTn>
                              </p:par>
                            </p:childTnLst>
                          </p:cTn>
                        </p:par>
                        <p:par>
                          <p:cTn id="24" fill="hold" nodeType="afterGroup">
                            <p:stCondLst>
                              <p:cond delay="500"/>
                            </p:stCondLst>
                            <p:childTnLst>
                              <p:par>
                                <p:cTn id="25" presetID="22" presetClass="entr" presetSubtype="1" fill="hold" nodeType="afterEffect">
                                  <p:stCondLst>
                                    <p:cond delay="0"/>
                                  </p:stCondLst>
                                  <p:childTnLst>
                                    <p:set>
                                      <p:cBhvr>
                                        <p:cTn id="26" dur="1" fill="hold">
                                          <p:stCondLst>
                                            <p:cond delay="0"/>
                                          </p:stCondLst>
                                        </p:cTn>
                                        <p:tgtEl>
                                          <p:spTgt spid="86053"/>
                                        </p:tgtEl>
                                        <p:attrNameLst>
                                          <p:attrName>style.visibility</p:attrName>
                                        </p:attrNameLst>
                                      </p:cBhvr>
                                      <p:to>
                                        <p:strVal val="visible"/>
                                      </p:to>
                                    </p:set>
                                    <p:animEffect transition="in" filter="wipe(up)">
                                      <p:cBhvr>
                                        <p:cTn id="27" dur="500"/>
                                        <p:tgtEl>
                                          <p:spTgt spid="8605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86042"/>
                                        </p:tgtEl>
                                        <p:attrNameLst>
                                          <p:attrName>style.visibility</p:attrName>
                                        </p:attrNameLst>
                                      </p:cBhvr>
                                      <p:to>
                                        <p:strVal val="visible"/>
                                      </p:to>
                                    </p:set>
                                    <p:animEffect transition="in" filter="dissolve">
                                      <p:cBhvr>
                                        <p:cTn id="32" dur="500"/>
                                        <p:tgtEl>
                                          <p:spTgt spid="86042"/>
                                        </p:tgtEl>
                                      </p:cBhvr>
                                    </p:animEffect>
                                  </p:childTnLst>
                                </p:cTn>
                              </p:par>
                            </p:childTnLst>
                          </p:cTn>
                        </p:par>
                        <p:par>
                          <p:cTn id="33" fill="hold" nodeType="afterGroup">
                            <p:stCondLst>
                              <p:cond delay="500"/>
                            </p:stCondLst>
                            <p:childTnLst>
                              <p:par>
                                <p:cTn id="34" presetID="9" presetClass="entr" presetSubtype="0" fill="hold" nodeType="afterEffect">
                                  <p:stCondLst>
                                    <p:cond delay="1000"/>
                                  </p:stCondLst>
                                  <p:childTnLst>
                                    <p:set>
                                      <p:cBhvr>
                                        <p:cTn id="35" dur="1" fill="hold">
                                          <p:stCondLst>
                                            <p:cond delay="0"/>
                                          </p:stCondLst>
                                        </p:cTn>
                                        <p:tgtEl>
                                          <p:spTgt spid="86044"/>
                                        </p:tgtEl>
                                        <p:attrNameLst>
                                          <p:attrName>style.visibility</p:attrName>
                                        </p:attrNameLst>
                                      </p:cBhvr>
                                      <p:to>
                                        <p:strVal val="visible"/>
                                      </p:to>
                                    </p:set>
                                    <p:animEffect transition="in" filter="dissolve">
                                      <p:cBhvr>
                                        <p:cTn id="36" dur="500"/>
                                        <p:tgtEl>
                                          <p:spTgt spid="86044"/>
                                        </p:tgtEl>
                                      </p:cBhvr>
                                    </p:animEffect>
                                  </p:childTnLst>
                                </p:cTn>
                              </p:par>
                            </p:childTnLst>
                          </p:cTn>
                        </p:par>
                        <p:par>
                          <p:cTn id="37" fill="hold" nodeType="afterGroup">
                            <p:stCondLst>
                              <p:cond delay="2000"/>
                            </p:stCondLst>
                            <p:childTnLst>
                              <p:par>
                                <p:cTn id="38" presetID="9" presetClass="entr" presetSubtype="0" fill="hold" nodeType="afterEffect">
                                  <p:stCondLst>
                                    <p:cond delay="1000"/>
                                  </p:stCondLst>
                                  <p:childTnLst>
                                    <p:set>
                                      <p:cBhvr>
                                        <p:cTn id="39" dur="1" fill="hold">
                                          <p:stCondLst>
                                            <p:cond delay="0"/>
                                          </p:stCondLst>
                                        </p:cTn>
                                        <p:tgtEl>
                                          <p:spTgt spid="86045"/>
                                        </p:tgtEl>
                                        <p:attrNameLst>
                                          <p:attrName>style.visibility</p:attrName>
                                        </p:attrNameLst>
                                      </p:cBhvr>
                                      <p:to>
                                        <p:strVal val="visible"/>
                                      </p:to>
                                    </p:set>
                                    <p:animEffect transition="in" filter="dissolve">
                                      <p:cBhvr>
                                        <p:cTn id="40" dur="500"/>
                                        <p:tgtEl>
                                          <p:spTgt spid="86045"/>
                                        </p:tgtEl>
                                      </p:cBhvr>
                                    </p:animEffect>
                                  </p:childTnLst>
                                </p:cTn>
                              </p:par>
                            </p:childTnLst>
                          </p:cTn>
                        </p:par>
                        <p:par>
                          <p:cTn id="41" fill="hold" nodeType="afterGroup">
                            <p:stCondLst>
                              <p:cond delay="3500"/>
                            </p:stCondLst>
                            <p:childTnLst>
                              <p:par>
                                <p:cTn id="42" presetID="9" presetClass="entr" presetSubtype="0" fill="hold" nodeType="afterEffect">
                                  <p:stCondLst>
                                    <p:cond delay="1000"/>
                                  </p:stCondLst>
                                  <p:childTnLst>
                                    <p:set>
                                      <p:cBhvr>
                                        <p:cTn id="43" dur="1" fill="hold">
                                          <p:stCondLst>
                                            <p:cond delay="0"/>
                                          </p:stCondLst>
                                        </p:cTn>
                                        <p:tgtEl>
                                          <p:spTgt spid="86046"/>
                                        </p:tgtEl>
                                        <p:attrNameLst>
                                          <p:attrName>style.visibility</p:attrName>
                                        </p:attrNameLst>
                                      </p:cBhvr>
                                      <p:to>
                                        <p:strVal val="visible"/>
                                      </p:to>
                                    </p:set>
                                    <p:animEffect transition="in" filter="dissolve">
                                      <p:cBhvr>
                                        <p:cTn id="44" dur="500"/>
                                        <p:tgtEl>
                                          <p:spTgt spid="86046"/>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1" fill="hold" nodeType="clickEffect">
                                  <p:stCondLst>
                                    <p:cond delay="0"/>
                                  </p:stCondLst>
                                  <p:childTnLst>
                                    <p:set>
                                      <p:cBhvr>
                                        <p:cTn id="48" dur="1" fill="hold">
                                          <p:stCondLst>
                                            <p:cond delay="0"/>
                                          </p:stCondLst>
                                        </p:cTn>
                                        <p:tgtEl>
                                          <p:spTgt spid="86048"/>
                                        </p:tgtEl>
                                        <p:attrNameLst>
                                          <p:attrName>style.visibility</p:attrName>
                                        </p:attrNameLst>
                                      </p:cBhvr>
                                      <p:to>
                                        <p:strVal val="visible"/>
                                      </p:to>
                                    </p:set>
                                    <p:animEffect transition="in" filter="wipe(up)">
                                      <p:cBhvr>
                                        <p:cTn id="49" dur="500"/>
                                        <p:tgtEl>
                                          <p:spTgt spid="8604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1" fill="hold" nodeType="clickEffect">
                                  <p:stCondLst>
                                    <p:cond delay="0"/>
                                  </p:stCondLst>
                                  <p:childTnLst>
                                    <p:set>
                                      <p:cBhvr>
                                        <p:cTn id="53" dur="1" fill="hold">
                                          <p:stCondLst>
                                            <p:cond delay="0"/>
                                          </p:stCondLst>
                                        </p:cTn>
                                        <p:tgtEl>
                                          <p:spTgt spid="86049">
                                            <p:bg/>
                                          </p:spTgt>
                                        </p:tgtEl>
                                        <p:attrNameLst>
                                          <p:attrName>style.visibility</p:attrName>
                                        </p:attrNameLst>
                                      </p:cBhvr>
                                      <p:to>
                                        <p:strVal val="visible"/>
                                      </p:to>
                                    </p:set>
                                    <p:animEffect transition="in" filter="wipe(up)">
                                      <p:cBhvr>
                                        <p:cTn id="54" dur="500"/>
                                        <p:tgtEl>
                                          <p:spTgt spid="86049">
                                            <p:bg/>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1" fill="hold" nodeType="clickEffect">
                                  <p:stCondLst>
                                    <p:cond delay="0"/>
                                  </p:stCondLst>
                                  <p:childTnLst>
                                    <p:set>
                                      <p:cBhvr>
                                        <p:cTn id="58" dur="1" fill="hold">
                                          <p:stCondLst>
                                            <p:cond delay="0"/>
                                          </p:stCondLst>
                                        </p:cTn>
                                        <p:tgtEl>
                                          <p:spTgt spid="86049">
                                            <p:txEl>
                                              <p:pRg st="0" end="0"/>
                                            </p:txEl>
                                          </p:spTgt>
                                        </p:tgtEl>
                                        <p:attrNameLst>
                                          <p:attrName>style.visibility</p:attrName>
                                        </p:attrNameLst>
                                      </p:cBhvr>
                                      <p:to>
                                        <p:strVal val="visible"/>
                                      </p:to>
                                    </p:set>
                                    <p:animEffect transition="in" filter="wipe(up)">
                                      <p:cBhvr>
                                        <p:cTn id="59" dur="500"/>
                                        <p:tgtEl>
                                          <p:spTgt spid="86049">
                                            <p:txEl>
                                              <p:pRg st="0" end="0"/>
                                            </p:txEl>
                                          </p:spTgt>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1" fill="hold" nodeType="clickEffect">
                                  <p:stCondLst>
                                    <p:cond delay="0"/>
                                  </p:stCondLst>
                                  <p:childTnLst>
                                    <p:set>
                                      <p:cBhvr>
                                        <p:cTn id="63" dur="1" fill="hold">
                                          <p:stCondLst>
                                            <p:cond delay="0"/>
                                          </p:stCondLst>
                                        </p:cTn>
                                        <p:tgtEl>
                                          <p:spTgt spid="86049">
                                            <p:txEl>
                                              <p:pRg st="1" end="1"/>
                                            </p:txEl>
                                          </p:spTgt>
                                        </p:tgtEl>
                                        <p:attrNameLst>
                                          <p:attrName>style.visibility</p:attrName>
                                        </p:attrNameLst>
                                      </p:cBhvr>
                                      <p:to>
                                        <p:strVal val="visible"/>
                                      </p:to>
                                    </p:set>
                                    <p:animEffect transition="in" filter="wipe(up)">
                                      <p:cBhvr>
                                        <p:cTn id="64" dur="500"/>
                                        <p:tgtEl>
                                          <p:spTgt spid="86049">
                                            <p:txEl>
                                              <p:pRg st="1" end="1"/>
                                            </p:txEl>
                                          </p:spTgt>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1" fill="hold" nodeType="clickEffect">
                                  <p:stCondLst>
                                    <p:cond delay="0"/>
                                  </p:stCondLst>
                                  <p:childTnLst>
                                    <p:set>
                                      <p:cBhvr>
                                        <p:cTn id="68" dur="1" fill="hold">
                                          <p:stCondLst>
                                            <p:cond delay="0"/>
                                          </p:stCondLst>
                                        </p:cTn>
                                        <p:tgtEl>
                                          <p:spTgt spid="86049">
                                            <p:txEl>
                                              <p:pRg st="2" end="2"/>
                                            </p:txEl>
                                          </p:spTgt>
                                        </p:tgtEl>
                                        <p:attrNameLst>
                                          <p:attrName>style.visibility</p:attrName>
                                        </p:attrNameLst>
                                      </p:cBhvr>
                                      <p:to>
                                        <p:strVal val="visible"/>
                                      </p:to>
                                    </p:set>
                                    <p:animEffect transition="in" filter="wipe(up)">
                                      <p:cBhvr>
                                        <p:cTn id="69" dur="500"/>
                                        <p:tgtEl>
                                          <p:spTgt spid="8604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34" grpId="0" animBg="1" autoUpdateAnimBg="0"/>
      <p:bldP spid="86036" grpId="0" animBg="1" autoUpdateAnimBg="0"/>
      <p:bldP spid="86042" grpId="0" animBg="1" autoUpdateAnimBg="0"/>
      <p:bldP spid="86044" grpId="0" animBg="1" autoUpdateAnimBg="0"/>
      <p:bldP spid="86045" grpId="0" animBg="1" autoUpdateAnimBg="0"/>
      <p:bldP spid="86046" grpId="0" animBg="1" autoUpdateAnimBg="0"/>
      <p:bldP spid="86048" grpId="0" autoUpdateAnimBg="0"/>
      <p:bldP spid="86049" grpId="0" build="p"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03427" name="Picture 3">
            <a:extLst>
              <a:ext uri="{FF2B5EF4-FFF2-40B4-BE49-F238E27FC236}">
                <a16:creationId xmlns:a16="http://schemas.microsoft.com/office/drawing/2014/main" id="{6C8FE3A5-CE89-1353-5F91-49D2E259BC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28600"/>
            <a:ext cx="304800" cy="6400800"/>
          </a:xfrm>
          <a:prstGeom prst="rect">
            <a:avLst/>
          </a:prstGeom>
          <a:noFill/>
          <a:extLst>
            <a:ext uri="{909E8E84-426E-40DD-AFC4-6F175D3DCCD1}">
              <a14:hiddenFill xmlns:a14="http://schemas.microsoft.com/office/drawing/2010/main">
                <a:solidFill>
                  <a:srgbClr val="FFFFFF"/>
                </a:solidFill>
              </a14:hiddenFill>
            </a:ext>
          </a:extLst>
        </p:spPr>
      </p:pic>
      <p:sp>
        <p:nvSpPr>
          <p:cNvPr id="103428" name="Rectangle 4">
            <a:extLst>
              <a:ext uri="{FF2B5EF4-FFF2-40B4-BE49-F238E27FC236}">
                <a16:creationId xmlns:a16="http://schemas.microsoft.com/office/drawing/2014/main" id="{0A344107-8DE0-73F3-009F-DB6B2C458A7C}"/>
              </a:ext>
            </a:extLst>
          </p:cNvPr>
          <p:cNvSpPr>
            <a:spLocks noGrp="1" noChangeArrowheads="1"/>
          </p:cNvSpPr>
          <p:nvPr>
            <p:ph type="body" idx="1"/>
          </p:nvPr>
        </p:nvSpPr>
        <p:spPr>
          <a:xfrm>
            <a:off x="308160" y="1318971"/>
            <a:ext cx="8229600" cy="1600200"/>
          </a:xfrm>
          <a:noFill/>
          <a:ln/>
        </p:spPr>
        <p:txBody>
          <a:bodyPr/>
          <a:lstStyle/>
          <a:p>
            <a:pPr algn="just">
              <a:lnSpc>
                <a:spcPct val="90000"/>
              </a:lnSpc>
              <a:buFontTx/>
              <a:buNone/>
            </a:pPr>
            <a:r>
              <a:rPr lang="en-US" altLang="en-US" sz="2800" dirty="0">
                <a:solidFill>
                  <a:schemeClr val="tx1"/>
                </a:solidFill>
              </a:rPr>
              <a:t>   A bowl contains three M&amp;Ms</a:t>
            </a:r>
            <a:r>
              <a:rPr lang="en-US" altLang="en-US" sz="2800" baseline="30000" dirty="0">
                <a:solidFill>
                  <a:schemeClr val="tx1"/>
                </a:solidFill>
              </a:rPr>
              <a:t>®</a:t>
            </a:r>
            <a:r>
              <a:rPr lang="en-US" altLang="en-US" sz="2800" dirty="0">
                <a:solidFill>
                  <a:schemeClr val="tx1"/>
                </a:solidFill>
              </a:rPr>
              <a:t>, one red, one blue and one green. A child selects two M&amp;Ms at random. What is the probability that at least one is red?</a:t>
            </a:r>
          </a:p>
        </p:txBody>
      </p:sp>
      <p:sp>
        <p:nvSpPr>
          <p:cNvPr id="103435" name="Text Box 11">
            <a:extLst>
              <a:ext uri="{FF2B5EF4-FFF2-40B4-BE49-F238E27FC236}">
                <a16:creationId xmlns:a16="http://schemas.microsoft.com/office/drawing/2014/main" id="{982117D5-F5B3-7A20-5E4F-DDDE85148A99}"/>
              </a:ext>
            </a:extLst>
          </p:cNvPr>
          <p:cNvSpPr txBox="1">
            <a:spLocks noChangeArrowheads="1"/>
          </p:cNvSpPr>
          <p:nvPr/>
        </p:nvSpPr>
        <p:spPr bwMode="auto">
          <a:xfrm>
            <a:off x="609600" y="2819400"/>
            <a:ext cx="548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u="sng" dirty="0">
                <a:solidFill>
                  <a:srgbClr val="339933"/>
                </a:solidFill>
              </a:rPr>
              <a:t>1st M&amp;M     2nd M&amp;M     </a:t>
            </a:r>
            <a:r>
              <a:rPr lang="en-US" altLang="en-US" u="sng" dirty="0" err="1">
                <a:solidFill>
                  <a:srgbClr val="339933"/>
                </a:solidFill>
              </a:rPr>
              <a:t>E</a:t>
            </a:r>
            <a:r>
              <a:rPr lang="en-US" altLang="en-US" u="sng" baseline="-25000" dirty="0" err="1">
                <a:solidFill>
                  <a:srgbClr val="339933"/>
                </a:solidFill>
              </a:rPr>
              <a:t>i</a:t>
            </a:r>
            <a:r>
              <a:rPr lang="en-US" altLang="en-US" u="sng" dirty="0">
                <a:solidFill>
                  <a:srgbClr val="339933"/>
                </a:solidFill>
              </a:rPr>
              <a:t>         P(</a:t>
            </a:r>
            <a:r>
              <a:rPr lang="en-US" altLang="en-US" u="sng" dirty="0" err="1">
                <a:solidFill>
                  <a:srgbClr val="339933"/>
                </a:solidFill>
              </a:rPr>
              <a:t>E</a:t>
            </a:r>
            <a:r>
              <a:rPr lang="en-US" altLang="en-US" u="sng" baseline="-25000" dirty="0" err="1">
                <a:solidFill>
                  <a:srgbClr val="339933"/>
                </a:solidFill>
              </a:rPr>
              <a:t>i</a:t>
            </a:r>
            <a:r>
              <a:rPr lang="en-US" altLang="en-US" u="sng" dirty="0">
                <a:solidFill>
                  <a:srgbClr val="339933"/>
                </a:solidFill>
              </a:rPr>
              <a:t>)</a:t>
            </a:r>
            <a:r>
              <a:rPr lang="en-US" altLang="en-US" baseline="-25000" dirty="0">
                <a:solidFill>
                  <a:srgbClr val="339933"/>
                </a:solidFill>
              </a:rPr>
              <a:t> </a:t>
            </a:r>
          </a:p>
        </p:txBody>
      </p:sp>
      <p:sp>
        <p:nvSpPr>
          <p:cNvPr id="103447" name="Text Box 23">
            <a:extLst>
              <a:ext uri="{FF2B5EF4-FFF2-40B4-BE49-F238E27FC236}">
                <a16:creationId xmlns:a16="http://schemas.microsoft.com/office/drawing/2014/main" id="{6B91FE50-EAE5-2ADB-9957-8316F25F5CA3}"/>
              </a:ext>
            </a:extLst>
          </p:cNvPr>
          <p:cNvSpPr txBox="1">
            <a:spLocks noChangeArrowheads="1"/>
          </p:cNvSpPr>
          <p:nvPr/>
        </p:nvSpPr>
        <p:spPr bwMode="auto">
          <a:xfrm>
            <a:off x="3733800" y="3324225"/>
            <a:ext cx="685800" cy="425450"/>
          </a:xfrm>
          <a:prstGeom prst="rect">
            <a:avLst/>
          </a:prstGeom>
          <a:solidFill>
            <a:srgbClr val="F4ECC6"/>
          </a:solidFill>
          <a:ln w="28575">
            <a:solidFill>
              <a:srgbClr val="CC0066"/>
            </a:solidFill>
            <a:miter lim="800000"/>
            <a:headEnd/>
            <a:tailEnd/>
          </a:ln>
          <a:effectLst>
            <a:outerShdw dist="107763" dir="2700000" algn="ctr" rotWithShape="0">
              <a:schemeClr val="bg2"/>
            </a:outerShdw>
          </a:effectLst>
        </p:spPr>
        <p:txBody>
          <a:bodyPr>
            <a:spAutoFit/>
          </a:bodyPr>
          <a:lstStyle/>
          <a:p>
            <a:pPr algn="ctr">
              <a:spcBef>
                <a:spcPct val="50000"/>
              </a:spcBef>
            </a:pPr>
            <a:r>
              <a:rPr lang="en-US" altLang="en-US" sz="2000" b="1" dirty="0">
                <a:solidFill>
                  <a:srgbClr val="333333"/>
                </a:solidFill>
              </a:rPr>
              <a:t>RB</a:t>
            </a:r>
          </a:p>
        </p:txBody>
      </p:sp>
      <p:sp>
        <p:nvSpPr>
          <p:cNvPr id="103448" name="Text Box 24">
            <a:extLst>
              <a:ext uri="{FF2B5EF4-FFF2-40B4-BE49-F238E27FC236}">
                <a16:creationId xmlns:a16="http://schemas.microsoft.com/office/drawing/2014/main" id="{779EC15C-69D3-6238-A9B5-B572A865F183}"/>
              </a:ext>
            </a:extLst>
          </p:cNvPr>
          <p:cNvSpPr txBox="1">
            <a:spLocks noChangeArrowheads="1"/>
          </p:cNvSpPr>
          <p:nvPr/>
        </p:nvSpPr>
        <p:spPr bwMode="auto">
          <a:xfrm>
            <a:off x="3733800" y="3810000"/>
            <a:ext cx="685800" cy="425450"/>
          </a:xfrm>
          <a:prstGeom prst="rect">
            <a:avLst/>
          </a:prstGeom>
          <a:solidFill>
            <a:srgbClr val="F4ECC6"/>
          </a:solidFill>
          <a:ln w="28575">
            <a:solidFill>
              <a:srgbClr val="CC0066"/>
            </a:solidFill>
            <a:miter lim="800000"/>
            <a:headEnd/>
            <a:tailEnd/>
          </a:ln>
          <a:effectLst>
            <a:outerShdw dist="107763" dir="2700000" algn="ctr" rotWithShape="0">
              <a:schemeClr val="bg2"/>
            </a:outerShdw>
          </a:effectLst>
        </p:spPr>
        <p:txBody>
          <a:bodyPr>
            <a:spAutoFit/>
          </a:bodyPr>
          <a:lstStyle/>
          <a:p>
            <a:pPr algn="ctr">
              <a:spcBef>
                <a:spcPct val="50000"/>
              </a:spcBef>
            </a:pPr>
            <a:r>
              <a:rPr lang="en-US" altLang="en-US" sz="2000" b="1" dirty="0">
                <a:solidFill>
                  <a:srgbClr val="333333"/>
                </a:solidFill>
              </a:rPr>
              <a:t>RG</a:t>
            </a:r>
          </a:p>
        </p:txBody>
      </p:sp>
      <p:sp>
        <p:nvSpPr>
          <p:cNvPr id="103449" name="Text Box 25">
            <a:extLst>
              <a:ext uri="{FF2B5EF4-FFF2-40B4-BE49-F238E27FC236}">
                <a16:creationId xmlns:a16="http://schemas.microsoft.com/office/drawing/2014/main" id="{5022DBE3-CEE8-968B-248F-8B46CD1E5B52}"/>
              </a:ext>
            </a:extLst>
          </p:cNvPr>
          <p:cNvSpPr txBox="1">
            <a:spLocks noChangeArrowheads="1"/>
          </p:cNvSpPr>
          <p:nvPr/>
        </p:nvSpPr>
        <p:spPr bwMode="auto">
          <a:xfrm>
            <a:off x="3733800" y="4343400"/>
            <a:ext cx="685800" cy="425450"/>
          </a:xfrm>
          <a:prstGeom prst="rect">
            <a:avLst/>
          </a:prstGeom>
          <a:solidFill>
            <a:srgbClr val="F4ECC6"/>
          </a:solidFill>
          <a:ln w="28575">
            <a:solidFill>
              <a:srgbClr val="CC0066"/>
            </a:solidFill>
            <a:miter lim="800000"/>
            <a:headEnd/>
            <a:tailEnd/>
          </a:ln>
          <a:effectLst>
            <a:outerShdw dist="107763" dir="2700000" algn="ctr" rotWithShape="0">
              <a:schemeClr val="bg2"/>
            </a:outerShdw>
          </a:effectLst>
        </p:spPr>
        <p:txBody>
          <a:bodyPr>
            <a:spAutoFit/>
          </a:bodyPr>
          <a:lstStyle/>
          <a:p>
            <a:pPr algn="ctr">
              <a:spcBef>
                <a:spcPct val="50000"/>
              </a:spcBef>
            </a:pPr>
            <a:r>
              <a:rPr lang="en-US" altLang="en-US" sz="2000" b="1">
                <a:solidFill>
                  <a:srgbClr val="333333"/>
                </a:solidFill>
              </a:rPr>
              <a:t>BR</a:t>
            </a:r>
          </a:p>
        </p:txBody>
      </p:sp>
      <p:sp>
        <p:nvSpPr>
          <p:cNvPr id="103450" name="Text Box 26">
            <a:extLst>
              <a:ext uri="{FF2B5EF4-FFF2-40B4-BE49-F238E27FC236}">
                <a16:creationId xmlns:a16="http://schemas.microsoft.com/office/drawing/2014/main" id="{CDF64F18-20C9-D0FA-3AC0-31CE09490568}"/>
              </a:ext>
            </a:extLst>
          </p:cNvPr>
          <p:cNvSpPr txBox="1">
            <a:spLocks noChangeArrowheads="1"/>
          </p:cNvSpPr>
          <p:nvPr/>
        </p:nvSpPr>
        <p:spPr bwMode="auto">
          <a:xfrm>
            <a:off x="3733800" y="4876800"/>
            <a:ext cx="685800" cy="425450"/>
          </a:xfrm>
          <a:prstGeom prst="rect">
            <a:avLst/>
          </a:prstGeom>
          <a:solidFill>
            <a:srgbClr val="F4ECC6"/>
          </a:solidFill>
          <a:ln w="28575">
            <a:solidFill>
              <a:srgbClr val="CC0066"/>
            </a:solidFill>
            <a:miter lim="800000"/>
            <a:headEnd/>
            <a:tailEnd/>
          </a:ln>
          <a:effectLst>
            <a:outerShdw dist="107763" dir="2700000" algn="ctr" rotWithShape="0">
              <a:schemeClr val="bg2"/>
            </a:outerShdw>
          </a:effectLst>
        </p:spPr>
        <p:txBody>
          <a:bodyPr>
            <a:spAutoFit/>
          </a:bodyPr>
          <a:lstStyle/>
          <a:p>
            <a:pPr algn="ctr">
              <a:spcBef>
                <a:spcPct val="50000"/>
              </a:spcBef>
            </a:pPr>
            <a:r>
              <a:rPr lang="en-US" altLang="en-US" sz="2000" b="1">
                <a:solidFill>
                  <a:srgbClr val="333333"/>
                </a:solidFill>
              </a:rPr>
              <a:t>BG</a:t>
            </a:r>
          </a:p>
        </p:txBody>
      </p:sp>
      <p:sp>
        <p:nvSpPr>
          <p:cNvPr id="103451" name="Text Box 27">
            <a:extLst>
              <a:ext uri="{FF2B5EF4-FFF2-40B4-BE49-F238E27FC236}">
                <a16:creationId xmlns:a16="http://schemas.microsoft.com/office/drawing/2014/main" id="{6768B24E-FFE4-CDF7-8690-3F2D41B70ACD}"/>
              </a:ext>
            </a:extLst>
          </p:cNvPr>
          <p:cNvSpPr txBox="1">
            <a:spLocks noChangeArrowheads="1"/>
          </p:cNvSpPr>
          <p:nvPr/>
        </p:nvSpPr>
        <p:spPr bwMode="auto">
          <a:xfrm>
            <a:off x="4724400" y="3200400"/>
            <a:ext cx="696913"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dirty="0">
                <a:solidFill>
                  <a:srgbClr val="339933"/>
                </a:solidFill>
              </a:rPr>
              <a:t>1/6</a:t>
            </a:r>
          </a:p>
          <a:p>
            <a:pPr>
              <a:spcBef>
                <a:spcPct val="50000"/>
              </a:spcBef>
            </a:pPr>
            <a:r>
              <a:rPr lang="en-US" altLang="en-US" dirty="0">
                <a:solidFill>
                  <a:srgbClr val="339933"/>
                </a:solidFill>
              </a:rPr>
              <a:t>1/6</a:t>
            </a:r>
          </a:p>
          <a:p>
            <a:pPr>
              <a:spcBef>
                <a:spcPct val="50000"/>
              </a:spcBef>
            </a:pPr>
            <a:r>
              <a:rPr lang="en-US" altLang="en-US" dirty="0">
                <a:solidFill>
                  <a:srgbClr val="339933"/>
                </a:solidFill>
              </a:rPr>
              <a:t>1/6</a:t>
            </a:r>
          </a:p>
          <a:p>
            <a:pPr>
              <a:spcBef>
                <a:spcPct val="50000"/>
              </a:spcBef>
            </a:pPr>
            <a:r>
              <a:rPr lang="en-US" altLang="en-US" dirty="0">
                <a:solidFill>
                  <a:srgbClr val="339933"/>
                </a:solidFill>
              </a:rPr>
              <a:t>1/6</a:t>
            </a:r>
          </a:p>
          <a:p>
            <a:pPr>
              <a:spcBef>
                <a:spcPct val="50000"/>
              </a:spcBef>
            </a:pPr>
            <a:r>
              <a:rPr lang="en-US" altLang="en-US" dirty="0">
                <a:solidFill>
                  <a:srgbClr val="339933"/>
                </a:solidFill>
              </a:rPr>
              <a:t>1/6</a:t>
            </a:r>
          </a:p>
          <a:p>
            <a:pPr>
              <a:spcBef>
                <a:spcPct val="50000"/>
              </a:spcBef>
            </a:pPr>
            <a:r>
              <a:rPr lang="en-US" altLang="en-US" dirty="0">
                <a:solidFill>
                  <a:srgbClr val="339933"/>
                </a:solidFill>
              </a:rPr>
              <a:t>1/6</a:t>
            </a:r>
            <a:endParaRPr lang="en-US" altLang="en-US" dirty="0"/>
          </a:p>
        </p:txBody>
      </p:sp>
      <p:sp>
        <p:nvSpPr>
          <p:cNvPr id="103452" name="Text Box 28">
            <a:extLst>
              <a:ext uri="{FF2B5EF4-FFF2-40B4-BE49-F238E27FC236}">
                <a16:creationId xmlns:a16="http://schemas.microsoft.com/office/drawing/2014/main" id="{BE900E94-7EE4-9D16-1B86-2657CBCCFB2A}"/>
              </a:ext>
            </a:extLst>
          </p:cNvPr>
          <p:cNvSpPr txBox="1">
            <a:spLocks noChangeArrowheads="1"/>
          </p:cNvSpPr>
          <p:nvPr/>
        </p:nvSpPr>
        <p:spPr bwMode="auto">
          <a:xfrm>
            <a:off x="5410200" y="3810000"/>
            <a:ext cx="3429000" cy="1946275"/>
          </a:xfrm>
          <a:prstGeom prst="rect">
            <a:avLst/>
          </a:prstGeom>
          <a:solidFill>
            <a:srgbClr val="F4ECC6"/>
          </a:solidFill>
          <a:ln w="28575">
            <a:solidFill>
              <a:srgbClr val="CC0066"/>
            </a:solidFill>
            <a:miter lim="800000"/>
            <a:headEnd/>
            <a:tailEnd/>
          </a:ln>
          <a:effectLst>
            <a:outerShdw dist="107763" dir="2700000" algn="ctr" rotWithShape="0">
              <a:schemeClr val="bg2"/>
            </a:outerShdw>
          </a:effectLst>
        </p:spPr>
        <p:txBody>
          <a:bodyPr>
            <a:spAutoFit/>
          </a:bodyPr>
          <a:lstStyle/>
          <a:p>
            <a:pPr>
              <a:spcBef>
                <a:spcPct val="50000"/>
              </a:spcBef>
            </a:pPr>
            <a:r>
              <a:rPr lang="en-US" altLang="en-US">
                <a:solidFill>
                  <a:srgbClr val="333333"/>
                </a:solidFill>
              </a:rPr>
              <a:t>P(at least 1 red) </a:t>
            </a:r>
          </a:p>
          <a:p>
            <a:pPr>
              <a:spcBef>
                <a:spcPct val="50000"/>
              </a:spcBef>
            </a:pPr>
            <a:r>
              <a:rPr lang="en-US" altLang="en-US">
                <a:solidFill>
                  <a:srgbClr val="333333"/>
                </a:solidFill>
              </a:rPr>
              <a:t>= P(RB) + P(BR)+ P(RG) + P(GR)</a:t>
            </a:r>
          </a:p>
          <a:p>
            <a:pPr>
              <a:spcBef>
                <a:spcPct val="50000"/>
              </a:spcBef>
            </a:pPr>
            <a:r>
              <a:rPr lang="en-US" altLang="en-US">
                <a:solidFill>
                  <a:srgbClr val="333333"/>
                </a:solidFill>
              </a:rPr>
              <a:t> = 4/6 = 2/3</a:t>
            </a:r>
          </a:p>
        </p:txBody>
      </p:sp>
      <p:grpSp>
        <p:nvGrpSpPr>
          <p:cNvPr id="103456" name="Group 32">
            <a:extLst>
              <a:ext uri="{FF2B5EF4-FFF2-40B4-BE49-F238E27FC236}">
                <a16:creationId xmlns:a16="http://schemas.microsoft.com/office/drawing/2014/main" id="{80FCB584-9D01-C466-5C62-6E1A5607EAB2}"/>
              </a:ext>
            </a:extLst>
          </p:cNvPr>
          <p:cNvGrpSpPr>
            <a:grpSpLocks noChangeAspect="1"/>
          </p:cNvGrpSpPr>
          <p:nvPr/>
        </p:nvGrpSpPr>
        <p:grpSpPr bwMode="auto">
          <a:xfrm>
            <a:off x="990600" y="3506788"/>
            <a:ext cx="379413" cy="455612"/>
            <a:chOff x="1776" y="144"/>
            <a:chExt cx="192" cy="230"/>
          </a:xfrm>
        </p:grpSpPr>
        <p:sp>
          <p:nvSpPr>
            <p:cNvPr id="103457" name="Oval 33">
              <a:extLst>
                <a:ext uri="{FF2B5EF4-FFF2-40B4-BE49-F238E27FC236}">
                  <a16:creationId xmlns:a16="http://schemas.microsoft.com/office/drawing/2014/main" id="{2FA57B8B-842D-0562-DB97-F4DD8077D09F}"/>
                </a:ext>
              </a:extLst>
            </p:cNvPr>
            <p:cNvSpPr>
              <a:spLocks noChangeAspect="1" noChangeArrowheads="1"/>
            </p:cNvSpPr>
            <p:nvPr/>
          </p:nvSpPr>
          <p:spPr bwMode="auto">
            <a:xfrm>
              <a:off x="1776" y="192"/>
              <a:ext cx="182" cy="182"/>
            </a:xfrm>
            <a:prstGeom prst="ellipse">
              <a:avLst/>
            </a:prstGeom>
            <a:solidFill>
              <a:srgbClr val="FF0000"/>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03458" name="Text Box 34">
              <a:extLst>
                <a:ext uri="{FF2B5EF4-FFF2-40B4-BE49-F238E27FC236}">
                  <a16:creationId xmlns:a16="http://schemas.microsoft.com/office/drawing/2014/main" id="{F5357437-2046-CA99-11F5-7CDC778112D3}"/>
                </a:ext>
              </a:extLst>
            </p:cNvPr>
            <p:cNvSpPr txBox="1">
              <a:spLocks noChangeAspect="1" noChangeArrowheads="1"/>
            </p:cNvSpPr>
            <p:nvPr/>
          </p:nvSpPr>
          <p:spPr bwMode="auto">
            <a:xfrm>
              <a:off x="1778" y="144"/>
              <a:ext cx="190" cy="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solidFill>
                    <a:schemeClr val="bg1"/>
                  </a:solidFill>
                </a:rPr>
                <a:t>m</a:t>
              </a:r>
            </a:p>
          </p:txBody>
        </p:sp>
      </p:grpSp>
      <p:grpSp>
        <p:nvGrpSpPr>
          <p:cNvPr id="103462" name="Group 38">
            <a:extLst>
              <a:ext uri="{FF2B5EF4-FFF2-40B4-BE49-F238E27FC236}">
                <a16:creationId xmlns:a16="http://schemas.microsoft.com/office/drawing/2014/main" id="{A742BC1B-A48C-7633-410C-FEEDF9FB3DD7}"/>
              </a:ext>
            </a:extLst>
          </p:cNvPr>
          <p:cNvGrpSpPr>
            <a:grpSpLocks noChangeAspect="1"/>
          </p:cNvGrpSpPr>
          <p:nvPr/>
        </p:nvGrpSpPr>
        <p:grpSpPr bwMode="auto">
          <a:xfrm>
            <a:off x="990600" y="4508500"/>
            <a:ext cx="365125" cy="444500"/>
            <a:chOff x="5328" y="576"/>
            <a:chExt cx="184" cy="224"/>
          </a:xfrm>
        </p:grpSpPr>
        <p:sp>
          <p:nvSpPr>
            <p:cNvPr id="103463" name="Oval 39">
              <a:extLst>
                <a:ext uri="{FF2B5EF4-FFF2-40B4-BE49-F238E27FC236}">
                  <a16:creationId xmlns:a16="http://schemas.microsoft.com/office/drawing/2014/main" id="{BE3E352F-6EA9-A003-E832-59CDAAC2D4B3}"/>
                </a:ext>
              </a:extLst>
            </p:cNvPr>
            <p:cNvSpPr>
              <a:spLocks noChangeAspect="1" noChangeArrowheads="1"/>
            </p:cNvSpPr>
            <p:nvPr/>
          </p:nvSpPr>
          <p:spPr bwMode="auto">
            <a:xfrm>
              <a:off x="5328" y="624"/>
              <a:ext cx="176" cy="176"/>
            </a:xfrm>
            <a:prstGeom prst="ellipse">
              <a:avLst/>
            </a:prstGeom>
            <a:solidFill>
              <a:srgbClr val="0000FF"/>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03464" name="Text Box 40">
              <a:extLst>
                <a:ext uri="{FF2B5EF4-FFF2-40B4-BE49-F238E27FC236}">
                  <a16:creationId xmlns:a16="http://schemas.microsoft.com/office/drawing/2014/main" id="{6735B2EB-DD5E-C706-B5EF-E7F8CC6852BC}"/>
                </a:ext>
              </a:extLst>
            </p:cNvPr>
            <p:cNvSpPr txBox="1">
              <a:spLocks noChangeAspect="1" noChangeArrowheads="1"/>
            </p:cNvSpPr>
            <p:nvPr/>
          </p:nvSpPr>
          <p:spPr bwMode="auto">
            <a:xfrm>
              <a:off x="5328" y="576"/>
              <a:ext cx="184" cy="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solidFill>
                    <a:schemeClr val="bg1"/>
                  </a:solidFill>
                </a:rPr>
                <a:t>m</a:t>
              </a:r>
            </a:p>
          </p:txBody>
        </p:sp>
      </p:grpSp>
      <p:grpSp>
        <p:nvGrpSpPr>
          <p:cNvPr id="103471" name="Group 47">
            <a:extLst>
              <a:ext uri="{FF2B5EF4-FFF2-40B4-BE49-F238E27FC236}">
                <a16:creationId xmlns:a16="http://schemas.microsoft.com/office/drawing/2014/main" id="{369A2BD0-1A30-E265-8D4F-AEDD7FC40B9F}"/>
              </a:ext>
            </a:extLst>
          </p:cNvPr>
          <p:cNvGrpSpPr>
            <a:grpSpLocks noChangeAspect="1"/>
          </p:cNvGrpSpPr>
          <p:nvPr/>
        </p:nvGrpSpPr>
        <p:grpSpPr bwMode="auto">
          <a:xfrm>
            <a:off x="990600" y="5422900"/>
            <a:ext cx="365125" cy="444500"/>
            <a:chOff x="4944" y="192"/>
            <a:chExt cx="184" cy="224"/>
          </a:xfrm>
        </p:grpSpPr>
        <p:sp>
          <p:nvSpPr>
            <p:cNvPr id="103472" name="Oval 48">
              <a:extLst>
                <a:ext uri="{FF2B5EF4-FFF2-40B4-BE49-F238E27FC236}">
                  <a16:creationId xmlns:a16="http://schemas.microsoft.com/office/drawing/2014/main" id="{D7692970-C683-192A-B244-44BD5E98C166}"/>
                </a:ext>
              </a:extLst>
            </p:cNvPr>
            <p:cNvSpPr>
              <a:spLocks noChangeAspect="1" noChangeArrowheads="1"/>
            </p:cNvSpPr>
            <p:nvPr/>
          </p:nvSpPr>
          <p:spPr bwMode="auto">
            <a:xfrm>
              <a:off x="4944" y="240"/>
              <a:ext cx="176" cy="176"/>
            </a:xfrm>
            <a:prstGeom prst="ellipse">
              <a:avLst/>
            </a:prstGeom>
            <a:solidFill>
              <a:srgbClr val="008000"/>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03473" name="Text Box 49">
              <a:extLst>
                <a:ext uri="{FF2B5EF4-FFF2-40B4-BE49-F238E27FC236}">
                  <a16:creationId xmlns:a16="http://schemas.microsoft.com/office/drawing/2014/main" id="{5143BB90-3FA1-1CEE-C640-35C4B2927FAB}"/>
                </a:ext>
              </a:extLst>
            </p:cNvPr>
            <p:cNvSpPr txBox="1">
              <a:spLocks noChangeAspect="1" noChangeArrowheads="1"/>
            </p:cNvSpPr>
            <p:nvPr/>
          </p:nvSpPr>
          <p:spPr bwMode="auto">
            <a:xfrm>
              <a:off x="4944" y="192"/>
              <a:ext cx="184" cy="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solidFill>
                    <a:schemeClr val="bg1"/>
                  </a:solidFill>
                </a:rPr>
                <a:t>m</a:t>
              </a:r>
            </a:p>
          </p:txBody>
        </p:sp>
      </p:grpSp>
      <p:grpSp>
        <p:nvGrpSpPr>
          <p:cNvPr id="103494" name="Group 70">
            <a:extLst>
              <a:ext uri="{FF2B5EF4-FFF2-40B4-BE49-F238E27FC236}">
                <a16:creationId xmlns:a16="http://schemas.microsoft.com/office/drawing/2014/main" id="{8C4ECF97-92BA-8325-2FE4-2E828418B846}"/>
              </a:ext>
            </a:extLst>
          </p:cNvPr>
          <p:cNvGrpSpPr>
            <a:grpSpLocks/>
          </p:cNvGrpSpPr>
          <p:nvPr/>
        </p:nvGrpSpPr>
        <p:grpSpPr bwMode="auto">
          <a:xfrm>
            <a:off x="1370013" y="3276600"/>
            <a:ext cx="1509712" cy="444500"/>
            <a:chOff x="863" y="2064"/>
            <a:chExt cx="951" cy="280"/>
          </a:xfrm>
        </p:grpSpPr>
        <p:grpSp>
          <p:nvGrpSpPr>
            <p:cNvPr id="103468" name="Group 44">
              <a:extLst>
                <a:ext uri="{FF2B5EF4-FFF2-40B4-BE49-F238E27FC236}">
                  <a16:creationId xmlns:a16="http://schemas.microsoft.com/office/drawing/2014/main" id="{C90687E5-CEAE-981B-3EF1-07FB6718F0B8}"/>
                </a:ext>
              </a:extLst>
            </p:cNvPr>
            <p:cNvGrpSpPr>
              <a:grpSpLocks noChangeAspect="1"/>
            </p:cNvGrpSpPr>
            <p:nvPr/>
          </p:nvGrpSpPr>
          <p:grpSpPr bwMode="auto">
            <a:xfrm>
              <a:off x="1584" y="2064"/>
              <a:ext cx="230" cy="280"/>
              <a:chOff x="5328" y="576"/>
              <a:chExt cx="184" cy="224"/>
            </a:xfrm>
          </p:grpSpPr>
          <p:sp>
            <p:nvSpPr>
              <p:cNvPr id="103469" name="Oval 45">
                <a:extLst>
                  <a:ext uri="{FF2B5EF4-FFF2-40B4-BE49-F238E27FC236}">
                    <a16:creationId xmlns:a16="http://schemas.microsoft.com/office/drawing/2014/main" id="{D882D251-0C7F-1AF4-16B4-F55ED48FC734}"/>
                  </a:ext>
                </a:extLst>
              </p:cNvPr>
              <p:cNvSpPr>
                <a:spLocks noChangeAspect="1" noChangeArrowheads="1"/>
              </p:cNvSpPr>
              <p:nvPr/>
            </p:nvSpPr>
            <p:spPr bwMode="auto">
              <a:xfrm>
                <a:off x="5328" y="624"/>
                <a:ext cx="176" cy="176"/>
              </a:xfrm>
              <a:prstGeom prst="ellipse">
                <a:avLst/>
              </a:prstGeom>
              <a:solidFill>
                <a:srgbClr val="0000FF"/>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03470" name="Text Box 46">
                <a:extLst>
                  <a:ext uri="{FF2B5EF4-FFF2-40B4-BE49-F238E27FC236}">
                    <a16:creationId xmlns:a16="http://schemas.microsoft.com/office/drawing/2014/main" id="{5F49469B-D3F4-383A-353C-11C6837BB2DC}"/>
                  </a:ext>
                </a:extLst>
              </p:cNvPr>
              <p:cNvSpPr txBox="1">
                <a:spLocks noChangeAspect="1" noChangeArrowheads="1"/>
              </p:cNvSpPr>
              <p:nvPr/>
            </p:nvSpPr>
            <p:spPr bwMode="auto">
              <a:xfrm>
                <a:off x="5328" y="576"/>
                <a:ext cx="184" cy="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solidFill>
                      <a:schemeClr val="bg1"/>
                    </a:solidFill>
                  </a:rPr>
                  <a:t>m</a:t>
                </a:r>
              </a:p>
            </p:txBody>
          </p:sp>
        </p:grpSp>
        <p:cxnSp>
          <p:nvCxnSpPr>
            <p:cNvPr id="103483" name="AutoShape 59">
              <a:extLst>
                <a:ext uri="{FF2B5EF4-FFF2-40B4-BE49-F238E27FC236}">
                  <a16:creationId xmlns:a16="http://schemas.microsoft.com/office/drawing/2014/main" id="{6F511B52-6E0B-6545-466E-475675BBF976}"/>
                </a:ext>
              </a:extLst>
            </p:cNvPr>
            <p:cNvCxnSpPr>
              <a:cxnSpLocks noChangeShapeType="1"/>
              <a:stCxn id="103458" idx="3"/>
            </p:cNvCxnSpPr>
            <p:nvPr/>
          </p:nvCxnSpPr>
          <p:spPr bwMode="auto">
            <a:xfrm flipV="1">
              <a:off x="863" y="2208"/>
              <a:ext cx="722" cy="11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03495" name="Group 71">
            <a:extLst>
              <a:ext uri="{FF2B5EF4-FFF2-40B4-BE49-F238E27FC236}">
                <a16:creationId xmlns:a16="http://schemas.microsoft.com/office/drawing/2014/main" id="{6D50BC2A-F4F2-AD0D-2EFA-C0162DCC597D}"/>
              </a:ext>
            </a:extLst>
          </p:cNvPr>
          <p:cNvGrpSpPr>
            <a:grpSpLocks/>
          </p:cNvGrpSpPr>
          <p:nvPr/>
        </p:nvGrpSpPr>
        <p:grpSpPr bwMode="auto">
          <a:xfrm>
            <a:off x="1350963" y="3733800"/>
            <a:ext cx="1528762" cy="444500"/>
            <a:chOff x="851" y="2352"/>
            <a:chExt cx="963" cy="280"/>
          </a:xfrm>
        </p:grpSpPr>
        <p:grpSp>
          <p:nvGrpSpPr>
            <p:cNvPr id="103453" name="Group 29">
              <a:extLst>
                <a:ext uri="{FF2B5EF4-FFF2-40B4-BE49-F238E27FC236}">
                  <a16:creationId xmlns:a16="http://schemas.microsoft.com/office/drawing/2014/main" id="{7D59BD50-1EA3-F75F-C200-ACE9CA36E048}"/>
                </a:ext>
              </a:extLst>
            </p:cNvPr>
            <p:cNvGrpSpPr>
              <a:grpSpLocks noChangeAspect="1"/>
            </p:cNvGrpSpPr>
            <p:nvPr/>
          </p:nvGrpSpPr>
          <p:grpSpPr bwMode="auto">
            <a:xfrm>
              <a:off x="1584" y="2352"/>
              <a:ext cx="230" cy="280"/>
              <a:chOff x="4944" y="192"/>
              <a:chExt cx="184" cy="224"/>
            </a:xfrm>
          </p:grpSpPr>
          <p:sp>
            <p:nvSpPr>
              <p:cNvPr id="103454" name="Oval 30">
                <a:extLst>
                  <a:ext uri="{FF2B5EF4-FFF2-40B4-BE49-F238E27FC236}">
                    <a16:creationId xmlns:a16="http://schemas.microsoft.com/office/drawing/2014/main" id="{340C2164-F90C-4E56-F3BA-207C60AF551B}"/>
                  </a:ext>
                </a:extLst>
              </p:cNvPr>
              <p:cNvSpPr>
                <a:spLocks noChangeAspect="1" noChangeArrowheads="1"/>
              </p:cNvSpPr>
              <p:nvPr/>
            </p:nvSpPr>
            <p:spPr bwMode="auto">
              <a:xfrm>
                <a:off x="4944" y="240"/>
                <a:ext cx="176" cy="176"/>
              </a:xfrm>
              <a:prstGeom prst="ellipse">
                <a:avLst/>
              </a:prstGeom>
              <a:solidFill>
                <a:srgbClr val="008000"/>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03455" name="Text Box 31">
                <a:extLst>
                  <a:ext uri="{FF2B5EF4-FFF2-40B4-BE49-F238E27FC236}">
                    <a16:creationId xmlns:a16="http://schemas.microsoft.com/office/drawing/2014/main" id="{A1765ECA-A8D8-67D2-49D6-E7269CE001A4}"/>
                  </a:ext>
                </a:extLst>
              </p:cNvPr>
              <p:cNvSpPr txBox="1">
                <a:spLocks noChangeAspect="1" noChangeArrowheads="1"/>
              </p:cNvSpPr>
              <p:nvPr/>
            </p:nvSpPr>
            <p:spPr bwMode="auto">
              <a:xfrm>
                <a:off x="4944" y="192"/>
                <a:ext cx="184" cy="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solidFill>
                      <a:schemeClr val="bg1"/>
                    </a:solidFill>
                  </a:rPr>
                  <a:t>m</a:t>
                </a:r>
              </a:p>
            </p:txBody>
          </p:sp>
        </p:grpSp>
        <p:cxnSp>
          <p:nvCxnSpPr>
            <p:cNvPr id="103484" name="AutoShape 60">
              <a:extLst>
                <a:ext uri="{FF2B5EF4-FFF2-40B4-BE49-F238E27FC236}">
                  <a16:creationId xmlns:a16="http://schemas.microsoft.com/office/drawing/2014/main" id="{053F7478-C7BD-DC11-B9DA-4BD60532066D}"/>
                </a:ext>
              </a:extLst>
            </p:cNvPr>
            <p:cNvCxnSpPr>
              <a:cxnSpLocks noChangeShapeType="1"/>
              <a:stCxn id="103457" idx="6"/>
              <a:endCxn id="103455" idx="1"/>
            </p:cNvCxnSpPr>
            <p:nvPr/>
          </p:nvCxnSpPr>
          <p:spPr bwMode="auto">
            <a:xfrm>
              <a:off x="851" y="2383"/>
              <a:ext cx="733" cy="8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03497" name="Group 73">
            <a:extLst>
              <a:ext uri="{FF2B5EF4-FFF2-40B4-BE49-F238E27FC236}">
                <a16:creationId xmlns:a16="http://schemas.microsoft.com/office/drawing/2014/main" id="{1CB15DFC-51DE-63D9-383F-B422AB3225BE}"/>
              </a:ext>
            </a:extLst>
          </p:cNvPr>
          <p:cNvGrpSpPr>
            <a:grpSpLocks/>
          </p:cNvGrpSpPr>
          <p:nvPr/>
        </p:nvGrpSpPr>
        <p:grpSpPr bwMode="auto">
          <a:xfrm>
            <a:off x="1355725" y="4692650"/>
            <a:ext cx="1447800" cy="476250"/>
            <a:chOff x="854" y="2956"/>
            <a:chExt cx="912" cy="300"/>
          </a:xfrm>
        </p:grpSpPr>
        <p:grpSp>
          <p:nvGrpSpPr>
            <p:cNvPr id="103477" name="Group 53">
              <a:extLst>
                <a:ext uri="{FF2B5EF4-FFF2-40B4-BE49-F238E27FC236}">
                  <a16:creationId xmlns:a16="http://schemas.microsoft.com/office/drawing/2014/main" id="{0EFE5CF3-5AF0-A4D1-6684-959E0B9781D5}"/>
                </a:ext>
              </a:extLst>
            </p:cNvPr>
            <p:cNvGrpSpPr>
              <a:grpSpLocks noChangeAspect="1"/>
            </p:cNvGrpSpPr>
            <p:nvPr/>
          </p:nvGrpSpPr>
          <p:grpSpPr bwMode="auto">
            <a:xfrm>
              <a:off x="1536" y="2976"/>
              <a:ext cx="230" cy="280"/>
              <a:chOff x="4944" y="192"/>
              <a:chExt cx="184" cy="224"/>
            </a:xfrm>
          </p:grpSpPr>
          <p:sp>
            <p:nvSpPr>
              <p:cNvPr id="103478" name="Oval 54">
                <a:extLst>
                  <a:ext uri="{FF2B5EF4-FFF2-40B4-BE49-F238E27FC236}">
                    <a16:creationId xmlns:a16="http://schemas.microsoft.com/office/drawing/2014/main" id="{E86C2E02-59F5-852D-62D8-4781114A2718}"/>
                  </a:ext>
                </a:extLst>
              </p:cNvPr>
              <p:cNvSpPr>
                <a:spLocks noChangeAspect="1" noChangeArrowheads="1"/>
              </p:cNvSpPr>
              <p:nvPr/>
            </p:nvSpPr>
            <p:spPr bwMode="auto">
              <a:xfrm>
                <a:off x="4944" y="240"/>
                <a:ext cx="176" cy="176"/>
              </a:xfrm>
              <a:prstGeom prst="ellipse">
                <a:avLst/>
              </a:prstGeom>
              <a:solidFill>
                <a:srgbClr val="008000"/>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03479" name="Text Box 55">
                <a:extLst>
                  <a:ext uri="{FF2B5EF4-FFF2-40B4-BE49-F238E27FC236}">
                    <a16:creationId xmlns:a16="http://schemas.microsoft.com/office/drawing/2014/main" id="{3AF54BFF-66EB-FEFD-8100-BB6ED521C338}"/>
                  </a:ext>
                </a:extLst>
              </p:cNvPr>
              <p:cNvSpPr txBox="1">
                <a:spLocks noChangeAspect="1" noChangeArrowheads="1"/>
              </p:cNvSpPr>
              <p:nvPr/>
            </p:nvSpPr>
            <p:spPr bwMode="auto">
              <a:xfrm>
                <a:off x="4944" y="192"/>
                <a:ext cx="184" cy="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solidFill>
                      <a:schemeClr val="bg1"/>
                    </a:solidFill>
                  </a:rPr>
                  <a:t>m</a:t>
                </a:r>
              </a:p>
            </p:txBody>
          </p:sp>
        </p:grpSp>
        <p:cxnSp>
          <p:nvCxnSpPr>
            <p:cNvPr id="103487" name="AutoShape 63">
              <a:extLst>
                <a:ext uri="{FF2B5EF4-FFF2-40B4-BE49-F238E27FC236}">
                  <a16:creationId xmlns:a16="http://schemas.microsoft.com/office/drawing/2014/main" id="{8D6B1408-4B7C-F840-BF4A-525B3C2571A8}"/>
                </a:ext>
              </a:extLst>
            </p:cNvPr>
            <p:cNvCxnSpPr>
              <a:cxnSpLocks noChangeShapeType="1"/>
              <a:stCxn id="103464" idx="3"/>
              <a:endCxn id="103478" idx="2"/>
            </p:cNvCxnSpPr>
            <p:nvPr/>
          </p:nvCxnSpPr>
          <p:spPr bwMode="auto">
            <a:xfrm>
              <a:off x="854" y="2956"/>
              <a:ext cx="682" cy="19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03496" name="Group 72">
            <a:extLst>
              <a:ext uri="{FF2B5EF4-FFF2-40B4-BE49-F238E27FC236}">
                <a16:creationId xmlns:a16="http://schemas.microsoft.com/office/drawing/2014/main" id="{2EC074D1-13FB-6F42-C22B-5B4970F295CD}"/>
              </a:ext>
            </a:extLst>
          </p:cNvPr>
          <p:cNvGrpSpPr>
            <a:grpSpLocks/>
          </p:cNvGrpSpPr>
          <p:nvPr/>
        </p:nvGrpSpPr>
        <p:grpSpPr bwMode="auto">
          <a:xfrm>
            <a:off x="1355725" y="4267200"/>
            <a:ext cx="1462088" cy="455613"/>
            <a:chOff x="854" y="2688"/>
            <a:chExt cx="921" cy="287"/>
          </a:xfrm>
        </p:grpSpPr>
        <p:grpSp>
          <p:nvGrpSpPr>
            <p:cNvPr id="103465" name="Group 41">
              <a:extLst>
                <a:ext uri="{FF2B5EF4-FFF2-40B4-BE49-F238E27FC236}">
                  <a16:creationId xmlns:a16="http://schemas.microsoft.com/office/drawing/2014/main" id="{C23FC7CC-DDC4-2691-B81C-5E8B7452E0E9}"/>
                </a:ext>
              </a:extLst>
            </p:cNvPr>
            <p:cNvGrpSpPr>
              <a:grpSpLocks noChangeAspect="1"/>
            </p:cNvGrpSpPr>
            <p:nvPr/>
          </p:nvGrpSpPr>
          <p:grpSpPr bwMode="auto">
            <a:xfrm>
              <a:off x="1536" y="2688"/>
              <a:ext cx="239" cy="287"/>
              <a:chOff x="1776" y="144"/>
              <a:chExt cx="192" cy="230"/>
            </a:xfrm>
          </p:grpSpPr>
          <p:sp>
            <p:nvSpPr>
              <p:cNvPr id="103466" name="Oval 42">
                <a:extLst>
                  <a:ext uri="{FF2B5EF4-FFF2-40B4-BE49-F238E27FC236}">
                    <a16:creationId xmlns:a16="http://schemas.microsoft.com/office/drawing/2014/main" id="{DE04ABDF-301A-520F-DD80-5360C72F5EAF}"/>
                  </a:ext>
                </a:extLst>
              </p:cNvPr>
              <p:cNvSpPr>
                <a:spLocks noChangeAspect="1" noChangeArrowheads="1"/>
              </p:cNvSpPr>
              <p:nvPr/>
            </p:nvSpPr>
            <p:spPr bwMode="auto">
              <a:xfrm>
                <a:off x="1776" y="192"/>
                <a:ext cx="182" cy="182"/>
              </a:xfrm>
              <a:prstGeom prst="ellipse">
                <a:avLst/>
              </a:prstGeom>
              <a:solidFill>
                <a:srgbClr val="FF0000"/>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03467" name="Text Box 43">
                <a:extLst>
                  <a:ext uri="{FF2B5EF4-FFF2-40B4-BE49-F238E27FC236}">
                    <a16:creationId xmlns:a16="http://schemas.microsoft.com/office/drawing/2014/main" id="{1ADC2172-C85F-A585-315A-36593C532141}"/>
                  </a:ext>
                </a:extLst>
              </p:cNvPr>
              <p:cNvSpPr txBox="1">
                <a:spLocks noChangeAspect="1" noChangeArrowheads="1"/>
              </p:cNvSpPr>
              <p:nvPr/>
            </p:nvSpPr>
            <p:spPr bwMode="auto">
              <a:xfrm>
                <a:off x="1778" y="144"/>
                <a:ext cx="190" cy="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solidFill>
                      <a:schemeClr val="bg1"/>
                    </a:solidFill>
                  </a:rPr>
                  <a:t>m</a:t>
                </a:r>
              </a:p>
            </p:txBody>
          </p:sp>
        </p:grpSp>
        <p:cxnSp>
          <p:nvCxnSpPr>
            <p:cNvPr id="103488" name="AutoShape 64">
              <a:extLst>
                <a:ext uri="{FF2B5EF4-FFF2-40B4-BE49-F238E27FC236}">
                  <a16:creationId xmlns:a16="http://schemas.microsoft.com/office/drawing/2014/main" id="{921C5A66-A58D-1E49-9402-95D1F4D21360}"/>
                </a:ext>
              </a:extLst>
            </p:cNvPr>
            <p:cNvCxnSpPr>
              <a:cxnSpLocks noChangeShapeType="1"/>
              <a:stCxn id="103464" idx="3"/>
              <a:endCxn id="103467" idx="1"/>
            </p:cNvCxnSpPr>
            <p:nvPr/>
          </p:nvCxnSpPr>
          <p:spPr bwMode="auto">
            <a:xfrm flipV="1">
              <a:off x="854" y="2804"/>
              <a:ext cx="684" cy="1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03499" name="Group 75">
            <a:extLst>
              <a:ext uri="{FF2B5EF4-FFF2-40B4-BE49-F238E27FC236}">
                <a16:creationId xmlns:a16="http://schemas.microsoft.com/office/drawing/2014/main" id="{6AF895EC-EAEA-B2A8-046A-3F4991CD81C2}"/>
              </a:ext>
            </a:extLst>
          </p:cNvPr>
          <p:cNvGrpSpPr>
            <a:grpSpLocks/>
          </p:cNvGrpSpPr>
          <p:nvPr/>
        </p:nvGrpSpPr>
        <p:grpSpPr bwMode="auto">
          <a:xfrm>
            <a:off x="1355725" y="5607050"/>
            <a:ext cx="1462088" cy="639763"/>
            <a:chOff x="854" y="3532"/>
            <a:chExt cx="921" cy="403"/>
          </a:xfrm>
        </p:grpSpPr>
        <p:grpSp>
          <p:nvGrpSpPr>
            <p:cNvPr id="103480" name="Group 56">
              <a:extLst>
                <a:ext uri="{FF2B5EF4-FFF2-40B4-BE49-F238E27FC236}">
                  <a16:creationId xmlns:a16="http://schemas.microsoft.com/office/drawing/2014/main" id="{ED3CA0F5-166C-E0E7-2535-EF58AFD367E4}"/>
                </a:ext>
              </a:extLst>
            </p:cNvPr>
            <p:cNvGrpSpPr>
              <a:grpSpLocks noChangeAspect="1"/>
            </p:cNvGrpSpPr>
            <p:nvPr/>
          </p:nvGrpSpPr>
          <p:grpSpPr bwMode="auto">
            <a:xfrm>
              <a:off x="1536" y="3648"/>
              <a:ext cx="239" cy="287"/>
              <a:chOff x="1776" y="144"/>
              <a:chExt cx="192" cy="230"/>
            </a:xfrm>
          </p:grpSpPr>
          <p:sp>
            <p:nvSpPr>
              <p:cNvPr id="103481" name="Oval 57">
                <a:extLst>
                  <a:ext uri="{FF2B5EF4-FFF2-40B4-BE49-F238E27FC236}">
                    <a16:creationId xmlns:a16="http://schemas.microsoft.com/office/drawing/2014/main" id="{7A415122-0A34-4840-674F-AD841C06A1A1}"/>
                  </a:ext>
                </a:extLst>
              </p:cNvPr>
              <p:cNvSpPr>
                <a:spLocks noChangeAspect="1" noChangeArrowheads="1"/>
              </p:cNvSpPr>
              <p:nvPr/>
            </p:nvSpPr>
            <p:spPr bwMode="auto">
              <a:xfrm>
                <a:off x="1776" y="192"/>
                <a:ext cx="182" cy="182"/>
              </a:xfrm>
              <a:prstGeom prst="ellipse">
                <a:avLst/>
              </a:prstGeom>
              <a:solidFill>
                <a:srgbClr val="FF0000"/>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03482" name="Text Box 58">
                <a:extLst>
                  <a:ext uri="{FF2B5EF4-FFF2-40B4-BE49-F238E27FC236}">
                    <a16:creationId xmlns:a16="http://schemas.microsoft.com/office/drawing/2014/main" id="{2FE3BA80-DE4C-EE0F-672B-BE9B1FBFE544}"/>
                  </a:ext>
                </a:extLst>
              </p:cNvPr>
              <p:cNvSpPr txBox="1">
                <a:spLocks noChangeAspect="1" noChangeArrowheads="1"/>
              </p:cNvSpPr>
              <p:nvPr/>
            </p:nvSpPr>
            <p:spPr bwMode="auto">
              <a:xfrm>
                <a:off x="1778" y="144"/>
                <a:ext cx="190" cy="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solidFill>
                      <a:schemeClr val="bg1"/>
                    </a:solidFill>
                  </a:rPr>
                  <a:t>m</a:t>
                </a:r>
              </a:p>
            </p:txBody>
          </p:sp>
        </p:grpSp>
        <p:cxnSp>
          <p:nvCxnSpPr>
            <p:cNvPr id="103489" name="AutoShape 65">
              <a:extLst>
                <a:ext uri="{FF2B5EF4-FFF2-40B4-BE49-F238E27FC236}">
                  <a16:creationId xmlns:a16="http://schemas.microsoft.com/office/drawing/2014/main" id="{26BCDEA7-60FC-9FD9-C5D6-023C19DA0AC0}"/>
                </a:ext>
              </a:extLst>
            </p:cNvPr>
            <p:cNvCxnSpPr>
              <a:cxnSpLocks noChangeShapeType="1"/>
              <a:stCxn id="103473" idx="3"/>
              <a:endCxn id="103482" idx="1"/>
            </p:cNvCxnSpPr>
            <p:nvPr/>
          </p:nvCxnSpPr>
          <p:spPr bwMode="auto">
            <a:xfrm>
              <a:off x="854" y="3532"/>
              <a:ext cx="684" cy="23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03498" name="Group 74">
            <a:extLst>
              <a:ext uri="{FF2B5EF4-FFF2-40B4-BE49-F238E27FC236}">
                <a16:creationId xmlns:a16="http://schemas.microsoft.com/office/drawing/2014/main" id="{E1D36B98-F490-7325-1E2E-D93F4DEB5B76}"/>
              </a:ext>
            </a:extLst>
          </p:cNvPr>
          <p:cNvGrpSpPr>
            <a:grpSpLocks/>
          </p:cNvGrpSpPr>
          <p:nvPr/>
        </p:nvGrpSpPr>
        <p:grpSpPr bwMode="auto">
          <a:xfrm>
            <a:off x="1355725" y="5257800"/>
            <a:ext cx="1458913" cy="457200"/>
            <a:chOff x="854" y="3312"/>
            <a:chExt cx="919" cy="288"/>
          </a:xfrm>
        </p:grpSpPr>
        <p:grpSp>
          <p:nvGrpSpPr>
            <p:cNvPr id="103474" name="Group 50">
              <a:extLst>
                <a:ext uri="{FF2B5EF4-FFF2-40B4-BE49-F238E27FC236}">
                  <a16:creationId xmlns:a16="http://schemas.microsoft.com/office/drawing/2014/main" id="{BBC51A10-CE69-D73B-4536-152D29AB3250}"/>
                </a:ext>
              </a:extLst>
            </p:cNvPr>
            <p:cNvGrpSpPr>
              <a:grpSpLocks noChangeAspect="1"/>
            </p:cNvGrpSpPr>
            <p:nvPr/>
          </p:nvGrpSpPr>
          <p:grpSpPr bwMode="auto">
            <a:xfrm>
              <a:off x="1536" y="3312"/>
              <a:ext cx="237" cy="288"/>
              <a:chOff x="5328" y="576"/>
              <a:chExt cx="184" cy="224"/>
            </a:xfrm>
          </p:grpSpPr>
          <p:sp>
            <p:nvSpPr>
              <p:cNvPr id="103475" name="Oval 51">
                <a:extLst>
                  <a:ext uri="{FF2B5EF4-FFF2-40B4-BE49-F238E27FC236}">
                    <a16:creationId xmlns:a16="http://schemas.microsoft.com/office/drawing/2014/main" id="{DB0F51C5-C3D9-2670-C673-6E50A583A34E}"/>
                  </a:ext>
                </a:extLst>
              </p:cNvPr>
              <p:cNvSpPr>
                <a:spLocks noChangeAspect="1" noChangeArrowheads="1"/>
              </p:cNvSpPr>
              <p:nvPr/>
            </p:nvSpPr>
            <p:spPr bwMode="auto">
              <a:xfrm>
                <a:off x="5328" y="624"/>
                <a:ext cx="176" cy="176"/>
              </a:xfrm>
              <a:prstGeom prst="ellipse">
                <a:avLst/>
              </a:prstGeom>
              <a:solidFill>
                <a:srgbClr val="0000FF"/>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03476" name="Text Box 52">
                <a:extLst>
                  <a:ext uri="{FF2B5EF4-FFF2-40B4-BE49-F238E27FC236}">
                    <a16:creationId xmlns:a16="http://schemas.microsoft.com/office/drawing/2014/main" id="{0EB4ED63-5834-2657-1979-F1B655E70CEC}"/>
                  </a:ext>
                </a:extLst>
              </p:cNvPr>
              <p:cNvSpPr txBox="1">
                <a:spLocks noChangeAspect="1" noChangeArrowheads="1"/>
              </p:cNvSpPr>
              <p:nvPr/>
            </p:nvSpPr>
            <p:spPr bwMode="auto">
              <a:xfrm>
                <a:off x="5328" y="576"/>
                <a:ext cx="184"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solidFill>
                      <a:schemeClr val="bg1"/>
                    </a:solidFill>
                  </a:rPr>
                  <a:t>m</a:t>
                </a:r>
              </a:p>
            </p:txBody>
          </p:sp>
        </p:grpSp>
        <p:cxnSp>
          <p:nvCxnSpPr>
            <p:cNvPr id="103490" name="AutoShape 66">
              <a:extLst>
                <a:ext uri="{FF2B5EF4-FFF2-40B4-BE49-F238E27FC236}">
                  <a16:creationId xmlns:a16="http://schemas.microsoft.com/office/drawing/2014/main" id="{528F5A0A-B0C5-8262-C54C-34B0FDD3B90E}"/>
                </a:ext>
              </a:extLst>
            </p:cNvPr>
            <p:cNvCxnSpPr>
              <a:cxnSpLocks noChangeShapeType="1"/>
              <a:stCxn id="103473" idx="3"/>
              <a:endCxn id="103476" idx="1"/>
            </p:cNvCxnSpPr>
            <p:nvPr/>
          </p:nvCxnSpPr>
          <p:spPr bwMode="auto">
            <a:xfrm flipV="1">
              <a:off x="854" y="3428"/>
              <a:ext cx="682" cy="104"/>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3492" name="Text Box 68">
            <a:extLst>
              <a:ext uri="{FF2B5EF4-FFF2-40B4-BE49-F238E27FC236}">
                <a16:creationId xmlns:a16="http://schemas.microsoft.com/office/drawing/2014/main" id="{BCCB66F4-7D0E-78B5-1644-8BBC8E670F9D}"/>
              </a:ext>
            </a:extLst>
          </p:cNvPr>
          <p:cNvSpPr txBox="1">
            <a:spLocks noChangeArrowheads="1"/>
          </p:cNvSpPr>
          <p:nvPr/>
        </p:nvSpPr>
        <p:spPr bwMode="auto">
          <a:xfrm>
            <a:off x="3733800" y="5365750"/>
            <a:ext cx="685800" cy="425450"/>
          </a:xfrm>
          <a:prstGeom prst="rect">
            <a:avLst/>
          </a:prstGeom>
          <a:solidFill>
            <a:srgbClr val="F4ECC6"/>
          </a:solidFill>
          <a:ln w="28575">
            <a:solidFill>
              <a:srgbClr val="CC0066"/>
            </a:solidFill>
            <a:miter lim="800000"/>
            <a:headEnd/>
            <a:tailEnd/>
          </a:ln>
          <a:effectLst>
            <a:outerShdw dist="107763" dir="2700000" algn="ctr" rotWithShape="0">
              <a:schemeClr val="bg2"/>
            </a:outerShdw>
          </a:effectLst>
        </p:spPr>
        <p:txBody>
          <a:bodyPr>
            <a:spAutoFit/>
          </a:bodyPr>
          <a:lstStyle/>
          <a:p>
            <a:pPr algn="ctr">
              <a:spcBef>
                <a:spcPct val="50000"/>
              </a:spcBef>
            </a:pPr>
            <a:r>
              <a:rPr lang="en-US" altLang="en-US" sz="2000" b="1">
                <a:solidFill>
                  <a:srgbClr val="333333"/>
                </a:solidFill>
              </a:rPr>
              <a:t>GB</a:t>
            </a:r>
          </a:p>
        </p:txBody>
      </p:sp>
      <p:sp>
        <p:nvSpPr>
          <p:cNvPr id="103493" name="Text Box 69">
            <a:extLst>
              <a:ext uri="{FF2B5EF4-FFF2-40B4-BE49-F238E27FC236}">
                <a16:creationId xmlns:a16="http://schemas.microsoft.com/office/drawing/2014/main" id="{12F5AE87-DB25-C14B-DE41-B0EFA45D8A11}"/>
              </a:ext>
            </a:extLst>
          </p:cNvPr>
          <p:cNvSpPr txBox="1">
            <a:spLocks noChangeArrowheads="1"/>
          </p:cNvSpPr>
          <p:nvPr/>
        </p:nvSpPr>
        <p:spPr bwMode="auto">
          <a:xfrm>
            <a:off x="3733800" y="5867400"/>
            <a:ext cx="685800" cy="425450"/>
          </a:xfrm>
          <a:prstGeom prst="rect">
            <a:avLst/>
          </a:prstGeom>
          <a:solidFill>
            <a:srgbClr val="F4ECC6"/>
          </a:solidFill>
          <a:ln w="28575">
            <a:solidFill>
              <a:srgbClr val="CC0066"/>
            </a:solidFill>
            <a:miter lim="800000"/>
            <a:headEnd/>
            <a:tailEnd/>
          </a:ln>
          <a:effectLst>
            <a:outerShdw dist="107763" dir="2700000" algn="ctr" rotWithShape="0">
              <a:schemeClr val="bg2"/>
            </a:outerShdw>
          </a:effectLst>
        </p:spPr>
        <p:txBody>
          <a:bodyPr>
            <a:spAutoFit/>
          </a:bodyPr>
          <a:lstStyle/>
          <a:p>
            <a:pPr algn="ctr">
              <a:spcBef>
                <a:spcPct val="50000"/>
              </a:spcBef>
            </a:pPr>
            <a:r>
              <a:rPr lang="en-US" altLang="en-US" sz="2000" b="1">
                <a:solidFill>
                  <a:srgbClr val="333333"/>
                </a:solidFill>
              </a:rPr>
              <a:t>GR</a:t>
            </a:r>
          </a:p>
        </p:txBody>
      </p:sp>
      <p:sp>
        <p:nvSpPr>
          <p:cNvPr id="3" name="Title 1">
            <a:extLst>
              <a:ext uri="{FF2B5EF4-FFF2-40B4-BE49-F238E27FC236}">
                <a16:creationId xmlns:a16="http://schemas.microsoft.com/office/drawing/2014/main" id="{8DD7DA79-2835-6B31-BA51-E188FCF0039E}"/>
              </a:ext>
            </a:extLst>
          </p:cNvPr>
          <p:cNvSpPr txBox="1">
            <a:spLocks/>
          </p:cNvSpPr>
          <p:nvPr/>
        </p:nvSpPr>
        <p:spPr bwMode="auto">
          <a:xfrm>
            <a:off x="662866" y="412750"/>
            <a:ext cx="8534400"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3300" kern="1200">
                <a:solidFill>
                  <a:schemeClr val="accent3">
                    <a:shade val="75000"/>
                  </a:schemeClr>
                </a:solidFill>
                <a:latin typeface="+mj-lt"/>
                <a:ea typeface="+mj-ea"/>
                <a:cs typeface="+mj-cs"/>
              </a:defRPr>
            </a:lvl1pPr>
            <a:lvl2pPr algn="ctr" rtl="0" eaLnBrk="0" fontAlgn="base" hangingPunct="0">
              <a:spcBef>
                <a:spcPct val="0"/>
              </a:spcBef>
              <a:spcAft>
                <a:spcPct val="0"/>
              </a:spcAft>
              <a:defRPr sz="3300">
                <a:solidFill>
                  <a:srgbClr val="7B9899"/>
                </a:solidFill>
                <a:latin typeface="Georgia" pitchFamily="18" charset="0"/>
              </a:defRPr>
            </a:lvl2pPr>
            <a:lvl3pPr algn="ctr" rtl="0" eaLnBrk="0" fontAlgn="base" hangingPunct="0">
              <a:spcBef>
                <a:spcPct val="0"/>
              </a:spcBef>
              <a:spcAft>
                <a:spcPct val="0"/>
              </a:spcAft>
              <a:defRPr sz="3300">
                <a:solidFill>
                  <a:srgbClr val="7B9899"/>
                </a:solidFill>
                <a:latin typeface="Georgia" pitchFamily="18" charset="0"/>
              </a:defRPr>
            </a:lvl3pPr>
            <a:lvl4pPr algn="ctr" rtl="0" eaLnBrk="0" fontAlgn="base" hangingPunct="0">
              <a:spcBef>
                <a:spcPct val="0"/>
              </a:spcBef>
              <a:spcAft>
                <a:spcPct val="0"/>
              </a:spcAft>
              <a:defRPr sz="3300">
                <a:solidFill>
                  <a:srgbClr val="7B9899"/>
                </a:solidFill>
                <a:latin typeface="Georgia" pitchFamily="18" charset="0"/>
              </a:defRPr>
            </a:lvl4pPr>
            <a:lvl5pPr algn="ctr" rtl="0" eaLnBrk="0" fontAlgn="base" hangingPunct="0">
              <a:spcBef>
                <a:spcPct val="0"/>
              </a:spcBef>
              <a:spcAft>
                <a:spcPct val="0"/>
              </a:spcAft>
              <a:defRPr sz="3300">
                <a:solidFill>
                  <a:srgbClr val="7B9899"/>
                </a:solidFill>
                <a:latin typeface="Georgia" pitchFamily="18" charset="0"/>
              </a:defRPr>
            </a:lvl5pPr>
            <a:lvl6pPr marL="457200" algn="ctr" rtl="0" fontAlgn="base">
              <a:spcBef>
                <a:spcPct val="0"/>
              </a:spcBef>
              <a:spcAft>
                <a:spcPct val="0"/>
              </a:spcAft>
              <a:defRPr sz="3300">
                <a:solidFill>
                  <a:srgbClr val="7B9899"/>
                </a:solidFill>
                <a:latin typeface="Georgia" pitchFamily="18" charset="0"/>
              </a:defRPr>
            </a:lvl6pPr>
            <a:lvl7pPr marL="914400" algn="ctr" rtl="0" fontAlgn="base">
              <a:spcBef>
                <a:spcPct val="0"/>
              </a:spcBef>
              <a:spcAft>
                <a:spcPct val="0"/>
              </a:spcAft>
              <a:defRPr sz="3300">
                <a:solidFill>
                  <a:srgbClr val="7B9899"/>
                </a:solidFill>
                <a:latin typeface="Georgia" pitchFamily="18" charset="0"/>
              </a:defRPr>
            </a:lvl7pPr>
            <a:lvl8pPr marL="1371600" algn="ctr" rtl="0" fontAlgn="base">
              <a:spcBef>
                <a:spcPct val="0"/>
              </a:spcBef>
              <a:spcAft>
                <a:spcPct val="0"/>
              </a:spcAft>
              <a:defRPr sz="3300">
                <a:solidFill>
                  <a:srgbClr val="7B9899"/>
                </a:solidFill>
                <a:latin typeface="Georgia" pitchFamily="18" charset="0"/>
              </a:defRPr>
            </a:lvl8pPr>
            <a:lvl9pPr marL="1828800" algn="ctr" rtl="0" fontAlgn="base">
              <a:spcBef>
                <a:spcPct val="0"/>
              </a:spcBef>
              <a:spcAft>
                <a:spcPct val="0"/>
              </a:spcAft>
              <a:defRPr sz="3300">
                <a:solidFill>
                  <a:srgbClr val="7B9899"/>
                </a:solidFill>
                <a:latin typeface="Georgia" pitchFamily="18" charset="0"/>
              </a:defRPr>
            </a:lvl9pPr>
          </a:lstStyle>
          <a:p>
            <a:pPr algn="l">
              <a:defRPr/>
            </a:pPr>
            <a:r>
              <a:rPr lang="en-US" sz="4200" dirty="0">
                <a:solidFill>
                  <a:srgbClr val="FF0000"/>
                </a:solidFill>
                <a:effectLst>
                  <a:outerShdw blurRad="38100" dist="38100" dir="2700000" algn="tl">
                    <a:srgbClr val="000000">
                      <a:alpha val="43137"/>
                    </a:srgbClr>
                  </a:outerShdw>
                </a:effectLst>
              </a:rPr>
              <a:t>Example:</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03435"/>
                                        </p:tgtEl>
                                        <p:attrNameLst>
                                          <p:attrName>style.visibility</p:attrName>
                                        </p:attrNameLst>
                                      </p:cBhvr>
                                      <p:to>
                                        <p:strVal val="visible"/>
                                      </p:to>
                                    </p:set>
                                    <p:animEffect transition="in" filter="wipe(up)">
                                      <p:cBhvr>
                                        <p:cTn id="7" dur="500"/>
                                        <p:tgtEl>
                                          <p:spTgt spid="1034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03456"/>
                                        </p:tgtEl>
                                        <p:attrNameLst>
                                          <p:attrName>style.visibility</p:attrName>
                                        </p:attrNameLst>
                                      </p:cBhvr>
                                      <p:to>
                                        <p:strVal val="visible"/>
                                      </p:to>
                                    </p:set>
                                    <p:animEffect transition="in" filter="wipe(up)">
                                      <p:cBhvr>
                                        <p:cTn id="12" dur="500"/>
                                        <p:tgtEl>
                                          <p:spTgt spid="103456"/>
                                        </p:tgtEl>
                                      </p:cBhvr>
                                    </p:animEffect>
                                  </p:childTnLst>
                                </p:cTn>
                              </p:par>
                            </p:childTnLst>
                          </p:cTn>
                        </p:par>
                        <p:par>
                          <p:cTn id="13" fill="hold" nodeType="afterGroup">
                            <p:stCondLst>
                              <p:cond delay="500"/>
                            </p:stCondLst>
                            <p:childTnLst>
                              <p:par>
                                <p:cTn id="14" presetID="22" presetClass="entr" presetSubtype="1" fill="hold" nodeType="afterEffect">
                                  <p:stCondLst>
                                    <p:cond delay="1000"/>
                                  </p:stCondLst>
                                  <p:childTnLst>
                                    <p:set>
                                      <p:cBhvr>
                                        <p:cTn id="15" dur="1" fill="hold">
                                          <p:stCondLst>
                                            <p:cond delay="0"/>
                                          </p:stCondLst>
                                        </p:cTn>
                                        <p:tgtEl>
                                          <p:spTgt spid="103462"/>
                                        </p:tgtEl>
                                        <p:attrNameLst>
                                          <p:attrName>style.visibility</p:attrName>
                                        </p:attrNameLst>
                                      </p:cBhvr>
                                      <p:to>
                                        <p:strVal val="visible"/>
                                      </p:to>
                                    </p:set>
                                    <p:animEffect transition="in" filter="wipe(up)">
                                      <p:cBhvr>
                                        <p:cTn id="16" dur="500"/>
                                        <p:tgtEl>
                                          <p:spTgt spid="103462"/>
                                        </p:tgtEl>
                                      </p:cBhvr>
                                    </p:animEffect>
                                  </p:childTnLst>
                                </p:cTn>
                              </p:par>
                            </p:childTnLst>
                          </p:cTn>
                        </p:par>
                        <p:par>
                          <p:cTn id="17" fill="hold" nodeType="afterGroup">
                            <p:stCondLst>
                              <p:cond delay="2000"/>
                            </p:stCondLst>
                            <p:childTnLst>
                              <p:par>
                                <p:cTn id="18" presetID="22" presetClass="entr" presetSubtype="1" fill="hold" nodeType="afterEffect">
                                  <p:stCondLst>
                                    <p:cond delay="1000"/>
                                  </p:stCondLst>
                                  <p:childTnLst>
                                    <p:set>
                                      <p:cBhvr>
                                        <p:cTn id="19" dur="1" fill="hold">
                                          <p:stCondLst>
                                            <p:cond delay="0"/>
                                          </p:stCondLst>
                                        </p:cTn>
                                        <p:tgtEl>
                                          <p:spTgt spid="103471"/>
                                        </p:tgtEl>
                                        <p:attrNameLst>
                                          <p:attrName>style.visibility</p:attrName>
                                        </p:attrNameLst>
                                      </p:cBhvr>
                                      <p:to>
                                        <p:strVal val="visible"/>
                                      </p:to>
                                    </p:set>
                                    <p:animEffect transition="in" filter="wipe(up)">
                                      <p:cBhvr>
                                        <p:cTn id="20" dur="500"/>
                                        <p:tgtEl>
                                          <p:spTgt spid="10347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103494"/>
                                        </p:tgtEl>
                                        <p:attrNameLst>
                                          <p:attrName>style.visibility</p:attrName>
                                        </p:attrNameLst>
                                      </p:cBhvr>
                                      <p:to>
                                        <p:strVal val="visible"/>
                                      </p:to>
                                    </p:set>
                                    <p:animEffect transition="in" filter="wipe(left)">
                                      <p:cBhvr>
                                        <p:cTn id="25" dur="500"/>
                                        <p:tgtEl>
                                          <p:spTgt spid="103494"/>
                                        </p:tgtEl>
                                      </p:cBhvr>
                                    </p:animEffect>
                                  </p:childTnLst>
                                </p:cTn>
                              </p:par>
                            </p:childTnLst>
                          </p:cTn>
                        </p:par>
                        <p:par>
                          <p:cTn id="26" fill="hold" nodeType="afterGroup">
                            <p:stCondLst>
                              <p:cond delay="500"/>
                            </p:stCondLst>
                            <p:childTnLst>
                              <p:par>
                                <p:cTn id="27" presetID="22" presetClass="entr" presetSubtype="8" fill="hold" nodeType="afterEffect">
                                  <p:stCondLst>
                                    <p:cond delay="1000"/>
                                  </p:stCondLst>
                                  <p:childTnLst>
                                    <p:set>
                                      <p:cBhvr>
                                        <p:cTn id="28" dur="1" fill="hold">
                                          <p:stCondLst>
                                            <p:cond delay="0"/>
                                          </p:stCondLst>
                                        </p:cTn>
                                        <p:tgtEl>
                                          <p:spTgt spid="103495"/>
                                        </p:tgtEl>
                                        <p:attrNameLst>
                                          <p:attrName>style.visibility</p:attrName>
                                        </p:attrNameLst>
                                      </p:cBhvr>
                                      <p:to>
                                        <p:strVal val="visible"/>
                                      </p:to>
                                    </p:set>
                                    <p:animEffect transition="in" filter="wipe(left)">
                                      <p:cBhvr>
                                        <p:cTn id="29" dur="500"/>
                                        <p:tgtEl>
                                          <p:spTgt spid="10349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103496"/>
                                        </p:tgtEl>
                                        <p:attrNameLst>
                                          <p:attrName>style.visibility</p:attrName>
                                        </p:attrNameLst>
                                      </p:cBhvr>
                                      <p:to>
                                        <p:strVal val="visible"/>
                                      </p:to>
                                    </p:set>
                                    <p:animEffect transition="in" filter="wipe(left)">
                                      <p:cBhvr>
                                        <p:cTn id="34" dur="500"/>
                                        <p:tgtEl>
                                          <p:spTgt spid="103496"/>
                                        </p:tgtEl>
                                      </p:cBhvr>
                                    </p:animEffect>
                                  </p:childTnLst>
                                </p:cTn>
                              </p:par>
                            </p:childTnLst>
                          </p:cTn>
                        </p:par>
                        <p:par>
                          <p:cTn id="35" fill="hold" nodeType="afterGroup">
                            <p:stCondLst>
                              <p:cond delay="500"/>
                            </p:stCondLst>
                            <p:childTnLst>
                              <p:par>
                                <p:cTn id="36" presetID="22" presetClass="entr" presetSubtype="8" fill="hold" nodeType="afterEffect">
                                  <p:stCondLst>
                                    <p:cond delay="1000"/>
                                  </p:stCondLst>
                                  <p:childTnLst>
                                    <p:set>
                                      <p:cBhvr>
                                        <p:cTn id="37" dur="1" fill="hold">
                                          <p:stCondLst>
                                            <p:cond delay="0"/>
                                          </p:stCondLst>
                                        </p:cTn>
                                        <p:tgtEl>
                                          <p:spTgt spid="103497"/>
                                        </p:tgtEl>
                                        <p:attrNameLst>
                                          <p:attrName>style.visibility</p:attrName>
                                        </p:attrNameLst>
                                      </p:cBhvr>
                                      <p:to>
                                        <p:strVal val="visible"/>
                                      </p:to>
                                    </p:set>
                                    <p:animEffect transition="in" filter="wipe(left)">
                                      <p:cBhvr>
                                        <p:cTn id="38" dur="500"/>
                                        <p:tgtEl>
                                          <p:spTgt spid="10349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103498"/>
                                        </p:tgtEl>
                                        <p:attrNameLst>
                                          <p:attrName>style.visibility</p:attrName>
                                        </p:attrNameLst>
                                      </p:cBhvr>
                                      <p:to>
                                        <p:strVal val="visible"/>
                                      </p:to>
                                    </p:set>
                                    <p:animEffect transition="in" filter="wipe(left)">
                                      <p:cBhvr>
                                        <p:cTn id="43" dur="500"/>
                                        <p:tgtEl>
                                          <p:spTgt spid="103498"/>
                                        </p:tgtEl>
                                      </p:cBhvr>
                                    </p:animEffect>
                                  </p:childTnLst>
                                </p:cTn>
                              </p:par>
                            </p:childTnLst>
                          </p:cTn>
                        </p:par>
                        <p:par>
                          <p:cTn id="44" fill="hold" nodeType="afterGroup">
                            <p:stCondLst>
                              <p:cond delay="500"/>
                            </p:stCondLst>
                            <p:childTnLst>
                              <p:par>
                                <p:cTn id="45" presetID="22" presetClass="entr" presetSubtype="8" fill="hold" nodeType="afterEffect">
                                  <p:stCondLst>
                                    <p:cond delay="1000"/>
                                  </p:stCondLst>
                                  <p:childTnLst>
                                    <p:set>
                                      <p:cBhvr>
                                        <p:cTn id="46" dur="1" fill="hold">
                                          <p:stCondLst>
                                            <p:cond delay="0"/>
                                          </p:stCondLst>
                                        </p:cTn>
                                        <p:tgtEl>
                                          <p:spTgt spid="103499"/>
                                        </p:tgtEl>
                                        <p:attrNameLst>
                                          <p:attrName>style.visibility</p:attrName>
                                        </p:attrNameLst>
                                      </p:cBhvr>
                                      <p:to>
                                        <p:strVal val="visible"/>
                                      </p:to>
                                    </p:set>
                                    <p:animEffect transition="in" filter="wipe(left)">
                                      <p:cBhvr>
                                        <p:cTn id="47" dur="500"/>
                                        <p:tgtEl>
                                          <p:spTgt spid="10349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103447"/>
                                        </p:tgtEl>
                                        <p:attrNameLst>
                                          <p:attrName>style.visibility</p:attrName>
                                        </p:attrNameLst>
                                      </p:cBhvr>
                                      <p:to>
                                        <p:strVal val="visible"/>
                                      </p:to>
                                    </p:set>
                                    <p:animEffect transition="in" filter="dissolve">
                                      <p:cBhvr>
                                        <p:cTn id="52" dur="500"/>
                                        <p:tgtEl>
                                          <p:spTgt spid="103447"/>
                                        </p:tgtEl>
                                      </p:cBhvr>
                                    </p:animEffect>
                                  </p:childTnLst>
                                </p:cTn>
                              </p:par>
                            </p:childTnLst>
                          </p:cTn>
                        </p:par>
                        <p:par>
                          <p:cTn id="53" fill="hold" nodeType="afterGroup">
                            <p:stCondLst>
                              <p:cond delay="500"/>
                            </p:stCondLst>
                            <p:childTnLst>
                              <p:par>
                                <p:cTn id="54" presetID="9" presetClass="entr" presetSubtype="0" fill="hold" nodeType="afterEffect">
                                  <p:stCondLst>
                                    <p:cond delay="1000"/>
                                  </p:stCondLst>
                                  <p:childTnLst>
                                    <p:set>
                                      <p:cBhvr>
                                        <p:cTn id="55" dur="1" fill="hold">
                                          <p:stCondLst>
                                            <p:cond delay="0"/>
                                          </p:stCondLst>
                                        </p:cTn>
                                        <p:tgtEl>
                                          <p:spTgt spid="103448"/>
                                        </p:tgtEl>
                                        <p:attrNameLst>
                                          <p:attrName>style.visibility</p:attrName>
                                        </p:attrNameLst>
                                      </p:cBhvr>
                                      <p:to>
                                        <p:strVal val="visible"/>
                                      </p:to>
                                    </p:set>
                                    <p:animEffect transition="in" filter="dissolve">
                                      <p:cBhvr>
                                        <p:cTn id="56" dur="500"/>
                                        <p:tgtEl>
                                          <p:spTgt spid="103448"/>
                                        </p:tgtEl>
                                      </p:cBhvr>
                                    </p:animEffect>
                                  </p:childTnLst>
                                </p:cTn>
                              </p:par>
                            </p:childTnLst>
                          </p:cTn>
                        </p:par>
                        <p:par>
                          <p:cTn id="57" fill="hold" nodeType="afterGroup">
                            <p:stCondLst>
                              <p:cond delay="2000"/>
                            </p:stCondLst>
                            <p:childTnLst>
                              <p:par>
                                <p:cTn id="58" presetID="9" presetClass="entr" presetSubtype="0" fill="hold" nodeType="afterEffect">
                                  <p:stCondLst>
                                    <p:cond delay="1000"/>
                                  </p:stCondLst>
                                  <p:childTnLst>
                                    <p:set>
                                      <p:cBhvr>
                                        <p:cTn id="59" dur="1" fill="hold">
                                          <p:stCondLst>
                                            <p:cond delay="0"/>
                                          </p:stCondLst>
                                        </p:cTn>
                                        <p:tgtEl>
                                          <p:spTgt spid="103449"/>
                                        </p:tgtEl>
                                        <p:attrNameLst>
                                          <p:attrName>style.visibility</p:attrName>
                                        </p:attrNameLst>
                                      </p:cBhvr>
                                      <p:to>
                                        <p:strVal val="visible"/>
                                      </p:to>
                                    </p:set>
                                    <p:animEffect transition="in" filter="dissolve">
                                      <p:cBhvr>
                                        <p:cTn id="60" dur="500"/>
                                        <p:tgtEl>
                                          <p:spTgt spid="103449"/>
                                        </p:tgtEl>
                                      </p:cBhvr>
                                    </p:animEffect>
                                  </p:childTnLst>
                                </p:cTn>
                              </p:par>
                            </p:childTnLst>
                          </p:cTn>
                        </p:par>
                        <p:par>
                          <p:cTn id="61" fill="hold" nodeType="afterGroup">
                            <p:stCondLst>
                              <p:cond delay="3500"/>
                            </p:stCondLst>
                            <p:childTnLst>
                              <p:par>
                                <p:cTn id="62" presetID="9" presetClass="entr" presetSubtype="0" fill="hold" nodeType="afterEffect">
                                  <p:stCondLst>
                                    <p:cond delay="1000"/>
                                  </p:stCondLst>
                                  <p:childTnLst>
                                    <p:set>
                                      <p:cBhvr>
                                        <p:cTn id="63" dur="1" fill="hold">
                                          <p:stCondLst>
                                            <p:cond delay="0"/>
                                          </p:stCondLst>
                                        </p:cTn>
                                        <p:tgtEl>
                                          <p:spTgt spid="103450"/>
                                        </p:tgtEl>
                                        <p:attrNameLst>
                                          <p:attrName>style.visibility</p:attrName>
                                        </p:attrNameLst>
                                      </p:cBhvr>
                                      <p:to>
                                        <p:strVal val="visible"/>
                                      </p:to>
                                    </p:set>
                                    <p:animEffect transition="in" filter="dissolve">
                                      <p:cBhvr>
                                        <p:cTn id="64" dur="500"/>
                                        <p:tgtEl>
                                          <p:spTgt spid="103450"/>
                                        </p:tgtEl>
                                      </p:cBhvr>
                                    </p:animEffect>
                                  </p:childTnLst>
                                </p:cTn>
                              </p:par>
                            </p:childTnLst>
                          </p:cTn>
                        </p:par>
                        <p:par>
                          <p:cTn id="65" fill="hold" nodeType="afterGroup">
                            <p:stCondLst>
                              <p:cond delay="5000"/>
                            </p:stCondLst>
                            <p:childTnLst>
                              <p:par>
                                <p:cTn id="66" presetID="9" presetClass="entr" presetSubtype="0" fill="hold" nodeType="afterEffect">
                                  <p:stCondLst>
                                    <p:cond delay="1000"/>
                                  </p:stCondLst>
                                  <p:childTnLst>
                                    <p:set>
                                      <p:cBhvr>
                                        <p:cTn id="67" dur="1" fill="hold">
                                          <p:stCondLst>
                                            <p:cond delay="0"/>
                                          </p:stCondLst>
                                        </p:cTn>
                                        <p:tgtEl>
                                          <p:spTgt spid="103492"/>
                                        </p:tgtEl>
                                        <p:attrNameLst>
                                          <p:attrName>style.visibility</p:attrName>
                                        </p:attrNameLst>
                                      </p:cBhvr>
                                      <p:to>
                                        <p:strVal val="visible"/>
                                      </p:to>
                                    </p:set>
                                    <p:animEffect transition="in" filter="dissolve">
                                      <p:cBhvr>
                                        <p:cTn id="68" dur="500"/>
                                        <p:tgtEl>
                                          <p:spTgt spid="103492"/>
                                        </p:tgtEl>
                                      </p:cBhvr>
                                    </p:animEffect>
                                  </p:childTnLst>
                                </p:cTn>
                              </p:par>
                            </p:childTnLst>
                          </p:cTn>
                        </p:par>
                        <p:par>
                          <p:cTn id="69" fill="hold" nodeType="afterGroup">
                            <p:stCondLst>
                              <p:cond delay="6500"/>
                            </p:stCondLst>
                            <p:childTnLst>
                              <p:par>
                                <p:cTn id="70" presetID="9" presetClass="entr" presetSubtype="0" fill="hold" nodeType="afterEffect">
                                  <p:stCondLst>
                                    <p:cond delay="1000"/>
                                  </p:stCondLst>
                                  <p:childTnLst>
                                    <p:set>
                                      <p:cBhvr>
                                        <p:cTn id="71" dur="1" fill="hold">
                                          <p:stCondLst>
                                            <p:cond delay="0"/>
                                          </p:stCondLst>
                                        </p:cTn>
                                        <p:tgtEl>
                                          <p:spTgt spid="103493"/>
                                        </p:tgtEl>
                                        <p:attrNameLst>
                                          <p:attrName>style.visibility</p:attrName>
                                        </p:attrNameLst>
                                      </p:cBhvr>
                                      <p:to>
                                        <p:strVal val="visible"/>
                                      </p:to>
                                    </p:set>
                                    <p:animEffect transition="in" filter="dissolve">
                                      <p:cBhvr>
                                        <p:cTn id="72" dur="500"/>
                                        <p:tgtEl>
                                          <p:spTgt spid="103493"/>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1" fill="hold" nodeType="clickEffect">
                                  <p:stCondLst>
                                    <p:cond delay="0"/>
                                  </p:stCondLst>
                                  <p:childTnLst>
                                    <p:set>
                                      <p:cBhvr>
                                        <p:cTn id="76" dur="1" fill="hold">
                                          <p:stCondLst>
                                            <p:cond delay="0"/>
                                          </p:stCondLst>
                                        </p:cTn>
                                        <p:tgtEl>
                                          <p:spTgt spid="103451"/>
                                        </p:tgtEl>
                                        <p:attrNameLst>
                                          <p:attrName>style.visibility</p:attrName>
                                        </p:attrNameLst>
                                      </p:cBhvr>
                                      <p:to>
                                        <p:strVal val="visible"/>
                                      </p:to>
                                    </p:set>
                                    <p:animEffect transition="in" filter="wipe(up)">
                                      <p:cBhvr>
                                        <p:cTn id="77" dur="500"/>
                                        <p:tgtEl>
                                          <p:spTgt spid="103451"/>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1" fill="hold" nodeType="clickEffect">
                                  <p:stCondLst>
                                    <p:cond delay="0"/>
                                  </p:stCondLst>
                                  <p:childTnLst>
                                    <p:set>
                                      <p:cBhvr>
                                        <p:cTn id="81" dur="1" fill="hold">
                                          <p:stCondLst>
                                            <p:cond delay="0"/>
                                          </p:stCondLst>
                                        </p:cTn>
                                        <p:tgtEl>
                                          <p:spTgt spid="103452">
                                            <p:bg/>
                                          </p:spTgt>
                                        </p:tgtEl>
                                        <p:attrNameLst>
                                          <p:attrName>style.visibility</p:attrName>
                                        </p:attrNameLst>
                                      </p:cBhvr>
                                      <p:to>
                                        <p:strVal val="visible"/>
                                      </p:to>
                                    </p:set>
                                    <p:animEffect transition="in" filter="wipe(up)">
                                      <p:cBhvr>
                                        <p:cTn id="82" dur="500"/>
                                        <p:tgtEl>
                                          <p:spTgt spid="103452">
                                            <p:bg/>
                                          </p:spTgt>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1" fill="hold" nodeType="clickEffect">
                                  <p:stCondLst>
                                    <p:cond delay="0"/>
                                  </p:stCondLst>
                                  <p:childTnLst>
                                    <p:set>
                                      <p:cBhvr>
                                        <p:cTn id="86" dur="1" fill="hold">
                                          <p:stCondLst>
                                            <p:cond delay="0"/>
                                          </p:stCondLst>
                                        </p:cTn>
                                        <p:tgtEl>
                                          <p:spTgt spid="103452">
                                            <p:txEl>
                                              <p:pRg st="0" end="0"/>
                                            </p:txEl>
                                          </p:spTgt>
                                        </p:tgtEl>
                                        <p:attrNameLst>
                                          <p:attrName>style.visibility</p:attrName>
                                        </p:attrNameLst>
                                      </p:cBhvr>
                                      <p:to>
                                        <p:strVal val="visible"/>
                                      </p:to>
                                    </p:set>
                                    <p:animEffect transition="in" filter="wipe(up)">
                                      <p:cBhvr>
                                        <p:cTn id="87" dur="500"/>
                                        <p:tgtEl>
                                          <p:spTgt spid="103452">
                                            <p:txEl>
                                              <p:pRg st="0" end="0"/>
                                            </p:txEl>
                                          </p:spTgt>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1" fill="hold" nodeType="clickEffect">
                                  <p:stCondLst>
                                    <p:cond delay="0"/>
                                  </p:stCondLst>
                                  <p:childTnLst>
                                    <p:set>
                                      <p:cBhvr>
                                        <p:cTn id="91" dur="1" fill="hold">
                                          <p:stCondLst>
                                            <p:cond delay="0"/>
                                          </p:stCondLst>
                                        </p:cTn>
                                        <p:tgtEl>
                                          <p:spTgt spid="103452">
                                            <p:txEl>
                                              <p:pRg st="1" end="1"/>
                                            </p:txEl>
                                          </p:spTgt>
                                        </p:tgtEl>
                                        <p:attrNameLst>
                                          <p:attrName>style.visibility</p:attrName>
                                        </p:attrNameLst>
                                      </p:cBhvr>
                                      <p:to>
                                        <p:strVal val="visible"/>
                                      </p:to>
                                    </p:set>
                                    <p:animEffect transition="in" filter="wipe(up)">
                                      <p:cBhvr>
                                        <p:cTn id="92" dur="500"/>
                                        <p:tgtEl>
                                          <p:spTgt spid="103452">
                                            <p:txEl>
                                              <p:pRg st="1" end="1"/>
                                            </p:txEl>
                                          </p:spTgt>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1" fill="hold" nodeType="clickEffect">
                                  <p:stCondLst>
                                    <p:cond delay="0"/>
                                  </p:stCondLst>
                                  <p:childTnLst>
                                    <p:set>
                                      <p:cBhvr>
                                        <p:cTn id="96" dur="1" fill="hold">
                                          <p:stCondLst>
                                            <p:cond delay="0"/>
                                          </p:stCondLst>
                                        </p:cTn>
                                        <p:tgtEl>
                                          <p:spTgt spid="103452">
                                            <p:txEl>
                                              <p:pRg st="2" end="2"/>
                                            </p:txEl>
                                          </p:spTgt>
                                        </p:tgtEl>
                                        <p:attrNameLst>
                                          <p:attrName>style.visibility</p:attrName>
                                        </p:attrNameLst>
                                      </p:cBhvr>
                                      <p:to>
                                        <p:strVal val="visible"/>
                                      </p:to>
                                    </p:set>
                                    <p:animEffect transition="in" filter="wipe(up)">
                                      <p:cBhvr>
                                        <p:cTn id="97" dur="500"/>
                                        <p:tgtEl>
                                          <p:spTgt spid="10345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35" grpId="0" autoUpdateAnimBg="0"/>
      <p:bldP spid="103447" grpId="0" animBg="1" autoUpdateAnimBg="0"/>
      <p:bldP spid="103448" grpId="0" animBg="1" autoUpdateAnimBg="0"/>
      <p:bldP spid="103449" grpId="0" animBg="1" autoUpdateAnimBg="0"/>
      <p:bldP spid="103450" grpId="0" animBg="1" autoUpdateAnimBg="0"/>
      <p:bldP spid="103451" grpId="0" autoUpdateAnimBg="0"/>
      <p:bldP spid="103452" grpId="0" build="p" animBg="1" autoUpdateAnimBg="0"/>
      <p:bldP spid="103492" grpId="0" animBg="1" autoUpdateAnimBg="0"/>
      <p:bldP spid="103493" grpId="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0532" name="Picture 4">
            <a:extLst>
              <a:ext uri="{FF2B5EF4-FFF2-40B4-BE49-F238E27FC236}">
                <a16:creationId xmlns:a16="http://schemas.microsoft.com/office/drawing/2014/main" id="{CE42F401-0316-9C4B-358B-E968BE4366A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066800" y="2057400"/>
            <a:ext cx="6481763" cy="42640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0537" name="Text Box 9">
            <a:extLst>
              <a:ext uri="{FF2B5EF4-FFF2-40B4-BE49-F238E27FC236}">
                <a16:creationId xmlns:a16="http://schemas.microsoft.com/office/drawing/2014/main" id="{C4670AD1-0E9A-600B-1D99-AC46C404558E}"/>
              </a:ext>
            </a:extLst>
          </p:cNvPr>
          <p:cNvSpPr txBox="1">
            <a:spLocks noChangeArrowheads="1"/>
          </p:cNvSpPr>
          <p:nvPr/>
        </p:nvSpPr>
        <p:spPr bwMode="auto">
          <a:xfrm>
            <a:off x="688181" y="1371600"/>
            <a:ext cx="7239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The sample space of throwing a pair of dice is</a:t>
            </a:r>
          </a:p>
        </p:txBody>
      </p:sp>
    </p:spTree>
  </p:cSld>
  <p:clrMapOvr>
    <a:masterClrMapping/>
  </p:clrMapOvr>
  <p:transition spd="slow">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665" name="Group 65">
            <a:extLst>
              <a:ext uri="{FF2B5EF4-FFF2-40B4-BE49-F238E27FC236}">
                <a16:creationId xmlns:a16="http://schemas.microsoft.com/office/drawing/2014/main" id="{BB336F36-5510-19CE-1EE9-09B49E051F16}"/>
              </a:ext>
            </a:extLst>
          </p:cNvPr>
          <p:cNvGraphicFramePr>
            <a:graphicFrameLocks noGrp="1"/>
          </p:cNvGraphicFramePr>
          <p:nvPr>
            <p:ph idx="1"/>
          </p:nvPr>
        </p:nvGraphicFramePr>
        <p:xfrm>
          <a:off x="304800" y="1295400"/>
          <a:ext cx="8458200" cy="4840161"/>
        </p:xfrm>
        <a:graphic>
          <a:graphicData uri="http://schemas.openxmlformats.org/drawingml/2006/table">
            <a:tbl>
              <a:tblPr/>
              <a:tblGrid>
                <a:gridCol w="2895600">
                  <a:extLst>
                    <a:ext uri="{9D8B030D-6E8A-4147-A177-3AD203B41FA5}">
                      <a16:colId xmlns:a16="http://schemas.microsoft.com/office/drawing/2014/main" val="1338473110"/>
                    </a:ext>
                  </a:extLst>
                </a:gridCol>
                <a:gridCol w="3406775">
                  <a:extLst>
                    <a:ext uri="{9D8B030D-6E8A-4147-A177-3AD203B41FA5}">
                      <a16:colId xmlns:a16="http://schemas.microsoft.com/office/drawing/2014/main" val="2597887597"/>
                    </a:ext>
                  </a:extLst>
                </a:gridCol>
                <a:gridCol w="2155825">
                  <a:extLst>
                    <a:ext uri="{9D8B030D-6E8A-4147-A177-3AD203B41FA5}">
                      <a16:colId xmlns:a16="http://schemas.microsoft.com/office/drawing/2014/main" val="1731378163"/>
                    </a:ext>
                  </a:extLst>
                </a:gridCol>
              </a:tblGrid>
              <a:tr h="1028700">
                <a:tc>
                  <a:txBody>
                    <a:bodyPr/>
                    <a:lstStyle>
                      <a:lvl1pPr>
                        <a:spcBef>
                          <a:spcPct val="20000"/>
                        </a:spcBef>
                        <a:defRPr sz="3200">
                          <a:solidFill>
                            <a:srgbClr val="339933"/>
                          </a:solidFill>
                          <a:latin typeface="Times New Roman" panose="02020603050405020304" pitchFamily="18" charset="0"/>
                        </a:defRPr>
                      </a:lvl1pPr>
                      <a:lvl2pPr>
                        <a:spcBef>
                          <a:spcPct val="20000"/>
                        </a:spcBef>
                        <a:defRPr sz="3200">
                          <a:solidFill>
                            <a:srgbClr val="339933"/>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sz="2000">
                          <a:solidFill>
                            <a:schemeClr val="tx1"/>
                          </a:solidFill>
                          <a:latin typeface="Times New Roman" panose="02020603050405020304" pitchFamily="18" charset="0"/>
                        </a:defRPr>
                      </a:lvl4pPr>
                      <a:lvl5pPr>
                        <a:spcBef>
                          <a:spcPct val="20000"/>
                        </a:spcBef>
                        <a:defRPr sz="2000">
                          <a:solidFill>
                            <a:schemeClr val="tx1"/>
                          </a:solidFill>
                          <a:latin typeface="Times New Roman" panose="02020603050405020304" pitchFamily="18" charset="0"/>
                        </a:defRPr>
                      </a:lvl5pPr>
                      <a:lvl6pPr fontAlgn="base">
                        <a:spcBef>
                          <a:spcPct val="20000"/>
                        </a:spcBef>
                        <a:spcAft>
                          <a:spcPct val="0"/>
                        </a:spcAft>
                        <a:defRPr sz="2000">
                          <a:solidFill>
                            <a:schemeClr val="tx1"/>
                          </a:solidFill>
                          <a:latin typeface="Times New Roman" panose="02020603050405020304" pitchFamily="18" charset="0"/>
                        </a:defRPr>
                      </a:lvl6pPr>
                      <a:lvl7pPr fontAlgn="base">
                        <a:spcBef>
                          <a:spcPct val="20000"/>
                        </a:spcBef>
                        <a:spcAft>
                          <a:spcPct val="0"/>
                        </a:spcAft>
                        <a:defRPr sz="2000">
                          <a:solidFill>
                            <a:schemeClr val="tx1"/>
                          </a:solidFill>
                          <a:latin typeface="Times New Roman" panose="02020603050405020304" pitchFamily="18" charset="0"/>
                        </a:defRPr>
                      </a:lvl7pPr>
                      <a:lvl8pPr fontAlgn="base">
                        <a:spcBef>
                          <a:spcPct val="20000"/>
                        </a:spcBef>
                        <a:spcAft>
                          <a:spcPct val="0"/>
                        </a:spcAft>
                        <a:defRPr sz="2000">
                          <a:solidFill>
                            <a:schemeClr val="tx1"/>
                          </a:solidFill>
                          <a:latin typeface="Times New Roman" panose="02020603050405020304" pitchFamily="18" charset="0"/>
                        </a:defRPr>
                      </a:lvl8pPr>
                      <a:lvl9pPr fontAlgn="base">
                        <a:spcBef>
                          <a:spcPct val="20000"/>
                        </a:spcBef>
                        <a:spcAft>
                          <a:spcPct val="0"/>
                        </a:spcAft>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rgbClr val="339933"/>
                          </a:solidFill>
                          <a:effectLst/>
                          <a:latin typeface="Times New Roman" panose="02020603050405020304" pitchFamily="18" charset="0"/>
                        </a:rPr>
                        <a:t>Event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3200">
                          <a:solidFill>
                            <a:srgbClr val="339933"/>
                          </a:solidFill>
                          <a:latin typeface="Times New Roman" panose="02020603050405020304" pitchFamily="18" charset="0"/>
                        </a:defRPr>
                      </a:lvl1pPr>
                      <a:lvl2pPr>
                        <a:spcBef>
                          <a:spcPct val="20000"/>
                        </a:spcBef>
                        <a:defRPr sz="3200">
                          <a:solidFill>
                            <a:srgbClr val="339933"/>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sz="2000">
                          <a:solidFill>
                            <a:schemeClr val="tx1"/>
                          </a:solidFill>
                          <a:latin typeface="Times New Roman" panose="02020603050405020304" pitchFamily="18" charset="0"/>
                        </a:defRPr>
                      </a:lvl4pPr>
                      <a:lvl5pPr>
                        <a:spcBef>
                          <a:spcPct val="20000"/>
                        </a:spcBef>
                        <a:defRPr sz="2000">
                          <a:solidFill>
                            <a:schemeClr val="tx1"/>
                          </a:solidFill>
                          <a:latin typeface="Times New Roman" panose="02020603050405020304" pitchFamily="18" charset="0"/>
                        </a:defRPr>
                      </a:lvl5pPr>
                      <a:lvl6pPr fontAlgn="base">
                        <a:spcBef>
                          <a:spcPct val="20000"/>
                        </a:spcBef>
                        <a:spcAft>
                          <a:spcPct val="0"/>
                        </a:spcAft>
                        <a:defRPr sz="2000">
                          <a:solidFill>
                            <a:schemeClr val="tx1"/>
                          </a:solidFill>
                          <a:latin typeface="Times New Roman" panose="02020603050405020304" pitchFamily="18" charset="0"/>
                        </a:defRPr>
                      </a:lvl6pPr>
                      <a:lvl7pPr fontAlgn="base">
                        <a:spcBef>
                          <a:spcPct val="20000"/>
                        </a:spcBef>
                        <a:spcAft>
                          <a:spcPct val="0"/>
                        </a:spcAft>
                        <a:defRPr sz="2000">
                          <a:solidFill>
                            <a:schemeClr val="tx1"/>
                          </a:solidFill>
                          <a:latin typeface="Times New Roman" panose="02020603050405020304" pitchFamily="18" charset="0"/>
                        </a:defRPr>
                      </a:lvl7pPr>
                      <a:lvl8pPr fontAlgn="base">
                        <a:spcBef>
                          <a:spcPct val="20000"/>
                        </a:spcBef>
                        <a:spcAft>
                          <a:spcPct val="0"/>
                        </a:spcAft>
                        <a:defRPr sz="2000">
                          <a:solidFill>
                            <a:schemeClr val="tx1"/>
                          </a:solidFill>
                          <a:latin typeface="Times New Roman" panose="02020603050405020304" pitchFamily="18" charset="0"/>
                        </a:defRPr>
                      </a:lvl8pPr>
                      <a:lvl9pPr fontAlgn="base">
                        <a:spcBef>
                          <a:spcPct val="20000"/>
                        </a:spcBef>
                        <a:spcAft>
                          <a:spcPct val="0"/>
                        </a:spcAft>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rgbClr val="339933"/>
                          </a:solidFill>
                          <a:effectLst/>
                          <a:latin typeface="Times New Roman" panose="02020603050405020304" pitchFamily="18" charset="0"/>
                        </a:rPr>
                        <a:t>Simple events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3200">
                          <a:solidFill>
                            <a:srgbClr val="339933"/>
                          </a:solidFill>
                          <a:latin typeface="Times New Roman" panose="02020603050405020304" pitchFamily="18" charset="0"/>
                        </a:defRPr>
                      </a:lvl1pPr>
                      <a:lvl2pPr>
                        <a:spcBef>
                          <a:spcPct val="20000"/>
                        </a:spcBef>
                        <a:defRPr sz="3200">
                          <a:solidFill>
                            <a:srgbClr val="339933"/>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sz="2000">
                          <a:solidFill>
                            <a:schemeClr val="tx1"/>
                          </a:solidFill>
                          <a:latin typeface="Times New Roman" panose="02020603050405020304" pitchFamily="18" charset="0"/>
                        </a:defRPr>
                      </a:lvl4pPr>
                      <a:lvl5pPr>
                        <a:spcBef>
                          <a:spcPct val="20000"/>
                        </a:spcBef>
                        <a:defRPr sz="2000">
                          <a:solidFill>
                            <a:schemeClr val="tx1"/>
                          </a:solidFill>
                          <a:latin typeface="Times New Roman" panose="02020603050405020304" pitchFamily="18" charset="0"/>
                        </a:defRPr>
                      </a:lvl5pPr>
                      <a:lvl6pPr fontAlgn="base">
                        <a:spcBef>
                          <a:spcPct val="20000"/>
                        </a:spcBef>
                        <a:spcAft>
                          <a:spcPct val="0"/>
                        </a:spcAft>
                        <a:defRPr sz="2000">
                          <a:solidFill>
                            <a:schemeClr val="tx1"/>
                          </a:solidFill>
                          <a:latin typeface="Times New Roman" panose="02020603050405020304" pitchFamily="18" charset="0"/>
                        </a:defRPr>
                      </a:lvl6pPr>
                      <a:lvl7pPr fontAlgn="base">
                        <a:spcBef>
                          <a:spcPct val="20000"/>
                        </a:spcBef>
                        <a:spcAft>
                          <a:spcPct val="0"/>
                        </a:spcAft>
                        <a:defRPr sz="2000">
                          <a:solidFill>
                            <a:schemeClr val="tx1"/>
                          </a:solidFill>
                          <a:latin typeface="Times New Roman" panose="02020603050405020304" pitchFamily="18" charset="0"/>
                        </a:defRPr>
                      </a:lvl7pPr>
                      <a:lvl8pPr fontAlgn="base">
                        <a:spcBef>
                          <a:spcPct val="20000"/>
                        </a:spcBef>
                        <a:spcAft>
                          <a:spcPct val="0"/>
                        </a:spcAft>
                        <a:defRPr sz="2000">
                          <a:solidFill>
                            <a:schemeClr val="tx1"/>
                          </a:solidFill>
                          <a:latin typeface="Times New Roman" panose="02020603050405020304" pitchFamily="18" charset="0"/>
                        </a:defRPr>
                      </a:lvl8pPr>
                      <a:lvl9pPr fontAlgn="base">
                        <a:spcBef>
                          <a:spcPct val="20000"/>
                        </a:spcBef>
                        <a:spcAft>
                          <a:spcPct val="0"/>
                        </a:spcAft>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rgbClr val="339933"/>
                          </a:solidFill>
                          <a:effectLst/>
                          <a:latin typeface="Times New Roman" panose="02020603050405020304" pitchFamily="18" charset="0"/>
                        </a:rPr>
                        <a:t>Probability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66470788"/>
                  </a:ext>
                </a:extLst>
              </a:tr>
              <a:tr h="647700">
                <a:tc>
                  <a:txBody>
                    <a:bodyPr/>
                    <a:lstStyle>
                      <a:lvl1pPr>
                        <a:spcBef>
                          <a:spcPct val="20000"/>
                        </a:spcBef>
                        <a:defRPr sz="3200">
                          <a:solidFill>
                            <a:srgbClr val="339933"/>
                          </a:solidFill>
                          <a:latin typeface="Times New Roman" panose="02020603050405020304" pitchFamily="18" charset="0"/>
                        </a:defRPr>
                      </a:lvl1pPr>
                      <a:lvl2pPr>
                        <a:spcBef>
                          <a:spcPct val="20000"/>
                        </a:spcBef>
                        <a:defRPr sz="3200">
                          <a:solidFill>
                            <a:srgbClr val="339933"/>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sz="2000">
                          <a:solidFill>
                            <a:schemeClr val="tx1"/>
                          </a:solidFill>
                          <a:latin typeface="Times New Roman" panose="02020603050405020304" pitchFamily="18" charset="0"/>
                        </a:defRPr>
                      </a:lvl4pPr>
                      <a:lvl5pPr>
                        <a:spcBef>
                          <a:spcPct val="20000"/>
                        </a:spcBef>
                        <a:defRPr sz="2000">
                          <a:solidFill>
                            <a:schemeClr val="tx1"/>
                          </a:solidFill>
                          <a:latin typeface="Times New Roman" panose="02020603050405020304" pitchFamily="18" charset="0"/>
                        </a:defRPr>
                      </a:lvl5pPr>
                      <a:lvl6pPr fontAlgn="base">
                        <a:spcBef>
                          <a:spcPct val="20000"/>
                        </a:spcBef>
                        <a:spcAft>
                          <a:spcPct val="0"/>
                        </a:spcAft>
                        <a:defRPr sz="2000">
                          <a:solidFill>
                            <a:schemeClr val="tx1"/>
                          </a:solidFill>
                          <a:latin typeface="Times New Roman" panose="02020603050405020304" pitchFamily="18" charset="0"/>
                        </a:defRPr>
                      </a:lvl6pPr>
                      <a:lvl7pPr fontAlgn="base">
                        <a:spcBef>
                          <a:spcPct val="20000"/>
                        </a:spcBef>
                        <a:spcAft>
                          <a:spcPct val="0"/>
                        </a:spcAft>
                        <a:defRPr sz="2000">
                          <a:solidFill>
                            <a:schemeClr val="tx1"/>
                          </a:solidFill>
                          <a:latin typeface="Times New Roman" panose="02020603050405020304" pitchFamily="18" charset="0"/>
                        </a:defRPr>
                      </a:lvl7pPr>
                      <a:lvl8pPr fontAlgn="base">
                        <a:spcBef>
                          <a:spcPct val="20000"/>
                        </a:spcBef>
                        <a:spcAft>
                          <a:spcPct val="0"/>
                        </a:spcAft>
                        <a:defRPr sz="2000">
                          <a:solidFill>
                            <a:schemeClr val="tx1"/>
                          </a:solidFill>
                          <a:latin typeface="Times New Roman" panose="02020603050405020304" pitchFamily="18" charset="0"/>
                        </a:defRPr>
                      </a:lvl8pPr>
                      <a:lvl9pPr fontAlgn="base">
                        <a:spcBef>
                          <a:spcPct val="20000"/>
                        </a:spcBef>
                        <a:spcAft>
                          <a:spcPct val="0"/>
                        </a:spcAft>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Dice add to 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3200">
                          <a:solidFill>
                            <a:srgbClr val="339933"/>
                          </a:solidFill>
                          <a:latin typeface="Times New Roman" panose="02020603050405020304" pitchFamily="18" charset="0"/>
                        </a:defRPr>
                      </a:lvl1pPr>
                      <a:lvl2pPr>
                        <a:spcBef>
                          <a:spcPct val="20000"/>
                        </a:spcBef>
                        <a:defRPr sz="3200">
                          <a:solidFill>
                            <a:srgbClr val="339933"/>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sz="2000">
                          <a:solidFill>
                            <a:schemeClr val="tx1"/>
                          </a:solidFill>
                          <a:latin typeface="Times New Roman" panose="02020603050405020304" pitchFamily="18" charset="0"/>
                        </a:defRPr>
                      </a:lvl4pPr>
                      <a:lvl5pPr>
                        <a:spcBef>
                          <a:spcPct val="20000"/>
                        </a:spcBef>
                        <a:defRPr sz="2000">
                          <a:solidFill>
                            <a:schemeClr val="tx1"/>
                          </a:solidFill>
                          <a:latin typeface="Times New Roman" panose="02020603050405020304" pitchFamily="18" charset="0"/>
                        </a:defRPr>
                      </a:lvl5pPr>
                      <a:lvl6pPr fontAlgn="base">
                        <a:spcBef>
                          <a:spcPct val="20000"/>
                        </a:spcBef>
                        <a:spcAft>
                          <a:spcPct val="0"/>
                        </a:spcAft>
                        <a:defRPr sz="2000">
                          <a:solidFill>
                            <a:schemeClr val="tx1"/>
                          </a:solidFill>
                          <a:latin typeface="Times New Roman" panose="02020603050405020304" pitchFamily="18" charset="0"/>
                        </a:defRPr>
                      </a:lvl6pPr>
                      <a:lvl7pPr fontAlgn="base">
                        <a:spcBef>
                          <a:spcPct val="20000"/>
                        </a:spcBef>
                        <a:spcAft>
                          <a:spcPct val="0"/>
                        </a:spcAft>
                        <a:defRPr sz="2000">
                          <a:solidFill>
                            <a:schemeClr val="tx1"/>
                          </a:solidFill>
                          <a:latin typeface="Times New Roman" panose="02020603050405020304" pitchFamily="18" charset="0"/>
                        </a:defRPr>
                      </a:lvl7pPr>
                      <a:lvl8pPr fontAlgn="base">
                        <a:spcBef>
                          <a:spcPct val="20000"/>
                        </a:spcBef>
                        <a:spcAft>
                          <a:spcPct val="0"/>
                        </a:spcAft>
                        <a:defRPr sz="2000">
                          <a:solidFill>
                            <a:schemeClr val="tx1"/>
                          </a:solidFill>
                          <a:latin typeface="Times New Roman" panose="02020603050405020304" pitchFamily="18" charset="0"/>
                        </a:defRPr>
                      </a:lvl8pPr>
                      <a:lvl9pPr fontAlgn="base">
                        <a:spcBef>
                          <a:spcPct val="20000"/>
                        </a:spcBef>
                        <a:spcAft>
                          <a:spcPct val="0"/>
                        </a:spcAft>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(1,2),(2,1)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3200">
                          <a:solidFill>
                            <a:srgbClr val="339933"/>
                          </a:solidFill>
                          <a:latin typeface="Times New Roman" panose="02020603050405020304" pitchFamily="18" charset="0"/>
                        </a:defRPr>
                      </a:lvl1pPr>
                      <a:lvl2pPr>
                        <a:spcBef>
                          <a:spcPct val="20000"/>
                        </a:spcBef>
                        <a:defRPr sz="3200">
                          <a:solidFill>
                            <a:srgbClr val="339933"/>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sz="2000">
                          <a:solidFill>
                            <a:schemeClr val="tx1"/>
                          </a:solidFill>
                          <a:latin typeface="Times New Roman" panose="02020603050405020304" pitchFamily="18" charset="0"/>
                        </a:defRPr>
                      </a:lvl4pPr>
                      <a:lvl5pPr>
                        <a:spcBef>
                          <a:spcPct val="20000"/>
                        </a:spcBef>
                        <a:defRPr sz="2000">
                          <a:solidFill>
                            <a:schemeClr val="tx1"/>
                          </a:solidFill>
                          <a:latin typeface="Times New Roman" panose="02020603050405020304" pitchFamily="18" charset="0"/>
                        </a:defRPr>
                      </a:lvl5pPr>
                      <a:lvl6pPr fontAlgn="base">
                        <a:spcBef>
                          <a:spcPct val="20000"/>
                        </a:spcBef>
                        <a:spcAft>
                          <a:spcPct val="0"/>
                        </a:spcAft>
                        <a:defRPr sz="2000">
                          <a:solidFill>
                            <a:schemeClr val="tx1"/>
                          </a:solidFill>
                          <a:latin typeface="Times New Roman" panose="02020603050405020304" pitchFamily="18" charset="0"/>
                        </a:defRPr>
                      </a:lvl6pPr>
                      <a:lvl7pPr fontAlgn="base">
                        <a:spcBef>
                          <a:spcPct val="20000"/>
                        </a:spcBef>
                        <a:spcAft>
                          <a:spcPct val="0"/>
                        </a:spcAft>
                        <a:defRPr sz="2000">
                          <a:solidFill>
                            <a:schemeClr val="tx1"/>
                          </a:solidFill>
                          <a:latin typeface="Times New Roman" panose="02020603050405020304" pitchFamily="18" charset="0"/>
                        </a:defRPr>
                      </a:lvl7pPr>
                      <a:lvl8pPr fontAlgn="base">
                        <a:spcBef>
                          <a:spcPct val="20000"/>
                        </a:spcBef>
                        <a:spcAft>
                          <a:spcPct val="0"/>
                        </a:spcAft>
                        <a:defRPr sz="2000">
                          <a:solidFill>
                            <a:schemeClr val="tx1"/>
                          </a:solidFill>
                          <a:latin typeface="Times New Roman" panose="02020603050405020304" pitchFamily="18" charset="0"/>
                        </a:defRPr>
                      </a:lvl8pPr>
                      <a:lvl9pPr fontAlgn="base">
                        <a:spcBef>
                          <a:spcPct val="20000"/>
                        </a:spcBef>
                        <a:spcAft>
                          <a:spcPct val="0"/>
                        </a:spcAft>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2/36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14062920"/>
                  </a:ext>
                </a:extLst>
              </a:tr>
              <a:tr h="1028700">
                <a:tc>
                  <a:txBody>
                    <a:bodyPr/>
                    <a:lstStyle>
                      <a:lvl1pPr>
                        <a:spcBef>
                          <a:spcPct val="20000"/>
                        </a:spcBef>
                        <a:defRPr sz="3200">
                          <a:solidFill>
                            <a:srgbClr val="339933"/>
                          </a:solidFill>
                          <a:latin typeface="Times New Roman" panose="02020603050405020304" pitchFamily="18" charset="0"/>
                        </a:defRPr>
                      </a:lvl1pPr>
                      <a:lvl2pPr>
                        <a:spcBef>
                          <a:spcPct val="20000"/>
                        </a:spcBef>
                        <a:defRPr sz="3200">
                          <a:solidFill>
                            <a:srgbClr val="339933"/>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sz="2000">
                          <a:solidFill>
                            <a:schemeClr val="tx1"/>
                          </a:solidFill>
                          <a:latin typeface="Times New Roman" panose="02020603050405020304" pitchFamily="18" charset="0"/>
                        </a:defRPr>
                      </a:lvl4pPr>
                      <a:lvl5pPr>
                        <a:spcBef>
                          <a:spcPct val="20000"/>
                        </a:spcBef>
                        <a:defRPr sz="2000">
                          <a:solidFill>
                            <a:schemeClr val="tx1"/>
                          </a:solidFill>
                          <a:latin typeface="Times New Roman" panose="02020603050405020304" pitchFamily="18" charset="0"/>
                        </a:defRPr>
                      </a:lvl5pPr>
                      <a:lvl6pPr fontAlgn="base">
                        <a:spcBef>
                          <a:spcPct val="20000"/>
                        </a:spcBef>
                        <a:spcAft>
                          <a:spcPct val="0"/>
                        </a:spcAft>
                        <a:defRPr sz="2000">
                          <a:solidFill>
                            <a:schemeClr val="tx1"/>
                          </a:solidFill>
                          <a:latin typeface="Times New Roman" panose="02020603050405020304" pitchFamily="18" charset="0"/>
                        </a:defRPr>
                      </a:lvl6pPr>
                      <a:lvl7pPr fontAlgn="base">
                        <a:spcBef>
                          <a:spcPct val="20000"/>
                        </a:spcBef>
                        <a:spcAft>
                          <a:spcPct val="0"/>
                        </a:spcAft>
                        <a:defRPr sz="2000">
                          <a:solidFill>
                            <a:schemeClr val="tx1"/>
                          </a:solidFill>
                          <a:latin typeface="Times New Roman" panose="02020603050405020304" pitchFamily="18" charset="0"/>
                        </a:defRPr>
                      </a:lvl7pPr>
                      <a:lvl8pPr fontAlgn="base">
                        <a:spcBef>
                          <a:spcPct val="20000"/>
                        </a:spcBef>
                        <a:spcAft>
                          <a:spcPct val="0"/>
                        </a:spcAft>
                        <a:defRPr sz="2000">
                          <a:solidFill>
                            <a:schemeClr val="tx1"/>
                          </a:solidFill>
                          <a:latin typeface="Times New Roman" panose="02020603050405020304" pitchFamily="18" charset="0"/>
                        </a:defRPr>
                      </a:lvl8pPr>
                      <a:lvl9pPr fontAlgn="base">
                        <a:spcBef>
                          <a:spcPct val="20000"/>
                        </a:spcBef>
                        <a:spcAft>
                          <a:spcPct val="0"/>
                        </a:spcAft>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Dice add to 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3200">
                          <a:solidFill>
                            <a:srgbClr val="339933"/>
                          </a:solidFill>
                          <a:latin typeface="Times New Roman" panose="02020603050405020304" pitchFamily="18" charset="0"/>
                        </a:defRPr>
                      </a:lvl1pPr>
                      <a:lvl2pPr>
                        <a:spcBef>
                          <a:spcPct val="20000"/>
                        </a:spcBef>
                        <a:defRPr sz="3200">
                          <a:solidFill>
                            <a:srgbClr val="339933"/>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sz="2000">
                          <a:solidFill>
                            <a:schemeClr val="tx1"/>
                          </a:solidFill>
                          <a:latin typeface="Times New Roman" panose="02020603050405020304" pitchFamily="18" charset="0"/>
                        </a:defRPr>
                      </a:lvl4pPr>
                      <a:lvl5pPr>
                        <a:spcBef>
                          <a:spcPct val="20000"/>
                        </a:spcBef>
                        <a:defRPr sz="2000">
                          <a:solidFill>
                            <a:schemeClr val="tx1"/>
                          </a:solidFill>
                          <a:latin typeface="Times New Roman" panose="02020603050405020304" pitchFamily="18" charset="0"/>
                        </a:defRPr>
                      </a:lvl5pPr>
                      <a:lvl6pPr fontAlgn="base">
                        <a:spcBef>
                          <a:spcPct val="20000"/>
                        </a:spcBef>
                        <a:spcAft>
                          <a:spcPct val="0"/>
                        </a:spcAft>
                        <a:defRPr sz="2000">
                          <a:solidFill>
                            <a:schemeClr val="tx1"/>
                          </a:solidFill>
                          <a:latin typeface="Times New Roman" panose="02020603050405020304" pitchFamily="18" charset="0"/>
                        </a:defRPr>
                      </a:lvl6pPr>
                      <a:lvl7pPr fontAlgn="base">
                        <a:spcBef>
                          <a:spcPct val="20000"/>
                        </a:spcBef>
                        <a:spcAft>
                          <a:spcPct val="0"/>
                        </a:spcAft>
                        <a:defRPr sz="2000">
                          <a:solidFill>
                            <a:schemeClr val="tx1"/>
                          </a:solidFill>
                          <a:latin typeface="Times New Roman" panose="02020603050405020304" pitchFamily="18" charset="0"/>
                        </a:defRPr>
                      </a:lvl7pPr>
                      <a:lvl8pPr fontAlgn="base">
                        <a:spcBef>
                          <a:spcPct val="20000"/>
                        </a:spcBef>
                        <a:spcAft>
                          <a:spcPct val="0"/>
                        </a:spcAft>
                        <a:defRPr sz="2000">
                          <a:solidFill>
                            <a:schemeClr val="tx1"/>
                          </a:solidFill>
                          <a:latin typeface="Times New Roman" panose="02020603050405020304" pitchFamily="18" charset="0"/>
                        </a:defRPr>
                      </a:lvl8pPr>
                      <a:lvl9pPr fontAlgn="base">
                        <a:spcBef>
                          <a:spcPct val="20000"/>
                        </a:spcBef>
                        <a:spcAft>
                          <a:spcPct val="0"/>
                        </a:spcAft>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(1,5),(2,4),(3,3),</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(4,2),(5,1)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3200">
                          <a:solidFill>
                            <a:srgbClr val="339933"/>
                          </a:solidFill>
                          <a:latin typeface="Times New Roman" panose="02020603050405020304" pitchFamily="18" charset="0"/>
                        </a:defRPr>
                      </a:lvl1pPr>
                      <a:lvl2pPr>
                        <a:spcBef>
                          <a:spcPct val="20000"/>
                        </a:spcBef>
                        <a:defRPr sz="3200">
                          <a:solidFill>
                            <a:srgbClr val="339933"/>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sz="2000">
                          <a:solidFill>
                            <a:schemeClr val="tx1"/>
                          </a:solidFill>
                          <a:latin typeface="Times New Roman" panose="02020603050405020304" pitchFamily="18" charset="0"/>
                        </a:defRPr>
                      </a:lvl4pPr>
                      <a:lvl5pPr>
                        <a:spcBef>
                          <a:spcPct val="20000"/>
                        </a:spcBef>
                        <a:defRPr sz="2000">
                          <a:solidFill>
                            <a:schemeClr val="tx1"/>
                          </a:solidFill>
                          <a:latin typeface="Times New Roman" panose="02020603050405020304" pitchFamily="18" charset="0"/>
                        </a:defRPr>
                      </a:lvl5pPr>
                      <a:lvl6pPr fontAlgn="base">
                        <a:spcBef>
                          <a:spcPct val="20000"/>
                        </a:spcBef>
                        <a:spcAft>
                          <a:spcPct val="0"/>
                        </a:spcAft>
                        <a:defRPr sz="2000">
                          <a:solidFill>
                            <a:schemeClr val="tx1"/>
                          </a:solidFill>
                          <a:latin typeface="Times New Roman" panose="02020603050405020304" pitchFamily="18" charset="0"/>
                        </a:defRPr>
                      </a:lvl6pPr>
                      <a:lvl7pPr fontAlgn="base">
                        <a:spcBef>
                          <a:spcPct val="20000"/>
                        </a:spcBef>
                        <a:spcAft>
                          <a:spcPct val="0"/>
                        </a:spcAft>
                        <a:defRPr sz="2000">
                          <a:solidFill>
                            <a:schemeClr val="tx1"/>
                          </a:solidFill>
                          <a:latin typeface="Times New Roman" panose="02020603050405020304" pitchFamily="18" charset="0"/>
                        </a:defRPr>
                      </a:lvl7pPr>
                      <a:lvl8pPr fontAlgn="base">
                        <a:spcBef>
                          <a:spcPct val="20000"/>
                        </a:spcBef>
                        <a:spcAft>
                          <a:spcPct val="0"/>
                        </a:spcAft>
                        <a:defRPr sz="2000">
                          <a:solidFill>
                            <a:schemeClr val="tx1"/>
                          </a:solidFill>
                          <a:latin typeface="Times New Roman" panose="02020603050405020304" pitchFamily="18" charset="0"/>
                        </a:defRPr>
                      </a:lvl8pPr>
                      <a:lvl9pPr fontAlgn="base">
                        <a:spcBef>
                          <a:spcPct val="20000"/>
                        </a:spcBef>
                        <a:spcAft>
                          <a:spcPct val="0"/>
                        </a:spcAft>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5/36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4584222"/>
                  </a:ext>
                </a:extLst>
              </a:tr>
              <a:tr h="1103313">
                <a:tc>
                  <a:txBody>
                    <a:bodyPr/>
                    <a:lstStyle>
                      <a:lvl1pPr>
                        <a:spcBef>
                          <a:spcPct val="20000"/>
                        </a:spcBef>
                        <a:defRPr sz="3200">
                          <a:solidFill>
                            <a:srgbClr val="339933"/>
                          </a:solidFill>
                          <a:latin typeface="Times New Roman" panose="02020603050405020304" pitchFamily="18" charset="0"/>
                        </a:defRPr>
                      </a:lvl1pPr>
                      <a:lvl2pPr>
                        <a:spcBef>
                          <a:spcPct val="20000"/>
                        </a:spcBef>
                        <a:defRPr sz="3200">
                          <a:solidFill>
                            <a:srgbClr val="339933"/>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sz="2000">
                          <a:solidFill>
                            <a:schemeClr val="tx1"/>
                          </a:solidFill>
                          <a:latin typeface="Times New Roman" panose="02020603050405020304" pitchFamily="18" charset="0"/>
                        </a:defRPr>
                      </a:lvl4pPr>
                      <a:lvl5pPr>
                        <a:spcBef>
                          <a:spcPct val="20000"/>
                        </a:spcBef>
                        <a:defRPr sz="2000">
                          <a:solidFill>
                            <a:schemeClr val="tx1"/>
                          </a:solidFill>
                          <a:latin typeface="Times New Roman" panose="02020603050405020304" pitchFamily="18" charset="0"/>
                        </a:defRPr>
                      </a:lvl5pPr>
                      <a:lvl6pPr fontAlgn="base">
                        <a:spcBef>
                          <a:spcPct val="20000"/>
                        </a:spcBef>
                        <a:spcAft>
                          <a:spcPct val="0"/>
                        </a:spcAft>
                        <a:defRPr sz="2000">
                          <a:solidFill>
                            <a:schemeClr val="tx1"/>
                          </a:solidFill>
                          <a:latin typeface="Times New Roman" panose="02020603050405020304" pitchFamily="18" charset="0"/>
                        </a:defRPr>
                      </a:lvl6pPr>
                      <a:lvl7pPr fontAlgn="base">
                        <a:spcBef>
                          <a:spcPct val="20000"/>
                        </a:spcBef>
                        <a:spcAft>
                          <a:spcPct val="0"/>
                        </a:spcAft>
                        <a:defRPr sz="2000">
                          <a:solidFill>
                            <a:schemeClr val="tx1"/>
                          </a:solidFill>
                          <a:latin typeface="Times New Roman" panose="02020603050405020304" pitchFamily="18" charset="0"/>
                        </a:defRPr>
                      </a:lvl7pPr>
                      <a:lvl8pPr fontAlgn="base">
                        <a:spcBef>
                          <a:spcPct val="20000"/>
                        </a:spcBef>
                        <a:spcAft>
                          <a:spcPct val="0"/>
                        </a:spcAft>
                        <a:defRPr sz="2000">
                          <a:solidFill>
                            <a:schemeClr val="tx1"/>
                          </a:solidFill>
                          <a:latin typeface="Times New Roman" panose="02020603050405020304" pitchFamily="18" charset="0"/>
                        </a:defRPr>
                      </a:lvl8pPr>
                      <a:lvl9pPr fontAlgn="base">
                        <a:spcBef>
                          <a:spcPct val="20000"/>
                        </a:spcBef>
                        <a:spcAft>
                          <a:spcPct val="0"/>
                        </a:spcAft>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Red die show 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3200">
                          <a:solidFill>
                            <a:srgbClr val="339933"/>
                          </a:solidFill>
                          <a:latin typeface="Times New Roman" panose="02020603050405020304" pitchFamily="18" charset="0"/>
                        </a:defRPr>
                      </a:lvl1pPr>
                      <a:lvl2pPr>
                        <a:spcBef>
                          <a:spcPct val="20000"/>
                        </a:spcBef>
                        <a:defRPr sz="3200">
                          <a:solidFill>
                            <a:srgbClr val="339933"/>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sz="2000">
                          <a:solidFill>
                            <a:schemeClr val="tx1"/>
                          </a:solidFill>
                          <a:latin typeface="Times New Roman" panose="02020603050405020304" pitchFamily="18" charset="0"/>
                        </a:defRPr>
                      </a:lvl4pPr>
                      <a:lvl5pPr>
                        <a:spcBef>
                          <a:spcPct val="20000"/>
                        </a:spcBef>
                        <a:defRPr sz="2000">
                          <a:solidFill>
                            <a:schemeClr val="tx1"/>
                          </a:solidFill>
                          <a:latin typeface="Times New Roman" panose="02020603050405020304" pitchFamily="18" charset="0"/>
                        </a:defRPr>
                      </a:lvl5pPr>
                      <a:lvl6pPr fontAlgn="base">
                        <a:spcBef>
                          <a:spcPct val="20000"/>
                        </a:spcBef>
                        <a:spcAft>
                          <a:spcPct val="0"/>
                        </a:spcAft>
                        <a:defRPr sz="2000">
                          <a:solidFill>
                            <a:schemeClr val="tx1"/>
                          </a:solidFill>
                          <a:latin typeface="Times New Roman" panose="02020603050405020304" pitchFamily="18" charset="0"/>
                        </a:defRPr>
                      </a:lvl6pPr>
                      <a:lvl7pPr fontAlgn="base">
                        <a:spcBef>
                          <a:spcPct val="20000"/>
                        </a:spcBef>
                        <a:spcAft>
                          <a:spcPct val="0"/>
                        </a:spcAft>
                        <a:defRPr sz="2000">
                          <a:solidFill>
                            <a:schemeClr val="tx1"/>
                          </a:solidFill>
                          <a:latin typeface="Times New Roman" panose="02020603050405020304" pitchFamily="18" charset="0"/>
                        </a:defRPr>
                      </a:lvl7pPr>
                      <a:lvl8pPr fontAlgn="base">
                        <a:spcBef>
                          <a:spcPct val="20000"/>
                        </a:spcBef>
                        <a:spcAft>
                          <a:spcPct val="0"/>
                        </a:spcAft>
                        <a:defRPr sz="2000">
                          <a:solidFill>
                            <a:schemeClr val="tx1"/>
                          </a:solidFill>
                          <a:latin typeface="Times New Roman" panose="02020603050405020304" pitchFamily="18" charset="0"/>
                        </a:defRPr>
                      </a:lvl8pPr>
                      <a:lvl9pPr fontAlgn="base">
                        <a:spcBef>
                          <a:spcPct val="20000"/>
                        </a:spcBef>
                        <a:spcAft>
                          <a:spcPct val="0"/>
                        </a:spcAft>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(1,1),(1,2),(1,3),</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(1,4),(1,5),(1,6)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3200">
                          <a:solidFill>
                            <a:srgbClr val="339933"/>
                          </a:solidFill>
                          <a:latin typeface="Times New Roman" panose="02020603050405020304" pitchFamily="18" charset="0"/>
                        </a:defRPr>
                      </a:lvl1pPr>
                      <a:lvl2pPr>
                        <a:spcBef>
                          <a:spcPct val="20000"/>
                        </a:spcBef>
                        <a:defRPr sz="3200">
                          <a:solidFill>
                            <a:srgbClr val="339933"/>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sz="2000">
                          <a:solidFill>
                            <a:schemeClr val="tx1"/>
                          </a:solidFill>
                          <a:latin typeface="Times New Roman" panose="02020603050405020304" pitchFamily="18" charset="0"/>
                        </a:defRPr>
                      </a:lvl4pPr>
                      <a:lvl5pPr>
                        <a:spcBef>
                          <a:spcPct val="20000"/>
                        </a:spcBef>
                        <a:defRPr sz="2000">
                          <a:solidFill>
                            <a:schemeClr val="tx1"/>
                          </a:solidFill>
                          <a:latin typeface="Times New Roman" panose="02020603050405020304" pitchFamily="18" charset="0"/>
                        </a:defRPr>
                      </a:lvl5pPr>
                      <a:lvl6pPr fontAlgn="base">
                        <a:spcBef>
                          <a:spcPct val="20000"/>
                        </a:spcBef>
                        <a:spcAft>
                          <a:spcPct val="0"/>
                        </a:spcAft>
                        <a:defRPr sz="2000">
                          <a:solidFill>
                            <a:schemeClr val="tx1"/>
                          </a:solidFill>
                          <a:latin typeface="Times New Roman" panose="02020603050405020304" pitchFamily="18" charset="0"/>
                        </a:defRPr>
                      </a:lvl6pPr>
                      <a:lvl7pPr fontAlgn="base">
                        <a:spcBef>
                          <a:spcPct val="20000"/>
                        </a:spcBef>
                        <a:spcAft>
                          <a:spcPct val="0"/>
                        </a:spcAft>
                        <a:defRPr sz="2000">
                          <a:solidFill>
                            <a:schemeClr val="tx1"/>
                          </a:solidFill>
                          <a:latin typeface="Times New Roman" panose="02020603050405020304" pitchFamily="18" charset="0"/>
                        </a:defRPr>
                      </a:lvl7pPr>
                      <a:lvl8pPr fontAlgn="base">
                        <a:spcBef>
                          <a:spcPct val="20000"/>
                        </a:spcBef>
                        <a:spcAft>
                          <a:spcPct val="0"/>
                        </a:spcAft>
                        <a:defRPr sz="2000">
                          <a:solidFill>
                            <a:schemeClr val="tx1"/>
                          </a:solidFill>
                          <a:latin typeface="Times New Roman" panose="02020603050405020304" pitchFamily="18" charset="0"/>
                        </a:defRPr>
                      </a:lvl8pPr>
                      <a:lvl9pPr fontAlgn="base">
                        <a:spcBef>
                          <a:spcPct val="20000"/>
                        </a:spcBef>
                        <a:spcAft>
                          <a:spcPct val="0"/>
                        </a:spcAft>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6/36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95632232"/>
                  </a:ext>
                </a:extLst>
              </a:tr>
              <a:tr h="1028700">
                <a:tc>
                  <a:txBody>
                    <a:bodyPr/>
                    <a:lstStyle>
                      <a:lvl1pPr>
                        <a:spcBef>
                          <a:spcPct val="20000"/>
                        </a:spcBef>
                        <a:defRPr sz="3200">
                          <a:solidFill>
                            <a:srgbClr val="339933"/>
                          </a:solidFill>
                          <a:latin typeface="Times New Roman" panose="02020603050405020304" pitchFamily="18" charset="0"/>
                        </a:defRPr>
                      </a:lvl1pPr>
                      <a:lvl2pPr>
                        <a:spcBef>
                          <a:spcPct val="20000"/>
                        </a:spcBef>
                        <a:defRPr sz="3200">
                          <a:solidFill>
                            <a:srgbClr val="339933"/>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sz="2000">
                          <a:solidFill>
                            <a:schemeClr val="tx1"/>
                          </a:solidFill>
                          <a:latin typeface="Times New Roman" panose="02020603050405020304" pitchFamily="18" charset="0"/>
                        </a:defRPr>
                      </a:lvl4pPr>
                      <a:lvl5pPr>
                        <a:spcBef>
                          <a:spcPct val="20000"/>
                        </a:spcBef>
                        <a:defRPr sz="2000">
                          <a:solidFill>
                            <a:schemeClr val="tx1"/>
                          </a:solidFill>
                          <a:latin typeface="Times New Roman" panose="02020603050405020304" pitchFamily="18" charset="0"/>
                        </a:defRPr>
                      </a:lvl5pPr>
                      <a:lvl6pPr fontAlgn="base">
                        <a:spcBef>
                          <a:spcPct val="20000"/>
                        </a:spcBef>
                        <a:spcAft>
                          <a:spcPct val="0"/>
                        </a:spcAft>
                        <a:defRPr sz="2000">
                          <a:solidFill>
                            <a:schemeClr val="tx1"/>
                          </a:solidFill>
                          <a:latin typeface="Times New Roman" panose="02020603050405020304" pitchFamily="18" charset="0"/>
                        </a:defRPr>
                      </a:lvl6pPr>
                      <a:lvl7pPr fontAlgn="base">
                        <a:spcBef>
                          <a:spcPct val="20000"/>
                        </a:spcBef>
                        <a:spcAft>
                          <a:spcPct val="0"/>
                        </a:spcAft>
                        <a:defRPr sz="2000">
                          <a:solidFill>
                            <a:schemeClr val="tx1"/>
                          </a:solidFill>
                          <a:latin typeface="Times New Roman" panose="02020603050405020304" pitchFamily="18" charset="0"/>
                        </a:defRPr>
                      </a:lvl7pPr>
                      <a:lvl8pPr fontAlgn="base">
                        <a:spcBef>
                          <a:spcPct val="20000"/>
                        </a:spcBef>
                        <a:spcAft>
                          <a:spcPct val="0"/>
                        </a:spcAft>
                        <a:defRPr sz="2000">
                          <a:solidFill>
                            <a:schemeClr val="tx1"/>
                          </a:solidFill>
                          <a:latin typeface="Times New Roman" panose="02020603050405020304" pitchFamily="18" charset="0"/>
                        </a:defRPr>
                      </a:lvl8pPr>
                      <a:lvl9pPr fontAlgn="base">
                        <a:spcBef>
                          <a:spcPct val="20000"/>
                        </a:spcBef>
                        <a:spcAft>
                          <a:spcPct val="0"/>
                        </a:spcAft>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Green die show 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3200">
                          <a:solidFill>
                            <a:srgbClr val="339933"/>
                          </a:solidFill>
                          <a:latin typeface="Times New Roman" panose="02020603050405020304" pitchFamily="18" charset="0"/>
                        </a:defRPr>
                      </a:lvl1pPr>
                      <a:lvl2pPr>
                        <a:spcBef>
                          <a:spcPct val="20000"/>
                        </a:spcBef>
                        <a:defRPr sz="3200">
                          <a:solidFill>
                            <a:srgbClr val="339933"/>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sz="2000">
                          <a:solidFill>
                            <a:schemeClr val="tx1"/>
                          </a:solidFill>
                          <a:latin typeface="Times New Roman" panose="02020603050405020304" pitchFamily="18" charset="0"/>
                        </a:defRPr>
                      </a:lvl4pPr>
                      <a:lvl5pPr>
                        <a:spcBef>
                          <a:spcPct val="20000"/>
                        </a:spcBef>
                        <a:defRPr sz="2000">
                          <a:solidFill>
                            <a:schemeClr val="tx1"/>
                          </a:solidFill>
                          <a:latin typeface="Times New Roman" panose="02020603050405020304" pitchFamily="18" charset="0"/>
                        </a:defRPr>
                      </a:lvl5pPr>
                      <a:lvl6pPr fontAlgn="base">
                        <a:spcBef>
                          <a:spcPct val="20000"/>
                        </a:spcBef>
                        <a:spcAft>
                          <a:spcPct val="0"/>
                        </a:spcAft>
                        <a:defRPr sz="2000">
                          <a:solidFill>
                            <a:schemeClr val="tx1"/>
                          </a:solidFill>
                          <a:latin typeface="Times New Roman" panose="02020603050405020304" pitchFamily="18" charset="0"/>
                        </a:defRPr>
                      </a:lvl6pPr>
                      <a:lvl7pPr fontAlgn="base">
                        <a:spcBef>
                          <a:spcPct val="20000"/>
                        </a:spcBef>
                        <a:spcAft>
                          <a:spcPct val="0"/>
                        </a:spcAft>
                        <a:defRPr sz="2000">
                          <a:solidFill>
                            <a:schemeClr val="tx1"/>
                          </a:solidFill>
                          <a:latin typeface="Times New Roman" panose="02020603050405020304" pitchFamily="18" charset="0"/>
                        </a:defRPr>
                      </a:lvl7pPr>
                      <a:lvl8pPr fontAlgn="base">
                        <a:spcBef>
                          <a:spcPct val="20000"/>
                        </a:spcBef>
                        <a:spcAft>
                          <a:spcPct val="0"/>
                        </a:spcAft>
                        <a:defRPr sz="2000">
                          <a:solidFill>
                            <a:schemeClr val="tx1"/>
                          </a:solidFill>
                          <a:latin typeface="Times New Roman" panose="02020603050405020304" pitchFamily="18" charset="0"/>
                        </a:defRPr>
                      </a:lvl8pPr>
                      <a:lvl9pPr fontAlgn="base">
                        <a:spcBef>
                          <a:spcPct val="20000"/>
                        </a:spcBef>
                        <a:spcAft>
                          <a:spcPct val="0"/>
                        </a:spcAft>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(1,1),(2,1),(3,1),</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(4,1),(5,1),(6,1)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3200">
                          <a:solidFill>
                            <a:srgbClr val="339933"/>
                          </a:solidFill>
                          <a:latin typeface="Times New Roman" panose="02020603050405020304" pitchFamily="18" charset="0"/>
                        </a:defRPr>
                      </a:lvl1pPr>
                      <a:lvl2pPr>
                        <a:spcBef>
                          <a:spcPct val="20000"/>
                        </a:spcBef>
                        <a:defRPr sz="3200">
                          <a:solidFill>
                            <a:srgbClr val="339933"/>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sz="2000">
                          <a:solidFill>
                            <a:schemeClr val="tx1"/>
                          </a:solidFill>
                          <a:latin typeface="Times New Roman" panose="02020603050405020304" pitchFamily="18" charset="0"/>
                        </a:defRPr>
                      </a:lvl4pPr>
                      <a:lvl5pPr>
                        <a:spcBef>
                          <a:spcPct val="20000"/>
                        </a:spcBef>
                        <a:defRPr sz="2000">
                          <a:solidFill>
                            <a:schemeClr val="tx1"/>
                          </a:solidFill>
                          <a:latin typeface="Times New Roman" panose="02020603050405020304" pitchFamily="18" charset="0"/>
                        </a:defRPr>
                      </a:lvl5pPr>
                      <a:lvl6pPr fontAlgn="base">
                        <a:spcBef>
                          <a:spcPct val="20000"/>
                        </a:spcBef>
                        <a:spcAft>
                          <a:spcPct val="0"/>
                        </a:spcAft>
                        <a:defRPr sz="2000">
                          <a:solidFill>
                            <a:schemeClr val="tx1"/>
                          </a:solidFill>
                          <a:latin typeface="Times New Roman" panose="02020603050405020304" pitchFamily="18" charset="0"/>
                        </a:defRPr>
                      </a:lvl6pPr>
                      <a:lvl7pPr fontAlgn="base">
                        <a:spcBef>
                          <a:spcPct val="20000"/>
                        </a:spcBef>
                        <a:spcAft>
                          <a:spcPct val="0"/>
                        </a:spcAft>
                        <a:defRPr sz="2000">
                          <a:solidFill>
                            <a:schemeClr val="tx1"/>
                          </a:solidFill>
                          <a:latin typeface="Times New Roman" panose="02020603050405020304" pitchFamily="18" charset="0"/>
                        </a:defRPr>
                      </a:lvl7pPr>
                      <a:lvl8pPr fontAlgn="base">
                        <a:spcBef>
                          <a:spcPct val="20000"/>
                        </a:spcBef>
                        <a:spcAft>
                          <a:spcPct val="0"/>
                        </a:spcAft>
                        <a:defRPr sz="2000">
                          <a:solidFill>
                            <a:schemeClr val="tx1"/>
                          </a:solidFill>
                          <a:latin typeface="Times New Roman" panose="02020603050405020304" pitchFamily="18" charset="0"/>
                        </a:defRPr>
                      </a:lvl8pPr>
                      <a:lvl9pPr fontAlgn="base">
                        <a:spcBef>
                          <a:spcPct val="20000"/>
                        </a:spcBef>
                        <a:spcAft>
                          <a:spcPct val="0"/>
                        </a:spcAft>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6/36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88288945"/>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31640" y="2924944"/>
            <a:ext cx="6756978" cy="784830"/>
          </a:xfrm>
          <a:prstGeom prst="rect">
            <a:avLst/>
          </a:prstGeom>
        </p:spPr>
        <p:txBody>
          <a:bodyPr wrap="none">
            <a:spAutoFit/>
          </a:bodyPr>
          <a:lstStyle/>
          <a:p>
            <a:r>
              <a:rPr lang="en-US" sz="4500" dirty="0">
                <a:solidFill>
                  <a:srgbClr val="C00000"/>
                </a:solidFill>
                <a:effectLst>
                  <a:outerShdw blurRad="38100" dist="38100" dir="2700000" algn="tl">
                    <a:srgbClr val="000000">
                      <a:alpha val="43137"/>
                    </a:srgbClr>
                  </a:outerShdw>
                </a:effectLst>
              </a:rPr>
              <a:t>Relationships among Events</a:t>
            </a:r>
            <a:endParaRPr lang="en-GB" sz="4500" dirty="0">
              <a:solidFill>
                <a:srgbClr val="C00000"/>
              </a:solidFill>
              <a:effectLst>
                <a:outerShdw blurRad="38100" dist="38100" dir="2700000" algn="tl">
                  <a:srgbClr val="000000">
                    <a:alpha val="43137"/>
                  </a:srgbClr>
                </a:outerShdw>
              </a:effectLst>
            </a:endParaRPr>
          </a:p>
        </p:txBody>
      </p:sp>
      <p:sp>
        <p:nvSpPr>
          <p:cNvPr id="5" name="Date Placeholder 4"/>
          <p:cNvSpPr>
            <a:spLocks noGrp="1"/>
          </p:cNvSpPr>
          <p:nvPr>
            <p:ph type="dt" sz="half" idx="10"/>
          </p:nvPr>
        </p:nvSpPr>
        <p:spPr/>
        <p:txBody>
          <a:bodyPr/>
          <a:lstStyle/>
          <a:p>
            <a:pPr>
              <a:defRPr/>
            </a:pPr>
            <a:fld id="{991AD921-3126-4BFF-9823-35FA436336E3}" type="datetime2">
              <a:rPr lang="en-US" smtClean="0"/>
              <a:pPr>
                <a:defRPr/>
              </a:pPr>
              <a:t>Monday, December 8, 2025</a:t>
            </a:fld>
            <a:endParaRPr lang="en-US"/>
          </a:p>
        </p:txBody>
      </p:sp>
      <p:sp>
        <p:nvSpPr>
          <p:cNvPr id="6" name="Slide Number Placeholder 5"/>
          <p:cNvSpPr>
            <a:spLocks noGrp="1"/>
          </p:cNvSpPr>
          <p:nvPr>
            <p:ph type="sldNum" sz="quarter" idx="12"/>
          </p:nvPr>
        </p:nvSpPr>
        <p:spPr/>
        <p:txBody>
          <a:bodyPr/>
          <a:lstStyle/>
          <a:p>
            <a:pPr>
              <a:defRPr/>
            </a:pPr>
            <a:fld id="{C70CFA2D-21B9-45B6-893F-7371CE3DE2D8}" type="slidenum">
              <a:rPr lang="en-US" smtClean="0"/>
              <a:pPr>
                <a:defRPr/>
              </a:pPr>
              <a:t>27</a:t>
            </a:fld>
            <a:endParaRPr lang="en-US"/>
          </a:p>
        </p:txBody>
      </p:sp>
      <p:sp>
        <p:nvSpPr>
          <p:cNvPr id="7" name="Footer Placeholder 6"/>
          <p:cNvSpPr>
            <a:spLocks noGrp="1"/>
          </p:cNvSpPr>
          <p:nvPr>
            <p:ph type="ftr" sz="quarter" idx="11"/>
          </p:nvPr>
        </p:nvSpPr>
        <p:spPr/>
        <p:txBody>
          <a:bodyPr/>
          <a:lstStyle/>
          <a:p>
            <a:pPr>
              <a:defRPr/>
            </a:pPr>
            <a:r>
              <a:rPr lang="en-US"/>
              <a:t>STAT 154 -09</a:t>
            </a:r>
          </a:p>
        </p:txBody>
      </p:sp>
    </p:spTree>
    <p:extLst>
      <p:ext uri="{BB962C8B-B14F-4D97-AF65-F5344CB8AC3E}">
        <p14:creationId xmlns:p14="http://schemas.microsoft.com/office/powerpoint/2010/main" val="3136525921"/>
      </p:ext>
    </p:extLst>
  </p:cSld>
  <p:clrMapOvr>
    <a:masterClrMapping/>
  </p:clrMapOvr>
  <p:transition spd="slow">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2151" t="-2133" r="-3441"/>
            </a:stretch>
          </a:blipFill>
        </p:spPr>
        <p:txBody>
          <a:bodyPr/>
          <a:lstStyle/>
          <a:p>
            <a:pPr>
              <a:buNone/>
            </a:pPr>
            <a:r>
              <a:rPr lang="en-GB" dirty="0">
                <a:noFill/>
              </a:rPr>
              <a:t>  </a:t>
            </a:r>
          </a:p>
        </p:txBody>
      </p:sp>
      <p:sp>
        <p:nvSpPr>
          <p:cNvPr id="4" name="Title 3"/>
          <p:cNvSpPr>
            <a:spLocks noGrp="1"/>
          </p:cNvSpPr>
          <p:nvPr>
            <p:ph type="title"/>
          </p:nvPr>
        </p:nvSpPr>
        <p:spPr/>
        <p:txBody>
          <a:bodyPr/>
          <a:lstStyle/>
          <a:p>
            <a:pPr algn="l"/>
            <a:r>
              <a:rPr lang="en-IN"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Subset/Sub event:</a:t>
            </a:r>
            <a:endParaRPr lang="en-GB"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6148" name="Picture 4" descr="https://upload.wikimedia.org/wikipedia/commons/thumb/b/b0/Venn_A_subset_B.svg/2000px-Venn_A_subset_B.sv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31568" y="4005064"/>
            <a:ext cx="2192932" cy="2192932"/>
          </a:xfrm>
          <a:prstGeom prst="rect">
            <a:avLst/>
          </a:prstGeom>
          <a:noFill/>
          <a:ln>
            <a:solidFill>
              <a:srgbClr val="002060"/>
            </a:solidFill>
          </a:ln>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6156176" y="3861048"/>
            <a:ext cx="648072" cy="584775"/>
          </a:xfrm>
          <a:prstGeom prst="rect">
            <a:avLst/>
          </a:prstGeom>
          <a:noFill/>
        </p:spPr>
        <p:txBody>
          <a:bodyPr wrap="square" rtlCol="0">
            <a:spAutoFit/>
          </a:bodyPr>
          <a:lstStyle/>
          <a:p>
            <a:r>
              <a:rPr lang="en-GB" sz="3200" b="1" dirty="0"/>
              <a:t>S</a:t>
            </a:r>
          </a:p>
        </p:txBody>
      </p:sp>
      <p:sp>
        <p:nvSpPr>
          <p:cNvPr id="6" name="Date Placeholder 5"/>
          <p:cNvSpPr>
            <a:spLocks noGrp="1"/>
          </p:cNvSpPr>
          <p:nvPr>
            <p:ph type="dt" sz="half" idx="10"/>
          </p:nvPr>
        </p:nvSpPr>
        <p:spPr/>
        <p:txBody>
          <a:bodyPr/>
          <a:lstStyle/>
          <a:p>
            <a:pPr>
              <a:defRPr/>
            </a:pPr>
            <a:fld id="{4E291FF7-BEC8-4790-BD1B-006DEAFF5EFB}" type="datetime2">
              <a:rPr lang="en-US" smtClean="0"/>
              <a:pPr>
                <a:defRPr/>
              </a:pPr>
              <a:t>Monday, December 8, 2025</a:t>
            </a:fld>
            <a:endParaRPr lang="en-US"/>
          </a:p>
        </p:txBody>
      </p:sp>
      <p:sp>
        <p:nvSpPr>
          <p:cNvPr id="7" name="Slide Number Placeholder 6"/>
          <p:cNvSpPr>
            <a:spLocks noGrp="1"/>
          </p:cNvSpPr>
          <p:nvPr>
            <p:ph type="sldNum" sz="quarter" idx="12"/>
          </p:nvPr>
        </p:nvSpPr>
        <p:spPr/>
        <p:txBody>
          <a:bodyPr/>
          <a:lstStyle/>
          <a:p>
            <a:pPr>
              <a:defRPr/>
            </a:pPr>
            <a:fld id="{C70CFA2D-21B9-45B6-893F-7371CE3DE2D8}" type="slidenum">
              <a:rPr lang="en-US" smtClean="0"/>
              <a:pPr>
                <a:defRPr/>
              </a:pPr>
              <a:t>28</a:t>
            </a:fld>
            <a:endParaRPr lang="en-US"/>
          </a:p>
        </p:txBody>
      </p:sp>
      <p:sp>
        <p:nvSpPr>
          <p:cNvPr id="8" name="Footer Placeholder 7"/>
          <p:cNvSpPr>
            <a:spLocks noGrp="1"/>
          </p:cNvSpPr>
          <p:nvPr>
            <p:ph type="ftr" sz="quarter" idx="11"/>
          </p:nvPr>
        </p:nvSpPr>
        <p:spPr/>
        <p:txBody>
          <a:bodyPr/>
          <a:lstStyle/>
          <a:p>
            <a:pPr>
              <a:defRPr/>
            </a:pPr>
            <a:r>
              <a:rPr lang="en-US"/>
              <a:t>STAT 154 -09</a:t>
            </a:r>
          </a:p>
        </p:txBody>
      </p:sp>
    </p:spTree>
  </p:cSld>
  <p:clrMapOvr>
    <a:masterClrMapping/>
  </p:clrMapOvr>
  <p:transition spd="slow">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Example 10:</a:t>
            </a:r>
            <a:endParaRPr lang="en-US"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pPr marL="0" indent="0" algn="just">
                  <a:buNone/>
                </a:pPr>
                <a:r>
                  <a:rPr lang="en-IN" sz="3500" dirty="0">
                    <a:latin typeface="Times New Roman" pitchFamily="18" charset="0"/>
                    <a:cs typeface="Times New Roman" pitchFamily="18" charset="0"/>
                  </a:rPr>
                  <a:t>In Example 3, if an event A is defined as one head in three tosses, such that </a:t>
                </a:r>
                <a14:m>
                  <m:oMath xmlns:m="http://schemas.openxmlformats.org/officeDocument/2006/math">
                    <m:r>
                      <a:rPr lang="en-US" sz="3500" b="0" i="0" smtClean="0">
                        <a:latin typeface="Cambria Math" panose="02040503050406030204" pitchFamily="18" charset="0"/>
                        <a:cs typeface="Times New Roman" pitchFamily="18" charset="0"/>
                      </a:rPr>
                      <m:t> </m:t>
                    </m:r>
                    <m:r>
                      <a:rPr lang="en-GB" sz="3500" b="0" i="1" smtClean="0">
                        <a:latin typeface="Cambria Math"/>
                        <a:cs typeface="Times New Roman" pitchFamily="18" charset="0"/>
                      </a:rPr>
                      <m:t>𝐴</m:t>
                    </m:r>
                    <m:r>
                      <a:rPr lang="en-GB" sz="3500" b="0" i="1" smtClean="0">
                        <a:latin typeface="Cambria Math"/>
                        <a:cs typeface="Times New Roman" pitchFamily="18" charset="0"/>
                      </a:rPr>
                      <m:t>={</m:t>
                    </m:r>
                    <m:r>
                      <a:rPr lang="en-GB" sz="3500" b="0" i="1" smtClean="0">
                        <a:latin typeface="Cambria Math"/>
                        <a:cs typeface="Times New Roman" pitchFamily="18" charset="0"/>
                      </a:rPr>
                      <m:t>𝑇𝑇𝐻</m:t>
                    </m:r>
                    <m:r>
                      <a:rPr lang="en-GB" sz="3500" b="0" i="1" smtClean="0">
                        <a:latin typeface="Cambria Math"/>
                        <a:cs typeface="Times New Roman" pitchFamily="18" charset="0"/>
                      </a:rPr>
                      <m:t>,</m:t>
                    </m:r>
                    <m:r>
                      <a:rPr lang="en-GB" sz="3500" b="0" i="1" smtClean="0">
                        <a:latin typeface="Cambria Math"/>
                        <a:cs typeface="Times New Roman" pitchFamily="18" charset="0"/>
                      </a:rPr>
                      <m:t>𝑇𝐻𝑇</m:t>
                    </m:r>
                    <m:r>
                      <a:rPr lang="en-GB" sz="3500" b="0" i="1" smtClean="0">
                        <a:latin typeface="Cambria Math"/>
                        <a:cs typeface="Times New Roman" pitchFamily="18" charset="0"/>
                      </a:rPr>
                      <m:t>,</m:t>
                    </m:r>
                    <m:r>
                      <a:rPr lang="en-GB" sz="3500" b="0" i="1" smtClean="0">
                        <a:latin typeface="Cambria Math"/>
                        <a:cs typeface="Times New Roman" pitchFamily="18" charset="0"/>
                      </a:rPr>
                      <m:t>𝐻𝑇𝑇</m:t>
                    </m:r>
                  </m:oMath>
                </a14:m>
                <a:r>
                  <a:rPr lang="en-IN" sz="3500" dirty="0">
                    <a:latin typeface="Times New Roman" pitchFamily="18" charset="0"/>
                    <a:cs typeface="Times New Roman" pitchFamily="18" charset="0"/>
                  </a:rPr>
                  <a:t>}, and another event B is defined as at least one head in three tosses, </a:t>
                </a:r>
                <a:r>
                  <a:rPr lang="en-GB" sz="3500" dirty="0">
                    <a:latin typeface="Times New Roman" pitchFamily="18" charset="0"/>
                    <a:cs typeface="Times New Roman" pitchFamily="18" charset="0"/>
                  </a:rPr>
                  <a:t>such that,</a:t>
                </a:r>
              </a:p>
              <a:p>
                <a:pPr marL="0" indent="0" algn="just">
                  <a:buNone/>
                </a:pPr>
                <a:r>
                  <a:rPr lang="en-GB" sz="3500" dirty="0">
                    <a:latin typeface="Times New Roman" pitchFamily="18" charset="0"/>
                    <a:cs typeface="Times New Roman" pitchFamily="18" charset="0"/>
                  </a:rPr>
                  <a:t> </a:t>
                </a:r>
                <a14:m>
                  <m:oMath xmlns:m="http://schemas.openxmlformats.org/officeDocument/2006/math">
                    <m:r>
                      <a:rPr lang="en-GB" sz="2400" b="0" i="1" dirty="0" smtClean="0">
                        <a:latin typeface="Cambria Math"/>
                        <a:cs typeface="Times New Roman" pitchFamily="18" charset="0"/>
                      </a:rPr>
                      <m:t>𝐵</m:t>
                    </m:r>
                    <m:r>
                      <a:rPr lang="en-GB" sz="2400" b="0" i="1" dirty="0" smtClean="0">
                        <a:latin typeface="Cambria Math"/>
                        <a:cs typeface="Times New Roman" pitchFamily="18" charset="0"/>
                      </a:rPr>
                      <m:t>=</m:t>
                    </m:r>
                    <m:d>
                      <m:dPr>
                        <m:begChr m:val="{"/>
                        <m:endChr m:val="}"/>
                        <m:ctrlPr>
                          <a:rPr lang="en-GB" sz="2400" b="0" i="1" dirty="0" smtClean="0">
                            <a:latin typeface="Cambria Math" panose="02040503050406030204" pitchFamily="18" charset="0"/>
                            <a:cs typeface="Times New Roman" pitchFamily="18" charset="0"/>
                          </a:rPr>
                        </m:ctrlPr>
                      </m:dPr>
                      <m:e>
                        <m:eqArr>
                          <m:eqArrPr>
                            <m:ctrlPr>
                              <a:rPr lang="en-GB" sz="2400" i="1" dirty="0">
                                <a:latin typeface="Cambria Math" panose="02040503050406030204" pitchFamily="18" charset="0"/>
                                <a:cs typeface="Times New Roman" pitchFamily="18" charset="0"/>
                              </a:rPr>
                            </m:ctrlPr>
                          </m:eqArrPr>
                          <m:e>
                            <m:r>
                              <a:rPr lang="en-US" sz="2400" b="0" i="1" dirty="0" smtClean="0">
                                <a:latin typeface="Cambria Math" panose="02040503050406030204" pitchFamily="18" charset="0"/>
                                <a:cs typeface="Times New Roman" pitchFamily="18" charset="0"/>
                              </a:rPr>
                              <m:t> </m:t>
                            </m:r>
                          </m:e>
                          <m:e>
                            <m:r>
                              <a:rPr lang="en-GB" sz="2400" i="1" dirty="0">
                                <a:latin typeface="Cambria Math"/>
                                <a:cs typeface="Times New Roman" pitchFamily="18" charset="0"/>
                              </a:rPr>
                              <m:t>𝑇𝑇𝐻</m:t>
                            </m:r>
                            <m:r>
                              <a:rPr lang="en-GB" sz="2400" i="1" dirty="0">
                                <a:latin typeface="Cambria Math"/>
                                <a:cs typeface="Times New Roman" pitchFamily="18" charset="0"/>
                              </a:rPr>
                              <m:t>,</m:t>
                            </m:r>
                            <m:r>
                              <a:rPr lang="en-GB" sz="2400" i="1" dirty="0">
                                <a:latin typeface="Cambria Math"/>
                                <a:cs typeface="Times New Roman" pitchFamily="18" charset="0"/>
                              </a:rPr>
                              <m:t>𝑇𝐻𝑇</m:t>
                            </m:r>
                            <m:r>
                              <a:rPr lang="en-GB" sz="2400" i="1" dirty="0">
                                <a:latin typeface="Cambria Math"/>
                                <a:cs typeface="Times New Roman" pitchFamily="18" charset="0"/>
                              </a:rPr>
                              <m:t>,</m:t>
                            </m:r>
                            <m:r>
                              <a:rPr lang="en-GB" sz="2400" i="1" dirty="0">
                                <a:latin typeface="Cambria Math"/>
                                <a:cs typeface="Times New Roman" pitchFamily="18" charset="0"/>
                              </a:rPr>
                              <m:t>𝐻𝑇𝑇</m:t>
                            </m:r>
                            <m:r>
                              <m:rPr>
                                <m:nor/>
                              </m:rPr>
                              <a:rPr lang="en-GB" sz="2400" dirty="0">
                                <a:latin typeface="Times New Roman" pitchFamily="18" charset="0"/>
                                <a:cs typeface="Times New Roman" pitchFamily="18" charset="0"/>
                              </a:rPr>
                              <m:t>,</m:t>
                            </m:r>
                            <m:r>
                              <m:rPr>
                                <m:nor/>
                              </m:rPr>
                              <a:rPr lang="en-GB" sz="2400" i="1" dirty="0">
                                <a:latin typeface="Times New Roman" pitchFamily="18" charset="0"/>
                                <a:cs typeface="Times New Roman" pitchFamily="18" charset="0"/>
                              </a:rPr>
                              <m:t>THH</m:t>
                            </m:r>
                            <m:r>
                              <m:rPr>
                                <m:nor/>
                              </m:rPr>
                              <a:rPr lang="en-GB" sz="2400" dirty="0">
                                <a:latin typeface="Times New Roman" pitchFamily="18" charset="0"/>
                                <a:cs typeface="Times New Roman" pitchFamily="18" charset="0"/>
                              </a:rPr>
                              <m:t>,</m:t>
                            </m:r>
                            <m:r>
                              <m:rPr>
                                <m:nor/>
                              </m:rPr>
                              <a:rPr lang="en-GB" sz="2400" i="1" dirty="0">
                                <a:latin typeface="Times New Roman" pitchFamily="18" charset="0"/>
                                <a:cs typeface="Times New Roman" pitchFamily="18" charset="0"/>
                              </a:rPr>
                              <m:t>HTH</m:t>
                            </m:r>
                            <m:r>
                              <m:rPr>
                                <m:nor/>
                              </m:rPr>
                              <a:rPr lang="en-GB" sz="2400" dirty="0">
                                <a:latin typeface="Times New Roman" pitchFamily="18" charset="0"/>
                                <a:cs typeface="Times New Roman" pitchFamily="18" charset="0"/>
                              </a:rPr>
                              <m:t>,</m:t>
                            </m:r>
                            <m:r>
                              <m:rPr>
                                <m:nor/>
                              </m:rPr>
                              <a:rPr lang="en-GB" sz="2400" i="1" dirty="0">
                                <a:latin typeface="Times New Roman" pitchFamily="18" charset="0"/>
                                <a:cs typeface="Times New Roman" pitchFamily="18" charset="0"/>
                              </a:rPr>
                              <m:t>HHT</m:t>
                            </m:r>
                            <m:r>
                              <m:rPr>
                                <m:nor/>
                              </m:rPr>
                              <a:rPr lang="en-GB" sz="2400" dirty="0">
                                <a:latin typeface="Times New Roman" pitchFamily="18" charset="0"/>
                                <a:cs typeface="Times New Roman" pitchFamily="18" charset="0"/>
                              </a:rPr>
                              <m:t>,</m:t>
                            </m:r>
                            <m:r>
                              <m:rPr>
                                <m:nor/>
                              </m:rPr>
                              <a:rPr lang="en-GB" sz="2400" i="1" dirty="0">
                                <a:latin typeface="Times New Roman" pitchFamily="18" charset="0"/>
                                <a:cs typeface="Times New Roman" pitchFamily="18" charset="0"/>
                              </a:rPr>
                              <m:t>HHH</m:t>
                            </m:r>
                          </m:e>
                          <m:e>
                            <m:r>
                              <a:rPr lang="en-GB" sz="2400" b="0" i="1" dirty="0" smtClean="0">
                                <a:latin typeface="Cambria Math"/>
                                <a:cs typeface="Times New Roman" pitchFamily="18" charset="0"/>
                              </a:rPr>
                              <m:t>                                        </m:t>
                            </m:r>
                          </m:e>
                        </m:eqArr>
                      </m:e>
                    </m:d>
                  </m:oMath>
                </a14:m>
                <a:r>
                  <a:rPr lang="en-GB" sz="3500" dirty="0">
                    <a:latin typeface="Times New Roman" pitchFamily="18" charset="0"/>
                    <a:cs typeface="Times New Roman" pitchFamily="18" charset="0"/>
                  </a:rPr>
                  <a:t> </a:t>
                </a:r>
              </a:p>
              <a:p>
                <a:pPr marL="0" indent="0" algn="just">
                  <a:buNone/>
                </a:pPr>
                <a:r>
                  <a:rPr lang="en-IN" sz="3500" dirty="0">
                    <a:latin typeface="Times New Roman" pitchFamily="18" charset="0"/>
                    <a:cs typeface="Times New Roman" pitchFamily="18" charset="0"/>
                  </a:rPr>
                  <a:t>then </a:t>
                </a:r>
                <a14:m>
                  <m:oMath xmlns:m="http://schemas.openxmlformats.org/officeDocument/2006/math">
                    <m:r>
                      <a:rPr lang="en-GB" sz="3500" b="0" i="1" smtClean="0">
                        <a:latin typeface="Cambria Math"/>
                        <a:cs typeface="Times New Roman" pitchFamily="18" charset="0"/>
                      </a:rPr>
                      <m:t>𝐴</m:t>
                    </m:r>
                    <m:r>
                      <a:rPr lang="en-GB" sz="3500" b="0" i="1" smtClean="0">
                        <a:latin typeface="Cambria Math"/>
                        <a:cs typeface="Times New Roman" pitchFamily="18" charset="0"/>
                      </a:rPr>
                      <m:t> </m:t>
                    </m:r>
                  </m:oMath>
                </a14:m>
                <a:r>
                  <a:rPr lang="en-IN" sz="3500" dirty="0">
                    <a:latin typeface="Times New Roman" pitchFamily="18" charset="0"/>
                    <a:cs typeface="Times New Roman" pitchFamily="18" charset="0"/>
                  </a:rPr>
                  <a:t>is obviously a part of </a:t>
                </a:r>
                <a14:m>
                  <m:oMath xmlns:m="http://schemas.openxmlformats.org/officeDocument/2006/math">
                    <m:r>
                      <a:rPr lang="en-GB" sz="3500" b="0" i="1" smtClean="0">
                        <a:latin typeface="Cambria Math"/>
                        <a:cs typeface="Times New Roman" pitchFamily="18" charset="0"/>
                      </a:rPr>
                      <m:t>𝐵</m:t>
                    </m:r>
                  </m:oMath>
                </a14:m>
                <a:r>
                  <a:rPr lang="en-IN" sz="3500" dirty="0">
                    <a:latin typeface="Times New Roman" pitchFamily="18" charset="0"/>
                    <a:cs typeface="Times New Roman" pitchFamily="18" charset="0"/>
                  </a:rPr>
                  <a:t> .</a:t>
                </a:r>
              </a:p>
              <a:p>
                <a:pPr marL="0" indent="0" algn="just">
                  <a:buNone/>
                </a:pPr>
                <a:endParaRPr lang="en-US" sz="3500"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2151" t="-2133" r="-2079" b="-533"/>
                </a:stretch>
              </a:blipFill>
            </p:spPr>
            <p:txBody>
              <a:bodyPr/>
              <a:lstStyle/>
              <a:p>
                <a:r>
                  <a:rPr lang="en-NZ">
                    <a:noFill/>
                  </a:rPr>
                  <a:t> </a:t>
                </a:r>
              </a:p>
            </p:txBody>
          </p:sp>
        </mc:Fallback>
      </mc:AlternateContent>
      <p:sp>
        <p:nvSpPr>
          <p:cNvPr id="4" name="Date Placeholder 3"/>
          <p:cNvSpPr>
            <a:spLocks noGrp="1"/>
          </p:cNvSpPr>
          <p:nvPr>
            <p:ph type="dt" sz="half" idx="10"/>
          </p:nvPr>
        </p:nvSpPr>
        <p:spPr/>
        <p:txBody>
          <a:bodyPr/>
          <a:lstStyle/>
          <a:p>
            <a:pPr>
              <a:defRPr/>
            </a:pPr>
            <a:fld id="{C00507D0-0447-4C1C-BF60-62E74B01FE44}" type="datetime1">
              <a:rPr lang="en-US" smtClean="0"/>
              <a:t>12/8/2025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29</a:t>
            </a:fld>
            <a:endParaRPr lang="en-US"/>
          </a:p>
        </p:txBody>
      </p:sp>
    </p:spTree>
    <p:extLst>
      <p:ext uri="{BB962C8B-B14F-4D97-AF65-F5344CB8AC3E}">
        <p14:creationId xmlns:p14="http://schemas.microsoft.com/office/powerpoint/2010/main" val="3245528418"/>
      </p:ext>
    </p:extLst>
  </p:cSld>
  <p:clrMapOvr>
    <a:masterClrMapping/>
  </p:clrMapOvr>
  <p:transition spd="slow">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Complement:</a:t>
            </a:r>
            <a:endParaRPr lang="en-US"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2151" t="-2133" r="-3441"/>
            </a:stretch>
          </a:blipFill>
        </p:spPr>
        <p:txBody>
          <a:bodyPr/>
          <a:lstStyle/>
          <a:p>
            <a:pPr>
              <a:buNone/>
            </a:pPr>
            <a:r>
              <a:rPr lang="en-GB" dirty="0">
                <a:noFill/>
              </a:rPr>
              <a:t>  </a:t>
            </a:r>
          </a:p>
        </p:txBody>
      </p:sp>
      <p:sp>
        <p:nvSpPr>
          <p:cNvPr id="5" name="Text Box 11"/>
          <p:cNvSpPr txBox="1">
            <a:spLocks noChangeArrowheads="1"/>
          </p:cNvSpPr>
          <p:nvPr/>
        </p:nvSpPr>
        <p:spPr bwMode="auto">
          <a:xfrm>
            <a:off x="2123728" y="4797152"/>
            <a:ext cx="6705600" cy="1200329"/>
          </a:xfrm>
          <a:prstGeom prst="rect">
            <a:avLst/>
          </a:prstGeom>
          <a:solidFill>
            <a:schemeClr val="bg1">
              <a:lumMod val="95000"/>
            </a:schemeClr>
          </a:solidFill>
          <a:ln w="9525">
            <a:noFill/>
            <a:miter lim="800000"/>
            <a:headEnd/>
            <a:tailEnd/>
          </a:ln>
        </p:spPr>
        <p:txBody>
          <a:bodyPr>
            <a:spAutoFit/>
          </a:bodyPr>
          <a:lstStyle/>
          <a:p>
            <a:pPr algn="just">
              <a:spcBef>
                <a:spcPct val="50000"/>
              </a:spcBef>
              <a:defRPr/>
            </a:pPr>
            <a:r>
              <a:rPr lang="en-US" dirty="0">
                <a:cs typeface="Times New Roman" pitchFamily="18" charset="0"/>
              </a:rPr>
              <a:t>If we know the probability of rain is 20% or 0.2 then the probability of the complement (no rain) is 1 - 0.2 = 0.8 or 80%</a:t>
            </a:r>
          </a:p>
        </p:txBody>
      </p:sp>
      <p:pic>
        <p:nvPicPr>
          <p:cNvPr id="6" name="Picture 10" descr="pe02946_"/>
          <p:cNvPicPr>
            <a:picLocks noChangeAspect="1" noChangeArrowheads="1"/>
          </p:cNvPicPr>
          <p:nvPr/>
        </p:nvPicPr>
        <p:blipFill>
          <a:blip r:embed="rId3"/>
          <a:srcRect/>
          <a:stretch>
            <a:fillRect/>
          </a:stretch>
        </p:blipFill>
        <p:spPr bwMode="auto">
          <a:xfrm>
            <a:off x="304800" y="4365104"/>
            <a:ext cx="1371600" cy="1733550"/>
          </a:xfrm>
          <a:prstGeom prst="rect">
            <a:avLst/>
          </a:prstGeom>
          <a:noFill/>
          <a:ln w="9525">
            <a:noFill/>
            <a:miter lim="800000"/>
            <a:headEnd/>
            <a:tailEnd/>
          </a:ln>
        </p:spPr>
      </p:pic>
      <p:sp>
        <p:nvSpPr>
          <p:cNvPr id="4" name="Date Placeholder 3"/>
          <p:cNvSpPr>
            <a:spLocks noGrp="1"/>
          </p:cNvSpPr>
          <p:nvPr>
            <p:ph type="dt" sz="half" idx="10"/>
          </p:nvPr>
        </p:nvSpPr>
        <p:spPr/>
        <p:txBody>
          <a:bodyPr/>
          <a:lstStyle/>
          <a:p>
            <a:pPr>
              <a:defRPr/>
            </a:pPr>
            <a:fld id="{010659C7-A7EA-459B-BF8A-3259040F0826}" type="datetime2">
              <a:rPr lang="en-US" smtClean="0"/>
              <a:pPr>
                <a:defRPr/>
              </a:pPr>
              <a:t>Monday, December 8, 2025</a:t>
            </a:fld>
            <a:endParaRPr lang="en-US"/>
          </a:p>
        </p:txBody>
      </p:sp>
      <p:sp>
        <p:nvSpPr>
          <p:cNvPr id="7" name="Slide Number Placeholder 6"/>
          <p:cNvSpPr>
            <a:spLocks noGrp="1"/>
          </p:cNvSpPr>
          <p:nvPr>
            <p:ph type="sldNum" sz="quarter" idx="12"/>
          </p:nvPr>
        </p:nvSpPr>
        <p:spPr/>
        <p:txBody>
          <a:bodyPr/>
          <a:lstStyle/>
          <a:p>
            <a:pPr>
              <a:defRPr/>
            </a:pPr>
            <a:fld id="{C70CFA2D-21B9-45B6-893F-7371CE3DE2D8}" type="slidenum">
              <a:rPr lang="en-US" smtClean="0"/>
              <a:pPr>
                <a:defRPr/>
              </a:pPr>
              <a:t>30</a:t>
            </a:fld>
            <a:endParaRPr lang="en-US"/>
          </a:p>
        </p:txBody>
      </p:sp>
      <p:sp>
        <p:nvSpPr>
          <p:cNvPr id="9" name="Footer Placeholder 8"/>
          <p:cNvSpPr>
            <a:spLocks noGrp="1"/>
          </p:cNvSpPr>
          <p:nvPr>
            <p:ph type="ftr" sz="quarter" idx="11"/>
          </p:nvPr>
        </p:nvSpPr>
        <p:spPr/>
        <p:txBody>
          <a:bodyPr/>
          <a:lstStyle/>
          <a:p>
            <a:pPr>
              <a:defRPr/>
            </a:pPr>
            <a:r>
              <a:rPr lang="en-US"/>
              <a:t>STAT 154 -09</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9"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up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ttp://www.projectalevel.co.uk/pics/sets4.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416" y="1628800"/>
            <a:ext cx="7060068" cy="439248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6300192" y="1772816"/>
            <a:ext cx="648072" cy="584775"/>
          </a:xfrm>
          <a:prstGeom prst="rect">
            <a:avLst/>
          </a:prstGeom>
          <a:noFill/>
        </p:spPr>
        <p:txBody>
          <a:bodyPr wrap="square" rtlCol="0">
            <a:spAutoFit/>
          </a:bodyPr>
          <a:lstStyle/>
          <a:p>
            <a:r>
              <a:rPr lang="en-GB" sz="3200" b="1" dirty="0"/>
              <a:t>S</a:t>
            </a:r>
          </a:p>
        </p:txBody>
      </p:sp>
      <mc:AlternateContent xmlns:mc="http://schemas.openxmlformats.org/markup-compatibility/2006" xmlns:a14="http://schemas.microsoft.com/office/drawing/2010/main">
        <mc:Choice Requires="a14">
          <p:sp>
            <p:nvSpPr>
              <p:cNvPr id="13" name="TextBox 12"/>
              <p:cNvSpPr txBox="1"/>
              <p:nvPr/>
            </p:nvSpPr>
            <p:spPr>
              <a:xfrm>
                <a:off x="6156176" y="3068960"/>
                <a:ext cx="504056" cy="584775"/>
              </a:xfrm>
              <a:prstGeom prst="rect">
                <a:avLst/>
              </a:prstGeom>
              <a:solidFill>
                <a:schemeClr val="accent3">
                  <a:lumMod val="60000"/>
                  <a:lumOff val="4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GB" sz="3200" b="1" i="1" dirty="0" smtClean="0">
                              <a:latin typeface="Cambria Math" panose="02040503050406030204" pitchFamily="18" charset="0"/>
                            </a:rPr>
                          </m:ctrlPr>
                        </m:accPr>
                        <m:e>
                          <m:r>
                            <a:rPr lang="en-GB" sz="3200" b="1" i="1" dirty="0" smtClean="0">
                              <a:latin typeface="Cambria Math"/>
                            </a:rPr>
                            <m:t>𝑨</m:t>
                          </m:r>
                        </m:e>
                      </m:acc>
                    </m:oMath>
                  </m:oMathPara>
                </a14:m>
                <a:endParaRPr lang="en-GB" sz="3200" b="1" dirty="0"/>
              </a:p>
            </p:txBody>
          </p:sp>
        </mc:Choice>
        <mc:Fallback xmlns="">
          <p:sp>
            <p:nvSpPr>
              <p:cNvPr id="13" name="TextBox 12"/>
              <p:cNvSpPr txBox="1">
                <a:spLocks noRot="1" noChangeAspect="1" noMove="1" noResize="1" noEditPoints="1" noAdjustHandles="1" noChangeArrowheads="1" noChangeShapeType="1" noTextEdit="1"/>
              </p:cNvSpPr>
              <p:nvPr/>
            </p:nvSpPr>
            <p:spPr>
              <a:xfrm>
                <a:off x="6156176" y="3068960"/>
                <a:ext cx="504056" cy="584775"/>
              </a:xfrm>
              <a:prstGeom prst="rect">
                <a:avLst/>
              </a:prstGeom>
              <a:blipFill rotWithShape="0">
                <a:blip r:embed="rId3"/>
                <a:stretch>
                  <a:fillRect/>
                </a:stretch>
              </a:blipFill>
            </p:spPr>
            <p:txBody>
              <a:bodyPr/>
              <a:lstStyle/>
              <a:p>
                <a:r>
                  <a:rPr lang="en-US">
                    <a:noFill/>
                  </a:rPr>
                  <a:t> </a:t>
                </a:r>
              </a:p>
            </p:txBody>
          </p:sp>
        </mc:Fallback>
      </mc:AlternateContent>
      <p:sp>
        <p:nvSpPr>
          <p:cNvPr id="14" name="Date Placeholder 13"/>
          <p:cNvSpPr>
            <a:spLocks noGrp="1"/>
          </p:cNvSpPr>
          <p:nvPr>
            <p:ph type="dt" sz="half" idx="10"/>
          </p:nvPr>
        </p:nvSpPr>
        <p:spPr/>
        <p:txBody>
          <a:bodyPr/>
          <a:lstStyle/>
          <a:p>
            <a:pPr>
              <a:defRPr/>
            </a:pPr>
            <a:fld id="{7ED38AFB-F747-497B-8387-F36BA97A3E9B}" type="datetime2">
              <a:rPr lang="en-US" smtClean="0"/>
              <a:pPr>
                <a:defRPr/>
              </a:pPr>
              <a:t>Monday, December 8, 2025</a:t>
            </a:fld>
            <a:endParaRPr lang="en-US"/>
          </a:p>
        </p:txBody>
      </p:sp>
      <p:sp>
        <p:nvSpPr>
          <p:cNvPr id="15" name="Slide Number Placeholder 14"/>
          <p:cNvSpPr>
            <a:spLocks noGrp="1"/>
          </p:cNvSpPr>
          <p:nvPr>
            <p:ph type="sldNum" sz="quarter" idx="12"/>
          </p:nvPr>
        </p:nvSpPr>
        <p:spPr/>
        <p:txBody>
          <a:bodyPr/>
          <a:lstStyle/>
          <a:p>
            <a:pPr>
              <a:defRPr/>
            </a:pPr>
            <a:fld id="{C70CFA2D-21B9-45B6-893F-7371CE3DE2D8}" type="slidenum">
              <a:rPr lang="en-US" smtClean="0"/>
              <a:pPr>
                <a:defRPr/>
              </a:pPr>
              <a:t>31</a:t>
            </a:fld>
            <a:endParaRPr lang="en-US"/>
          </a:p>
        </p:txBody>
      </p:sp>
      <p:sp>
        <p:nvSpPr>
          <p:cNvPr id="7" name="Footer Placeholder 6"/>
          <p:cNvSpPr>
            <a:spLocks noGrp="1"/>
          </p:cNvSpPr>
          <p:nvPr>
            <p:ph type="ftr" sz="quarter" idx="11"/>
          </p:nvPr>
        </p:nvSpPr>
        <p:spPr/>
        <p:txBody>
          <a:bodyPr/>
          <a:lstStyle/>
          <a:p>
            <a:pPr>
              <a:defRPr/>
            </a:pPr>
            <a:r>
              <a:rPr lang="en-US"/>
              <a:t>STAT 154 -09</a:t>
            </a:r>
          </a:p>
        </p:txBody>
      </p:sp>
    </p:spTree>
  </p:cSld>
  <p:clrMapOvr>
    <a:masterClrMapping/>
  </p:clrMapOvr>
  <p:transition spd="slow">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625" y="461708"/>
            <a:ext cx="8534400" cy="758825"/>
          </a:xfrm>
        </p:spPr>
        <p:txBody>
          <a:bodyPr/>
          <a:lstStyle/>
          <a:p>
            <a:pPr algn="l"/>
            <a:r>
              <a:rPr lang="en-US" sz="4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11:</a:t>
            </a:r>
          </a:p>
        </p:txBody>
      </p:sp>
      <p:sp>
        <p:nvSpPr>
          <p:cNvPr id="3" name="Content Placeholder 2"/>
          <p:cNvSpPr>
            <a:spLocks noGrp="1" noRot="1" noChangeAspect="1" noMove="1" noResize="1" noEditPoints="1" noAdjustHandles="1" noChangeArrowheads="1" noChangeShapeType="1" noTextEdit="1"/>
          </p:cNvSpPr>
          <p:nvPr>
            <p:ph sz="quarter" idx="1"/>
          </p:nvPr>
        </p:nvSpPr>
        <p:spPr>
          <a:xfrm>
            <a:off x="301752" y="1305272"/>
            <a:ext cx="8503920" cy="4572000"/>
          </a:xfrm>
          <a:blipFill rotWithShape="1">
            <a:blip r:embed="rId2"/>
            <a:stretch>
              <a:fillRect l="-1720" t="-1733" r="-2724"/>
            </a:stretch>
          </a:blipFill>
        </p:spPr>
        <p:txBody>
          <a:bodyPr/>
          <a:lstStyle/>
          <a:p>
            <a:pPr>
              <a:buNone/>
            </a:pPr>
            <a:r>
              <a:rPr lang="en-GB" dirty="0">
                <a:noFill/>
              </a:rPr>
              <a:t>  </a:t>
            </a:r>
          </a:p>
        </p:txBody>
      </p:sp>
      <p:sp>
        <p:nvSpPr>
          <p:cNvPr id="4" name="Date Placeholder 3"/>
          <p:cNvSpPr>
            <a:spLocks noGrp="1"/>
          </p:cNvSpPr>
          <p:nvPr>
            <p:ph type="dt" sz="half" idx="10"/>
          </p:nvPr>
        </p:nvSpPr>
        <p:spPr/>
        <p:txBody>
          <a:bodyPr/>
          <a:lstStyle/>
          <a:p>
            <a:pPr>
              <a:defRPr/>
            </a:pPr>
            <a:fld id="{E4B77ECA-E059-48A1-BDAA-1B5FD67A79C1}"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32</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extLst>
      <p:ext uri="{BB962C8B-B14F-4D97-AF65-F5344CB8AC3E}">
        <p14:creationId xmlns:p14="http://schemas.microsoft.com/office/powerpoint/2010/main" val="1547115770"/>
      </p:ext>
    </p:extLst>
  </p:cSld>
  <p:clrMapOvr>
    <a:masterClrMapping/>
  </p:clrMapOvr>
  <p:transition spd="slow">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461210"/>
            <a:ext cx="8534400" cy="758825"/>
          </a:xfrm>
        </p:spPr>
        <p:txBody>
          <a:bodyPr/>
          <a:lstStyle/>
          <a:p>
            <a:pPr algn="l"/>
            <a:r>
              <a:rPr lang="en-US" sz="4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Union:</a:t>
            </a:r>
          </a:p>
        </p:txBody>
      </p:sp>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2"/>
            <a:stretch>
              <a:fillRect l="-2151" t="-2133" r="-2079"/>
            </a:stretch>
          </a:blipFill>
        </p:spPr>
        <p:txBody>
          <a:bodyPr/>
          <a:lstStyle/>
          <a:p>
            <a:pPr>
              <a:buNone/>
            </a:pPr>
            <a:r>
              <a:rPr lang="en-US" dirty="0">
                <a:noFill/>
              </a:rPr>
              <a:t> </a:t>
            </a:r>
          </a:p>
        </p:txBody>
      </p:sp>
      <p:sp>
        <p:nvSpPr>
          <p:cNvPr id="4" name="Date Placeholder 3"/>
          <p:cNvSpPr>
            <a:spLocks noGrp="1"/>
          </p:cNvSpPr>
          <p:nvPr>
            <p:ph type="dt" sz="half" idx="10"/>
          </p:nvPr>
        </p:nvSpPr>
        <p:spPr/>
        <p:txBody>
          <a:bodyPr/>
          <a:lstStyle/>
          <a:p>
            <a:pPr>
              <a:defRPr/>
            </a:pPr>
            <a:fld id="{8E0C6D44-8ED5-4267-B0A2-7C711CF47517}"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33</a:t>
            </a:fld>
            <a:endParaRPr lang="en-US"/>
          </a:p>
        </p:txBody>
      </p:sp>
      <p:pic>
        <p:nvPicPr>
          <p:cNvPr id="6" name="Picture 5"/>
          <p:cNvPicPr>
            <a:picLocks noChangeAspect="1"/>
          </p:cNvPicPr>
          <p:nvPr/>
        </p:nvPicPr>
        <p:blipFill>
          <a:blip r:embed="rId3"/>
          <a:stretch>
            <a:fillRect/>
          </a:stretch>
        </p:blipFill>
        <p:spPr>
          <a:xfrm>
            <a:off x="2021864" y="3933056"/>
            <a:ext cx="2581275" cy="1771650"/>
          </a:xfrm>
          <a:prstGeom prst="rect">
            <a:avLst/>
          </a:prstGeom>
        </p:spPr>
      </p:pic>
      <p:sp>
        <p:nvSpPr>
          <p:cNvPr id="7" name="TextBox 6"/>
          <p:cNvSpPr txBox="1"/>
          <p:nvPr/>
        </p:nvSpPr>
        <p:spPr>
          <a:xfrm>
            <a:off x="4267014" y="3640668"/>
            <a:ext cx="648072" cy="584775"/>
          </a:xfrm>
          <a:prstGeom prst="rect">
            <a:avLst/>
          </a:prstGeom>
          <a:noFill/>
        </p:spPr>
        <p:txBody>
          <a:bodyPr wrap="square" rtlCol="0">
            <a:spAutoFit/>
          </a:bodyPr>
          <a:lstStyle/>
          <a:p>
            <a:r>
              <a:rPr lang="en-GB" sz="3200" b="1" dirty="0"/>
              <a:t>S</a:t>
            </a:r>
          </a:p>
        </p:txBody>
      </p:sp>
      <p:sp>
        <p:nvSpPr>
          <p:cNvPr id="8" name="Footer Placeholder 7"/>
          <p:cNvSpPr>
            <a:spLocks noGrp="1"/>
          </p:cNvSpPr>
          <p:nvPr>
            <p:ph type="ftr" sz="quarter" idx="11"/>
          </p:nvPr>
        </p:nvSpPr>
        <p:spPr/>
        <p:txBody>
          <a:bodyPr/>
          <a:lstStyle/>
          <a:p>
            <a:pPr>
              <a:defRPr/>
            </a:pPr>
            <a:r>
              <a:rPr lang="en-US"/>
              <a:t>STAT 154 -09</a:t>
            </a:r>
          </a:p>
        </p:txBody>
      </p:sp>
    </p:spTree>
    <p:extLst>
      <p:ext uri="{BB962C8B-B14F-4D97-AF65-F5344CB8AC3E}">
        <p14:creationId xmlns:p14="http://schemas.microsoft.com/office/powerpoint/2010/main" val="2506564111"/>
      </p:ext>
    </p:extLst>
  </p:cSld>
  <p:clrMapOvr>
    <a:masterClrMapping/>
  </p:clrMapOvr>
  <p:transition spd="slow">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272" y="461708"/>
            <a:ext cx="8534400" cy="758825"/>
          </a:xfrm>
        </p:spPr>
        <p:txBody>
          <a:bodyPr/>
          <a:lstStyle/>
          <a:p>
            <a:pPr algn="l"/>
            <a:r>
              <a:rPr lang="en-US" sz="4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12:</a:t>
            </a:r>
          </a:p>
        </p:txBody>
      </p:sp>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2"/>
            <a:stretch>
              <a:fillRect l="-1720" t="-1733" r="-1649"/>
            </a:stretch>
          </a:blipFill>
        </p:spPr>
        <p:txBody>
          <a:bodyPr/>
          <a:lstStyle/>
          <a:p>
            <a:pPr>
              <a:buNone/>
            </a:pPr>
            <a:r>
              <a:rPr lang="en-US" dirty="0">
                <a:noFill/>
              </a:rPr>
              <a:t> </a:t>
            </a:r>
          </a:p>
        </p:txBody>
      </p:sp>
      <p:sp>
        <p:nvSpPr>
          <p:cNvPr id="4" name="Date Placeholder 3"/>
          <p:cNvSpPr>
            <a:spLocks noGrp="1"/>
          </p:cNvSpPr>
          <p:nvPr>
            <p:ph type="dt" sz="half" idx="10"/>
          </p:nvPr>
        </p:nvSpPr>
        <p:spPr/>
        <p:txBody>
          <a:bodyPr/>
          <a:lstStyle/>
          <a:p>
            <a:pPr>
              <a:defRPr/>
            </a:pPr>
            <a:fld id="{CDAD70BF-56E0-4B08-82C1-6F5D6A92E712}"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34</a:t>
            </a:fld>
            <a:endParaRPr lang="en-US"/>
          </a:p>
        </p:txBody>
      </p:sp>
      <p:sp>
        <p:nvSpPr>
          <p:cNvPr id="7" name="Footer Placeholder 6"/>
          <p:cNvSpPr>
            <a:spLocks noGrp="1"/>
          </p:cNvSpPr>
          <p:nvPr>
            <p:ph type="ftr" sz="quarter" idx="11"/>
          </p:nvPr>
        </p:nvSpPr>
        <p:spPr/>
        <p:txBody>
          <a:bodyPr/>
          <a:lstStyle/>
          <a:p>
            <a:pPr>
              <a:defRPr/>
            </a:pPr>
            <a:r>
              <a:rPr lang="en-US"/>
              <a:t>STAT 154 -09</a:t>
            </a:r>
          </a:p>
        </p:txBody>
      </p:sp>
    </p:spTree>
    <p:extLst>
      <p:ext uri="{BB962C8B-B14F-4D97-AF65-F5344CB8AC3E}">
        <p14:creationId xmlns:p14="http://schemas.microsoft.com/office/powerpoint/2010/main" val="2086741538"/>
      </p:ext>
    </p:extLst>
  </p:cSld>
  <p:clrMapOvr>
    <a:masterClrMapping/>
  </p:clrMapOvr>
  <p:transition spd="slow">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509935"/>
            <a:ext cx="8534400" cy="758825"/>
          </a:xfrm>
        </p:spPr>
        <p:txBody>
          <a:bodyPr/>
          <a:lstStyle/>
          <a:p>
            <a:pPr algn="l"/>
            <a:r>
              <a:rPr lang="en-US" sz="4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Intersection:</a:t>
            </a:r>
          </a:p>
        </p:txBody>
      </p:sp>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2"/>
            <a:stretch>
              <a:fillRect l="-2151" t="-2133" r="-2079"/>
            </a:stretch>
          </a:blipFill>
        </p:spPr>
        <p:txBody>
          <a:bodyPr/>
          <a:lstStyle/>
          <a:p>
            <a:pPr>
              <a:buNone/>
            </a:pPr>
            <a:r>
              <a:rPr lang="en-US" dirty="0">
                <a:noFill/>
              </a:rPr>
              <a:t> n </a:t>
            </a:r>
          </a:p>
        </p:txBody>
      </p:sp>
      <p:sp>
        <p:nvSpPr>
          <p:cNvPr id="4" name="Date Placeholder 3"/>
          <p:cNvSpPr>
            <a:spLocks noGrp="1"/>
          </p:cNvSpPr>
          <p:nvPr>
            <p:ph type="dt" sz="half" idx="10"/>
          </p:nvPr>
        </p:nvSpPr>
        <p:spPr/>
        <p:txBody>
          <a:bodyPr/>
          <a:lstStyle/>
          <a:p>
            <a:pPr>
              <a:defRPr/>
            </a:pPr>
            <a:fld id="{376BFEB8-8397-4E42-B327-1D8E25908D1B}"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35</a:t>
            </a:fld>
            <a:endParaRPr lang="en-US"/>
          </a:p>
        </p:txBody>
      </p:sp>
      <p:pic>
        <p:nvPicPr>
          <p:cNvPr id="1026" name="Picture 2" descr="https://upload.wikimedia.org/wikipedia/commons/thumb/7/7b/Venn_A_intersect_B_alt.svg/2000px-Venn_A_intersect_B_alt.sv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15816" y="4149080"/>
            <a:ext cx="2696722" cy="177802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339752" y="3895208"/>
            <a:ext cx="3672408" cy="2285772"/>
          </a:xfrm>
          <a:prstGeom prst="rect">
            <a:avLst/>
          </a:prstGeom>
          <a:noFill/>
          <a:ln w="28575">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5688124" y="3636920"/>
            <a:ext cx="648072" cy="584775"/>
          </a:xfrm>
          <a:prstGeom prst="rect">
            <a:avLst/>
          </a:prstGeom>
          <a:noFill/>
        </p:spPr>
        <p:txBody>
          <a:bodyPr wrap="square" rtlCol="0">
            <a:spAutoFit/>
          </a:bodyPr>
          <a:lstStyle/>
          <a:p>
            <a:r>
              <a:rPr lang="en-GB" sz="3200" b="1" dirty="0"/>
              <a:t>S</a:t>
            </a:r>
          </a:p>
        </p:txBody>
      </p:sp>
      <p:sp>
        <p:nvSpPr>
          <p:cNvPr id="9" name="Footer Placeholder 8"/>
          <p:cNvSpPr>
            <a:spLocks noGrp="1"/>
          </p:cNvSpPr>
          <p:nvPr>
            <p:ph type="ftr" sz="quarter" idx="11"/>
          </p:nvPr>
        </p:nvSpPr>
        <p:spPr/>
        <p:txBody>
          <a:bodyPr/>
          <a:lstStyle/>
          <a:p>
            <a:pPr>
              <a:defRPr/>
            </a:pPr>
            <a:r>
              <a:rPr lang="en-US"/>
              <a:t>STAT 154 -09</a:t>
            </a:r>
          </a:p>
        </p:txBody>
      </p:sp>
    </p:spTree>
    <p:extLst>
      <p:ext uri="{BB962C8B-B14F-4D97-AF65-F5344CB8AC3E}">
        <p14:creationId xmlns:p14="http://schemas.microsoft.com/office/powerpoint/2010/main" val="2771361876"/>
      </p:ext>
    </p:extLst>
  </p:cSld>
  <p:clrMapOvr>
    <a:masterClrMapping/>
  </p:clrMapOvr>
  <p:transition spd="slow">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5281" y="494443"/>
            <a:ext cx="8534400" cy="758825"/>
          </a:xfrm>
        </p:spPr>
        <p:txBody>
          <a:bodyPr/>
          <a:lstStyle/>
          <a:p>
            <a:pPr algn="l"/>
            <a:r>
              <a:rPr lang="en-US" sz="4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13:</a:t>
            </a:r>
          </a:p>
        </p:txBody>
      </p:sp>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2"/>
            <a:stretch>
              <a:fillRect l="-1720" t="-1733" r="-1649"/>
            </a:stretch>
          </a:blipFill>
        </p:spPr>
        <p:txBody>
          <a:bodyPr/>
          <a:lstStyle/>
          <a:p>
            <a:pPr>
              <a:buNone/>
            </a:pPr>
            <a:r>
              <a:rPr lang="en-US" dirty="0">
                <a:noFill/>
              </a:rPr>
              <a:t>  </a:t>
            </a:r>
          </a:p>
        </p:txBody>
      </p:sp>
      <p:sp>
        <p:nvSpPr>
          <p:cNvPr id="4" name="Date Placeholder 3"/>
          <p:cNvSpPr>
            <a:spLocks noGrp="1"/>
          </p:cNvSpPr>
          <p:nvPr>
            <p:ph type="dt" sz="half" idx="10"/>
          </p:nvPr>
        </p:nvSpPr>
        <p:spPr/>
        <p:txBody>
          <a:bodyPr/>
          <a:lstStyle/>
          <a:p>
            <a:pPr>
              <a:defRPr/>
            </a:pPr>
            <a:fld id="{40F977BC-BE0E-478F-863A-18B5EA9202B6}"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36</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extLst>
      <p:ext uri="{BB962C8B-B14F-4D97-AF65-F5344CB8AC3E}">
        <p14:creationId xmlns:p14="http://schemas.microsoft.com/office/powerpoint/2010/main" val="2367421280"/>
      </p:ext>
    </p:extLst>
  </p:cSld>
  <p:clrMapOvr>
    <a:masterClrMapping/>
  </p:clrMapOvr>
  <p:transition spd="slow">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C73EFAA6-1877-D59E-D5EB-9A760E5F8918}"/>
              </a:ext>
            </a:extLst>
          </p:cNvPr>
          <p:cNvSpPr>
            <a:spLocks noGrp="1" noChangeArrowheads="1"/>
          </p:cNvSpPr>
          <p:nvPr>
            <p:ph type="title"/>
          </p:nvPr>
        </p:nvSpPr>
        <p:spPr>
          <a:xfrm>
            <a:off x="-816428" y="228600"/>
            <a:ext cx="5410200" cy="11430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altLang="en-US" sz="4800" b="1" dirty="0"/>
              <a:t>Example</a:t>
            </a:r>
            <a:endParaRPr lang="en-US" altLang="en-US" sz="4800" dirty="0"/>
          </a:p>
        </p:txBody>
      </p:sp>
      <p:sp>
        <p:nvSpPr>
          <p:cNvPr id="93187" name="Rectangle 3">
            <a:extLst>
              <a:ext uri="{FF2B5EF4-FFF2-40B4-BE49-F238E27FC236}">
                <a16:creationId xmlns:a16="http://schemas.microsoft.com/office/drawing/2014/main" id="{20B87E0A-24F7-58AC-0A20-4ED362E0EE47}"/>
              </a:ext>
            </a:extLst>
          </p:cNvPr>
          <p:cNvSpPr>
            <a:spLocks noGrp="1" noChangeArrowheads="1"/>
          </p:cNvSpPr>
          <p:nvPr>
            <p:ph type="body" idx="1"/>
          </p:nvPr>
        </p:nvSpPr>
        <p:spPr>
          <a:xfrm>
            <a:off x="228600" y="1524000"/>
            <a:ext cx="8153400" cy="2590800"/>
          </a:xfrm>
          <a:noFill/>
          <a:ln/>
          <a:extLst>
            <a:ext uri="{91240B29-F687-4F45-9708-019B960494DF}">
              <a14:hiddenLine xmlns:a14="http://schemas.microsoft.com/office/drawing/2010/main" w="12700">
                <a:solidFill>
                  <a:schemeClr val="tx1"/>
                </a:solidFill>
                <a:miter lim="800000"/>
                <a:headEnd/>
                <a:tailEnd/>
              </a14:hiddenLine>
            </a:ext>
          </a:extLst>
        </p:spPr>
        <p:txBody>
          <a:bodyPr lIns="0" tIns="0" rIns="0" bIns="0"/>
          <a:lstStyle/>
          <a:p>
            <a:pPr>
              <a:spcBef>
                <a:spcPct val="0"/>
              </a:spcBef>
              <a:buFontTx/>
              <a:buNone/>
            </a:pPr>
            <a:r>
              <a:rPr lang="en-US" altLang="en-US"/>
              <a:t>    </a:t>
            </a:r>
            <a:r>
              <a:rPr lang="en-US" altLang="en-US" sz="3200">
                <a:solidFill>
                  <a:schemeClr val="tx1"/>
                </a:solidFill>
              </a:rPr>
              <a:t>Select a student from the classroom and </a:t>
            </a:r>
          </a:p>
          <a:p>
            <a:pPr>
              <a:spcBef>
                <a:spcPct val="0"/>
              </a:spcBef>
              <a:buFontTx/>
              <a:buNone/>
            </a:pPr>
            <a:r>
              <a:rPr lang="en-US" altLang="en-US" sz="3200">
                <a:solidFill>
                  <a:schemeClr val="tx1"/>
                </a:solidFill>
              </a:rPr>
              <a:t>	 record his/her</a:t>
            </a:r>
            <a:r>
              <a:rPr lang="en-US" altLang="en-US" sz="3200" b="1">
                <a:solidFill>
                  <a:schemeClr val="tx1"/>
                </a:solidFill>
              </a:rPr>
              <a:t> hair color </a:t>
            </a:r>
            <a:r>
              <a:rPr lang="en-US" altLang="en-US" sz="3200">
                <a:solidFill>
                  <a:schemeClr val="tx1"/>
                </a:solidFill>
              </a:rPr>
              <a:t>and</a:t>
            </a:r>
            <a:r>
              <a:rPr lang="en-US" altLang="en-US" sz="3200" b="1">
                <a:solidFill>
                  <a:schemeClr val="tx1"/>
                </a:solidFill>
              </a:rPr>
              <a:t> gender.</a:t>
            </a:r>
            <a:endParaRPr lang="en-US" altLang="en-US" sz="3200">
              <a:solidFill>
                <a:schemeClr val="tx1"/>
              </a:solidFill>
            </a:endParaRPr>
          </a:p>
          <a:p>
            <a:pPr lvl="1">
              <a:spcBef>
                <a:spcPct val="0"/>
              </a:spcBef>
            </a:pPr>
            <a:r>
              <a:rPr lang="en-US" altLang="en-US" sz="3200" b="1">
                <a:solidFill>
                  <a:schemeClr val="tx1"/>
                </a:solidFill>
              </a:rPr>
              <a:t>A: </a:t>
            </a:r>
            <a:r>
              <a:rPr lang="en-US" altLang="en-US" sz="3200">
                <a:solidFill>
                  <a:schemeClr val="tx1"/>
                </a:solidFill>
              </a:rPr>
              <a:t>student has brown hair</a:t>
            </a:r>
            <a:endParaRPr lang="en-US" altLang="en-US" sz="3200" b="1">
              <a:solidFill>
                <a:schemeClr val="tx1"/>
              </a:solidFill>
            </a:endParaRPr>
          </a:p>
          <a:p>
            <a:pPr lvl="1">
              <a:spcBef>
                <a:spcPct val="0"/>
              </a:spcBef>
            </a:pPr>
            <a:r>
              <a:rPr lang="en-US" altLang="en-US" sz="3200" b="1">
                <a:solidFill>
                  <a:schemeClr val="tx1"/>
                </a:solidFill>
              </a:rPr>
              <a:t>B: </a:t>
            </a:r>
            <a:r>
              <a:rPr lang="en-US" altLang="en-US" sz="3200">
                <a:solidFill>
                  <a:schemeClr val="tx1"/>
                </a:solidFill>
              </a:rPr>
              <a:t>student is female</a:t>
            </a:r>
            <a:endParaRPr lang="en-US" altLang="en-US" sz="3200" b="1">
              <a:solidFill>
                <a:schemeClr val="tx1"/>
              </a:solidFill>
            </a:endParaRPr>
          </a:p>
          <a:p>
            <a:pPr lvl="1">
              <a:spcBef>
                <a:spcPct val="0"/>
              </a:spcBef>
            </a:pPr>
            <a:r>
              <a:rPr lang="en-US" altLang="en-US" sz="3200" b="1">
                <a:solidFill>
                  <a:schemeClr val="tx1"/>
                </a:solidFill>
              </a:rPr>
              <a:t>C:</a:t>
            </a:r>
            <a:r>
              <a:rPr lang="en-US" altLang="en-US" sz="3200">
                <a:solidFill>
                  <a:schemeClr val="tx1"/>
                </a:solidFill>
              </a:rPr>
              <a:t> student is male</a:t>
            </a:r>
          </a:p>
        </p:txBody>
      </p:sp>
      <p:grpSp>
        <p:nvGrpSpPr>
          <p:cNvPr id="93198" name="Group 14">
            <a:extLst>
              <a:ext uri="{FF2B5EF4-FFF2-40B4-BE49-F238E27FC236}">
                <a16:creationId xmlns:a16="http://schemas.microsoft.com/office/drawing/2014/main" id="{7628AFC8-F6F3-5D83-9CE9-146E7FA9567B}"/>
              </a:ext>
            </a:extLst>
          </p:cNvPr>
          <p:cNvGrpSpPr>
            <a:grpSpLocks/>
          </p:cNvGrpSpPr>
          <p:nvPr/>
        </p:nvGrpSpPr>
        <p:grpSpPr bwMode="auto">
          <a:xfrm>
            <a:off x="7239000" y="76200"/>
            <a:ext cx="1676400" cy="1752600"/>
            <a:chOff x="4368" y="48"/>
            <a:chExt cx="1344" cy="1296"/>
          </a:xfrm>
        </p:grpSpPr>
        <p:sp>
          <p:nvSpPr>
            <p:cNvPr id="93189" name="Rectangle 5">
              <a:extLst>
                <a:ext uri="{FF2B5EF4-FFF2-40B4-BE49-F238E27FC236}">
                  <a16:creationId xmlns:a16="http://schemas.microsoft.com/office/drawing/2014/main" id="{97D3F7B0-6A93-8C2A-82AE-1623583FB566}"/>
                </a:ext>
              </a:extLst>
            </p:cNvPr>
            <p:cNvSpPr>
              <a:spLocks noChangeArrowheads="1"/>
            </p:cNvSpPr>
            <p:nvPr/>
          </p:nvSpPr>
          <p:spPr bwMode="auto">
            <a:xfrm>
              <a:off x="4368" y="48"/>
              <a:ext cx="1344" cy="1296"/>
            </a:xfrm>
            <a:prstGeom prst="rect">
              <a:avLst/>
            </a:prstGeom>
            <a:solidFill>
              <a:srgbClr val="F4ECC6"/>
            </a:solidFill>
            <a:ln>
              <a:noFill/>
            </a:ln>
            <a:effectLst>
              <a:outerShdw dist="107763" dir="2700000" algn="ctr" rotWithShape="0">
                <a:schemeClr val="bg2"/>
              </a:outerShdw>
            </a:effectLst>
            <a:extLst>
              <a:ext uri="{91240B29-F687-4F45-9708-019B960494DF}">
                <a14:hiddenLine xmlns:a14="http://schemas.microsoft.com/office/drawing/2010/main" w="28575">
                  <a:solidFill>
                    <a:srgbClr val="CC0066"/>
                  </a:solidFill>
                  <a:miter lim="800000"/>
                  <a:headEnd/>
                  <a:tailEnd/>
                </a14:hiddenLine>
              </a:ext>
            </a:extLst>
          </p:spPr>
          <p:txBody>
            <a:bodyPr wrap="none" anchor="ctr"/>
            <a:lstStyle/>
            <a:p>
              <a:endParaRPr lang="en-US"/>
            </a:p>
          </p:txBody>
        </p:sp>
        <p:pic>
          <p:nvPicPr>
            <p:cNvPr id="93188" name="Picture 4">
              <a:extLst>
                <a:ext uri="{FF2B5EF4-FFF2-40B4-BE49-F238E27FC236}">
                  <a16:creationId xmlns:a16="http://schemas.microsoft.com/office/drawing/2014/main" id="{C2BCB7A1-26AA-5D3D-51CE-42095569CFD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64" y="144"/>
              <a:ext cx="1152" cy="1107"/>
            </a:xfrm>
            <a:prstGeom prst="rect">
              <a:avLst/>
            </a:prstGeom>
            <a:noFill/>
            <a:extLst>
              <a:ext uri="{909E8E84-426E-40DD-AFC4-6F175D3DCCD1}">
                <a14:hiddenFill xmlns:a14="http://schemas.microsoft.com/office/drawing/2010/main">
                  <a:solidFill>
                    <a:srgbClr val="FFFFFF"/>
                  </a:solidFill>
                </a14:hiddenFill>
              </a:ext>
            </a:extLst>
          </p:spPr>
        </p:pic>
      </p:grpSp>
      <p:sp>
        <p:nvSpPr>
          <p:cNvPr id="93191" name="Text Box 7">
            <a:extLst>
              <a:ext uri="{FF2B5EF4-FFF2-40B4-BE49-F238E27FC236}">
                <a16:creationId xmlns:a16="http://schemas.microsoft.com/office/drawing/2014/main" id="{3583D61A-E7D3-FE26-38B9-9D5BD5896840}"/>
              </a:ext>
            </a:extLst>
          </p:cNvPr>
          <p:cNvSpPr txBox="1">
            <a:spLocks noChangeArrowheads="1"/>
          </p:cNvSpPr>
          <p:nvPr/>
        </p:nvSpPr>
        <p:spPr bwMode="auto">
          <a:xfrm>
            <a:off x="609600" y="4038600"/>
            <a:ext cx="8534400" cy="213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20000"/>
              </a:spcBef>
            </a:pPr>
            <a:r>
              <a:rPr lang="en-US" altLang="en-US" sz="3200" dirty="0"/>
              <a:t>What is the relationship between events </a:t>
            </a:r>
            <a:r>
              <a:rPr lang="en-US" altLang="en-US" sz="3200" b="1" dirty="0"/>
              <a:t>B</a:t>
            </a:r>
            <a:r>
              <a:rPr lang="en-US" altLang="en-US" sz="3200" dirty="0"/>
              <a:t> and </a:t>
            </a:r>
            <a:r>
              <a:rPr lang="en-US" altLang="en-US" sz="3200" b="1" dirty="0"/>
              <a:t>C</a:t>
            </a:r>
            <a:r>
              <a:rPr lang="en-US" altLang="en-US" sz="3200" dirty="0"/>
              <a:t>?</a:t>
            </a:r>
          </a:p>
          <a:p>
            <a:pPr>
              <a:lnSpc>
                <a:spcPct val="90000"/>
              </a:lnSpc>
              <a:spcBef>
                <a:spcPct val="20000"/>
              </a:spcBef>
              <a:buFontTx/>
              <a:buChar char="•"/>
            </a:pPr>
            <a:r>
              <a:rPr lang="en-US" altLang="en-US" sz="3200" b="1" dirty="0">
                <a:solidFill>
                  <a:srgbClr val="333333"/>
                </a:solidFill>
              </a:rPr>
              <a:t>A</a:t>
            </a:r>
            <a:r>
              <a:rPr lang="en-US" altLang="en-US" sz="3200" b="1" baseline="30000" dirty="0">
                <a:solidFill>
                  <a:srgbClr val="333333"/>
                </a:solidFill>
              </a:rPr>
              <a:t>C</a:t>
            </a:r>
            <a:r>
              <a:rPr lang="en-US" altLang="en-US" sz="3200" b="1" dirty="0">
                <a:solidFill>
                  <a:srgbClr val="333333"/>
                </a:solidFill>
              </a:rPr>
              <a:t>:</a:t>
            </a:r>
            <a:r>
              <a:rPr lang="en-US" altLang="en-US" sz="3200" b="1" dirty="0">
                <a:solidFill>
                  <a:schemeClr val="accent2"/>
                </a:solidFill>
              </a:rPr>
              <a:t> </a:t>
            </a:r>
          </a:p>
          <a:p>
            <a:pPr>
              <a:lnSpc>
                <a:spcPct val="90000"/>
              </a:lnSpc>
              <a:spcBef>
                <a:spcPct val="20000"/>
              </a:spcBef>
              <a:buFontTx/>
              <a:buChar char="•"/>
            </a:pPr>
            <a:r>
              <a:rPr lang="en-US" altLang="en-US" sz="3200" b="1" dirty="0">
                <a:solidFill>
                  <a:srgbClr val="333333"/>
                </a:solidFill>
              </a:rPr>
              <a:t>B</a:t>
            </a:r>
            <a:r>
              <a:rPr lang="en-US" altLang="en-US" sz="3200" b="1" dirty="0">
                <a:solidFill>
                  <a:srgbClr val="333333"/>
                </a:solidFill>
                <a:sym typeface="Symbol" panose="05050102010706020507" pitchFamily="18" charset="2"/>
              </a:rPr>
              <a:t>C:</a:t>
            </a:r>
            <a:r>
              <a:rPr lang="en-US" altLang="en-US" sz="3200" b="1" dirty="0">
                <a:solidFill>
                  <a:schemeClr val="accent2"/>
                </a:solidFill>
                <a:sym typeface="Symbol" panose="05050102010706020507" pitchFamily="18" charset="2"/>
              </a:rPr>
              <a:t> </a:t>
            </a:r>
          </a:p>
          <a:p>
            <a:pPr>
              <a:lnSpc>
                <a:spcPct val="90000"/>
              </a:lnSpc>
              <a:spcBef>
                <a:spcPct val="20000"/>
              </a:spcBef>
              <a:buFontTx/>
              <a:buChar char="•"/>
            </a:pPr>
            <a:r>
              <a:rPr lang="en-US" altLang="en-US" sz="3200" b="1" dirty="0">
                <a:solidFill>
                  <a:srgbClr val="333333"/>
                </a:solidFill>
                <a:sym typeface="Symbol" panose="05050102010706020507" pitchFamily="18" charset="2"/>
              </a:rPr>
              <a:t>BC:</a:t>
            </a:r>
            <a:endParaRPr lang="en-US" altLang="en-US" dirty="0"/>
          </a:p>
        </p:txBody>
      </p:sp>
      <p:sp>
        <p:nvSpPr>
          <p:cNvPr id="93192" name="Text Box 8">
            <a:extLst>
              <a:ext uri="{FF2B5EF4-FFF2-40B4-BE49-F238E27FC236}">
                <a16:creationId xmlns:a16="http://schemas.microsoft.com/office/drawing/2014/main" id="{67DB353C-8C2C-E612-9D4F-C364F16437D9}"/>
              </a:ext>
            </a:extLst>
          </p:cNvPr>
          <p:cNvSpPr txBox="1">
            <a:spLocks noChangeArrowheads="1"/>
          </p:cNvSpPr>
          <p:nvPr/>
        </p:nvSpPr>
        <p:spPr bwMode="auto">
          <a:xfrm>
            <a:off x="4343400" y="3505200"/>
            <a:ext cx="4343400" cy="485775"/>
          </a:xfrm>
          <a:prstGeom prst="rect">
            <a:avLst/>
          </a:prstGeom>
          <a:solidFill>
            <a:srgbClr val="CC0066"/>
          </a:solidFill>
          <a:ln w="28575">
            <a:solidFill>
              <a:srgbClr val="F4ECC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F4ECC6"/>
                </a:solidFill>
              </a:rPr>
              <a:t>Mutually exclusive; B = C</a:t>
            </a:r>
            <a:r>
              <a:rPr lang="en-US" altLang="en-US" baseline="30000">
                <a:solidFill>
                  <a:srgbClr val="F4ECC6"/>
                </a:solidFill>
              </a:rPr>
              <a:t>C</a:t>
            </a:r>
            <a:endParaRPr lang="en-US" altLang="en-US">
              <a:solidFill>
                <a:srgbClr val="F4ECC6"/>
              </a:solidFill>
            </a:endParaRPr>
          </a:p>
        </p:txBody>
      </p:sp>
      <p:sp>
        <p:nvSpPr>
          <p:cNvPr id="93193" name="Text Box 9">
            <a:extLst>
              <a:ext uri="{FF2B5EF4-FFF2-40B4-BE49-F238E27FC236}">
                <a16:creationId xmlns:a16="http://schemas.microsoft.com/office/drawing/2014/main" id="{906CB25F-104E-1BA9-80BB-23198242816E}"/>
              </a:ext>
            </a:extLst>
          </p:cNvPr>
          <p:cNvSpPr txBox="1">
            <a:spLocks noChangeArrowheads="1"/>
          </p:cNvSpPr>
          <p:nvPr/>
        </p:nvSpPr>
        <p:spPr bwMode="auto">
          <a:xfrm>
            <a:off x="1905000" y="4648200"/>
            <a:ext cx="5257800" cy="485775"/>
          </a:xfrm>
          <a:prstGeom prst="rect">
            <a:avLst/>
          </a:prstGeom>
          <a:solidFill>
            <a:srgbClr val="CC0066"/>
          </a:solidFill>
          <a:ln w="28575">
            <a:solidFill>
              <a:srgbClr val="F4ECC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F4ECC6"/>
                </a:solidFill>
              </a:rPr>
              <a:t>Student does not have brown hair</a:t>
            </a:r>
          </a:p>
        </p:txBody>
      </p:sp>
      <p:sp>
        <p:nvSpPr>
          <p:cNvPr id="93194" name="Text Box 10">
            <a:extLst>
              <a:ext uri="{FF2B5EF4-FFF2-40B4-BE49-F238E27FC236}">
                <a16:creationId xmlns:a16="http://schemas.microsoft.com/office/drawing/2014/main" id="{0F607451-5EA6-6438-E75A-C01635AC9667}"/>
              </a:ext>
            </a:extLst>
          </p:cNvPr>
          <p:cNvSpPr txBox="1">
            <a:spLocks noChangeArrowheads="1"/>
          </p:cNvSpPr>
          <p:nvPr/>
        </p:nvSpPr>
        <p:spPr bwMode="auto">
          <a:xfrm>
            <a:off x="1981200" y="5181600"/>
            <a:ext cx="5257800" cy="485775"/>
          </a:xfrm>
          <a:prstGeom prst="rect">
            <a:avLst/>
          </a:prstGeom>
          <a:solidFill>
            <a:srgbClr val="CC0066"/>
          </a:solidFill>
          <a:ln w="28575">
            <a:solidFill>
              <a:srgbClr val="F4ECC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F4ECC6"/>
                </a:solidFill>
              </a:rPr>
              <a:t>Student is both male and female = </a:t>
            </a:r>
            <a:r>
              <a:rPr lang="en-US" altLang="en-US">
                <a:solidFill>
                  <a:srgbClr val="F4ECC6"/>
                </a:solidFill>
                <a:sym typeface="Symbol" panose="05050102010706020507" pitchFamily="18" charset="2"/>
              </a:rPr>
              <a:t></a:t>
            </a:r>
            <a:endParaRPr lang="en-US" altLang="en-US">
              <a:solidFill>
                <a:srgbClr val="F4ECC6"/>
              </a:solidFill>
            </a:endParaRPr>
          </a:p>
        </p:txBody>
      </p:sp>
      <p:sp>
        <p:nvSpPr>
          <p:cNvPr id="93195" name="Text Box 11">
            <a:extLst>
              <a:ext uri="{FF2B5EF4-FFF2-40B4-BE49-F238E27FC236}">
                <a16:creationId xmlns:a16="http://schemas.microsoft.com/office/drawing/2014/main" id="{45EC5872-6A44-BD91-0604-1F98780FBFF5}"/>
              </a:ext>
            </a:extLst>
          </p:cNvPr>
          <p:cNvSpPr txBox="1">
            <a:spLocks noChangeArrowheads="1"/>
          </p:cNvSpPr>
          <p:nvPr/>
        </p:nvSpPr>
        <p:spPr bwMode="auto">
          <a:xfrm>
            <a:off x="1905000" y="5715000"/>
            <a:ext cx="6553200" cy="485775"/>
          </a:xfrm>
          <a:prstGeom prst="rect">
            <a:avLst/>
          </a:prstGeom>
          <a:solidFill>
            <a:srgbClr val="CC0066"/>
          </a:solidFill>
          <a:ln w="28575">
            <a:solidFill>
              <a:srgbClr val="F4ECC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F4ECC6"/>
                </a:solidFill>
              </a:rPr>
              <a:t>Student is either male and female = </a:t>
            </a:r>
            <a:r>
              <a:rPr lang="en-US" altLang="en-US">
                <a:solidFill>
                  <a:srgbClr val="F4ECC6"/>
                </a:solidFill>
                <a:sym typeface="Symbol" panose="05050102010706020507" pitchFamily="18" charset="2"/>
              </a:rPr>
              <a:t>all students = S</a:t>
            </a:r>
            <a:endParaRPr lang="en-US" altLang="en-US">
              <a:solidFill>
                <a:srgbClr val="F4ECC6"/>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93191"/>
                                        </p:tgtEl>
                                        <p:attrNameLst>
                                          <p:attrName>style.visibility</p:attrName>
                                        </p:attrNameLst>
                                      </p:cBhvr>
                                      <p:to>
                                        <p:strVal val="visible"/>
                                      </p:to>
                                    </p:set>
                                    <p:animEffect transition="in" filter="wipe(up)">
                                      <p:cBhvr>
                                        <p:cTn id="7" dur="500"/>
                                        <p:tgtEl>
                                          <p:spTgt spid="931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93192"/>
                                        </p:tgtEl>
                                        <p:attrNameLst>
                                          <p:attrName>style.visibility</p:attrName>
                                        </p:attrNameLst>
                                      </p:cBhvr>
                                      <p:to>
                                        <p:strVal val="visible"/>
                                      </p:to>
                                    </p:set>
                                    <p:animEffect transition="in" filter="dissolve">
                                      <p:cBhvr>
                                        <p:cTn id="12" dur="500"/>
                                        <p:tgtEl>
                                          <p:spTgt spid="931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93193"/>
                                        </p:tgtEl>
                                        <p:attrNameLst>
                                          <p:attrName>style.visibility</p:attrName>
                                        </p:attrNameLst>
                                      </p:cBhvr>
                                      <p:to>
                                        <p:strVal val="visible"/>
                                      </p:to>
                                    </p:set>
                                    <p:animEffect transition="in" filter="dissolve">
                                      <p:cBhvr>
                                        <p:cTn id="17" dur="500"/>
                                        <p:tgtEl>
                                          <p:spTgt spid="9319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93194"/>
                                        </p:tgtEl>
                                        <p:attrNameLst>
                                          <p:attrName>style.visibility</p:attrName>
                                        </p:attrNameLst>
                                      </p:cBhvr>
                                      <p:to>
                                        <p:strVal val="visible"/>
                                      </p:to>
                                    </p:set>
                                    <p:animEffect transition="in" filter="dissolve">
                                      <p:cBhvr>
                                        <p:cTn id="22" dur="500"/>
                                        <p:tgtEl>
                                          <p:spTgt spid="9319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93195"/>
                                        </p:tgtEl>
                                        <p:attrNameLst>
                                          <p:attrName>style.visibility</p:attrName>
                                        </p:attrNameLst>
                                      </p:cBhvr>
                                      <p:to>
                                        <p:strVal val="visible"/>
                                      </p:to>
                                    </p:set>
                                    <p:animEffect transition="in" filter="dissolve">
                                      <p:cBhvr>
                                        <p:cTn id="27" dur="500"/>
                                        <p:tgtEl>
                                          <p:spTgt spid="93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91" grpId="0" autoUpdateAnimBg="0"/>
      <p:bldP spid="93192" grpId="0" animBg="1" autoUpdateAnimBg="0"/>
      <p:bldP spid="93193" grpId="0" animBg="1" autoUpdateAnimBg="0"/>
      <p:bldP spid="93194" grpId="0" animBg="1" autoUpdateAnimBg="0"/>
      <p:bldP spid="93195" grpId="0" animBg="1"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28" y="461708"/>
            <a:ext cx="8534400" cy="758825"/>
          </a:xfrm>
        </p:spPr>
        <p:txBody>
          <a:bodyPr/>
          <a:lstStyle/>
          <a:p>
            <a:pPr algn="l"/>
            <a:r>
              <a:rPr lang="en-US" sz="4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Mutually Exclusive or Disjoint:</a:t>
            </a:r>
          </a:p>
        </p:txBody>
      </p:sp>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2"/>
            <a:stretch>
              <a:fillRect l="-2151" t="-2133" r="-2079" b="-2533"/>
            </a:stretch>
          </a:blipFill>
        </p:spPr>
        <p:txBody>
          <a:bodyPr/>
          <a:lstStyle/>
          <a:p>
            <a:pPr>
              <a:buNone/>
            </a:pPr>
            <a:r>
              <a:rPr lang="en-US" dirty="0">
                <a:noFill/>
              </a:rPr>
              <a:t> </a:t>
            </a:r>
          </a:p>
        </p:txBody>
      </p:sp>
      <p:sp>
        <p:nvSpPr>
          <p:cNvPr id="4" name="Date Placeholder 3"/>
          <p:cNvSpPr>
            <a:spLocks noGrp="1"/>
          </p:cNvSpPr>
          <p:nvPr>
            <p:ph type="dt" sz="half" idx="10"/>
          </p:nvPr>
        </p:nvSpPr>
        <p:spPr/>
        <p:txBody>
          <a:bodyPr/>
          <a:lstStyle/>
          <a:p>
            <a:pPr>
              <a:defRPr/>
            </a:pPr>
            <a:fld id="{044C6492-F66E-4806-95D5-285BC0C6E95B}"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38</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extLst>
      <p:ext uri="{BB962C8B-B14F-4D97-AF65-F5344CB8AC3E}">
        <p14:creationId xmlns:p14="http://schemas.microsoft.com/office/powerpoint/2010/main" val="2687692612"/>
      </p:ext>
    </p:extLst>
  </p:cSld>
  <p:clrMapOvr>
    <a:masterClrMapping/>
  </p:clrMapOvr>
  <p:transition spd="slow">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6BEA5855-5279-40CD-89F9-D6E0657E65FA}"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39</a:t>
            </a:fld>
            <a:endParaRPr lang="en-US"/>
          </a:p>
        </p:txBody>
      </p:sp>
      <p:pic>
        <p:nvPicPr>
          <p:cNvPr id="2050" name="Picture 2" descr="https://upload.wikimedia.org/wikipedia/commons/thumb/d/df/Disjunkte_Mengen.svg/2000px-Disjunkte_Mengen.svg.png"/>
          <p:cNvPicPr>
            <a:picLocks noGrp="1" noChangeAspect="1" noChangeArrowheads="1"/>
          </p:cNvPicPr>
          <p:nvPr>
            <p:ph sz="quarter" idx="1"/>
          </p:nvPr>
        </p:nvPicPr>
        <p:blipFill>
          <a:blip r:embed="rId2" cstate="print">
            <a:extLst>
              <a:ext uri="{28A0092B-C50C-407E-A947-70E740481C1C}">
                <a14:useLocalDpi xmlns:a14="http://schemas.microsoft.com/office/drawing/2010/main" val="0"/>
              </a:ext>
            </a:extLst>
          </a:blip>
          <a:srcRect/>
          <a:stretch>
            <a:fillRect/>
          </a:stretch>
        </p:blipFill>
        <p:spPr bwMode="auto">
          <a:xfrm>
            <a:off x="1788122" y="2276872"/>
            <a:ext cx="5531244" cy="3072606"/>
          </a:xfrm>
          <a:prstGeom prst="rect">
            <a:avLst/>
          </a:prstGeom>
          <a:noFill/>
          <a:ln w="38100">
            <a:solidFill>
              <a:schemeClr val="tx1"/>
            </a:solidFill>
          </a:ln>
          <a:extLst>
            <a:ext uri="{909E8E84-426E-40DD-AFC4-6F175D3DCCD1}">
              <a14:hiddenFill xmlns:a14="http://schemas.microsoft.com/office/drawing/2010/main">
                <a:solidFill>
                  <a:srgbClr val="FFFFFF"/>
                </a:solidFill>
              </a14:hiddenFill>
            </a:ext>
          </a:extLst>
        </p:spPr>
      </p:pic>
      <p:sp>
        <p:nvSpPr>
          <p:cNvPr id="6" name="Footer Placeholder 5"/>
          <p:cNvSpPr>
            <a:spLocks noGrp="1"/>
          </p:cNvSpPr>
          <p:nvPr>
            <p:ph type="ftr" sz="quarter" idx="11"/>
          </p:nvPr>
        </p:nvSpPr>
        <p:spPr/>
        <p:txBody>
          <a:bodyPr/>
          <a:lstStyle/>
          <a:p>
            <a:pPr>
              <a:defRPr/>
            </a:pPr>
            <a:r>
              <a:rPr lang="en-US"/>
              <a:t>STAT 154 -09</a:t>
            </a:r>
          </a:p>
        </p:txBody>
      </p:sp>
    </p:spTree>
    <p:extLst>
      <p:ext uri="{BB962C8B-B14F-4D97-AF65-F5344CB8AC3E}">
        <p14:creationId xmlns:p14="http://schemas.microsoft.com/office/powerpoint/2010/main" val="3426186728"/>
      </p:ext>
    </p:extLst>
  </p:cSld>
  <p:clrMapOvr>
    <a:masterClrMapping/>
  </p:clrMapOvr>
  <p:transition spd="slow">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272" y="494443"/>
            <a:ext cx="8534400" cy="758825"/>
          </a:xfrm>
        </p:spPr>
        <p:txBody>
          <a:bodyPr/>
          <a:lstStyle/>
          <a:p>
            <a:pPr algn="l"/>
            <a:r>
              <a:rPr lang="en-US" sz="4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Addition Rule:</a:t>
            </a:r>
          </a:p>
        </p:txBody>
      </p:sp>
      <p:sp>
        <p:nvSpPr>
          <p:cNvPr id="3" name="Content Placeholder 2"/>
          <p:cNvSpPr>
            <a:spLocks noGrp="1" noRot="1" noChangeAspect="1" noMove="1" noResize="1" noEditPoints="1" noAdjustHandles="1" noChangeArrowheads="1" noChangeShapeType="1" noTextEdit="1"/>
          </p:cNvSpPr>
          <p:nvPr>
            <p:ph sz="quarter" idx="1"/>
          </p:nvPr>
        </p:nvSpPr>
        <p:spPr>
          <a:xfrm>
            <a:off x="301752" y="1628800"/>
            <a:ext cx="8503920" cy="4572000"/>
          </a:xfrm>
          <a:blipFill rotWithShape="0">
            <a:blip r:embed="rId2"/>
            <a:stretch>
              <a:fillRect l="-1792" t="-1733" r="-1649"/>
            </a:stretch>
          </a:blipFill>
        </p:spPr>
        <p:txBody>
          <a:bodyPr/>
          <a:lstStyle/>
          <a:p>
            <a:pPr>
              <a:buNone/>
            </a:pPr>
            <a:r>
              <a:rPr lang="en-US" dirty="0">
                <a:noFill/>
              </a:rPr>
              <a:t>  </a:t>
            </a:r>
          </a:p>
        </p:txBody>
      </p:sp>
      <p:sp>
        <p:nvSpPr>
          <p:cNvPr id="4" name="Date Placeholder 3"/>
          <p:cNvSpPr>
            <a:spLocks noGrp="1"/>
          </p:cNvSpPr>
          <p:nvPr>
            <p:ph type="dt" sz="half" idx="10"/>
          </p:nvPr>
        </p:nvSpPr>
        <p:spPr/>
        <p:txBody>
          <a:bodyPr/>
          <a:lstStyle/>
          <a:p>
            <a:pPr>
              <a:defRPr/>
            </a:pPr>
            <a:fld id="{CE572085-B9D7-4ABE-9BE3-8FFF9ADC4E49}"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40</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extLst>
      <p:ext uri="{BB962C8B-B14F-4D97-AF65-F5344CB8AC3E}">
        <p14:creationId xmlns:p14="http://schemas.microsoft.com/office/powerpoint/2010/main" val="313216641"/>
      </p:ext>
    </p:extLst>
  </p:cSld>
  <p:clrMapOvr>
    <a:masterClrMapping/>
  </p:clrMapOvr>
  <p:transition spd="slow">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359" y="359506"/>
            <a:ext cx="8534400" cy="758825"/>
          </a:xfrm>
        </p:spPr>
        <p:txBody>
          <a:bodyPr/>
          <a:lstStyle/>
          <a:p>
            <a:pPr algn="l"/>
            <a:r>
              <a:rPr lang="en-US" sz="4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3.15:</a:t>
            </a:r>
          </a:p>
        </p:txBody>
      </p:sp>
      <p:sp>
        <p:nvSpPr>
          <p:cNvPr id="3" name="Content Placeholder 2"/>
          <p:cNvSpPr>
            <a:spLocks noGrp="1" noRot="1" noChangeAspect="1" noMove="1" noResize="1" noEditPoints="1" noAdjustHandles="1" noChangeArrowheads="1" noChangeShapeType="1" noTextEdit="1"/>
          </p:cNvSpPr>
          <p:nvPr>
            <p:ph sz="quarter" idx="1"/>
          </p:nvPr>
        </p:nvSpPr>
        <p:spPr>
          <a:xfrm>
            <a:off x="301752" y="1412776"/>
            <a:ext cx="8503920" cy="4572000"/>
          </a:xfrm>
          <a:blipFill rotWithShape="1">
            <a:blip r:embed="rId2"/>
            <a:stretch>
              <a:fillRect l="-1720" t="-1733" r="-2724" b="-13467"/>
            </a:stretch>
          </a:blipFill>
        </p:spPr>
        <p:txBody>
          <a:bodyPr/>
          <a:lstStyle/>
          <a:p>
            <a:pPr>
              <a:buNone/>
            </a:pPr>
            <a:r>
              <a:rPr lang="en-GB" dirty="0">
                <a:noFill/>
              </a:rPr>
              <a:t>  </a:t>
            </a:r>
          </a:p>
        </p:txBody>
      </p:sp>
      <p:sp>
        <p:nvSpPr>
          <p:cNvPr id="4" name="Date Placeholder 3"/>
          <p:cNvSpPr>
            <a:spLocks noGrp="1"/>
          </p:cNvSpPr>
          <p:nvPr>
            <p:ph type="dt" sz="half" idx="10"/>
          </p:nvPr>
        </p:nvSpPr>
        <p:spPr/>
        <p:txBody>
          <a:bodyPr/>
          <a:lstStyle/>
          <a:p>
            <a:pPr>
              <a:defRPr/>
            </a:pPr>
            <a:fld id="{A45D8299-0808-4032-841B-3C8700736394}"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41</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extLst>
      <p:ext uri="{BB962C8B-B14F-4D97-AF65-F5344CB8AC3E}">
        <p14:creationId xmlns:p14="http://schemas.microsoft.com/office/powerpoint/2010/main" val="30518173"/>
      </p:ext>
    </p:extLst>
  </p:cSld>
  <p:clrMapOvr>
    <a:masterClrMapping/>
  </p:clrMapOvr>
  <p:transition spd="slow">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3573016"/>
            <a:ext cx="8534400" cy="758825"/>
          </a:xfrm>
        </p:spPr>
        <p:txBody>
          <a:bodyPr/>
          <a:lstStyle/>
          <a:p>
            <a:r>
              <a:rPr lang="en-US" sz="45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Conditional Probability</a:t>
            </a:r>
            <a:br>
              <a:rPr lang="en-US" sz="4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endParaRPr lang="en-US" sz="4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pPr>
              <a:defRPr/>
            </a:pPr>
            <a:fld id="{6F8F7774-D64E-42C8-8C6B-5791DE50C211}"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42</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extLst>
      <p:ext uri="{BB962C8B-B14F-4D97-AF65-F5344CB8AC3E}">
        <p14:creationId xmlns:p14="http://schemas.microsoft.com/office/powerpoint/2010/main" val="3049322805"/>
      </p:ext>
    </p:extLst>
  </p:cSld>
  <p:clrMapOvr>
    <a:masterClrMapping/>
  </p:clrMapOvr>
  <p:transition spd="slow">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4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Definition:</a:t>
            </a:r>
          </a:p>
        </p:txBody>
      </p:sp>
      <p:sp>
        <p:nvSpPr>
          <p:cNvPr id="4" name="Date Placeholder 3"/>
          <p:cNvSpPr>
            <a:spLocks noGrp="1"/>
          </p:cNvSpPr>
          <p:nvPr>
            <p:ph type="dt" sz="half" idx="10"/>
          </p:nvPr>
        </p:nvSpPr>
        <p:spPr/>
        <p:txBody>
          <a:bodyPr/>
          <a:lstStyle/>
          <a:p>
            <a:pPr>
              <a:defRPr/>
            </a:pPr>
            <a:fld id="{D0DC1B7B-4A37-4034-B495-095FF7A092BD}"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43</a:t>
            </a:fld>
            <a:endParaRPr lang="en-US"/>
          </a:p>
        </p:txBody>
      </p:sp>
      <p:sp>
        <p:nvSpPr>
          <p:cNvPr id="6" name="Footer Placeholder 5"/>
          <p:cNvSpPr>
            <a:spLocks noGrp="1"/>
          </p:cNvSpPr>
          <p:nvPr>
            <p:ph type="ftr" sz="quarter" idx="11"/>
          </p:nvPr>
        </p:nvSpPr>
        <p:spPr/>
        <p:txBody>
          <a:bodyPr/>
          <a:lstStyle/>
          <a:p>
            <a:pPr>
              <a:defRPr/>
            </a:pPr>
            <a:r>
              <a:rPr lang="en-US"/>
              <a:t>STAT 154 -09</a:t>
            </a:r>
          </a:p>
        </p:txBody>
      </p:sp>
      <mc:AlternateContent xmlns:mc="http://schemas.openxmlformats.org/markup-compatibility/2006" xmlns:a14="http://schemas.microsoft.com/office/drawing/2010/main">
        <mc:Choice Requires="a14">
          <p:sp>
            <p:nvSpPr>
              <p:cNvPr id="8" name="Content Placeholder 2"/>
              <p:cNvSpPr>
                <a:spLocks noGrp="1"/>
              </p:cNvSpPr>
              <p:nvPr>
                <p:ph sz="quarter" idx="1"/>
              </p:nvPr>
            </p:nvSpPr>
            <p:spPr>
              <a:xfrm>
                <a:off x="301752" y="1449288"/>
                <a:ext cx="8503920" cy="4572000"/>
              </a:xfrm>
            </p:spPr>
            <p:txBody>
              <a:bodyPr/>
              <a:lstStyle/>
              <a:p>
                <a:pPr marL="0" indent="0" algn="just">
                  <a:buNone/>
                </a:pPr>
                <a:r>
                  <a:rPr lang="en-US" sz="3000" dirty="0">
                    <a:latin typeface="Times New Roman" panose="02020603050405020304" pitchFamily="18" charset="0"/>
                    <a:cs typeface="Times New Roman" panose="02020603050405020304" pitchFamily="18" charset="0"/>
                  </a:rPr>
                  <a:t>The concept </a:t>
                </a:r>
                <a:r>
                  <a:rPr lang="en-US" sz="3000" dirty="0">
                    <a:solidFill>
                      <a:srgbClr val="FF0000"/>
                    </a:solidFill>
                    <a:latin typeface="Times New Roman" panose="02020603050405020304" pitchFamily="18" charset="0"/>
                    <a:cs typeface="Times New Roman" panose="02020603050405020304" pitchFamily="18" charset="0"/>
                  </a:rPr>
                  <a:t>‘conditional’ </a:t>
                </a:r>
                <a:r>
                  <a:rPr lang="en-US" sz="3000" dirty="0">
                    <a:latin typeface="Times New Roman" panose="02020603050405020304" pitchFamily="18" charset="0"/>
                    <a:cs typeface="Times New Roman" panose="02020603050405020304" pitchFamily="18" charset="0"/>
                  </a:rPr>
                  <a:t>reduces or changes the sample space and probabilities are computed based on the reduced or changed sample space. </a:t>
                </a:r>
              </a:p>
              <a:p>
                <a:pPr marL="0" indent="0" algn="just">
                  <a:buNone/>
                </a:pPr>
                <a:r>
                  <a:rPr lang="en-US" sz="3000" dirty="0">
                    <a:latin typeface="Times New Roman" panose="02020603050405020304" pitchFamily="18" charset="0"/>
                    <a:cs typeface="Times New Roman" panose="02020603050405020304" pitchFamily="18" charset="0"/>
                  </a:rPr>
                  <a:t>P(B|A) denotes the conditional probability of event B occurring, given that event A has already occurred, and it can be found by dividing the probability of events A and B both occurring by the probability of event A:</a:t>
                </a:r>
              </a:p>
              <a:p>
                <a:pPr marL="0" indent="0" algn="just">
                  <a:buNone/>
                </a:pPr>
                <a14:m>
                  <m:oMathPara xmlns:m="http://schemas.openxmlformats.org/officeDocument/2006/math">
                    <m:oMathParaPr>
                      <m:jc m:val="centerGroup"/>
                    </m:oMathParaPr>
                    <m:oMath xmlns:m="http://schemas.openxmlformats.org/officeDocument/2006/math">
                      <m:r>
                        <a:rPr lang="en-US" sz="3000" i="1" dirty="0" smtClean="0">
                          <a:latin typeface="Cambria Math"/>
                          <a:cs typeface="Times New Roman" panose="02020603050405020304" pitchFamily="18" charset="0"/>
                        </a:rPr>
                        <m:t>𝑃</m:t>
                      </m:r>
                      <m:d>
                        <m:dPr>
                          <m:ctrlPr>
                            <a:rPr lang="en-US" sz="3000" i="1" dirty="0" smtClean="0">
                              <a:latin typeface="Cambria Math" panose="02040503050406030204" pitchFamily="18" charset="0"/>
                              <a:cs typeface="Times New Roman" panose="02020603050405020304" pitchFamily="18" charset="0"/>
                            </a:rPr>
                          </m:ctrlPr>
                        </m:dPr>
                        <m:e>
                          <m:r>
                            <a:rPr lang="en-US" sz="3000" i="1" dirty="0" smtClean="0">
                              <a:latin typeface="Cambria Math"/>
                              <a:cs typeface="Times New Roman" panose="02020603050405020304" pitchFamily="18" charset="0"/>
                            </a:rPr>
                            <m:t>𝐵</m:t>
                          </m:r>
                        </m:e>
                        <m:e>
                          <m:r>
                            <a:rPr lang="en-US" sz="3000" i="1" dirty="0" smtClean="0">
                              <a:latin typeface="Cambria Math"/>
                              <a:cs typeface="Times New Roman" panose="02020603050405020304" pitchFamily="18" charset="0"/>
                            </a:rPr>
                            <m:t>𝐴</m:t>
                          </m:r>
                        </m:e>
                      </m:d>
                      <m:r>
                        <a:rPr lang="en-GB" sz="3000" b="0" i="1" dirty="0" smtClean="0">
                          <a:latin typeface="Cambria Math"/>
                          <a:cs typeface="Times New Roman" panose="02020603050405020304" pitchFamily="18" charset="0"/>
                        </a:rPr>
                        <m:t>=</m:t>
                      </m:r>
                      <m:f>
                        <m:fPr>
                          <m:ctrlPr>
                            <a:rPr lang="en-GB" sz="3000" b="0" i="1" dirty="0" smtClean="0">
                              <a:latin typeface="Cambria Math" panose="02040503050406030204" pitchFamily="18" charset="0"/>
                              <a:cs typeface="Times New Roman" panose="02020603050405020304" pitchFamily="18" charset="0"/>
                            </a:rPr>
                          </m:ctrlPr>
                        </m:fPr>
                        <m:num>
                          <m:r>
                            <a:rPr lang="en-GB" sz="3000" b="0" i="1" dirty="0" smtClean="0">
                              <a:latin typeface="Cambria Math"/>
                              <a:cs typeface="Times New Roman" panose="02020603050405020304" pitchFamily="18" charset="0"/>
                            </a:rPr>
                            <m:t>𝑃</m:t>
                          </m:r>
                          <m:d>
                            <m:dPr>
                              <m:ctrlPr>
                                <a:rPr lang="en-GB" sz="3000" b="0" i="1" dirty="0" smtClean="0">
                                  <a:latin typeface="Cambria Math" panose="02040503050406030204" pitchFamily="18" charset="0"/>
                                  <a:cs typeface="Times New Roman" panose="02020603050405020304" pitchFamily="18" charset="0"/>
                                </a:rPr>
                              </m:ctrlPr>
                            </m:dPr>
                            <m:e>
                              <m:r>
                                <a:rPr lang="en-GB" sz="3000" b="0" i="1" dirty="0" smtClean="0">
                                  <a:latin typeface="Cambria Math"/>
                                  <a:cs typeface="Times New Roman" panose="02020603050405020304" pitchFamily="18" charset="0"/>
                                </a:rPr>
                                <m:t>𝐴</m:t>
                              </m:r>
                              <m:r>
                                <a:rPr lang="en-GB" sz="3000" b="0" i="1" dirty="0" smtClean="0">
                                  <a:latin typeface="Cambria Math"/>
                                  <a:ea typeface="Cambria Math"/>
                                  <a:cs typeface="Times New Roman" panose="02020603050405020304" pitchFamily="18" charset="0"/>
                                </a:rPr>
                                <m:t>∩</m:t>
                              </m:r>
                              <m:r>
                                <a:rPr lang="en-GB" sz="3000" b="0" i="1" dirty="0" smtClean="0">
                                  <a:latin typeface="Cambria Math"/>
                                  <a:ea typeface="Cambria Math"/>
                                  <a:cs typeface="Times New Roman" panose="02020603050405020304" pitchFamily="18" charset="0"/>
                                </a:rPr>
                                <m:t>𝐵</m:t>
                              </m:r>
                            </m:e>
                          </m:d>
                        </m:num>
                        <m:den>
                          <m:r>
                            <a:rPr lang="en-GB" sz="3000" b="0" i="1" dirty="0" smtClean="0">
                              <a:latin typeface="Cambria Math"/>
                              <a:cs typeface="Times New Roman" panose="02020603050405020304" pitchFamily="18" charset="0"/>
                            </a:rPr>
                            <m:t>𝑃</m:t>
                          </m:r>
                          <m:d>
                            <m:dPr>
                              <m:ctrlPr>
                                <a:rPr lang="en-GB" sz="3000" b="0" i="1" dirty="0" smtClean="0">
                                  <a:latin typeface="Cambria Math" panose="02040503050406030204" pitchFamily="18" charset="0"/>
                                  <a:cs typeface="Times New Roman" panose="02020603050405020304" pitchFamily="18" charset="0"/>
                                </a:rPr>
                              </m:ctrlPr>
                            </m:dPr>
                            <m:e>
                              <m:r>
                                <a:rPr lang="en-GB" sz="3000" b="0" i="1" dirty="0" smtClean="0">
                                  <a:latin typeface="Cambria Math"/>
                                  <a:cs typeface="Times New Roman" panose="02020603050405020304" pitchFamily="18" charset="0"/>
                                </a:rPr>
                                <m:t>𝐴</m:t>
                              </m:r>
                            </m:e>
                          </m:d>
                        </m:den>
                      </m:f>
                      <m:r>
                        <a:rPr lang="en-GB" sz="3000" b="0" i="1" dirty="0" smtClean="0">
                          <a:latin typeface="Cambria Math"/>
                          <a:cs typeface="Times New Roman" panose="02020603050405020304" pitchFamily="18" charset="0"/>
                        </a:rPr>
                        <m:t>=</m:t>
                      </m:r>
                      <m:f>
                        <m:fPr>
                          <m:ctrlPr>
                            <a:rPr lang="en-GB" sz="3000" b="0" i="1" dirty="0" smtClean="0">
                              <a:latin typeface="Cambria Math" panose="02040503050406030204" pitchFamily="18" charset="0"/>
                              <a:cs typeface="Times New Roman" panose="02020603050405020304" pitchFamily="18" charset="0"/>
                            </a:rPr>
                          </m:ctrlPr>
                        </m:fPr>
                        <m:num>
                          <m:r>
                            <a:rPr lang="en-GB" sz="3000" b="0" i="1" dirty="0" smtClean="0">
                              <a:latin typeface="Cambria Math"/>
                              <a:cs typeface="Times New Roman" panose="02020603050405020304" pitchFamily="18" charset="0"/>
                            </a:rPr>
                            <m:t>𝑃</m:t>
                          </m:r>
                          <m:d>
                            <m:dPr>
                              <m:ctrlPr>
                                <a:rPr lang="en-GB" sz="3000" b="0" i="1" dirty="0" smtClean="0">
                                  <a:latin typeface="Cambria Math" panose="02040503050406030204" pitchFamily="18" charset="0"/>
                                  <a:cs typeface="Times New Roman" panose="02020603050405020304" pitchFamily="18" charset="0"/>
                                </a:rPr>
                              </m:ctrlPr>
                            </m:dPr>
                            <m:e>
                              <m:r>
                                <a:rPr lang="en-GB" sz="3000" b="0" i="1" dirty="0" smtClean="0">
                                  <a:latin typeface="Cambria Math"/>
                                  <a:cs typeface="Times New Roman" panose="02020603050405020304" pitchFamily="18" charset="0"/>
                                </a:rPr>
                                <m:t>𝐵</m:t>
                              </m:r>
                              <m:r>
                                <a:rPr lang="en-GB" sz="3000" b="0" i="1" dirty="0" smtClean="0">
                                  <a:latin typeface="Cambria Math"/>
                                  <a:ea typeface="Cambria Math"/>
                                  <a:cs typeface="Times New Roman" panose="02020603050405020304" pitchFamily="18" charset="0"/>
                                </a:rPr>
                                <m:t>∩</m:t>
                              </m:r>
                              <m:r>
                                <a:rPr lang="en-GB" sz="3000" b="0" i="1" dirty="0" smtClean="0">
                                  <a:latin typeface="Cambria Math"/>
                                  <a:ea typeface="Cambria Math"/>
                                  <a:cs typeface="Times New Roman" panose="02020603050405020304" pitchFamily="18" charset="0"/>
                                </a:rPr>
                                <m:t>𝐴</m:t>
                              </m:r>
                            </m:e>
                          </m:d>
                        </m:num>
                        <m:den>
                          <m:r>
                            <a:rPr lang="en-GB" sz="3000" b="0" i="1" dirty="0" smtClean="0">
                              <a:latin typeface="Cambria Math"/>
                              <a:cs typeface="Times New Roman" panose="02020603050405020304" pitchFamily="18" charset="0"/>
                            </a:rPr>
                            <m:t>𝑃</m:t>
                          </m:r>
                          <m:d>
                            <m:dPr>
                              <m:ctrlPr>
                                <a:rPr lang="en-GB" sz="3000" b="0" i="1" dirty="0" smtClean="0">
                                  <a:latin typeface="Cambria Math" panose="02040503050406030204" pitchFamily="18" charset="0"/>
                                  <a:cs typeface="Times New Roman" panose="02020603050405020304" pitchFamily="18" charset="0"/>
                                </a:rPr>
                              </m:ctrlPr>
                            </m:dPr>
                            <m:e>
                              <m:r>
                                <a:rPr lang="en-GB" sz="3000" b="0" i="1" dirty="0" smtClean="0">
                                  <a:latin typeface="Cambria Math"/>
                                  <a:cs typeface="Times New Roman" panose="02020603050405020304" pitchFamily="18" charset="0"/>
                                </a:rPr>
                                <m:t>𝐴</m:t>
                              </m:r>
                            </m:e>
                          </m:d>
                        </m:den>
                      </m:f>
                    </m:oMath>
                  </m:oMathPara>
                </a14:m>
                <a:endParaRPr lang="en-US" sz="3000" dirty="0">
                  <a:latin typeface="Times New Roman" panose="02020603050405020304" pitchFamily="18" charset="0"/>
                  <a:cs typeface="Times New Roman" panose="02020603050405020304" pitchFamily="18" charset="0"/>
                </a:endParaRPr>
              </a:p>
            </p:txBody>
          </p:sp>
        </mc:Choice>
        <mc:Fallback xmlns="">
          <p:sp>
            <p:nvSpPr>
              <p:cNvPr id="8" name="Content Placeholder 2"/>
              <p:cNvSpPr>
                <a:spLocks noGrp="1" noRot="1" noChangeAspect="1" noMove="1" noResize="1" noEditPoints="1" noAdjustHandles="1" noChangeArrowheads="1" noChangeShapeType="1" noTextEdit="1"/>
              </p:cNvSpPr>
              <p:nvPr>
                <p:ph sz="quarter" idx="1"/>
              </p:nvPr>
            </p:nvSpPr>
            <p:spPr>
              <a:xfrm>
                <a:off x="301752" y="1449288"/>
                <a:ext cx="8503920" cy="4572000"/>
              </a:xfrm>
              <a:blipFill rotWithShape="0">
                <a:blip r:embed="rId2"/>
                <a:stretch>
                  <a:fillRect l="-1720" t="-1733" r="-1649" b="-3733"/>
                </a:stretch>
              </a:blipFill>
            </p:spPr>
            <p:txBody>
              <a:bodyPr/>
              <a:lstStyle/>
              <a:p>
                <a:r>
                  <a:rPr lang="en-US">
                    <a:noFill/>
                  </a:rPr>
                  <a:t> </a:t>
                </a:r>
              </a:p>
            </p:txBody>
          </p:sp>
        </mc:Fallback>
      </mc:AlternateContent>
    </p:spTree>
    <p:extLst>
      <p:ext uri="{BB962C8B-B14F-4D97-AF65-F5344CB8AC3E}">
        <p14:creationId xmlns:p14="http://schemas.microsoft.com/office/powerpoint/2010/main" val="2052222345"/>
      </p:ext>
    </p:extLst>
  </p:cSld>
  <p:clrMapOvr>
    <a:masterClrMapping/>
  </p:clrMapOvr>
  <p:transition spd="slow">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461708"/>
            <a:ext cx="8534400" cy="758825"/>
          </a:xfrm>
        </p:spPr>
        <p:txBody>
          <a:bodyPr/>
          <a:lstStyle/>
          <a:p>
            <a:pPr algn="l"/>
            <a:r>
              <a:rPr lang="en-US" sz="4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3.16:</a:t>
            </a:r>
          </a:p>
        </p:txBody>
      </p:sp>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1720" t="-1600" r="-2796"/>
            </a:stretch>
          </a:blipFill>
        </p:spPr>
        <p:txBody>
          <a:bodyPr/>
          <a:lstStyle/>
          <a:p>
            <a:pPr>
              <a:buNone/>
            </a:pPr>
            <a:r>
              <a:rPr lang="en-GB" dirty="0">
                <a:noFill/>
              </a:rPr>
              <a:t>  </a:t>
            </a:r>
          </a:p>
        </p:txBody>
      </p:sp>
      <p:sp>
        <p:nvSpPr>
          <p:cNvPr id="4" name="Date Placeholder 3"/>
          <p:cNvSpPr>
            <a:spLocks noGrp="1"/>
          </p:cNvSpPr>
          <p:nvPr>
            <p:ph type="dt" sz="half" idx="10"/>
          </p:nvPr>
        </p:nvSpPr>
        <p:spPr/>
        <p:txBody>
          <a:bodyPr/>
          <a:lstStyle/>
          <a:p>
            <a:pPr>
              <a:defRPr/>
            </a:pPr>
            <a:fld id="{C2467C24-BC58-4CF2-90AE-7728A90D2839}"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44</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extLst>
      <p:ext uri="{BB962C8B-B14F-4D97-AF65-F5344CB8AC3E}">
        <p14:creationId xmlns:p14="http://schemas.microsoft.com/office/powerpoint/2010/main" val="917520740"/>
      </p:ext>
    </p:extLst>
  </p:cSld>
  <p:clrMapOvr>
    <a:masterClrMapping/>
  </p:clrMapOvr>
  <p:transition spd="slow">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404664"/>
            <a:ext cx="8534400" cy="758825"/>
          </a:xfrm>
        </p:spPr>
        <p:txBody>
          <a:bodyPr/>
          <a:lstStyle/>
          <a:p>
            <a:pPr algn="l"/>
            <a:r>
              <a:rPr lang="en-US" sz="4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3.16: Continue….</a:t>
            </a:r>
            <a:endParaRPr lang="en-GB" sz="4500" dirty="0"/>
          </a:p>
        </p:txBody>
      </p:sp>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1720" t="-1600" r="-2652"/>
            </a:stretch>
          </a:blipFill>
        </p:spPr>
        <p:txBody>
          <a:bodyPr/>
          <a:lstStyle/>
          <a:p>
            <a:pPr>
              <a:buNone/>
            </a:pPr>
            <a:r>
              <a:rPr lang="en-GB" dirty="0">
                <a:noFill/>
              </a:rPr>
              <a:t>  </a:t>
            </a:r>
          </a:p>
        </p:txBody>
      </p:sp>
      <p:sp>
        <p:nvSpPr>
          <p:cNvPr id="4" name="Date Placeholder 3"/>
          <p:cNvSpPr>
            <a:spLocks noGrp="1"/>
          </p:cNvSpPr>
          <p:nvPr>
            <p:ph type="dt" sz="half" idx="10"/>
          </p:nvPr>
        </p:nvSpPr>
        <p:spPr/>
        <p:txBody>
          <a:bodyPr/>
          <a:lstStyle/>
          <a:p>
            <a:pPr>
              <a:defRPr/>
            </a:pPr>
            <a:fld id="{2A8910E8-8BE6-4901-9B68-6B0505DB325C}"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45</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extLst>
      <p:ext uri="{BB962C8B-B14F-4D97-AF65-F5344CB8AC3E}">
        <p14:creationId xmlns:p14="http://schemas.microsoft.com/office/powerpoint/2010/main" val="2442420958"/>
      </p:ext>
    </p:extLst>
  </p:cSld>
  <p:clrMapOvr>
    <a:masterClrMapping/>
  </p:clrMapOvr>
  <p:transition spd="slow">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513461"/>
            <a:ext cx="8534400" cy="758825"/>
          </a:xfrm>
        </p:spPr>
        <p:txBody>
          <a:bodyPr/>
          <a:lstStyle/>
          <a:p>
            <a:pPr algn="l"/>
            <a:r>
              <a:rPr lang="en-US" sz="4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Multiplication Rule:</a:t>
            </a:r>
          </a:p>
        </p:txBody>
      </p:sp>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1720" t="-1733" r="-2724"/>
            </a:stretch>
          </a:blipFill>
        </p:spPr>
        <p:txBody>
          <a:bodyPr/>
          <a:lstStyle/>
          <a:p>
            <a:pPr>
              <a:buNone/>
            </a:pPr>
            <a:r>
              <a:rPr lang="en-GB" dirty="0">
                <a:noFill/>
              </a:rPr>
              <a:t>  </a:t>
            </a:r>
          </a:p>
        </p:txBody>
      </p:sp>
      <p:sp>
        <p:nvSpPr>
          <p:cNvPr id="4" name="Date Placeholder 3"/>
          <p:cNvSpPr>
            <a:spLocks noGrp="1"/>
          </p:cNvSpPr>
          <p:nvPr>
            <p:ph type="dt" sz="half" idx="10"/>
          </p:nvPr>
        </p:nvSpPr>
        <p:spPr/>
        <p:txBody>
          <a:bodyPr/>
          <a:lstStyle/>
          <a:p>
            <a:pPr>
              <a:defRPr/>
            </a:pPr>
            <a:fld id="{26905E63-AEDF-4E49-90FC-F65DD5C5C9C5}"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46</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extLst>
      <p:ext uri="{BB962C8B-B14F-4D97-AF65-F5344CB8AC3E}">
        <p14:creationId xmlns:p14="http://schemas.microsoft.com/office/powerpoint/2010/main" val="1272650161"/>
      </p:ext>
    </p:extLst>
  </p:cSld>
  <p:clrMapOvr>
    <a:masterClrMapping/>
  </p:clrMapOvr>
  <p:transition spd="slow">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272" y="494443"/>
            <a:ext cx="8534400" cy="758825"/>
          </a:xfrm>
        </p:spPr>
        <p:txBody>
          <a:bodyPr/>
          <a:lstStyle/>
          <a:p>
            <a:pPr algn="l"/>
            <a:r>
              <a:rPr lang="en-US" sz="4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3.17:</a:t>
            </a:r>
          </a:p>
        </p:txBody>
      </p:sp>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1720" t="-1733" r="-2724"/>
            </a:stretch>
          </a:blipFill>
        </p:spPr>
        <p:txBody>
          <a:bodyPr/>
          <a:lstStyle/>
          <a:p>
            <a:pPr>
              <a:buNone/>
            </a:pPr>
            <a:r>
              <a:rPr lang="en-GB" dirty="0">
                <a:noFill/>
              </a:rPr>
              <a:t>  </a:t>
            </a:r>
          </a:p>
        </p:txBody>
      </p:sp>
      <p:sp>
        <p:nvSpPr>
          <p:cNvPr id="4" name="Date Placeholder 3"/>
          <p:cNvSpPr>
            <a:spLocks noGrp="1"/>
          </p:cNvSpPr>
          <p:nvPr>
            <p:ph type="dt" sz="half" idx="10"/>
          </p:nvPr>
        </p:nvSpPr>
        <p:spPr/>
        <p:txBody>
          <a:bodyPr/>
          <a:lstStyle/>
          <a:p>
            <a:pPr>
              <a:defRPr/>
            </a:pPr>
            <a:fld id="{CBBBD815-F8FB-46ED-B005-B16959A83B1B}"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47</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extLst>
      <p:ext uri="{BB962C8B-B14F-4D97-AF65-F5344CB8AC3E}">
        <p14:creationId xmlns:p14="http://schemas.microsoft.com/office/powerpoint/2010/main" val="3090862148"/>
      </p:ext>
    </p:extLst>
  </p:cSld>
  <p:clrMapOvr>
    <a:masterClrMapping/>
  </p:clrMapOvr>
  <p:transition spd="slow">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84175"/>
            <a:ext cx="8534400" cy="758825"/>
          </a:xfrm>
        </p:spPr>
        <p:txBody>
          <a:bodyPr/>
          <a:lstStyle/>
          <a:p>
            <a:pPr algn="l"/>
            <a:r>
              <a:rPr lang="en-US" sz="4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a:t>
            </a:r>
            <a:r>
              <a:rPr lang="en-US" sz="4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en-US" sz="4000" dirty="0"/>
          </a:p>
        </p:txBody>
      </p:sp>
      <p:sp>
        <p:nvSpPr>
          <p:cNvPr id="3" name="Content Placeholder 2"/>
          <p:cNvSpPr>
            <a:spLocks noGrp="1"/>
          </p:cNvSpPr>
          <p:nvPr>
            <p:ph sz="quarter" idx="1"/>
          </p:nvPr>
        </p:nvSpPr>
        <p:spPr/>
        <p:txBody>
          <a:bodyPr/>
          <a:lstStyle/>
          <a:p>
            <a:pPr marL="0" lvl="0" indent="0" algn="just">
              <a:buNone/>
            </a:pPr>
            <a:r>
              <a:rPr lang="en-US" sz="2400" dirty="0">
                <a:latin typeface="Times New Roman" pitchFamily="18" charset="0"/>
                <a:cs typeface="Times New Roman" pitchFamily="18" charset="0"/>
              </a:rPr>
              <a:t>The following data from the 100 Senators from the 108</a:t>
            </a:r>
            <a:r>
              <a:rPr lang="en-US" sz="2400" baseline="30000" dirty="0">
                <a:latin typeface="Times New Roman" pitchFamily="18" charset="0"/>
                <a:cs typeface="Times New Roman" pitchFamily="18" charset="0"/>
              </a:rPr>
              <a:t>th</a:t>
            </a:r>
            <a:r>
              <a:rPr lang="en-US" sz="2400" dirty="0">
                <a:latin typeface="Times New Roman" pitchFamily="18" charset="0"/>
                <a:cs typeface="Times New Roman" pitchFamily="18" charset="0"/>
              </a:rPr>
              <a:t> Congress of the United States.</a:t>
            </a:r>
          </a:p>
          <a:p>
            <a:pPr>
              <a:buNone/>
            </a:pPr>
            <a:endParaRPr lang="en-US" sz="2400" dirty="0">
              <a:latin typeface="Times New Roman" pitchFamily="18" charset="0"/>
              <a:cs typeface="Times New Roman" pitchFamily="18" charset="0"/>
            </a:endParaRPr>
          </a:p>
          <a:p>
            <a:pPr>
              <a:buNone/>
            </a:pPr>
            <a:endParaRPr lang="en-US" sz="2400" dirty="0">
              <a:latin typeface="Times New Roman" pitchFamily="18" charset="0"/>
              <a:cs typeface="Times New Roman" pitchFamily="18" charset="0"/>
            </a:endParaRPr>
          </a:p>
          <a:p>
            <a:pPr>
              <a:buNone/>
            </a:pPr>
            <a:endParaRPr lang="en-US" sz="2400" dirty="0">
              <a:latin typeface="Times New Roman" pitchFamily="18" charset="0"/>
              <a:cs typeface="Times New Roman" pitchFamily="18" charset="0"/>
            </a:endParaRPr>
          </a:p>
          <a:p>
            <a:pPr marL="457200" indent="-457200" algn="just">
              <a:buFont typeface="+mj-lt"/>
              <a:buAutoNum type="alphaLcPeriod"/>
            </a:pPr>
            <a:r>
              <a:rPr lang="en-US" sz="2400" dirty="0">
                <a:latin typeface="Times New Roman" pitchFamily="18" charset="0"/>
                <a:cs typeface="Times New Roman" pitchFamily="18" charset="0"/>
              </a:rPr>
              <a:t>If we randomly select one Senator, what is the conditional probability of getting a Female, given that a Republican was selected? </a:t>
            </a:r>
          </a:p>
          <a:p>
            <a:pPr marL="457200" indent="-457200" algn="just">
              <a:buFont typeface="+mj-lt"/>
              <a:buAutoNum type="alphaLcPeriod"/>
            </a:pPr>
            <a:r>
              <a:rPr lang="en-US" sz="2400" dirty="0">
                <a:latin typeface="Times New Roman" pitchFamily="18" charset="0"/>
                <a:cs typeface="Times New Roman" pitchFamily="18" charset="0"/>
              </a:rPr>
              <a:t>If we randomly select one Senator, let A be the event that the selected Senator is a female and B be the event that the selected Senator is a Republican. Are the events A and B are mutually exclusive?</a:t>
            </a:r>
          </a:p>
        </p:txBody>
      </p:sp>
      <p:sp>
        <p:nvSpPr>
          <p:cNvPr id="4" name="Date Placeholder 3"/>
          <p:cNvSpPr>
            <a:spLocks noGrp="1"/>
          </p:cNvSpPr>
          <p:nvPr>
            <p:ph type="dt" sz="half" idx="10"/>
          </p:nvPr>
        </p:nvSpPr>
        <p:spPr/>
        <p:txBody>
          <a:bodyPr/>
          <a:lstStyle/>
          <a:p>
            <a:pPr>
              <a:defRPr/>
            </a:pPr>
            <a:fld id="{435B9553-B32A-4AA7-87D9-AACB6065D541}" type="datetime2">
              <a:rPr lang="en-US" smtClean="0"/>
              <a:pPr>
                <a:defRPr/>
              </a:pPr>
              <a:t>Monday, December 8, 2025</a:t>
            </a:fld>
            <a:endParaRPr lang="en-US"/>
          </a:p>
        </p:txBody>
      </p:sp>
      <p:sp>
        <p:nvSpPr>
          <p:cNvPr id="5" name="Footer Placeholder 4"/>
          <p:cNvSpPr>
            <a:spLocks noGrp="1"/>
          </p:cNvSpPr>
          <p:nvPr>
            <p:ph type="ftr" sz="quarter" idx="11"/>
          </p:nvPr>
        </p:nvSpPr>
        <p:spPr/>
        <p:txBody>
          <a:bodyPr/>
          <a:lstStyle/>
          <a:p>
            <a:pPr>
              <a:defRPr/>
            </a:pPr>
            <a:r>
              <a:rPr lang="en-US"/>
              <a:t>STAT 154 -09</a:t>
            </a:r>
          </a:p>
        </p:txBody>
      </p:sp>
      <p:sp>
        <p:nvSpPr>
          <p:cNvPr id="6" name="Slide Number Placeholder 5"/>
          <p:cNvSpPr>
            <a:spLocks noGrp="1"/>
          </p:cNvSpPr>
          <p:nvPr>
            <p:ph type="sldNum" sz="quarter" idx="12"/>
          </p:nvPr>
        </p:nvSpPr>
        <p:spPr/>
        <p:txBody>
          <a:bodyPr/>
          <a:lstStyle/>
          <a:p>
            <a:pPr>
              <a:defRPr/>
            </a:pPr>
            <a:fld id="{C70CFA2D-21B9-45B6-893F-7371CE3DE2D8}" type="slidenum">
              <a:rPr lang="en-US" smtClean="0"/>
              <a:pPr>
                <a:defRPr/>
              </a:pPr>
              <a:t>48</a:t>
            </a:fld>
            <a:endParaRPr lang="en-US"/>
          </a:p>
        </p:txBody>
      </p:sp>
      <p:graphicFrame>
        <p:nvGraphicFramePr>
          <p:cNvPr id="7" name="Table 6"/>
          <p:cNvGraphicFramePr>
            <a:graphicFrameLocks noGrp="1"/>
          </p:cNvGraphicFramePr>
          <p:nvPr/>
        </p:nvGraphicFramePr>
        <p:xfrm>
          <a:off x="1143000" y="2438400"/>
          <a:ext cx="5638801" cy="1188720"/>
        </p:xfrm>
        <a:graphic>
          <a:graphicData uri="http://schemas.openxmlformats.org/drawingml/2006/table">
            <a:tbl>
              <a:tblPr>
                <a:tableStyleId>{69CF1AB2-1976-4502-BF36-3FF5EA218861}</a:tableStyleId>
              </a:tblPr>
              <a:tblGrid>
                <a:gridCol w="15240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gridCol w="1981201">
                  <a:extLst>
                    <a:ext uri="{9D8B030D-6E8A-4147-A177-3AD203B41FA5}">
                      <a16:colId xmlns:a16="http://schemas.microsoft.com/office/drawing/2014/main" val="20002"/>
                    </a:ext>
                  </a:extLst>
                </a:gridCol>
              </a:tblGrid>
              <a:tr h="0">
                <a:tc>
                  <a:txBody>
                    <a:bodyPr/>
                    <a:lstStyle/>
                    <a:p>
                      <a:pPr marL="0" marR="0" algn="ctr">
                        <a:spcBef>
                          <a:spcPts val="0"/>
                        </a:spcBef>
                        <a:spcAft>
                          <a:spcPts val="0"/>
                        </a:spcAft>
                      </a:pPr>
                      <a:endParaRPr lang="en-US" sz="2600" dirty="0">
                        <a:latin typeface="Times New Roman"/>
                        <a:ea typeface="Times New Roman"/>
                      </a:endParaRPr>
                    </a:p>
                  </a:txBody>
                  <a:tcPr marL="68580" marR="68580" marT="0" marB="0"/>
                </a:tc>
                <a:tc>
                  <a:txBody>
                    <a:bodyPr/>
                    <a:lstStyle/>
                    <a:p>
                      <a:pPr marL="0" marR="0" algn="ctr">
                        <a:spcBef>
                          <a:spcPts val="0"/>
                        </a:spcBef>
                        <a:spcAft>
                          <a:spcPts val="0"/>
                        </a:spcAft>
                      </a:pPr>
                      <a:r>
                        <a:rPr lang="en-US" sz="2600"/>
                        <a:t>Republican</a:t>
                      </a:r>
                      <a:endParaRPr lang="en-US" sz="2600">
                        <a:latin typeface="Times New Roman"/>
                        <a:ea typeface="Times New Roman"/>
                      </a:endParaRPr>
                    </a:p>
                  </a:txBody>
                  <a:tcPr marL="68580" marR="68580" marT="0" marB="0"/>
                </a:tc>
                <a:tc>
                  <a:txBody>
                    <a:bodyPr/>
                    <a:lstStyle/>
                    <a:p>
                      <a:pPr marL="0" marR="0" algn="ctr">
                        <a:spcBef>
                          <a:spcPts val="0"/>
                        </a:spcBef>
                        <a:spcAft>
                          <a:spcPts val="0"/>
                        </a:spcAft>
                      </a:pPr>
                      <a:r>
                        <a:rPr lang="en-US" sz="2600"/>
                        <a:t>Democrat</a:t>
                      </a:r>
                      <a:endParaRPr lang="en-US" sz="2600">
                        <a:latin typeface="Times New Roman"/>
                        <a:ea typeface="Times New Roman"/>
                      </a:endParaRPr>
                    </a:p>
                  </a:txBody>
                  <a:tcPr marL="68580" marR="68580" marT="0" marB="0"/>
                </a:tc>
                <a:extLst>
                  <a:ext uri="{0D108BD9-81ED-4DB2-BD59-A6C34878D82A}">
                    <a16:rowId xmlns:a16="http://schemas.microsoft.com/office/drawing/2014/main" val="10000"/>
                  </a:ext>
                </a:extLst>
              </a:tr>
              <a:tr h="0">
                <a:tc>
                  <a:txBody>
                    <a:bodyPr/>
                    <a:lstStyle/>
                    <a:p>
                      <a:pPr marL="0" marR="0" algn="ctr">
                        <a:spcBef>
                          <a:spcPts val="0"/>
                        </a:spcBef>
                        <a:spcAft>
                          <a:spcPts val="0"/>
                        </a:spcAft>
                      </a:pPr>
                      <a:r>
                        <a:rPr lang="en-US" sz="2600" dirty="0"/>
                        <a:t>Male</a:t>
                      </a:r>
                      <a:endParaRPr lang="en-US" sz="2600" dirty="0">
                        <a:latin typeface="Times New Roman"/>
                        <a:ea typeface="Times New Roman"/>
                      </a:endParaRPr>
                    </a:p>
                  </a:txBody>
                  <a:tcPr marL="68580" marR="68580" marT="0" marB="0"/>
                </a:tc>
                <a:tc>
                  <a:txBody>
                    <a:bodyPr/>
                    <a:lstStyle/>
                    <a:p>
                      <a:pPr marL="0" marR="0" algn="ctr">
                        <a:spcBef>
                          <a:spcPts val="0"/>
                        </a:spcBef>
                        <a:spcAft>
                          <a:spcPts val="0"/>
                        </a:spcAft>
                      </a:pPr>
                      <a:r>
                        <a:rPr lang="en-US" sz="2600" dirty="0"/>
                        <a:t>46</a:t>
                      </a:r>
                      <a:endParaRPr lang="en-US" sz="2600" dirty="0">
                        <a:latin typeface="Times New Roman"/>
                        <a:ea typeface="Times New Roman"/>
                      </a:endParaRPr>
                    </a:p>
                  </a:txBody>
                  <a:tcPr marL="68580" marR="68580" marT="0" marB="0"/>
                </a:tc>
                <a:tc>
                  <a:txBody>
                    <a:bodyPr/>
                    <a:lstStyle/>
                    <a:p>
                      <a:pPr marL="0" marR="0" algn="ctr">
                        <a:spcBef>
                          <a:spcPts val="0"/>
                        </a:spcBef>
                        <a:spcAft>
                          <a:spcPts val="0"/>
                        </a:spcAft>
                      </a:pPr>
                      <a:r>
                        <a:rPr lang="en-US" sz="2600"/>
                        <a:t>39</a:t>
                      </a:r>
                      <a:endParaRPr lang="en-US" sz="2600">
                        <a:latin typeface="Times New Roman"/>
                        <a:ea typeface="Times New Roman"/>
                      </a:endParaRPr>
                    </a:p>
                  </a:txBody>
                  <a:tcPr marL="68580" marR="68580" marT="0" marB="0"/>
                </a:tc>
                <a:extLst>
                  <a:ext uri="{0D108BD9-81ED-4DB2-BD59-A6C34878D82A}">
                    <a16:rowId xmlns:a16="http://schemas.microsoft.com/office/drawing/2014/main" val="10001"/>
                  </a:ext>
                </a:extLst>
              </a:tr>
              <a:tr h="0">
                <a:tc>
                  <a:txBody>
                    <a:bodyPr/>
                    <a:lstStyle/>
                    <a:p>
                      <a:pPr marL="0" marR="0" algn="ctr">
                        <a:spcBef>
                          <a:spcPts val="0"/>
                        </a:spcBef>
                        <a:spcAft>
                          <a:spcPts val="0"/>
                        </a:spcAft>
                      </a:pPr>
                      <a:r>
                        <a:rPr lang="en-US" sz="2600"/>
                        <a:t>Female</a:t>
                      </a:r>
                      <a:endParaRPr lang="en-US" sz="2600">
                        <a:latin typeface="Times New Roman"/>
                        <a:ea typeface="Times New Roman"/>
                      </a:endParaRPr>
                    </a:p>
                  </a:txBody>
                  <a:tcPr marL="68580" marR="68580" marT="0" marB="0"/>
                </a:tc>
                <a:tc>
                  <a:txBody>
                    <a:bodyPr/>
                    <a:lstStyle/>
                    <a:p>
                      <a:pPr marL="0" marR="0" algn="ctr">
                        <a:spcBef>
                          <a:spcPts val="0"/>
                        </a:spcBef>
                        <a:spcAft>
                          <a:spcPts val="0"/>
                        </a:spcAft>
                      </a:pPr>
                      <a:r>
                        <a:rPr lang="en-US" sz="2600" dirty="0"/>
                        <a:t>5</a:t>
                      </a:r>
                      <a:endParaRPr lang="en-US" sz="2600" dirty="0">
                        <a:latin typeface="Times New Roman"/>
                        <a:ea typeface="Times New Roman"/>
                      </a:endParaRPr>
                    </a:p>
                  </a:txBody>
                  <a:tcPr marL="68580" marR="68580" marT="0" marB="0"/>
                </a:tc>
                <a:tc>
                  <a:txBody>
                    <a:bodyPr/>
                    <a:lstStyle/>
                    <a:p>
                      <a:pPr marL="0" marR="0" algn="ctr">
                        <a:spcBef>
                          <a:spcPts val="0"/>
                        </a:spcBef>
                        <a:spcAft>
                          <a:spcPts val="0"/>
                        </a:spcAft>
                      </a:pPr>
                      <a:r>
                        <a:rPr lang="en-US" sz="2600" dirty="0"/>
                        <a:t>10</a:t>
                      </a:r>
                      <a:endParaRPr lang="en-US" sz="2600" dirty="0">
                        <a:latin typeface="Times New Roman"/>
                        <a:ea typeface="Times New Roman"/>
                      </a:endParaRPr>
                    </a:p>
                  </a:txBody>
                  <a:tcPr marL="68580" marR="68580" marT="0" marB="0"/>
                </a:tc>
                <a:extLst>
                  <a:ext uri="{0D108BD9-81ED-4DB2-BD59-A6C34878D82A}">
                    <a16:rowId xmlns:a16="http://schemas.microsoft.com/office/drawing/2014/main" val="10002"/>
                  </a:ext>
                </a:extLst>
              </a:tr>
            </a:tbl>
          </a:graphicData>
        </a:graphic>
      </p:graphicFrame>
    </p:spTree>
  </p:cSld>
  <p:clrMapOvr>
    <a:masterClrMapping/>
  </p:clrMapOvr>
  <p:transition spd="slow">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272" y="483458"/>
            <a:ext cx="8534400" cy="758825"/>
          </a:xfrm>
        </p:spPr>
        <p:txBody>
          <a:bodyPr/>
          <a:lstStyle/>
          <a:p>
            <a:pPr algn="l"/>
            <a:r>
              <a:rPr lang="en-US" sz="4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Bayes’ Rule:</a:t>
            </a:r>
          </a:p>
        </p:txBody>
      </p:sp>
      <p:sp>
        <p:nvSpPr>
          <p:cNvPr id="3" name="Content Placeholder 2"/>
          <p:cNvSpPr>
            <a:spLocks noGrp="1" noRot="1" noChangeAspect="1" noMove="1" noResize="1" noEditPoints="1" noAdjustHandles="1" noChangeArrowheads="1" noChangeShapeType="1" noTextEdit="1"/>
          </p:cNvSpPr>
          <p:nvPr>
            <p:ph sz="quarter" idx="1"/>
          </p:nvPr>
        </p:nvSpPr>
        <p:spPr>
          <a:xfrm>
            <a:off x="301752" y="1377280"/>
            <a:ext cx="8503920" cy="4572000"/>
          </a:xfrm>
          <a:blipFill rotWithShape="1">
            <a:blip r:embed="rId2"/>
            <a:stretch>
              <a:fillRect l="-1505" t="-1333" r="-5591"/>
            </a:stretch>
          </a:blipFill>
        </p:spPr>
        <p:txBody>
          <a:bodyPr/>
          <a:lstStyle/>
          <a:p>
            <a:pPr>
              <a:buNone/>
            </a:pPr>
            <a:r>
              <a:rPr lang="en-GB" dirty="0">
                <a:noFill/>
              </a:rPr>
              <a:t>  </a:t>
            </a:r>
          </a:p>
        </p:txBody>
      </p:sp>
      <p:sp>
        <p:nvSpPr>
          <p:cNvPr id="4" name="Date Placeholder 3"/>
          <p:cNvSpPr>
            <a:spLocks noGrp="1"/>
          </p:cNvSpPr>
          <p:nvPr>
            <p:ph type="dt" sz="half" idx="10"/>
          </p:nvPr>
        </p:nvSpPr>
        <p:spPr/>
        <p:txBody>
          <a:bodyPr/>
          <a:lstStyle/>
          <a:p>
            <a:pPr>
              <a:defRPr/>
            </a:pPr>
            <a:fld id="{5F9E021D-6790-4273-9783-0EA580B56274}"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49</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extLst>
      <p:ext uri="{BB962C8B-B14F-4D97-AF65-F5344CB8AC3E}">
        <p14:creationId xmlns:p14="http://schemas.microsoft.com/office/powerpoint/2010/main" val="7975757"/>
      </p:ext>
    </p:extLst>
  </p:cSld>
  <p:clrMapOvr>
    <a:masterClrMapping/>
  </p:clrMapOvr>
  <p:transition spd="slow">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332656"/>
            <a:ext cx="8534400" cy="758825"/>
          </a:xfrm>
        </p:spPr>
        <p:txBody>
          <a:bodyPr/>
          <a:lstStyle/>
          <a:p>
            <a:pPr algn="l"/>
            <a:r>
              <a:rPr lang="en-US"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Venn diagram for Bayes’ rule</a:t>
            </a:r>
          </a:p>
        </p:txBody>
      </p:sp>
      <p:sp>
        <p:nvSpPr>
          <p:cNvPr id="4" name="Date Placeholder 3"/>
          <p:cNvSpPr>
            <a:spLocks noGrp="1"/>
          </p:cNvSpPr>
          <p:nvPr>
            <p:ph type="dt" sz="half" idx="10"/>
          </p:nvPr>
        </p:nvSpPr>
        <p:spPr/>
        <p:txBody>
          <a:bodyPr/>
          <a:lstStyle/>
          <a:p>
            <a:pPr>
              <a:defRPr/>
            </a:pPr>
            <a:fld id="{30DD4D83-D7B1-459B-9B0F-B5E90ABC1ECF}"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50</a:t>
            </a:fld>
            <a:endParaRPr lang="en-US"/>
          </a:p>
        </p:txBody>
      </p:sp>
      <p:pic>
        <p:nvPicPr>
          <p:cNvPr id="1026" name="Picture 2"/>
          <p:cNvPicPr>
            <a:picLocks noGrp="1" noChangeAspect="1" noChangeArrowheads="1"/>
          </p:cNvPicPr>
          <p:nvPr>
            <p:ph sz="quarter" idx="1"/>
          </p:nvPr>
        </p:nvPicPr>
        <p:blipFill>
          <a:blip r:embed="rId2" cstate="print">
            <a:extLst>
              <a:ext uri="{28A0092B-C50C-407E-A947-70E740481C1C}">
                <a14:useLocalDpi xmlns:a14="http://schemas.microsoft.com/office/drawing/2010/main" val="0"/>
              </a:ext>
            </a:extLst>
          </a:blip>
          <a:srcRect/>
          <a:stretch>
            <a:fillRect/>
          </a:stretch>
        </p:blipFill>
        <p:spPr bwMode="auto">
          <a:xfrm>
            <a:off x="1835696" y="1628800"/>
            <a:ext cx="5331356" cy="3089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251520" y="4974267"/>
            <a:ext cx="8352928" cy="830997"/>
          </a:xfrm>
          <a:prstGeom prst="rect">
            <a:avLst/>
          </a:prstGeom>
        </p:spPr>
        <p:txBody>
          <a:bodyPr wrap="square">
            <a:spAutoFit/>
          </a:bodyPr>
          <a:lstStyle/>
          <a:p>
            <a:pPr algn="just"/>
            <a:r>
              <a:rPr lang="en-IN" dirty="0"/>
              <a:t>This rule can be generalized for any finite number (two or more) of partitions</a:t>
            </a:r>
            <a:endParaRPr lang="en-GB" dirty="0"/>
          </a:p>
        </p:txBody>
      </p:sp>
      <p:sp>
        <p:nvSpPr>
          <p:cNvPr id="7" name="Footer Placeholder 6"/>
          <p:cNvSpPr>
            <a:spLocks noGrp="1"/>
          </p:cNvSpPr>
          <p:nvPr>
            <p:ph type="ftr" sz="quarter" idx="11"/>
          </p:nvPr>
        </p:nvSpPr>
        <p:spPr/>
        <p:txBody>
          <a:bodyPr/>
          <a:lstStyle/>
          <a:p>
            <a:pPr>
              <a:defRPr/>
            </a:pPr>
            <a:r>
              <a:rPr lang="en-US"/>
              <a:t>STAT 154 -09</a:t>
            </a:r>
          </a:p>
        </p:txBody>
      </p:sp>
    </p:spTree>
    <p:extLst>
      <p:ext uri="{BB962C8B-B14F-4D97-AF65-F5344CB8AC3E}">
        <p14:creationId xmlns:p14="http://schemas.microsoft.com/office/powerpoint/2010/main" val="554279899"/>
      </p:ext>
    </p:extLst>
  </p:cSld>
  <p:clrMapOvr>
    <a:masterClrMapping/>
  </p:clrMapOvr>
  <p:transition spd="slow">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625" y="293911"/>
            <a:ext cx="8534400" cy="758825"/>
          </a:xfrm>
        </p:spPr>
        <p:txBody>
          <a:bodyPr/>
          <a:lstStyle/>
          <a:p>
            <a:pPr algn="l"/>
            <a:r>
              <a:rPr lang="en-GB"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Example 3.18:</a:t>
            </a:r>
          </a:p>
        </p:txBody>
      </p:sp>
      <p:sp>
        <p:nvSpPr>
          <p:cNvPr id="3" name="Content Placeholder 2"/>
          <p:cNvSpPr>
            <a:spLocks noGrp="1" noRot="1" noChangeAspect="1" noMove="1" noResize="1" noEditPoints="1" noAdjustHandles="1" noChangeArrowheads="1" noChangeShapeType="1" noTextEdit="1"/>
          </p:cNvSpPr>
          <p:nvPr>
            <p:ph sz="quarter" idx="1"/>
          </p:nvPr>
        </p:nvSpPr>
        <p:spPr>
          <a:xfrm>
            <a:off x="301752" y="1449288"/>
            <a:ext cx="8503920" cy="4572000"/>
          </a:xfrm>
          <a:blipFill rotWithShape="1">
            <a:blip r:embed="rId2"/>
            <a:stretch>
              <a:fillRect l="-1720" t="-1733" r="-2796" b="-2133"/>
            </a:stretch>
          </a:blipFill>
        </p:spPr>
        <p:txBody>
          <a:bodyPr/>
          <a:lstStyle/>
          <a:p>
            <a:pPr>
              <a:buNone/>
            </a:pPr>
            <a:r>
              <a:rPr lang="en-GB" dirty="0">
                <a:noFill/>
              </a:rPr>
              <a:t>  </a:t>
            </a:r>
          </a:p>
        </p:txBody>
      </p:sp>
      <p:sp>
        <p:nvSpPr>
          <p:cNvPr id="4" name="Date Placeholder 3"/>
          <p:cNvSpPr>
            <a:spLocks noGrp="1"/>
          </p:cNvSpPr>
          <p:nvPr>
            <p:ph type="dt" sz="half" idx="10"/>
          </p:nvPr>
        </p:nvSpPr>
        <p:spPr/>
        <p:txBody>
          <a:bodyPr/>
          <a:lstStyle/>
          <a:p>
            <a:pPr>
              <a:defRPr/>
            </a:pPr>
            <a:fld id="{C84EB421-F5BF-43E6-95D6-C8E2C33B96DA}"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51</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extLst>
      <p:ext uri="{BB962C8B-B14F-4D97-AF65-F5344CB8AC3E}">
        <p14:creationId xmlns:p14="http://schemas.microsoft.com/office/powerpoint/2010/main" val="3263322514"/>
      </p:ext>
    </p:extLst>
  </p:cSld>
  <p:clrMapOvr>
    <a:masterClrMapping/>
  </p:clrMapOvr>
  <p:transition spd="slow">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noRot="1" noChangeAspect="1" noMove="1" noResize="1" noEditPoints="1" noAdjustHandles="1" noChangeArrowheads="1" noChangeShapeType="1" noTextEdit="1"/>
          </p:cNvSpPr>
          <p:nvPr>
            <p:ph sz="quarter" idx="1"/>
          </p:nvPr>
        </p:nvSpPr>
        <p:spPr>
          <a:xfrm>
            <a:off x="301752" y="1340768"/>
            <a:ext cx="8503920" cy="4572000"/>
          </a:xfrm>
          <a:blipFill rotWithShape="1">
            <a:blip r:embed="rId2"/>
            <a:stretch>
              <a:fillRect l="-1147" t="-1067" r="-2079"/>
            </a:stretch>
          </a:blipFill>
        </p:spPr>
        <p:txBody>
          <a:bodyPr/>
          <a:lstStyle/>
          <a:p>
            <a:pPr>
              <a:buNone/>
            </a:pPr>
            <a:r>
              <a:rPr lang="en-GB" dirty="0">
                <a:noFill/>
              </a:rPr>
              <a:t>  </a:t>
            </a:r>
          </a:p>
        </p:txBody>
      </p:sp>
      <p:sp>
        <p:nvSpPr>
          <p:cNvPr id="4" name="Date Placeholder 3"/>
          <p:cNvSpPr>
            <a:spLocks noGrp="1"/>
          </p:cNvSpPr>
          <p:nvPr>
            <p:ph type="dt" sz="half" idx="10"/>
          </p:nvPr>
        </p:nvSpPr>
        <p:spPr/>
        <p:txBody>
          <a:bodyPr/>
          <a:lstStyle/>
          <a:p>
            <a:pPr>
              <a:defRPr/>
            </a:pPr>
            <a:fld id="{9F9C9CD3-2085-4A66-806C-09097BE022BB}"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52</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extLst>
      <p:ext uri="{BB962C8B-B14F-4D97-AF65-F5344CB8AC3E}">
        <p14:creationId xmlns:p14="http://schemas.microsoft.com/office/powerpoint/2010/main" val="31368397"/>
      </p:ext>
    </p:extLst>
  </p:cSld>
  <p:clrMapOvr>
    <a:masterClrMapping/>
  </p:clrMapOvr>
  <p:transition spd="slow">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sz="40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Example</a:t>
            </a:r>
            <a:endParaRPr lang="en-US" sz="4000" dirty="0"/>
          </a:p>
        </p:txBody>
      </p:sp>
      <p:sp>
        <p:nvSpPr>
          <p:cNvPr id="3" name="Content Placeholder 2"/>
          <p:cNvSpPr>
            <a:spLocks noGrp="1"/>
          </p:cNvSpPr>
          <p:nvPr>
            <p:ph sz="quarter" idx="1"/>
          </p:nvPr>
        </p:nvSpPr>
        <p:spPr/>
        <p:txBody>
          <a:bodyPr/>
          <a:lstStyle/>
          <a:p>
            <a:pPr marL="0" indent="0" algn="just">
              <a:buNone/>
            </a:pPr>
            <a:r>
              <a:rPr lang="en-US" sz="2800" dirty="0">
                <a:latin typeface="Times New Roman" pitchFamily="18" charset="0"/>
                <a:cs typeface="Times New Roman" pitchFamily="18" charset="0"/>
              </a:rPr>
              <a:t>Three plants, C</a:t>
            </a:r>
            <a:r>
              <a:rPr lang="en-US" sz="2800" baseline="-25000" dirty="0">
                <a:latin typeface="Times New Roman" pitchFamily="18" charset="0"/>
                <a:cs typeface="Times New Roman" pitchFamily="18" charset="0"/>
              </a:rPr>
              <a:t>1</a:t>
            </a:r>
            <a:r>
              <a:rPr lang="en-US" sz="2800" dirty="0">
                <a:latin typeface="Times New Roman" pitchFamily="18" charset="0"/>
                <a:cs typeface="Times New Roman" pitchFamily="18" charset="0"/>
              </a:rPr>
              <a:t>, C</a:t>
            </a:r>
            <a:r>
              <a:rPr lang="en-US" sz="2800" baseline="-25000" dirty="0">
                <a:latin typeface="Times New Roman" pitchFamily="18" charset="0"/>
                <a:cs typeface="Times New Roman" pitchFamily="18" charset="0"/>
              </a:rPr>
              <a:t>2</a:t>
            </a:r>
            <a:r>
              <a:rPr lang="en-US" sz="2800" dirty="0">
                <a:latin typeface="Times New Roman" pitchFamily="18" charset="0"/>
                <a:cs typeface="Times New Roman" pitchFamily="18" charset="0"/>
              </a:rPr>
              <a:t>, and C</a:t>
            </a:r>
            <a:r>
              <a:rPr lang="en-US" sz="2800" baseline="-25000" dirty="0">
                <a:latin typeface="Times New Roman" pitchFamily="18" charset="0"/>
                <a:cs typeface="Times New Roman" pitchFamily="18" charset="0"/>
              </a:rPr>
              <a:t>3</a:t>
            </a:r>
            <a:r>
              <a:rPr lang="en-US" sz="2800" dirty="0">
                <a:latin typeface="Times New Roman" pitchFamily="18" charset="0"/>
                <a:cs typeface="Times New Roman" pitchFamily="18" charset="0"/>
              </a:rPr>
              <a:t>, produce respectively, 10%, 50%, and 40% of a company’s output. Although plant C</a:t>
            </a:r>
            <a:r>
              <a:rPr lang="en-US" sz="2800" baseline="-25000" dirty="0">
                <a:latin typeface="Times New Roman" pitchFamily="18" charset="0"/>
                <a:cs typeface="Times New Roman" pitchFamily="18" charset="0"/>
              </a:rPr>
              <a:t>1</a:t>
            </a:r>
            <a:r>
              <a:rPr lang="en-US" sz="2800" dirty="0">
                <a:latin typeface="Times New Roman" pitchFamily="18" charset="0"/>
                <a:cs typeface="Times New Roman" pitchFamily="18" charset="0"/>
              </a:rPr>
              <a:t> is a small plant, its manager believes in high quality and only 1% of its products are defective. The other two, C</a:t>
            </a:r>
            <a:r>
              <a:rPr lang="en-US" sz="2800" baseline="-25000" dirty="0">
                <a:latin typeface="Times New Roman" pitchFamily="18" charset="0"/>
                <a:cs typeface="Times New Roman" pitchFamily="18" charset="0"/>
              </a:rPr>
              <a:t>2</a:t>
            </a:r>
            <a:r>
              <a:rPr lang="en-US" sz="2800" dirty="0">
                <a:latin typeface="Times New Roman" pitchFamily="18" charset="0"/>
                <a:cs typeface="Times New Roman" pitchFamily="18" charset="0"/>
              </a:rPr>
              <a:t> and C</a:t>
            </a:r>
            <a:r>
              <a:rPr lang="en-US" sz="2800" baseline="-25000" dirty="0">
                <a:latin typeface="Times New Roman" pitchFamily="18" charset="0"/>
                <a:cs typeface="Times New Roman" pitchFamily="18" charset="0"/>
              </a:rPr>
              <a:t>3</a:t>
            </a:r>
            <a:r>
              <a:rPr lang="en-US" sz="2800" dirty="0">
                <a:latin typeface="Times New Roman" pitchFamily="18" charset="0"/>
                <a:cs typeface="Times New Roman" pitchFamily="18" charset="0"/>
              </a:rPr>
              <a:t>, are worse and produce items that are 3% and 4% defective, respectively. All products are sent to a central warehouse. One item is selected at random and observed to be defective, then what is the conditional probability that it comes from plant C</a:t>
            </a:r>
            <a:r>
              <a:rPr lang="en-US" sz="2800" baseline="-25000" dirty="0">
                <a:latin typeface="Times New Roman" pitchFamily="18" charset="0"/>
                <a:cs typeface="Times New Roman" pitchFamily="18" charset="0"/>
              </a:rPr>
              <a:t>1</a:t>
            </a:r>
            <a:r>
              <a:rPr lang="en-US" sz="2800" dirty="0">
                <a:latin typeface="Times New Roman" pitchFamily="18" charset="0"/>
                <a:cs typeface="Times New Roman" pitchFamily="18" charset="0"/>
              </a:rPr>
              <a:t>.(We define event D as defective)</a:t>
            </a:r>
          </a:p>
          <a:p>
            <a:pPr marL="0" indent="0" algn="just">
              <a:buNone/>
            </a:pPr>
            <a:r>
              <a:rPr lang="en-US" sz="2800" b="1" dirty="0" err="1">
                <a:solidFill>
                  <a:srgbClr val="FF0000"/>
                </a:solidFill>
                <a:latin typeface="Times New Roman" pitchFamily="18" charset="0"/>
                <a:cs typeface="Times New Roman" pitchFamily="18" charset="0"/>
              </a:rPr>
              <a:t>Ans</a:t>
            </a:r>
            <a:r>
              <a:rPr lang="en-US" sz="2800" b="1" dirty="0">
                <a:solidFill>
                  <a:srgbClr val="FF0000"/>
                </a:solidFill>
                <a:latin typeface="Times New Roman" pitchFamily="18" charset="0"/>
                <a:cs typeface="Times New Roman" pitchFamily="18" charset="0"/>
              </a:rPr>
              <a:t> : 1/32</a:t>
            </a:r>
          </a:p>
          <a:p>
            <a:pPr marL="0" indent="0" algn="just">
              <a:buNone/>
            </a:pPr>
            <a:endParaRPr lang="en-US" sz="28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pPr>
              <a:defRPr/>
            </a:pPr>
            <a:fld id="{435B9553-B32A-4AA7-87D9-AACB6065D541}" type="datetime2">
              <a:rPr lang="en-US" smtClean="0"/>
              <a:pPr>
                <a:defRPr/>
              </a:pPr>
              <a:t>Monday, December 8, 2025</a:t>
            </a:fld>
            <a:endParaRPr lang="en-US"/>
          </a:p>
        </p:txBody>
      </p:sp>
      <p:sp>
        <p:nvSpPr>
          <p:cNvPr id="5" name="Footer Placeholder 4"/>
          <p:cNvSpPr>
            <a:spLocks noGrp="1"/>
          </p:cNvSpPr>
          <p:nvPr>
            <p:ph type="ftr" sz="quarter" idx="11"/>
          </p:nvPr>
        </p:nvSpPr>
        <p:spPr/>
        <p:txBody>
          <a:bodyPr/>
          <a:lstStyle/>
          <a:p>
            <a:pPr>
              <a:defRPr/>
            </a:pPr>
            <a:r>
              <a:rPr lang="en-US"/>
              <a:t>STAT 154 -09</a:t>
            </a:r>
          </a:p>
        </p:txBody>
      </p:sp>
      <p:sp>
        <p:nvSpPr>
          <p:cNvPr id="6" name="Slide Number Placeholder 5"/>
          <p:cNvSpPr>
            <a:spLocks noGrp="1"/>
          </p:cNvSpPr>
          <p:nvPr>
            <p:ph type="sldNum" sz="quarter" idx="12"/>
          </p:nvPr>
        </p:nvSpPr>
        <p:spPr/>
        <p:txBody>
          <a:bodyPr/>
          <a:lstStyle/>
          <a:p>
            <a:pPr>
              <a:defRPr/>
            </a:pPr>
            <a:fld id="{C70CFA2D-21B9-45B6-893F-7371CE3DE2D8}" type="slidenum">
              <a:rPr lang="en-US" smtClean="0"/>
              <a:pPr>
                <a:defRPr/>
              </a:pPr>
              <a:t>53</a:t>
            </a:fld>
            <a:endParaRPr lang="en-US"/>
          </a:p>
        </p:txBody>
      </p:sp>
    </p:spTree>
    <p:extLst>
      <p:ext uri="{BB962C8B-B14F-4D97-AF65-F5344CB8AC3E}">
        <p14:creationId xmlns:p14="http://schemas.microsoft.com/office/powerpoint/2010/main" val="175610067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437927"/>
            <a:ext cx="8534400" cy="758825"/>
          </a:xfrm>
        </p:spPr>
        <p:txBody>
          <a:bodyPr/>
          <a:lstStyle/>
          <a:p>
            <a:pPr algn="l"/>
            <a:r>
              <a:rPr lang="en-GB"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Independence:</a:t>
            </a:r>
          </a:p>
        </p:txBody>
      </p:sp>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1935" t="-1733" r="-2939"/>
            </a:stretch>
          </a:blipFill>
        </p:spPr>
        <p:txBody>
          <a:bodyPr/>
          <a:lstStyle/>
          <a:p>
            <a:pPr>
              <a:buNone/>
            </a:pPr>
            <a:r>
              <a:rPr lang="en-GB" dirty="0">
                <a:noFill/>
              </a:rPr>
              <a:t>  </a:t>
            </a:r>
          </a:p>
        </p:txBody>
      </p:sp>
      <p:sp>
        <p:nvSpPr>
          <p:cNvPr id="4" name="Date Placeholder 3"/>
          <p:cNvSpPr>
            <a:spLocks noGrp="1"/>
          </p:cNvSpPr>
          <p:nvPr>
            <p:ph type="dt" sz="half" idx="10"/>
          </p:nvPr>
        </p:nvSpPr>
        <p:spPr/>
        <p:txBody>
          <a:bodyPr/>
          <a:lstStyle/>
          <a:p>
            <a:pPr>
              <a:defRPr/>
            </a:pPr>
            <a:fld id="{B2B0AA45-EC4C-4639-8165-1F754EB04AF1}"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54</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extLst>
      <p:ext uri="{BB962C8B-B14F-4D97-AF65-F5344CB8AC3E}">
        <p14:creationId xmlns:p14="http://schemas.microsoft.com/office/powerpoint/2010/main" val="3573223249"/>
      </p:ext>
    </p:extLst>
  </p:cSld>
  <p:clrMapOvr>
    <a:masterClrMapping/>
  </p:clrMapOvr>
  <p:transition spd="slow">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068960"/>
            <a:ext cx="8534400" cy="758825"/>
          </a:xfrm>
        </p:spPr>
        <p:txBody>
          <a:bodyPr/>
          <a:lstStyle/>
          <a:p>
            <a:r>
              <a:rPr lang="en-GB" sz="4500" dirty="0">
                <a:solidFill>
                  <a:srgbClr val="C00000"/>
                </a:solidFill>
                <a:effectLst>
                  <a:outerShdw blurRad="38100" dist="38100" dir="2700000" algn="tl">
                    <a:srgbClr val="000000">
                      <a:alpha val="43137"/>
                    </a:srgbClr>
                  </a:outerShdw>
                </a:effectLst>
              </a:rPr>
              <a:t>Counting</a:t>
            </a:r>
          </a:p>
        </p:txBody>
      </p:sp>
      <p:sp>
        <p:nvSpPr>
          <p:cNvPr id="4" name="Date Placeholder 3"/>
          <p:cNvSpPr>
            <a:spLocks noGrp="1"/>
          </p:cNvSpPr>
          <p:nvPr>
            <p:ph type="dt" sz="half" idx="10"/>
          </p:nvPr>
        </p:nvSpPr>
        <p:spPr/>
        <p:txBody>
          <a:bodyPr/>
          <a:lstStyle/>
          <a:p>
            <a:pPr>
              <a:defRPr/>
            </a:pPr>
            <a:fld id="{7B8F6973-358B-41F8-92BF-368F4BAD3FF6}"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55</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extLst>
      <p:ext uri="{BB962C8B-B14F-4D97-AF65-F5344CB8AC3E}">
        <p14:creationId xmlns:p14="http://schemas.microsoft.com/office/powerpoint/2010/main" val="3263407004"/>
      </p:ext>
    </p:extLst>
  </p:cSld>
  <p:clrMapOvr>
    <a:masterClrMapping/>
  </p:clrMapOvr>
  <p:transition spd="slow">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Counting:</a:t>
            </a:r>
            <a:endParaRPr lang="en-GB"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1720" t="-1733" r="-2724"/>
            </a:stretch>
          </a:blipFill>
        </p:spPr>
        <p:txBody>
          <a:bodyPr/>
          <a:lstStyle/>
          <a:p>
            <a:pPr>
              <a:buNone/>
            </a:pPr>
            <a:r>
              <a:rPr lang="en-GB" dirty="0">
                <a:noFill/>
              </a:rPr>
              <a:t>  </a:t>
            </a:r>
          </a:p>
        </p:txBody>
      </p:sp>
      <p:sp>
        <p:nvSpPr>
          <p:cNvPr id="4" name="Date Placeholder 3"/>
          <p:cNvSpPr>
            <a:spLocks noGrp="1"/>
          </p:cNvSpPr>
          <p:nvPr>
            <p:ph type="dt" sz="half" idx="10"/>
          </p:nvPr>
        </p:nvSpPr>
        <p:spPr/>
        <p:txBody>
          <a:bodyPr/>
          <a:lstStyle/>
          <a:p>
            <a:pPr>
              <a:defRPr/>
            </a:pPr>
            <a:fld id="{82F83489-DBFA-4C23-ACD1-252B08F090C4}"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56</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extLst>
      <p:ext uri="{BB962C8B-B14F-4D97-AF65-F5344CB8AC3E}">
        <p14:creationId xmlns:p14="http://schemas.microsoft.com/office/powerpoint/2010/main" val="1685874508"/>
      </p:ext>
    </p:extLst>
  </p:cSld>
  <p:clrMapOvr>
    <a:masterClrMapping/>
  </p:clrMapOvr>
  <p:transition spd="slow">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Example 3.20:</a:t>
            </a:r>
          </a:p>
        </p:txBody>
      </p:sp>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1720" t="-1733" r="-2796"/>
            </a:stretch>
          </a:blipFill>
        </p:spPr>
        <p:txBody>
          <a:bodyPr/>
          <a:lstStyle/>
          <a:p>
            <a:pPr>
              <a:buNone/>
            </a:pPr>
            <a:r>
              <a:rPr lang="en-GB" dirty="0">
                <a:noFill/>
              </a:rPr>
              <a:t>  </a:t>
            </a:r>
          </a:p>
        </p:txBody>
      </p:sp>
      <p:sp>
        <p:nvSpPr>
          <p:cNvPr id="4" name="Date Placeholder 3"/>
          <p:cNvSpPr>
            <a:spLocks noGrp="1"/>
          </p:cNvSpPr>
          <p:nvPr>
            <p:ph type="dt" sz="half" idx="10"/>
          </p:nvPr>
        </p:nvSpPr>
        <p:spPr/>
        <p:txBody>
          <a:bodyPr/>
          <a:lstStyle/>
          <a:p>
            <a:pPr>
              <a:defRPr/>
            </a:pPr>
            <a:fld id="{515F3861-28DD-4D9C-95E1-FDC4E236CB2C}"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57</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extLst>
      <p:ext uri="{BB962C8B-B14F-4D97-AF65-F5344CB8AC3E}">
        <p14:creationId xmlns:p14="http://schemas.microsoft.com/office/powerpoint/2010/main" val="1448679920"/>
      </p:ext>
    </p:extLst>
  </p:cSld>
  <p:clrMapOvr>
    <a:masterClrMapping/>
  </p:clrMapOvr>
  <p:transition spd="slow">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625" y="460375"/>
            <a:ext cx="8534400" cy="758825"/>
          </a:xfrm>
        </p:spPr>
        <p:txBody>
          <a:bodyPr/>
          <a:lstStyle/>
          <a:p>
            <a:pPr algn="l"/>
            <a:r>
              <a:rPr lang="en-US" altLang="en-US" sz="4500" b="1" dirty="0">
                <a:solidFill>
                  <a:srgbClr val="C00000"/>
                </a:solidFill>
                <a:effectLst>
                  <a:outerShdw blurRad="38100" dist="38100" dir="2700000" algn="tl">
                    <a:srgbClr val="000000">
                      <a:alpha val="43137"/>
                    </a:srgbClr>
                  </a:outerShdw>
                </a:effectLst>
              </a:rPr>
              <a:t>Factorial</a:t>
            </a:r>
            <a:endParaRPr lang="en-US" sz="4500" b="1" dirty="0">
              <a:solidFill>
                <a:srgbClr val="C00000"/>
              </a:solidFill>
              <a:effectLst>
                <a:outerShdw blurRad="38100" dist="38100" dir="2700000" algn="tl">
                  <a:srgbClr val="000000">
                    <a:alpha val="43137"/>
                  </a:srgbClr>
                </a:outerShdw>
              </a:effectLst>
            </a:endParaRPr>
          </a:p>
        </p:txBody>
      </p:sp>
      <p:sp>
        <p:nvSpPr>
          <p:cNvPr id="3" name="Content Placeholder 2"/>
          <p:cNvSpPr>
            <a:spLocks noGrp="1"/>
          </p:cNvSpPr>
          <p:nvPr>
            <p:ph sz="quarter" idx="1"/>
          </p:nvPr>
        </p:nvSpPr>
        <p:spPr/>
        <p:txBody>
          <a:bodyPr/>
          <a:lstStyle/>
          <a:p>
            <a:pPr marL="0" indent="0" algn="just">
              <a:buNone/>
            </a:pPr>
            <a:r>
              <a:rPr lang="en-US" altLang="en-US" sz="2800" dirty="0"/>
              <a:t>The </a:t>
            </a:r>
            <a:r>
              <a:rPr lang="en-US" altLang="en-US" sz="2800" b="1" u="sng" dirty="0"/>
              <a:t>factorial</a:t>
            </a:r>
            <a:r>
              <a:rPr lang="en-US" altLang="en-US" sz="2800" dirty="0"/>
              <a:t> of a number is the product of all the whole numbers from the number down to 1. The factorial of 0 is defined to be 1.</a:t>
            </a:r>
          </a:p>
          <a:p>
            <a:pPr>
              <a:buNone/>
            </a:pPr>
            <a:endParaRPr lang="en-US" dirty="0"/>
          </a:p>
        </p:txBody>
      </p:sp>
      <p:sp>
        <p:nvSpPr>
          <p:cNvPr id="4" name="Date Placeholder 3"/>
          <p:cNvSpPr>
            <a:spLocks noGrp="1"/>
          </p:cNvSpPr>
          <p:nvPr>
            <p:ph type="dt" sz="half" idx="10"/>
          </p:nvPr>
        </p:nvSpPr>
        <p:spPr/>
        <p:txBody>
          <a:bodyPr/>
          <a:lstStyle/>
          <a:p>
            <a:pPr>
              <a:defRPr/>
            </a:pPr>
            <a:fld id="{435B9553-B32A-4AA7-87D9-AACB6065D541}" type="datetime2">
              <a:rPr lang="en-US" smtClean="0"/>
              <a:pPr>
                <a:defRPr/>
              </a:pPr>
              <a:t>Monday, December 8, 2025</a:t>
            </a:fld>
            <a:endParaRPr lang="en-US"/>
          </a:p>
        </p:txBody>
      </p:sp>
      <p:sp>
        <p:nvSpPr>
          <p:cNvPr id="5" name="Footer Placeholder 4"/>
          <p:cNvSpPr>
            <a:spLocks noGrp="1"/>
          </p:cNvSpPr>
          <p:nvPr>
            <p:ph type="ftr" sz="quarter" idx="11"/>
          </p:nvPr>
        </p:nvSpPr>
        <p:spPr/>
        <p:txBody>
          <a:bodyPr/>
          <a:lstStyle/>
          <a:p>
            <a:pPr>
              <a:defRPr/>
            </a:pPr>
            <a:r>
              <a:rPr lang="en-US"/>
              <a:t>STAT 154 -09</a:t>
            </a:r>
          </a:p>
        </p:txBody>
      </p:sp>
      <p:sp>
        <p:nvSpPr>
          <p:cNvPr id="6" name="Slide Number Placeholder 5"/>
          <p:cNvSpPr>
            <a:spLocks noGrp="1"/>
          </p:cNvSpPr>
          <p:nvPr>
            <p:ph type="sldNum" sz="quarter" idx="12"/>
          </p:nvPr>
        </p:nvSpPr>
        <p:spPr/>
        <p:txBody>
          <a:bodyPr/>
          <a:lstStyle/>
          <a:p>
            <a:pPr>
              <a:defRPr/>
            </a:pPr>
            <a:fld id="{C70CFA2D-21B9-45B6-893F-7371CE3DE2D8}" type="slidenum">
              <a:rPr lang="en-US" smtClean="0"/>
              <a:pPr>
                <a:defRPr/>
              </a:pPr>
              <a:t>58</a:t>
            </a:fld>
            <a:endParaRPr lang="en-US"/>
          </a:p>
        </p:txBody>
      </p:sp>
      <p:sp>
        <p:nvSpPr>
          <p:cNvPr id="7" name="Text Box 13"/>
          <p:cNvSpPr txBox="1">
            <a:spLocks noChangeArrowheads="1"/>
          </p:cNvSpPr>
          <p:nvPr/>
        </p:nvSpPr>
        <p:spPr bwMode="auto">
          <a:xfrm>
            <a:off x="914400" y="3124200"/>
            <a:ext cx="7391400" cy="833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en-US" altLang="en-US" sz="4800" b="1" dirty="0">
                <a:solidFill>
                  <a:srgbClr val="FF0000"/>
                </a:solidFill>
                <a:effectLst>
                  <a:outerShdw blurRad="38100" dist="38100" dir="2700000" algn="tl">
                    <a:srgbClr val="C0C0C0"/>
                  </a:outerShdw>
                </a:effectLst>
              </a:rPr>
              <a:t>5!</a:t>
            </a:r>
            <a:r>
              <a:rPr lang="en-US" altLang="en-US" sz="4800" dirty="0"/>
              <a:t> = </a:t>
            </a:r>
            <a:r>
              <a:rPr lang="en-US" altLang="en-US" sz="4800" b="1" dirty="0">
                <a:solidFill>
                  <a:srgbClr val="FF0000"/>
                </a:solidFill>
                <a:effectLst>
                  <a:outerShdw blurRad="38100" dist="38100" dir="2700000" algn="tl">
                    <a:srgbClr val="C0C0C0"/>
                  </a:outerShdw>
                </a:effectLst>
              </a:rPr>
              <a:t>5</a:t>
            </a:r>
            <a:r>
              <a:rPr lang="en-US" altLang="en-US" sz="4800" dirty="0"/>
              <a:t> • </a:t>
            </a:r>
            <a:r>
              <a:rPr lang="en-US" altLang="en-US" sz="4800" b="1" dirty="0">
                <a:solidFill>
                  <a:srgbClr val="FF0000"/>
                </a:solidFill>
                <a:effectLst>
                  <a:outerShdw blurRad="38100" dist="38100" dir="2700000" algn="tl">
                    <a:srgbClr val="C0C0C0"/>
                  </a:outerShdw>
                </a:effectLst>
              </a:rPr>
              <a:t>4</a:t>
            </a:r>
            <a:r>
              <a:rPr lang="en-US" altLang="en-US" sz="4800" dirty="0"/>
              <a:t> • </a:t>
            </a:r>
            <a:r>
              <a:rPr lang="en-US" altLang="en-US" sz="4800" b="1" dirty="0">
                <a:solidFill>
                  <a:srgbClr val="FF0000"/>
                </a:solidFill>
                <a:effectLst>
                  <a:outerShdw blurRad="38100" dist="38100" dir="2700000" algn="tl">
                    <a:srgbClr val="C0C0C0"/>
                  </a:outerShdw>
                </a:effectLst>
              </a:rPr>
              <a:t>3</a:t>
            </a:r>
            <a:r>
              <a:rPr lang="en-US" altLang="en-US" sz="4800" dirty="0"/>
              <a:t> • </a:t>
            </a:r>
            <a:r>
              <a:rPr lang="en-US" altLang="en-US" sz="4800" b="1" dirty="0">
                <a:solidFill>
                  <a:srgbClr val="FF0000"/>
                </a:solidFill>
                <a:effectLst>
                  <a:outerShdw blurRad="38100" dist="38100" dir="2700000" algn="tl">
                    <a:srgbClr val="C0C0C0"/>
                  </a:outerShdw>
                </a:effectLst>
              </a:rPr>
              <a:t>2</a:t>
            </a:r>
            <a:r>
              <a:rPr lang="en-US" altLang="en-US" sz="4800" dirty="0"/>
              <a:t> • </a:t>
            </a:r>
            <a:r>
              <a:rPr lang="en-US" altLang="en-US" sz="4800" b="1" dirty="0">
                <a:solidFill>
                  <a:srgbClr val="FF0000"/>
                </a:solidFill>
                <a:effectLst>
                  <a:outerShdw blurRad="38100" dist="38100" dir="2700000" algn="tl">
                    <a:srgbClr val="C0C0C0"/>
                  </a:outerShdw>
                </a:effectLst>
              </a:rPr>
              <a:t>1</a:t>
            </a:r>
            <a:r>
              <a:rPr lang="en-US" altLang="en-US" sz="2400" dirty="0"/>
              <a:t> </a:t>
            </a:r>
          </a:p>
        </p:txBody>
      </p:sp>
      <p:grpSp>
        <p:nvGrpSpPr>
          <p:cNvPr id="8" name="Group 16"/>
          <p:cNvGrpSpPr>
            <a:grpSpLocks/>
          </p:cNvGrpSpPr>
          <p:nvPr/>
        </p:nvGrpSpPr>
        <p:grpSpPr bwMode="auto">
          <a:xfrm>
            <a:off x="990600" y="4343400"/>
            <a:ext cx="6932613" cy="933450"/>
            <a:chOff x="625" y="3252"/>
            <a:chExt cx="4367" cy="588"/>
          </a:xfrm>
        </p:grpSpPr>
        <p:sp>
          <p:nvSpPr>
            <p:cNvPr id="9" name="Text Box 14"/>
            <p:cNvSpPr txBox="1">
              <a:spLocks noChangeArrowheads="1"/>
            </p:cNvSpPr>
            <p:nvPr/>
          </p:nvSpPr>
          <p:spPr bwMode="auto">
            <a:xfrm>
              <a:off x="630" y="3540"/>
              <a:ext cx="4362" cy="300"/>
            </a:xfrm>
            <a:prstGeom prst="rect">
              <a:avLst/>
            </a:prstGeom>
            <a:noFill/>
            <a:ln w="19050">
              <a:solidFill>
                <a:srgbClr val="993366"/>
              </a:solidFill>
              <a:miter lim="800000"/>
              <a:headEnd/>
              <a:tailEnd/>
            </a:ln>
            <a:effectLst/>
          </p:spPr>
          <p:txBody>
            <a:bodyPr>
              <a:spAutoFit/>
            </a:bodyPr>
            <a:lstStyle/>
            <a:p>
              <a:pPr>
                <a:spcBef>
                  <a:spcPct val="50000"/>
                </a:spcBef>
              </a:pPr>
              <a:r>
                <a:rPr lang="en-US" altLang="en-US" sz="2400" dirty="0"/>
                <a:t>Read 5! as “five factorial.”</a:t>
              </a:r>
            </a:p>
          </p:txBody>
        </p:sp>
        <p:sp>
          <p:nvSpPr>
            <p:cNvPr id="10" name="Text Box 15"/>
            <p:cNvSpPr txBox="1">
              <a:spLocks noChangeArrowheads="1"/>
            </p:cNvSpPr>
            <p:nvPr/>
          </p:nvSpPr>
          <p:spPr bwMode="auto">
            <a:xfrm>
              <a:off x="625" y="3252"/>
              <a:ext cx="1593" cy="288"/>
            </a:xfrm>
            <a:prstGeom prst="rect">
              <a:avLst/>
            </a:prstGeom>
            <a:solidFill>
              <a:srgbClr val="800080"/>
            </a:solidFill>
            <a:ln w="9525">
              <a:noFill/>
              <a:miter lim="800000"/>
              <a:headEnd/>
              <a:tailEnd/>
            </a:ln>
            <a:effectLst/>
          </p:spPr>
          <p:txBody>
            <a:bodyPr wrap="none" anchor="ctr">
              <a:spAutoFit/>
            </a:bodyPr>
            <a:lstStyle/>
            <a:p>
              <a:pPr algn="ctr">
                <a:spcBef>
                  <a:spcPct val="50000"/>
                </a:spcBef>
              </a:pPr>
              <a:r>
                <a:rPr lang="en-US" altLang="en-US" sz="2400" b="1">
                  <a:solidFill>
                    <a:schemeClr val="bg1"/>
                  </a:solidFill>
                </a:rPr>
                <a:t>Reading Math</a:t>
              </a:r>
              <a:endParaRPr lang="en-US" altLang="en-US" sz="2400" b="1"/>
            </a:p>
          </p:txBody>
        </p:sp>
      </p:gr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5"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anim calcmode="lin" valueType="num">
                                      <p:cBhvr>
                                        <p:cTn id="13" dur="500" fill="hold"/>
                                        <p:tgtEl>
                                          <p:spTgt spid="8"/>
                                        </p:tgtEl>
                                        <p:attrNameLst>
                                          <p:attrName>style.rotation</p:attrName>
                                        </p:attrNameLst>
                                      </p:cBhvr>
                                      <p:tavLst>
                                        <p:tav tm="0">
                                          <p:val>
                                            <p:fltVal val="720"/>
                                          </p:val>
                                        </p:tav>
                                        <p:tav tm="100000">
                                          <p:val>
                                            <p:fltVal val="0"/>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 calcmode="lin" valueType="num">
                                      <p:cBhvr>
                                        <p:cTn id="15" dur="500" fill="hold"/>
                                        <p:tgtEl>
                                          <p:spTgt spid="8"/>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sz="40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Example</a:t>
            </a:r>
            <a:endParaRPr lang="en-US" sz="4000" dirty="0"/>
          </a:p>
        </p:txBody>
      </p:sp>
      <p:sp>
        <p:nvSpPr>
          <p:cNvPr id="3" name="Content Placeholder 2"/>
          <p:cNvSpPr>
            <a:spLocks noGrp="1"/>
          </p:cNvSpPr>
          <p:nvPr>
            <p:ph sz="quarter" idx="1"/>
          </p:nvPr>
        </p:nvSpPr>
        <p:spPr/>
        <p:txBody>
          <a:bodyPr/>
          <a:lstStyle/>
          <a:p>
            <a:pPr marL="0" indent="0">
              <a:lnSpc>
                <a:spcPct val="90000"/>
              </a:lnSpc>
              <a:spcBef>
                <a:spcPct val="0"/>
              </a:spcBef>
            </a:pPr>
            <a:endParaRPr lang="en-US" altLang="en-US" sz="700" b="1" dirty="0">
              <a:solidFill>
                <a:srgbClr val="00FFFF"/>
              </a:solidFill>
              <a:sym typeface="Symbol" panose="05050102010706020507" pitchFamily="18" charset="2"/>
            </a:endParaRPr>
          </a:p>
          <a:p>
            <a:pPr marL="0" indent="0" algn="just">
              <a:lnSpc>
                <a:spcPct val="90000"/>
              </a:lnSpc>
              <a:spcBef>
                <a:spcPct val="0"/>
              </a:spcBef>
              <a:buNone/>
            </a:pPr>
            <a:r>
              <a:rPr lang="en-US" altLang="en-US" sz="3000" dirty="0">
                <a:latin typeface="Times New Roman" panose="02020603050405020304" pitchFamily="18" charset="0"/>
                <a:cs typeface="Times New Roman" panose="02020603050405020304" pitchFamily="18" charset="0"/>
                <a:sym typeface="Symbol" panose="05050102010706020507" pitchFamily="18" charset="2"/>
              </a:rPr>
              <a:t>How many different license plates are there that containing exactly three English letters ?</a:t>
            </a:r>
          </a:p>
          <a:p>
            <a:pPr marL="0" indent="0" algn="just">
              <a:lnSpc>
                <a:spcPct val="90000"/>
              </a:lnSpc>
              <a:spcBef>
                <a:spcPct val="0"/>
              </a:spcBef>
            </a:pPr>
            <a:endParaRPr lang="en-US" altLang="en-US" sz="3000" dirty="0">
              <a:latin typeface="Times New Roman" panose="02020603050405020304" pitchFamily="18" charset="0"/>
              <a:cs typeface="Times New Roman" panose="02020603050405020304" pitchFamily="18" charset="0"/>
              <a:sym typeface="Symbol" panose="05050102010706020507" pitchFamily="18" charset="2"/>
            </a:endParaRPr>
          </a:p>
          <a:p>
            <a:pPr marL="0" indent="0" algn="just">
              <a:lnSpc>
                <a:spcPct val="90000"/>
              </a:lnSpc>
              <a:spcBef>
                <a:spcPct val="0"/>
              </a:spcBef>
              <a:buNone/>
            </a:pPr>
            <a:r>
              <a:rPr lang="en-US" altLang="en-US" sz="3000" b="1"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Solution:</a:t>
            </a:r>
          </a:p>
          <a:p>
            <a:pPr marL="0" indent="0" algn="just">
              <a:lnSpc>
                <a:spcPct val="90000"/>
              </a:lnSpc>
              <a:spcBef>
                <a:spcPct val="0"/>
              </a:spcBef>
              <a:buNone/>
            </a:pPr>
            <a:r>
              <a:rPr lang="en-US" altLang="en-US" sz="3000" dirty="0">
                <a:latin typeface="Times New Roman" panose="02020603050405020304" pitchFamily="18" charset="0"/>
                <a:cs typeface="Times New Roman" panose="02020603050405020304" pitchFamily="18" charset="0"/>
                <a:sym typeface="Symbol" panose="05050102010706020507" pitchFamily="18" charset="2"/>
              </a:rPr>
              <a:t>There are 26 possibilities to pick the first letter, then 26 possibilities for the second one, and 26 for the last one. </a:t>
            </a:r>
          </a:p>
          <a:p>
            <a:pPr marL="0" indent="0" algn="just">
              <a:lnSpc>
                <a:spcPct val="90000"/>
              </a:lnSpc>
              <a:spcBef>
                <a:spcPct val="0"/>
              </a:spcBef>
              <a:buNone/>
            </a:pPr>
            <a:endParaRPr lang="en-US" altLang="en-US" sz="3000" dirty="0">
              <a:latin typeface="Times New Roman" panose="02020603050405020304" pitchFamily="18" charset="0"/>
              <a:cs typeface="Times New Roman" panose="02020603050405020304" pitchFamily="18" charset="0"/>
              <a:sym typeface="Symbol" panose="05050102010706020507" pitchFamily="18" charset="2"/>
            </a:endParaRPr>
          </a:p>
          <a:p>
            <a:pPr marL="0" indent="0" algn="just">
              <a:lnSpc>
                <a:spcPct val="90000"/>
              </a:lnSpc>
              <a:spcBef>
                <a:spcPct val="0"/>
              </a:spcBef>
              <a:buNone/>
            </a:pPr>
            <a:r>
              <a:rPr lang="en-US" altLang="en-US" sz="3000" dirty="0">
                <a:latin typeface="Times New Roman" panose="02020603050405020304" pitchFamily="18" charset="0"/>
                <a:cs typeface="Times New Roman" panose="02020603050405020304" pitchFamily="18" charset="0"/>
                <a:sym typeface="Symbol" panose="05050102010706020507" pitchFamily="18" charset="2"/>
              </a:rPr>
              <a:t>So there are 26*26*26 = 17576 different license plates.</a:t>
            </a:r>
          </a:p>
          <a:p>
            <a:pPr marL="0" indent="0" algn="just">
              <a:lnSpc>
                <a:spcPct val="90000"/>
              </a:lnSpc>
              <a:spcBef>
                <a:spcPct val="0"/>
              </a:spcBef>
            </a:pPr>
            <a:endParaRPr lang="en-US" altLang="en-US" sz="3000" dirty="0">
              <a:latin typeface="Times New Roman" panose="02020603050405020304" pitchFamily="18" charset="0"/>
              <a:cs typeface="Times New Roman" panose="02020603050405020304" pitchFamily="18" charset="0"/>
              <a:sym typeface="Symbol" panose="05050102010706020507" pitchFamily="18" charset="2"/>
            </a:endParaRPr>
          </a:p>
          <a:p>
            <a:pPr marL="0" indent="0">
              <a:buNone/>
            </a:pPr>
            <a:endParaRPr lang="en-US" dirty="0"/>
          </a:p>
        </p:txBody>
      </p:sp>
      <p:sp>
        <p:nvSpPr>
          <p:cNvPr id="4" name="Date Placeholder 3"/>
          <p:cNvSpPr>
            <a:spLocks noGrp="1"/>
          </p:cNvSpPr>
          <p:nvPr>
            <p:ph type="dt" sz="half" idx="10"/>
          </p:nvPr>
        </p:nvSpPr>
        <p:spPr/>
        <p:txBody>
          <a:bodyPr/>
          <a:lstStyle/>
          <a:p>
            <a:pPr>
              <a:defRPr/>
            </a:pPr>
            <a:fld id="{435B9553-B32A-4AA7-87D9-AACB6065D541}" type="datetime2">
              <a:rPr lang="en-US" smtClean="0"/>
              <a:pPr>
                <a:defRPr/>
              </a:pPr>
              <a:t>Monday, December 8, 2025</a:t>
            </a:fld>
            <a:endParaRPr lang="en-US"/>
          </a:p>
        </p:txBody>
      </p:sp>
      <p:sp>
        <p:nvSpPr>
          <p:cNvPr id="5" name="Footer Placeholder 4"/>
          <p:cNvSpPr>
            <a:spLocks noGrp="1"/>
          </p:cNvSpPr>
          <p:nvPr>
            <p:ph type="ftr" sz="quarter" idx="11"/>
          </p:nvPr>
        </p:nvSpPr>
        <p:spPr/>
        <p:txBody>
          <a:bodyPr/>
          <a:lstStyle/>
          <a:p>
            <a:pPr>
              <a:defRPr/>
            </a:pPr>
            <a:r>
              <a:rPr lang="en-US"/>
              <a:t>STAT 154 -09</a:t>
            </a:r>
          </a:p>
        </p:txBody>
      </p:sp>
      <p:sp>
        <p:nvSpPr>
          <p:cNvPr id="6" name="Slide Number Placeholder 5"/>
          <p:cNvSpPr>
            <a:spLocks noGrp="1"/>
          </p:cNvSpPr>
          <p:nvPr>
            <p:ph type="sldNum" sz="quarter" idx="12"/>
          </p:nvPr>
        </p:nvSpPr>
        <p:spPr/>
        <p:txBody>
          <a:bodyPr/>
          <a:lstStyle/>
          <a:p>
            <a:pPr>
              <a:defRPr/>
            </a:pPr>
            <a:fld id="{C70CFA2D-21B9-45B6-893F-7371CE3DE2D8}" type="slidenum">
              <a:rPr lang="en-US" smtClean="0"/>
              <a:pPr>
                <a:defRPr/>
              </a:pPr>
              <a:t>59</a:t>
            </a:fld>
            <a:endParaRPr lang="en-US"/>
          </a:p>
        </p:txBody>
      </p:sp>
    </p:spTree>
    <p:extLst>
      <p:ext uri="{BB962C8B-B14F-4D97-AF65-F5344CB8AC3E}">
        <p14:creationId xmlns:p14="http://schemas.microsoft.com/office/powerpoint/2010/main" val="16962193"/>
      </p:ext>
    </p:extLst>
  </p:cSld>
  <p:clrMapOvr>
    <a:masterClrMapping/>
  </p:clrMapOvr>
  <p:transition spd="slow">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sz="40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Example</a:t>
            </a:r>
            <a:endParaRPr lang="en-US" sz="4000" dirty="0"/>
          </a:p>
        </p:txBody>
      </p:sp>
      <p:sp>
        <p:nvSpPr>
          <p:cNvPr id="3" name="Content Placeholder 2"/>
          <p:cNvSpPr>
            <a:spLocks noGrp="1"/>
          </p:cNvSpPr>
          <p:nvPr>
            <p:ph sz="quarter" idx="1"/>
          </p:nvPr>
        </p:nvSpPr>
        <p:spPr/>
        <p:txBody>
          <a:bodyPr/>
          <a:lstStyle/>
          <a:p>
            <a:pPr marL="0" indent="0" algn="just">
              <a:buNone/>
            </a:pPr>
            <a:r>
              <a:rPr lang="en-US" altLang="en-US" sz="3600" dirty="0"/>
              <a:t>A PIN is a sequence of any 4 digits . </a:t>
            </a:r>
            <a:r>
              <a:rPr lang="en-US" altLang="en-US" sz="3600" i="1" dirty="0"/>
              <a:t>e.g., 5279, 4346, 0270.</a:t>
            </a:r>
          </a:p>
          <a:p>
            <a:pPr marL="457200" indent="-457200" algn="just">
              <a:buFont typeface="+mj-lt"/>
              <a:buAutoNum type="alphaLcPeriod"/>
            </a:pPr>
            <a:r>
              <a:rPr lang="en-US" altLang="en-US" sz="3600" dirty="0"/>
              <a:t>How many different PINs are possible? (</a:t>
            </a:r>
            <a:r>
              <a:rPr lang="en-US" altLang="en-US" sz="3600" dirty="0">
                <a:solidFill>
                  <a:schemeClr val="accent5">
                    <a:lumMod val="50000"/>
                  </a:schemeClr>
                </a:solidFill>
              </a:rPr>
              <a:t>repetitions allowed</a:t>
            </a:r>
            <a:r>
              <a:rPr lang="en-US" altLang="en-US" sz="3600" dirty="0"/>
              <a:t>)</a:t>
            </a:r>
          </a:p>
          <a:p>
            <a:pPr marL="457200" indent="-457200" algn="just">
              <a:buFont typeface="+mj-lt"/>
              <a:buAutoNum type="alphaLcPeriod"/>
            </a:pPr>
            <a:r>
              <a:rPr lang="en-US" altLang="en-US" sz="3600" dirty="0"/>
              <a:t>How many different PINs are possible?(</a:t>
            </a:r>
            <a:r>
              <a:rPr lang="en-US" altLang="en-US" sz="3600" i="1" dirty="0">
                <a:solidFill>
                  <a:schemeClr val="accent5">
                    <a:lumMod val="50000"/>
                  </a:schemeClr>
                </a:solidFill>
              </a:rPr>
              <a:t>repetitions are not allowed</a:t>
            </a:r>
            <a:r>
              <a:rPr lang="en-US" altLang="en-US" sz="3600" i="1" dirty="0">
                <a:solidFill>
                  <a:srgbClr val="009900"/>
                </a:solidFill>
              </a:rPr>
              <a:t>)</a:t>
            </a:r>
            <a:endParaRPr lang="en-US" sz="3600" dirty="0"/>
          </a:p>
        </p:txBody>
      </p:sp>
      <p:sp>
        <p:nvSpPr>
          <p:cNvPr id="4" name="Date Placeholder 3"/>
          <p:cNvSpPr>
            <a:spLocks noGrp="1"/>
          </p:cNvSpPr>
          <p:nvPr>
            <p:ph type="dt" sz="half" idx="10"/>
          </p:nvPr>
        </p:nvSpPr>
        <p:spPr/>
        <p:txBody>
          <a:bodyPr/>
          <a:lstStyle/>
          <a:p>
            <a:pPr>
              <a:defRPr/>
            </a:pPr>
            <a:fld id="{435B9553-B32A-4AA7-87D9-AACB6065D541}" type="datetime2">
              <a:rPr lang="en-US" smtClean="0"/>
              <a:pPr>
                <a:defRPr/>
              </a:pPr>
              <a:t>Monday, December 8, 2025</a:t>
            </a:fld>
            <a:endParaRPr lang="en-US"/>
          </a:p>
        </p:txBody>
      </p:sp>
      <p:sp>
        <p:nvSpPr>
          <p:cNvPr id="5" name="Footer Placeholder 4"/>
          <p:cNvSpPr>
            <a:spLocks noGrp="1"/>
          </p:cNvSpPr>
          <p:nvPr>
            <p:ph type="ftr" sz="quarter" idx="11"/>
          </p:nvPr>
        </p:nvSpPr>
        <p:spPr/>
        <p:txBody>
          <a:bodyPr/>
          <a:lstStyle/>
          <a:p>
            <a:pPr>
              <a:defRPr/>
            </a:pPr>
            <a:r>
              <a:rPr lang="en-US"/>
              <a:t>STAT 154 -09</a:t>
            </a:r>
          </a:p>
        </p:txBody>
      </p:sp>
      <p:sp>
        <p:nvSpPr>
          <p:cNvPr id="6" name="Slide Number Placeholder 5"/>
          <p:cNvSpPr>
            <a:spLocks noGrp="1"/>
          </p:cNvSpPr>
          <p:nvPr>
            <p:ph type="sldNum" sz="quarter" idx="12"/>
          </p:nvPr>
        </p:nvSpPr>
        <p:spPr/>
        <p:txBody>
          <a:bodyPr/>
          <a:lstStyle/>
          <a:p>
            <a:pPr>
              <a:defRPr/>
            </a:pPr>
            <a:fld id="{C70CFA2D-21B9-45B6-893F-7371CE3DE2D8}" type="slidenum">
              <a:rPr lang="en-US" smtClean="0"/>
              <a:pPr>
                <a:defRPr/>
              </a:pPr>
              <a:t>60</a:t>
            </a:fld>
            <a:endParaRPr lang="en-US"/>
          </a:p>
        </p:txBody>
      </p:sp>
    </p:spTree>
    <p:extLst>
      <p:ext uri="{BB962C8B-B14F-4D97-AF65-F5344CB8AC3E}">
        <p14:creationId xmlns:p14="http://schemas.microsoft.com/office/powerpoint/2010/main" val="107819288"/>
      </p:ext>
    </p:extLst>
  </p:cSld>
  <p:clrMapOvr>
    <a:masterClrMapping/>
  </p:clrMapOvr>
  <p:transition spd="slow">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pPr algn="just" eaLnBrk="1" hangingPunct="1">
              <a:defRPr/>
            </a:pPr>
            <a:r>
              <a:rPr lang="en-US" sz="3500" dirty="0">
                <a:latin typeface="Times New Roman" pitchFamily="18" charset="0"/>
                <a:cs typeface="Times New Roman" pitchFamily="18" charset="0"/>
              </a:rPr>
              <a:t>How many different 7-place license plates are possible if the first 3 places are to be occupied by letters and the final 4 by numbers?</a:t>
            </a:r>
          </a:p>
          <a:p>
            <a:pPr algn="just" eaLnBrk="1" hangingPunct="1">
              <a:buFontTx/>
              <a:buNone/>
              <a:defRPr/>
            </a:pPr>
            <a:r>
              <a:rPr lang="en-US" sz="3500" dirty="0">
                <a:latin typeface="Times New Roman" pitchFamily="18" charset="0"/>
                <a:cs typeface="Times New Roman" pitchFamily="18" charset="0"/>
              </a:rPr>
              <a:t>	26×26×26×10×10×10×10 = 175,760,000</a:t>
            </a:r>
          </a:p>
          <a:p>
            <a:pPr algn="just" eaLnBrk="1" hangingPunct="1">
              <a:defRPr/>
            </a:pPr>
            <a:r>
              <a:rPr lang="en-US" sz="3500" dirty="0">
                <a:latin typeface="Times New Roman" pitchFamily="18" charset="0"/>
                <a:cs typeface="Times New Roman" pitchFamily="18" charset="0"/>
              </a:rPr>
              <a:t>How about if repetition among letters and numbers were prohibited?</a:t>
            </a:r>
          </a:p>
          <a:p>
            <a:pPr marL="0" indent="0" algn="just" eaLnBrk="1" hangingPunct="1">
              <a:buFontTx/>
              <a:buNone/>
              <a:defRPr/>
            </a:pPr>
            <a:r>
              <a:rPr lang="en-US" sz="3500" dirty="0">
                <a:latin typeface="Times New Roman" pitchFamily="18" charset="0"/>
                <a:cs typeface="Times New Roman" pitchFamily="18" charset="0"/>
              </a:rPr>
              <a:t>   26×25×24×10×9×8×7 = 78,624,000</a:t>
            </a:r>
          </a:p>
          <a:p>
            <a:pPr algn="just">
              <a:buNone/>
            </a:pPr>
            <a:endParaRPr lang="en-US" sz="35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pPr>
              <a:defRPr/>
            </a:pPr>
            <a:fld id="{435B9553-B32A-4AA7-87D9-AACB6065D541}" type="datetime2">
              <a:rPr lang="en-US" smtClean="0"/>
              <a:pPr>
                <a:defRPr/>
              </a:pPr>
              <a:t>Monday, December 8, 2025</a:t>
            </a:fld>
            <a:endParaRPr lang="en-US"/>
          </a:p>
        </p:txBody>
      </p:sp>
      <p:sp>
        <p:nvSpPr>
          <p:cNvPr id="5" name="Footer Placeholder 4"/>
          <p:cNvSpPr>
            <a:spLocks noGrp="1"/>
          </p:cNvSpPr>
          <p:nvPr>
            <p:ph type="ftr" sz="quarter" idx="11"/>
          </p:nvPr>
        </p:nvSpPr>
        <p:spPr/>
        <p:txBody>
          <a:bodyPr/>
          <a:lstStyle/>
          <a:p>
            <a:pPr>
              <a:defRPr/>
            </a:pPr>
            <a:r>
              <a:rPr lang="en-US"/>
              <a:t>STAT 154 -09</a:t>
            </a:r>
          </a:p>
        </p:txBody>
      </p:sp>
      <p:sp>
        <p:nvSpPr>
          <p:cNvPr id="6" name="Slide Number Placeholder 5"/>
          <p:cNvSpPr>
            <a:spLocks noGrp="1"/>
          </p:cNvSpPr>
          <p:nvPr>
            <p:ph type="sldNum" sz="quarter" idx="12"/>
          </p:nvPr>
        </p:nvSpPr>
        <p:spPr/>
        <p:txBody>
          <a:bodyPr/>
          <a:lstStyle/>
          <a:p>
            <a:pPr>
              <a:defRPr/>
            </a:pPr>
            <a:fld id="{C70CFA2D-21B9-45B6-893F-7371CE3DE2D8}" type="slidenum">
              <a:rPr lang="en-US" smtClean="0"/>
              <a:pPr>
                <a:defRPr/>
              </a:pPr>
              <a:t>61</a:t>
            </a:fld>
            <a:endParaRPr lang="en-US"/>
          </a:p>
        </p:txBody>
      </p:sp>
      <p:sp>
        <p:nvSpPr>
          <p:cNvPr id="7" name="Title 1"/>
          <p:cNvSpPr>
            <a:spLocks noGrp="1"/>
          </p:cNvSpPr>
          <p:nvPr>
            <p:ph type="title"/>
          </p:nvPr>
        </p:nvSpPr>
        <p:spPr>
          <a:xfrm>
            <a:off x="301625" y="228600"/>
            <a:ext cx="8534400" cy="758825"/>
          </a:xfrm>
        </p:spPr>
        <p:txBody>
          <a:bodyPr/>
          <a:lstStyle/>
          <a:p>
            <a:pPr algn="l"/>
            <a:r>
              <a:rPr lang="en-GB" sz="40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Example</a:t>
            </a:r>
            <a:endParaRPr lang="en-US" sz="4000" dirty="0"/>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pPr marL="0" indent="0" algn="just">
              <a:buNone/>
            </a:pPr>
            <a:r>
              <a:rPr lang="en-US" altLang="en-US" sz="3500" dirty="0">
                <a:latin typeface="Times New Roman" pitchFamily="18" charset="0"/>
                <a:cs typeface="Times New Roman" pitchFamily="18" charset="0"/>
              </a:rPr>
              <a:t>How many ways are there for 5 people in this class to give STAT 154 course presentations? (There are 30 students in this section 9 Class )</a:t>
            </a:r>
          </a:p>
          <a:p>
            <a:pPr marL="0" indent="0" algn="just">
              <a:buNone/>
            </a:pPr>
            <a:endParaRPr lang="en-US" altLang="en-US" sz="3500" dirty="0">
              <a:latin typeface="Times New Roman" pitchFamily="18" charset="0"/>
              <a:cs typeface="Times New Roman" pitchFamily="18" charset="0"/>
            </a:endParaRPr>
          </a:p>
          <a:p>
            <a:pPr marL="0" indent="0" algn="just">
              <a:buNone/>
            </a:pPr>
            <a:endParaRPr lang="en-US" sz="35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pPr>
              <a:defRPr/>
            </a:pPr>
            <a:fld id="{435B9553-B32A-4AA7-87D9-AACB6065D541}" type="datetime2">
              <a:rPr lang="en-US" smtClean="0"/>
              <a:pPr>
                <a:defRPr/>
              </a:pPr>
              <a:t>Monday, December 8, 2025</a:t>
            </a:fld>
            <a:endParaRPr lang="en-US"/>
          </a:p>
        </p:txBody>
      </p:sp>
      <p:sp>
        <p:nvSpPr>
          <p:cNvPr id="5" name="Footer Placeholder 4"/>
          <p:cNvSpPr>
            <a:spLocks noGrp="1"/>
          </p:cNvSpPr>
          <p:nvPr>
            <p:ph type="ftr" sz="quarter" idx="11"/>
          </p:nvPr>
        </p:nvSpPr>
        <p:spPr/>
        <p:txBody>
          <a:bodyPr/>
          <a:lstStyle/>
          <a:p>
            <a:pPr>
              <a:defRPr/>
            </a:pPr>
            <a:r>
              <a:rPr lang="en-US"/>
              <a:t>STAT 154 -09</a:t>
            </a:r>
          </a:p>
        </p:txBody>
      </p:sp>
      <p:sp>
        <p:nvSpPr>
          <p:cNvPr id="6" name="Slide Number Placeholder 5"/>
          <p:cNvSpPr>
            <a:spLocks noGrp="1"/>
          </p:cNvSpPr>
          <p:nvPr>
            <p:ph type="sldNum" sz="quarter" idx="12"/>
          </p:nvPr>
        </p:nvSpPr>
        <p:spPr/>
        <p:txBody>
          <a:bodyPr/>
          <a:lstStyle/>
          <a:p>
            <a:pPr>
              <a:defRPr/>
            </a:pPr>
            <a:fld id="{C70CFA2D-21B9-45B6-893F-7371CE3DE2D8}" type="slidenum">
              <a:rPr lang="en-US" smtClean="0"/>
              <a:pPr>
                <a:defRPr/>
              </a:pPr>
              <a:t>62</a:t>
            </a:fld>
            <a:endParaRPr lang="en-US"/>
          </a:p>
        </p:txBody>
      </p:sp>
      <p:sp>
        <p:nvSpPr>
          <p:cNvPr id="7" name="Title 1"/>
          <p:cNvSpPr>
            <a:spLocks noGrp="1"/>
          </p:cNvSpPr>
          <p:nvPr>
            <p:ph type="title"/>
          </p:nvPr>
        </p:nvSpPr>
        <p:spPr>
          <a:xfrm>
            <a:off x="301625" y="228600"/>
            <a:ext cx="8534400" cy="758825"/>
          </a:xfrm>
        </p:spPr>
        <p:txBody>
          <a:bodyPr/>
          <a:lstStyle/>
          <a:p>
            <a:pPr algn="l"/>
            <a:r>
              <a:rPr lang="en-GB" sz="40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Example</a:t>
            </a:r>
            <a:endParaRPr lang="en-US" sz="4000" dirty="0"/>
          </a:p>
        </p:txBody>
      </p:sp>
    </p:spTree>
    <p:extLst>
      <p:ext uri="{BB962C8B-B14F-4D97-AF65-F5344CB8AC3E}">
        <p14:creationId xmlns:p14="http://schemas.microsoft.com/office/powerpoint/2010/main" val="308066846"/>
      </p:ext>
    </p:extLst>
  </p:cSld>
  <p:clrMapOvr>
    <a:masterClrMapping/>
  </p:clrMapOvr>
  <p:transition spd="slow">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pPr marL="0" indent="0" algn="just">
              <a:buNone/>
            </a:pPr>
            <a:r>
              <a:rPr lang="en-US" altLang="en-US" sz="2500" dirty="0">
                <a:latin typeface="Times New Roman" pitchFamily="18" charset="0"/>
                <a:cs typeface="Times New Roman" pitchFamily="18" charset="0"/>
              </a:rPr>
              <a:t>How many different letter arrangements can be made from the letters</a:t>
            </a:r>
          </a:p>
          <a:p>
            <a:pPr>
              <a:buNone/>
            </a:pPr>
            <a:r>
              <a:rPr lang="en-US" altLang="en-US" sz="2500" dirty="0">
                <a:latin typeface="Times New Roman" pitchFamily="18" charset="0"/>
                <a:cs typeface="Times New Roman" pitchFamily="18" charset="0"/>
              </a:rPr>
              <a:t>(a) fluke;</a:t>
            </a:r>
          </a:p>
          <a:p>
            <a:pPr lvl="1"/>
            <a:r>
              <a:rPr lang="en-US" altLang="en-US" sz="2500" dirty="0">
                <a:latin typeface="Times New Roman" pitchFamily="18" charset="0"/>
                <a:cs typeface="Times New Roman" pitchFamily="18" charset="0"/>
              </a:rPr>
              <a:t>5!</a:t>
            </a:r>
          </a:p>
          <a:p>
            <a:pPr>
              <a:buNone/>
            </a:pPr>
            <a:r>
              <a:rPr lang="en-US" altLang="en-US" sz="2500" dirty="0">
                <a:latin typeface="Times New Roman" pitchFamily="18" charset="0"/>
                <a:cs typeface="Times New Roman" pitchFamily="18" charset="0"/>
              </a:rPr>
              <a:t>(b) propose;</a:t>
            </a:r>
          </a:p>
          <a:p>
            <a:pPr lvl="1"/>
            <a:r>
              <a:rPr lang="en-US" altLang="en-US" sz="2500" dirty="0">
                <a:latin typeface="Times New Roman" pitchFamily="18" charset="0"/>
                <a:cs typeface="Times New Roman" pitchFamily="18" charset="0"/>
              </a:rPr>
              <a:t>7!/(2!2!)</a:t>
            </a:r>
          </a:p>
          <a:p>
            <a:pPr>
              <a:buNone/>
            </a:pPr>
            <a:r>
              <a:rPr lang="en-US" altLang="en-US" sz="2500" dirty="0">
                <a:latin typeface="Times New Roman" pitchFamily="18" charset="0"/>
                <a:cs typeface="Times New Roman" pitchFamily="18" charset="0"/>
              </a:rPr>
              <a:t>(c) </a:t>
            </a:r>
            <a:r>
              <a:rPr lang="en-US" altLang="en-US" sz="2500" dirty="0" err="1">
                <a:latin typeface="Times New Roman" pitchFamily="18" charset="0"/>
                <a:cs typeface="Times New Roman" pitchFamily="18" charset="0"/>
              </a:rPr>
              <a:t>mississippi</a:t>
            </a:r>
            <a:r>
              <a:rPr lang="en-US" altLang="en-US" sz="2500" dirty="0">
                <a:latin typeface="Times New Roman" pitchFamily="18" charset="0"/>
                <a:cs typeface="Times New Roman" pitchFamily="18" charset="0"/>
              </a:rPr>
              <a:t>;</a:t>
            </a:r>
          </a:p>
          <a:p>
            <a:pPr lvl="1"/>
            <a:r>
              <a:rPr lang="en-US" altLang="en-US" sz="2500" dirty="0">
                <a:latin typeface="Times New Roman" pitchFamily="18" charset="0"/>
                <a:cs typeface="Times New Roman" pitchFamily="18" charset="0"/>
              </a:rPr>
              <a:t>11!/(4!4!2!)</a:t>
            </a:r>
          </a:p>
          <a:p>
            <a:pPr>
              <a:buNone/>
            </a:pPr>
            <a:r>
              <a:rPr lang="en-US" altLang="en-US" sz="2500" dirty="0">
                <a:latin typeface="Times New Roman" pitchFamily="18" charset="0"/>
                <a:cs typeface="Times New Roman" pitchFamily="18" charset="0"/>
              </a:rPr>
              <a:t>(d) arrange</a:t>
            </a:r>
          </a:p>
          <a:p>
            <a:pPr lvl="1"/>
            <a:r>
              <a:rPr lang="en-US" altLang="en-US" sz="2500" dirty="0">
                <a:latin typeface="Times New Roman" pitchFamily="18" charset="0"/>
                <a:cs typeface="Times New Roman" pitchFamily="18" charset="0"/>
              </a:rPr>
              <a:t>7!/(2!2!)</a:t>
            </a:r>
          </a:p>
          <a:p>
            <a:pPr>
              <a:buNone/>
            </a:pPr>
            <a:endParaRPr lang="en-US" sz="25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pPr>
              <a:defRPr/>
            </a:pPr>
            <a:fld id="{435B9553-B32A-4AA7-87D9-AACB6065D541}" type="datetime2">
              <a:rPr lang="en-US" smtClean="0"/>
              <a:pPr>
                <a:defRPr/>
              </a:pPr>
              <a:t>Monday, December 8, 2025</a:t>
            </a:fld>
            <a:endParaRPr lang="en-US"/>
          </a:p>
        </p:txBody>
      </p:sp>
      <p:sp>
        <p:nvSpPr>
          <p:cNvPr id="5" name="Footer Placeholder 4"/>
          <p:cNvSpPr>
            <a:spLocks noGrp="1"/>
          </p:cNvSpPr>
          <p:nvPr>
            <p:ph type="ftr" sz="quarter" idx="11"/>
          </p:nvPr>
        </p:nvSpPr>
        <p:spPr/>
        <p:txBody>
          <a:bodyPr/>
          <a:lstStyle/>
          <a:p>
            <a:pPr>
              <a:defRPr/>
            </a:pPr>
            <a:r>
              <a:rPr lang="en-US"/>
              <a:t>STAT 154 -09</a:t>
            </a:r>
          </a:p>
        </p:txBody>
      </p:sp>
      <p:sp>
        <p:nvSpPr>
          <p:cNvPr id="6" name="Slide Number Placeholder 5"/>
          <p:cNvSpPr>
            <a:spLocks noGrp="1"/>
          </p:cNvSpPr>
          <p:nvPr>
            <p:ph type="sldNum" sz="quarter" idx="12"/>
          </p:nvPr>
        </p:nvSpPr>
        <p:spPr/>
        <p:txBody>
          <a:bodyPr/>
          <a:lstStyle/>
          <a:p>
            <a:pPr>
              <a:defRPr/>
            </a:pPr>
            <a:fld id="{C70CFA2D-21B9-45B6-893F-7371CE3DE2D8}" type="slidenum">
              <a:rPr lang="en-US" smtClean="0"/>
              <a:pPr>
                <a:defRPr/>
              </a:pPr>
              <a:t>63</a:t>
            </a:fld>
            <a:endParaRPr lang="en-US"/>
          </a:p>
        </p:txBody>
      </p:sp>
      <p:sp>
        <p:nvSpPr>
          <p:cNvPr id="7" name="Title 1"/>
          <p:cNvSpPr>
            <a:spLocks noGrp="1"/>
          </p:cNvSpPr>
          <p:nvPr>
            <p:ph type="title"/>
          </p:nvPr>
        </p:nvSpPr>
        <p:spPr/>
        <p:txBody>
          <a:bodyPr/>
          <a:lstStyle/>
          <a:p>
            <a:pPr algn="l"/>
            <a:r>
              <a:rPr lang="en-GB" sz="40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Example</a:t>
            </a:r>
            <a:endParaRPr lang="en-US" sz="4000" dirty="0"/>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blinds(horizontal)">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blinds(horizontal)">
                                      <p:cBhvr>
                                        <p:cTn id="17" dur="500"/>
                                        <p:tgtEl>
                                          <p:spTgt spid="3">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blinds(horizontal)">
                                      <p:cBhvr>
                                        <p:cTn id="2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pPr marL="0" indent="0" algn="just">
              <a:buNone/>
            </a:pPr>
            <a:r>
              <a:rPr lang="en-US" altLang="en-US" sz="3500" dirty="0">
                <a:latin typeface="Times New Roman" pitchFamily="18" charset="0"/>
                <a:cs typeface="Times New Roman" pitchFamily="18" charset="0"/>
              </a:rPr>
              <a:t>The number of ways in which a subset of objects can be selected from a given set of objects, where </a:t>
            </a:r>
            <a:r>
              <a:rPr lang="en-US" altLang="en-US" sz="3500" dirty="0">
                <a:solidFill>
                  <a:srgbClr val="7030A0"/>
                </a:solidFill>
                <a:latin typeface="Times New Roman" pitchFamily="18" charset="0"/>
                <a:cs typeface="Times New Roman" pitchFamily="18" charset="0"/>
              </a:rPr>
              <a:t>order is important</a:t>
            </a:r>
            <a:r>
              <a:rPr lang="en-US" altLang="en-US" sz="3500" dirty="0">
                <a:latin typeface="Times New Roman" pitchFamily="18" charset="0"/>
                <a:cs typeface="Times New Roman" pitchFamily="18" charset="0"/>
              </a:rPr>
              <a:t>. </a:t>
            </a:r>
          </a:p>
          <a:p>
            <a:pPr marL="0" indent="0" algn="just">
              <a:buNone/>
            </a:pPr>
            <a:r>
              <a:rPr lang="en-US" altLang="en-US" sz="3500" dirty="0">
                <a:solidFill>
                  <a:srgbClr val="FF0000"/>
                </a:solidFill>
                <a:latin typeface="Times New Roman" pitchFamily="18" charset="0"/>
                <a:cs typeface="Times New Roman" pitchFamily="18" charset="0"/>
              </a:rPr>
              <a:t>Example</a:t>
            </a:r>
            <a:r>
              <a:rPr lang="en-US" altLang="en-US" sz="3500" dirty="0">
                <a:solidFill>
                  <a:srgbClr val="002060"/>
                </a:solidFill>
                <a:latin typeface="Times New Roman" pitchFamily="18" charset="0"/>
                <a:cs typeface="Times New Roman" pitchFamily="18" charset="0"/>
              </a:rPr>
              <a:t>:</a:t>
            </a:r>
          </a:p>
          <a:p>
            <a:pPr marL="0" indent="0" algn="just">
              <a:buNone/>
            </a:pPr>
            <a:r>
              <a:rPr lang="en-US" altLang="en-US" sz="3500" dirty="0">
                <a:solidFill>
                  <a:srgbClr val="002060"/>
                </a:solidFill>
                <a:latin typeface="Times New Roman" pitchFamily="18" charset="0"/>
                <a:cs typeface="Times New Roman" pitchFamily="18" charset="0"/>
              </a:rPr>
              <a:t>Given the set of three letters, {A, B, C}, how many possibilities are there for selecting any two letters where order is important? </a:t>
            </a:r>
          </a:p>
          <a:p>
            <a:pPr marL="0" indent="0" algn="just">
              <a:buNone/>
            </a:pPr>
            <a:r>
              <a:rPr lang="en-US" altLang="en-US" sz="3500" dirty="0">
                <a:solidFill>
                  <a:srgbClr val="002060"/>
                </a:solidFill>
                <a:latin typeface="Times New Roman" pitchFamily="18" charset="0"/>
                <a:cs typeface="Times New Roman" pitchFamily="18" charset="0"/>
              </a:rPr>
              <a:t>(AB, AC, BC, BA, CA, CB) </a:t>
            </a:r>
          </a:p>
          <a:p>
            <a:pPr>
              <a:buNone/>
            </a:pPr>
            <a:endParaRPr lang="en-US" dirty="0"/>
          </a:p>
        </p:txBody>
      </p:sp>
      <p:sp>
        <p:nvSpPr>
          <p:cNvPr id="4" name="Date Placeholder 3"/>
          <p:cNvSpPr>
            <a:spLocks noGrp="1"/>
          </p:cNvSpPr>
          <p:nvPr>
            <p:ph type="dt" sz="half" idx="10"/>
          </p:nvPr>
        </p:nvSpPr>
        <p:spPr/>
        <p:txBody>
          <a:bodyPr/>
          <a:lstStyle/>
          <a:p>
            <a:pPr>
              <a:defRPr/>
            </a:pPr>
            <a:fld id="{435B9553-B32A-4AA7-87D9-AACB6065D541}" type="datetime2">
              <a:rPr lang="en-US" smtClean="0"/>
              <a:pPr>
                <a:defRPr/>
              </a:pPr>
              <a:t>Monday, December 8, 2025</a:t>
            </a:fld>
            <a:endParaRPr lang="en-US"/>
          </a:p>
        </p:txBody>
      </p:sp>
      <p:sp>
        <p:nvSpPr>
          <p:cNvPr id="5" name="Footer Placeholder 4"/>
          <p:cNvSpPr>
            <a:spLocks noGrp="1"/>
          </p:cNvSpPr>
          <p:nvPr>
            <p:ph type="ftr" sz="quarter" idx="11"/>
          </p:nvPr>
        </p:nvSpPr>
        <p:spPr/>
        <p:txBody>
          <a:bodyPr/>
          <a:lstStyle/>
          <a:p>
            <a:pPr>
              <a:defRPr/>
            </a:pPr>
            <a:r>
              <a:rPr lang="en-US"/>
              <a:t>STAT 154 -09</a:t>
            </a:r>
          </a:p>
        </p:txBody>
      </p:sp>
      <p:sp>
        <p:nvSpPr>
          <p:cNvPr id="6" name="Slide Number Placeholder 5"/>
          <p:cNvSpPr>
            <a:spLocks noGrp="1"/>
          </p:cNvSpPr>
          <p:nvPr>
            <p:ph type="sldNum" sz="quarter" idx="12"/>
          </p:nvPr>
        </p:nvSpPr>
        <p:spPr/>
        <p:txBody>
          <a:bodyPr/>
          <a:lstStyle/>
          <a:p>
            <a:pPr>
              <a:defRPr/>
            </a:pPr>
            <a:fld id="{C70CFA2D-21B9-45B6-893F-7371CE3DE2D8}" type="slidenum">
              <a:rPr lang="en-US" smtClean="0"/>
              <a:pPr>
                <a:defRPr/>
              </a:pPr>
              <a:t>64</a:t>
            </a:fld>
            <a:endParaRPr lang="en-US"/>
          </a:p>
        </p:txBody>
      </p:sp>
      <p:sp>
        <p:nvSpPr>
          <p:cNvPr id="7" name="Title 1"/>
          <p:cNvSpPr>
            <a:spLocks noGrp="1"/>
          </p:cNvSpPr>
          <p:nvPr>
            <p:ph type="title"/>
          </p:nvPr>
        </p:nvSpPr>
        <p:spPr>
          <a:xfrm>
            <a:off x="301625" y="460375"/>
            <a:ext cx="8534400" cy="758825"/>
          </a:xfrm>
        </p:spPr>
        <p:txBody>
          <a:bodyPr/>
          <a:lstStyle/>
          <a:p>
            <a:pPr algn="l"/>
            <a:r>
              <a:rPr lang="en-GB"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Permutation:</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1720" t="-1600" r="-2724" b="-6000"/>
            </a:stretch>
          </a:blipFill>
        </p:spPr>
        <p:txBody>
          <a:bodyPr/>
          <a:lstStyle/>
          <a:p>
            <a:pPr>
              <a:buNone/>
            </a:pPr>
            <a:r>
              <a:rPr lang="en-GB" dirty="0">
                <a:noFill/>
              </a:rPr>
              <a:t> </a:t>
            </a:r>
          </a:p>
        </p:txBody>
      </p:sp>
      <p:sp>
        <p:nvSpPr>
          <p:cNvPr id="4" name="Date Placeholder 3"/>
          <p:cNvSpPr>
            <a:spLocks noGrp="1"/>
          </p:cNvSpPr>
          <p:nvPr>
            <p:ph type="dt" sz="half" idx="10"/>
          </p:nvPr>
        </p:nvSpPr>
        <p:spPr/>
        <p:txBody>
          <a:bodyPr/>
          <a:lstStyle/>
          <a:p>
            <a:pPr>
              <a:defRPr/>
            </a:pPr>
            <a:fld id="{D92B7344-03DB-4C5F-AA6A-87344972227D}"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65</a:t>
            </a:fld>
            <a:endParaRPr lang="en-US"/>
          </a:p>
        </p:txBody>
      </p:sp>
      <p:sp>
        <p:nvSpPr>
          <p:cNvPr id="7" name="Footer Placeholder 6"/>
          <p:cNvSpPr>
            <a:spLocks noGrp="1"/>
          </p:cNvSpPr>
          <p:nvPr>
            <p:ph type="ftr" sz="quarter" idx="11"/>
          </p:nvPr>
        </p:nvSpPr>
        <p:spPr/>
        <p:txBody>
          <a:bodyPr/>
          <a:lstStyle/>
          <a:p>
            <a:pPr>
              <a:defRPr/>
            </a:pPr>
            <a:r>
              <a:rPr lang="en-US"/>
              <a:t>STAT 154 -09</a:t>
            </a:r>
          </a:p>
        </p:txBody>
      </p:sp>
    </p:spTree>
    <p:extLst>
      <p:ext uri="{BB962C8B-B14F-4D97-AF65-F5344CB8AC3E}">
        <p14:creationId xmlns:p14="http://schemas.microsoft.com/office/powerpoint/2010/main" val="3496607484"/>
      </p:ext>
    </p:extLst>
  </p:cSld>
  <p:clrMapOvr>
    <a:masterClrMapping/>
  </p:clrMapOvr>
  <p:transition spd="slow">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Example 3.23:</a:t>
            </a:r>
            <a:endParaRPr lang="en-GB"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1720" t="-1733" r="-2724" b="-12667"/>
            </a:stretch>
          </a:blipFill>
        </p:spPr>
        <p:txBody>
          <a:bodyPr/>
          <a:lstStyle/>
          <a:p>
            <a:pPr>
              <a:buNone/>
            </a:pPr>
            <a:r>
              <a:rPr lang="en-GB" dirty="0">
                <a:noFill/>
              </a:rPr>
              <a:t>  </a:t>
            </a:r>
          </a:p>
        </p:txBody>
      </p:sp>
      <p:sp>
        <p:nvSpPr>
          <p:cNvPr id="4" name="Date Placeholder 3"/>
          <p:cNvSpPr>
            <a:spLocks noGrp="1"/>
          </p:cNvSpPr>
          <p:nvPr>
            <p:ph type="dt" sz="half" idx="10"/>
          </p:nvPr>
        </p:nvSpPr>
        <p:spPr/>
        <p:txBody>
          <a:bodyPr/>
          <a:lstStyle/>
          <a:p>
            <a:pPr>
              <a:defRPr/>
            </a:pPr>
            <a:fld id="{5A21537E-5AC5-4B3C-AF45-0E7EA29B739E}"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66</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extLst>
      <p:ext uri="{BB962C8B-B14F-4D97-AF65-F5344CB8AC3E}">
        <p14:creationId xmlns:p14="http://schemas.microsoft.com/office/powerpoint/2010/main" val="458454418"/>
      </p:ext>
    </p:extLst>
  </p:cSld>
  <p:clrMapOvr>
    <a:masterClrMapping/>
  </p:clrMapOvr>
  <p:transition spd="slow">
    <p:wipe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pPr marL="0" indent="0" algn="just">
              <a:buNone/>
            </a:pPr>
            <a:r>
              <a:rPr lang="en-US" altLang="en-US" sz="3500" dirty="0">
                <a:latin typeface="Times New Roman" pitchFamily="18" charset="0"/>
                <a:cs typeface="Times New Roman" pitchFamily="18" charset="0"/>
              </a:rPr>
              <a:t>The number of ways in which a subset of objects can be selected from a given set of objects, where </a:t>
            </a:r>
            <a:r>
              <a:rPr lang="en-US" altLang="en-US" sz="3500" dirty="0">
                <a:solidFill>
                  <a:srgbClr val="7030A0"/>
                </a:solidFill>
                <a:latin typeface="Times New Roman" pitchFamily="18" charset="0"/>
                <a:cs typeface="Times New Roman" pitchFamily="18" charset="0"/>
              </a:rPr>
              <a:t>order is </a:t>
            </a:r>
            <a:r>
              <a:rPr lang="en-US" altLang="en-US" sz="3500" u="sng" dirty="0">
                <a:solidFill>
                  <a:srgbClr val="7030A0"/>
                </a:solidFill>
                <a:latin typeface="Times New Roman" pitchFamily="18" charset="0"/>
                <a:cs typeface="Times New Roman" pitchFamily="18" charset="0"/>
              </a:rPr>
              <a:t>not</a:t>
            </a:r>
            <a:r>
              <a:rPr lang="en-US" altLang="en-US" sz="3500" dirty="0">
                <a:solidFill>
                  <a:srgbClr val="7030A0"/>
                </a:solidFill>
                <a:latin typeface="Times New Roman" pitchFamily="18" charset="0"/>
                <a:cs typeface="Times New Roman" pitchFamily="18" charset="0"/>
              </a:rPr>
              <a:t> important</a:t>
            </a:r>
            <a:r>
              <a:rPr lang="en-US" altLang="en-US" sz="3500" dirty="0">
                <a:latin typeface="Times New Roman" pitchFamily="18" charset="0"/>
                <a:cs typeface="Times New Roman" pitchFamily="18" charset="0"/>
              </a:rPr>
              <a:t>. </a:t>
            </a:r>
          </a:p>
          <a:p>
            <a:pPr marL="0" indent="0" algn="just">
              <a:buNone/>
            </a:pPr>
            <a:r>
              <a:rPr lang="en-US" altLang="en-US" sz="3500" dirty="0">
                <a:solidFill>
                  <a:srgbClr val="FF0000"/>
                </a:solidFill>
                <a:latin typeface="Times New Roman" pitchFamily="18" charset="0"/>
                <a:cs typeface="Times New Roman" pitchFamily="18" charset="0"/>
              </a:rPr>
              <a:t>Example:</a:t>
            </a:r>
          </a:p>
          <a:p>
            <a:pPr marL="0" indent="0" algn="just">
              <a:buNone/>
            </a:pPr>
            <a:r>
              <a:rPr lang="en-US" altLang="en-US" sz="3500" dirty="0">
                <a:solidFill>
                  <a:srgbClr val="002060"/>
                </a:solidFill>
                <a:latin typeface="Times New Roman" pitchFamily="18" charset="0"/>
                <a:cs typeface="Times New Roman" pitchFamily="18" charset="0"/>
              </a:rPr>
              <a:t>Given the set of three letters, {A, B, C}, how many possibilities are there for selecting any two letters where order is not important? </a:t>
            </a:r>
          </a:p>
          <a:p>
            <a:pPr marL="0" indent="0" algn="just">
              <a:buNone/>
            </a:pPr>
            <a:r>
              <a:rPr lang="en-US" altLang="en-US" sz="3500" dirty="0">
                <a:solidFill>
                  <a:srgbClr val="002060"/>
                </a:solidFill>
                <a:latin typeface="Times New Roman" pitchFamily="18" charset="0"/>
                <a:cs typeface="Times New Roman" pitchFamily="18" charset="0"/>
              </a:rPr>
              <a:t>(AB, AC, BC). </a:t>
            </a:r>
          </a:p>
          <a:p>
            <a:pPr>
              <a:buNone/>
            </a:pPr>
            <a:endParaRPr lang="en-US" sz="3500" dirty="0"/>
          </a:p>
        </p:txBody>
      </p:sp>
      <p:sp>
        <p:nvSpPr>
          <p:cNvPr id="4" name="Date Placeholder 3"/>
          <p:cNvSpPr>
            <a:spLocks noGrp="1"/>
          </p:cNvSpPr>
          <p:nvPr>
            <p:ph type="dt" sz="half" idx="10"/>
          </p:nvPr>
        </p:nvSpPr>
        <p:spPr/>
        <p:txBody>
          <a:bodyPr/>
          <a:lstStyle/>
          <a:p>
            <a:pPr>
              <a:defRPr/>
            </a:pPr>
            <a:fld id="{435B9553-B32A-4AA7-87D9-AACB6065D541}" type="datetime2">
              <a:rPr lang="en-US" smtClean="0"/>
              <a:pPr>
                <a:defRPr/>
              </a:pPr>
              <a:t>Monday, December 8, 2025</a:t>
            </a:fld>
            <a:endParaRPr lang="en-US"/>
          </a:p>
        </p:txBody>
      </p:sp>
      <p:sp>
        <p:nvSpPr>
          <p:cNvPr id="5" name="Footer Placeholder 4"/>
          <p:cNvSpPr>
            <a:spLocks noGrp="1"/>
          </p:cNvSpPr>
          <p:nvPr>
            <p:ph type="ftr" sz="quarter" idx="11"/>
          </p:nvPr>
        </p:nvSpPr>
        <p:spPr/>
        <p:txBody>
          <a:bodyPr/>
          <a:lstStyle/>
          <a:p>
            <a:pPr>
              <a:defRPr/>
            </a:pPr>
            <a:r>
              <a:rPr lang="en-US"/>
              <a:t>STAT 154 -09</a:t>
            </a:r>
          </a:p>
        </p:txBody>
      </p:sp>
      <p:sp>
        <p:nvSpPr>
          <p:cNvPr id="6" name="Slide Number Placeholder 5"/>
          <p:cNvSpPr>
            <a:spLocks noGrp="1"/>
          </p:cNvSpPr>
          <p:nvPr>
            <p:ph type="sldNum" sz="quarter" idx="12"/>
          </p:nvPr>
        </p:nvSpPr>
        <p:spPr/>
        <p:txBody>
          <a:bodyPr/>
          <a:lstStyle/>
          <a:p>
            <a:pPr>
              <a:defRPr/>
            </a:pPr>
            <a:fld id="{C70CFA2D-21B9-45B6-893F-7371CE3DE2D8}" type="slidenum">
              <a:rPr lang="en-US" smtClean="0"/>
              <a:pPr>
                <a:defRPr/>
              </a:pPr>
              <a:t>67</a:t>
            </a:fld>
            <a:endParaRPr lang="en-US"/>
          </a:p>
        </p:txBody>
      </p:sp>
      <p:sp>
        <p:nvSpPr>
          <p:cNvPr id="7" name="Title 1"/>
          <p:cNvSpPr>
            <a:spLocks noGrp="1"/>
          </p:cNvSpPr>
          <p:nvPr>
            <p:ph type="title"/>
          </p:nvPr>
        </p:nvSpPr>
        <p:spPr>
          <a:xfrm>
            <a:off x="301625" y="384175"/>
            <a:ext cx="8534400" cy="758825"/>
          </a:xfrm>
        </p:spPr>
        <p:txBody>
          <a:bodyPr/>
          <a:lstStyle/>
          <a:p>
            <a:pPr algn="l"/>
            <a:r>
              <a:rPr lang="en-GB"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Combination:</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3"/>
            <a:stretch>
              <a:fillRect l="-1720" t="-1733" r="-2724"/>
            </a:stretch>
          </a:blipFill>
        </p:spPr>
        <p:txBody>
          <a:bodyPr/>
          <a:lstStyle/>
          <a:p>
            <a:pPr>
              <a:buNone/>
            </a:pPr>
            <a:r>
              <a:rPr lang="en-GB" dirty="0">
                <a:noFill/>
              </a:rPr>
              <a:t>  </a:t>
            </a:r>
          </a:p>
        </p:txBody>
      </p:sp>
      <p:sp>
        <p:nvSpPr>
          <p:cNvPr id="4" name="Date Placeholder 3"/>
          <p:cNvSpPr>
            <a:spLocks noGrp="1"/>
          </p:cNvSpPr>
          <p:nvPr>
            <p:ph type="dt" sz="half" idx="10"/>
          </p:nvPr>
        </p:nvSpPr>
        <p:spPr/>
        <p:txBody>
          <a:bodyPr/>
          <a:lstStyle/>
          <a:p>
            <a:pPr>
              <a:defRPr/>
            </a:pPr>
            <a:fld id="{3506F74D-7515-41F5-AFF5-264F94500F1A}"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68</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extLst>
      <p:ext uri="{BB962C8B-B14F-4D97-AF65-F5344CB8AC3E}">
        <p14:creationId xmlns:p14="http://schemas.microsoft.com/office/powerpoint/2010/main" val="232782548"/>
      </p:ext>
    </p:extLst>
  </p:cSld>
  <p:clrMapOvr>
    <a:masterClrMapping/>
  </p:clrMapOvr>
  <p:transition spd="slow">
    <p:wipe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35B9553-B32A-4AA7-87D9-AACB6065D541}" type="datetime2">
              <a:rPr lang="en-US" smtClean="0"/>
              <a:pPr>
                <a:defRPr/>
              </a:pPr>
              <a:t>Monday, December 8, 2025</a:t>
            </a:fld>
            <a:endParaRPr lang="en-US"/>
          </a:p>
        </p:txBody>
      </p:sp>
      <p:sp>
        <p:nvSpPr>
          <p:cNvPr id="5" name="Footer Placeholder 4"/>
          <p:cNvSpPr>
            <a:spLocks noGrp="1"/>
          </p:cNvSpPr>
          <p:nvPr>
            <p:ph type="ftr" sz="quarter" idx="11"/>
          </p:nvPr>
        </p:nvSpPr>
        <p:spPr/>
        <p:txBody>
          <a:bodyPr/>
          <a:lstStyle/>
          <a:p>
            <a:pPr>
              <a:defRPr/>
            </a:pPr>
            <a:r>
              <a:rPr lang="en-US"/>
              <a:t>STAT 154 -09</a:t>
            </a:r>
          </a:p>
        </p:txBody>
      </p:sp>
      <p:sp>
        <p:nvSpPr>
          <p:cNvPr id="6" name="Slide Number Placeholder 5"/>
          <p:cNvSpPr>
            <a:spLocks noGrp="1"/>
          </p:cNvSpPr>
          <p:nvPr>
            <p:ph type="sldNum" sz="quarter" idx="12"/>
          </p:nvPr>
        </p:nvSpPr>
        <p:spPr/>
        <p:txBody>
          <a:bodyPr/>
          <a:lstStyle/>
          <a:p>
            <a:pPr>
              <a:defRPr/>
            </a:pPr>
            <a:fld id="{C70CFA2D-21B9-45B6-893F-7371CE3DE2D8}" type="slidenum">
              <a:rPr lang="en-US" smtClean="0"/>
              <a:pPr>
                <a:defRPr/>
              </a:pPr>
              <a:t>69</a:t>
            </a:fld>
            <a:endParaRPr lang="en-US"/>
          </a:p>
        </p:txBody>
      </p:sp>
      <p:pic>
        <p:nvPicPr>
          <p:cNvPr id="7" name="Picture 6" descr="mangreen"/>
          <p:cNvPicPr>
            <a:picLocks noChangeAspect="1" noChangeArrowheads="1"/>
          </p:cNvPicPr>
          <p:nvPr/>
        </p:nvPicPr>
        <p:blipFill>
          <a:blip r:embed="rId2"/>
          <a:srcRect/>
          <a:stretch>
            <a:fillRect/>
          </a:stretch>
        </p:blipFill>
        <p:spPr bwMode="auto">
          <a:xfrm>
            <a:off x="2843213" y="2420938"/>
            <a:ext cx="585787" cy="1066800"/>
          </a:xfrm>
          <a:prstGeom prst="rect">
            <a:avLst/>
          </a:prstGeom>
          <a:noFill/>
          <a:ln w="9525">
            <a:noFill/>
            <a:miter lim="800000"/>
            <a:headEnd/>
            <a:tailEnd/>
          </a:ln>
        </p:spPr>
      </p:pic>
      <p:pic>
        <p:nvPicPr>
          <p:cNvPr id="8" name="Picture 7" descr="manpurple"/>
          <p:cNvPicPr>
            <a:picLocks noChangeAspect="1" noChangeArrowheads="1"/>
          </p:cNvPicPr>
          <p:nvPr/>
        </p:nvPicPr>
        <p:blipFill>
          <a:blip r:embed="rId3"/>
          <a:srcRect/>
          <a:stretch>
            <a:fillRect/>
          </a:stretch>
        </p:blipFill>
        <p:spPr bwMode="auto">
          <a:xfrm>
            <a:off x="900113" y="2420938"/>
            <a:ext cx="584200" cy="1066800"/>
          </a:xfrm>
          <a:prstGeom prst="rect">
            <a:avLst/>
          </a:prstGeom>
          <a:noFill/>
          <a:ln w="9525">
            <a:noFill/>
            <a:miter lim="800000"/>
            <a:headEnd/>
            <a:tailEnd/>
          </a:ln>
        </p:spPr>
      </p:pic>
      <p:pic>
        <p:nvPicPr>
          <p:cNvPr id="9" name="Picture 8" descr="manred"/>
          <p:cNvPicPr>
            <a:picLocks noChangeAspect="1" noChangeArrowheads="1"/>
          </p:cNvPicPr>
          <p:nvPr/>
        </p:nvPicPr>
        <p:blipFill>
          <a:blip r:embed="rId4"/>
          <a:srcRect/>
          <a:stretch>
            <a:fillRect/>
          </a:stretch>
        </p:blipFill>
        <p:spPr bwMode="auto">
          <a:xfrm>
            <a:off x="2195513" y="2420938"/>
            <a:ext cx="584200" cy="1066800"/>
          </a:xfrm>
          <a:prstGeom prst="rect">
            <a:avLst/>
          </a:prstGeom>
          <a:noFill/>
          <a:ln w="9525">
            <a:noFill/>
            <a:miter lim="800000"/>
            <a:headEnd/>
            <a:tailEnd/>
          </a:ln>
        </p:spPr>
      </p:pic>
      <p:pic>
        <p:nvPicPr>
          <p:cNvPr id="10" name="Picture 9" descr="manturqoise"/>
          <p:cNvPicPr>
            <a:picLocks noChangeAspect="1" noChangeArrowheads="1"/>
          </p:cNvPicPr>
          <p:nvPr/>
        </p:nvPicPr>
        <p:blipFill>
          <a:blip r:embed="rId5"/>
          <a:srcRect/>
          <a:stretch>
            <a:fillRect/>
          </a:stretch>
        </p:blipFill>
        <p:spPr bwMode="auto">
          <a:xfrm>
            <a:off x="1547813" y="2420938"/>
            <a:ext cx="582612" cy="1063625"/>
          </a:xfrm>
          <a:prstGeom prst="rect">
            <a:avLst/>
          </a:prstGeom>
          <a:noFill/>
          <a:ln w="9525">
            <a:noFill/>
            <a:miter lim="800000"/>
            <a:headEnd/>
            <a:tailEnd/>
          </a:ln>
        </p:spPr>
      </p:pic>
      <p:pic>
        <p:nvPicPr>
          <p:cNvPr id="11" name="Picture 10" descr="manblue"/>
          <p:cNvPicPr>
            <a:picLocks noChangeAspect="1" noChangeArrowheads="1"/>
          </p:cNvPicPr>
          <p:nvPr/>
        </p:nvPicPr>
        <p:blipFill>
          <a:blip r:embed="rId6"/>
          <a:srcRect/>
          <a:stretch>
            <a:fillRect/>
          </a:stretch>
        </p:blipFill>
        <p:spPr bwMode="auto">
          <a:xfrm>
            <a:off x="609600" y="3810000"/>
            <a:ext cx="584200" cy="1066800"/>
          </a:xfrm>
          <a:prstGeom prst="rect">
            <a:avLst/>
          </a:prstGeom>
          <a:noFill/>
          <a:ln w="9525">
            <a:noFill/>
            <a:miter lim="800000"/>
            <a:headEnd/>
            <a:tailEnd/>
          </a:ln>
        </p:spPr>
      </p:pic>
      <p:pic>
        <p:nvPicPr>
          <p:cNvPr id="12" name="Picture 11" descr="manblue"/>
          <p:cNvPicPr>
            <a:picLocks noChangeAspect="1" noChangeArrowheads="1"/>
          </p:cNvPicPr>
          <p:nvPr/>
        </p:nvPicPr>
        <p:blipFill>
          <a:blip r:embed="rId6"/>
          <a:srcRect/>
          <a:stretch>
            <a:fillRect/>
          </a:stretch>
        </p:blipFill>
        <p:spPr bwMode="auto">
          <a:xfrm>
            <a:off x="533400" y="5105400"/>
            <a:ext cx="584200" cy="1066800"/>
          </a:xfrm>
          <a:prstGeom prst="rect">
            <a:avLst/>
          </a:prstGeom>
          <a:noFill/>
          <a:ln w="9525">
            <a:noFill/>
            <a:miter lim="800000"/>
            <a:headEnd/>
            <a:tailEnd/>
          </a:ln>
        </p:spPr>
      </p:pic>
      <p:pic>
        <p:nvPicPr>
          <p:cNvPr id="13" name="Picture 12" descr="manblue"/>
          <p:cNvPicPr>
            <a:picLocks noChangeAspect="1" noChangeArrowheads="1"/>
          </p:cNvPicPr>
          <p:nvPr/>
        </p:nvPicPr>
        <p:blipFill>
          <a:blip r:embed="rId6"/>
          <a:srcRect/>
          <a:stretch>
            <a:fillRect/>
          </a:stretch>
        </p:blipFill>
        <p:spPr bwMode="auto">
          <a:xfrm>
            <a:off x="2514600" y="3886200"/>
            <a:ext cx="584200" cy="1066800"/>
          </a:xfrm>
          <a:prstGeom prst="rect">
            <a:avLst/>
          </a:prstGeom>
          <a:noFill/>
          <a:ln w="9525">
            <a:noFill/>
            <a:miter lim="800000"/>
            <a:headEnd/>
            <a:tailEnd/>
          </a:ln>
        </p:spPr>
      </p:pic>
      <p:pic>
        <p:nvPicPr>
          <p:cNvPr id="14" name="Picture 13" descr="manblue"/>
          <p:cNvPicPr>
            <a:picLocks noChangeAspect="1" noChangeArrowheads="1"/>
          </p:cNvPicPr>
          <p:nvPr/>
        </p:nvPicPr>
        <p:blipFill>
          <a:blip r:embed="rId6"/>
          <a:srcRect/>
          <a:stretch>
            <a:fillRect/>
          </a:stretch>
        </p:blipFill>
        <p:spPr bwMode="auto">
          <a:xfrm>
            <a:off x="2514600" y="5105400"/>
            <a:ext cx="584200" cy="1066800"/>
          </a:xfrm>
          <a:prstGeom prst="rect">
            <a:avLst/>
          </a:prstGeom>
          <a:noFill/>
          <a:ln w="9525">
            <a:noFill/>
            <a:miter lim="800000"/>
            <a:headEnd/>
            <a:tailEnd/>
          </a:ln>
        </p:spPr>
      </p:pic>
      <p:pic>
        <p:nvPicPr>
          <p:cNvPr id="15" name="Picture 14" descr="manpurple"/>
          <p:cNvPicPr>
            <a:picLocks noChangeAspect="1" noChangeArrowheads="1"/>
          </p:cNvPicPr>
          <p:nvPr/>
        </p:nvPicPr>
        <p:blipFill>
          <a:blip r:embed="rId3"/>
          <a:srcRect/>
          <a:stretch>
            <a:fillRect/>
          </a:stretch>
        </p:blipFill>
        <p:spPr bwMode="auto">
          <a:xfrm>
            <a:off x="1066800" y="3810000"/>
            <a:ext cx="584200" cy="1066800"/>
          </a:xfrm>
          <a:prstGeom prst="rect">
            <a:avLst/>
          </a:prstGeom>
          <a:noFill/>
          <a:ln w="9525">
            <a:noFill/>
            <a:miter lim="800000"/>
            <a:headEnd/>
            <a:tailEnd/>
          </a:ln>
        </p:spPr>
      </p:pic>
      <p:pic>
        <p:nvPicPr>
          <p:cNvPr id="16" name="Picture 15" descr="manpurple"/>
          <p:cNvPicPr>
            <a:picLocks noChangeAspect="1" noChangeArrowheads="1"/>
          </p:cNvPicPr>
          <p:nvPr/>
        </p:nvPicPr>
        <p:blipFill>
          <a:blip r:embed="rId3"/>
          <a:srcRect/>
          <a:stretch>
            <a:fillRect/>
          </a:stretch>
        </p:blipFill>
        <p:spPr bwMode="auto">
          <a:xfrm>
            <a:off x="4495800" y="3886200"/>
            <a:ext cx="584200" cy="1066800"/>
          </a:xfrm>
          <a:prstGeom prst="rect">
            <a:avLst/>
          </a:prstGeom>
          <a:noFill/>
          <a:ln w="9525">
            <a:noFill/>
            <a:miter lim="800000"/>
            <a:headEnd/>
            <a:tailEnd/>
          </a:ln>
        </p:spPr>
      </p:pic>
      <p:pic>
        <p:nvPicPr>
          <p:cNvPr id="17" name="Picture 16" descr="manpurple"/>
          <p:cNvPicPr>
            <a:picLocks noChangeAspect="1" noChangeArrowheads="1"/>
          </p:cNvPicPr>
          <p:nvPr/>
        </p:nvPicPr>
        <p:blipFill>
          <a:blip r:embed="rId3"/>
          <a:srcRect/>
          <a:stretch>
            <a:fillRect/>
          </a:stretch>
        </p:blipFill>
        <p:spPr bwMode="auto">
          <a:xfrm>
            <a:off x="4495800" y="5105400"/>
            <a:ext cx="584200" cy="1066800"/>
          </a:xfrm>
          <a:prstGeom prst="rect">
            <a:avLst/>
          </a:prstGeom>
          <a:noFill/>
          <a:ln w="9525">
            <a:noFill/>
            <a:miter lim="800000"/>
            <a:headEnd/>
            <a:tailEnd/>
          </a:ln>
        </p:spPr>
      </p:pic>
      <p:pic>
        <p:nvPicPr>
          <p:cNvPr id="18" name="Picture 17" descr="manpurple"/>
          <p:cNvPicPr>
            <a:picLocks noChangeAspect="1" noChangeArrowheads="1"/>
          </p:cNvPicPr>
          <p:nvPr/>
        </p:nvPicPr>
        <p:blipFill>
          <a:blip r:embed="rId3"/>
          <a:srcRect/>
          <a:stretch>
            <a:fillRect/>
          </a:stretch>
        </p:blipFill>
        <p:spPr bwMode="auto">
          <a:xfrm>
            <a:off x="6172200" y="3886200"/>
            <a:ext cx="584200" cy="1066800"/>
          </a:xfrm>
          <a:prstGeom prst="rect">
            <a:avLst/>
          </a:prstGeom>
          <a:noFill/>
          <a:ln w="9525">
            <a:noFill/>
            <a:miter lim="800000"/>
            <a:headEnd/>
            <a:tailEnd/>
          </a:ln>
        </p:spPr>
      </p:pic>
      <p:pic>
        <p:nvPicPr>
          <p:cNvPr id="19" name="Picture 18" descr="manturqoise"/>
          <p:cNvPicPr>
            <a:picLocks noChangeAspect="1" noChangeArrowheads="1"/>
          </p:cNvPicPr>
          <p:nvPr/>
        </p:nvPicPr>
        <p:blipFill>
          <a:blip r:embed="rId5"/>
          <a:srcRect/>
          <a:stretch>
            <a:fillRect/>
          </a:stretch>
        </p:blipFill>
        <p:spPr bwMode="auto">
          <a:xfrm>
            <a:off x="990600" y="5105400"/>
            <a:ext cx="582613" cy="1063625"/>
          </a:xfrm>
          <a:prstGeom prst="rect">
            <a:avLst/>
          </a:prstGeom>
          <a:noFill/>
          <a:ln w="9525">
            <a:noFill/>
            <a:miter lim="800000"/>
            <a:headEnd/>
            <a:tailEnd/>
          </a:ln>
        </p:spPr>
      </p:pic>
      <p:pic>
        <p:nvPicPr>
          <p:cNvPr id="20" name="Picture 19" descr="manturqoise"/>
          <p:cNvPicPr>
            <a:picLocks noChangeAspect="1" noChangeArrowheads="1"/>
          </p:cNvPicPr>
          <p:nvPr/>
        </p:nvPicPr>
        <p:blipFill>
          <a:blip r:embed="rId5"/>
          <a:srcRect/>
          <a:stretch>
            <a:fillRect/>
          </a:stretch>
        </p:blipFill>
        <p:spPr bwMode="auto">
          <a:xfrm>
            <a:off x="4953000" y="3886200"/>
            <a:ext cx="582613" cy="1063625"/>
          </a:xfrm>
          <a:prstGeom prst="rect">
            <a:avLst/>
          </a:prstGeom>
          <a:noFill/>
          <a:ln w="9525">
            <a:noFill/>
            <a:miter lim="800000"/>
            <a:headEnd/>
            <a:tailEnd/>
          </a:ln>
        </p:spPr>
      </p:pic>
      <p:pic>
        <p:nvPicPr>
          <p:cNvPr id="21" name="Picture 20" descr="manturqoise"/>
          <p:cNvPicPr>
            <a:picLocks noChangeAspect="1" noChangeArrowheads="1"/>
          </p:cNvPicPr>
          <p:nvPr/>
        </p:nvPicPr>
        <p:blipFill>
          <a:blip r:embed="rId5"/>
          <a:srcRect/>
          <a:stretch>
            <a:fillRect/>
          </a:stretch>
        </p:blipFill>
        <p:spPr bwMode="auto">
          <a:xfrm>
            <a:off x="6172200" y="5105400"/>
            <a:ext cx="582613" cy="1063625"/>
          </a:xfrm>
          <a:prstGeom prst="rect">
            <a:avLst/>
          </a:prstGeom>
          <a:noFill/>
          <a:ln w="9525">
            <a:noFill/>
            <a:miter lim="800000"/>
            <a:headEnd/>
            <a:tailEnd/>
          </a:ln>
        </p:spPr>
      </p:pic>
      <p:pic>
        <p:nvPicPr>
          <p:cNvPr id="22" name="Picture 21" descr="manturqoise"/>
          <p:cNvPicPr>
            <a:picLocks noChangeAspect="1" noChangeArrowheads="1"/>
          </p:cNvPicPr>
          <p:nvPr/>
        </p:nvPicPr>
        <p:blipFill>
          <a:blip r:embed="rId5"/>
          <a:srcRect/>
          <a:stretch>
            <a:fillRect/>
          </a:stretch>
        </p:blipFill>
        <p:spPr bwMode="auto">
          <a:xfrm>
            <a:off x="7772400" y="3886200"/>
            <a:ext cx="582613" cy="1063625"/>
          </a:xfrm>
          <a:prstGeom prst="rect">
            <a:avLst/>
          </a:prstGeom>
          <a:noFill/>
          <a:ln w="9525">
            <a:noFill/>
            <a:miter lim="800000"/>
            <a:headEnd/>
            <a:tailEnd/>
          </a:ln>
        </p:spPr>
      </p:pic>
      <p:pic>
        <p:nvPicPr>
          <p:cNvPr id="23" name="Picture 22" descr="manred"/>
          <p:cNvPicPr>
            <a:picLocks noChangeAspect="1" noChangeArrowheads="1"/>
          </p:cNvPicPr>
          <p:nvPr/>
        </p:nvPicPr>
        <p:blipFill>
          <a:blip r:embed="rId4"/>
          <a:srcRect/>
          <a:stretch>
            <a:fillRect/>
          </a:stretch>
        </p:blipFill>
        <p:spPr bwMode="auto">
          <a:xfrm>
            <a:off x="3048000" y="3886200"/>
            <a:ext cx="584200" cy="1066800"/>
          </a:xfrm>
          <a:prstGeom prst="rect">
            <a:avLst/>
          </a:prstGeom>
          <a:noFill/>
          <a:ln w="9525">
            <a:noFill/>
            <a:miter lim="800000"/>
            <a:headEnd/>
            <a:tailEnd/>
          </a:ln>
        </p:spPr>
      </p:pic>
      <p:pic>
        <p:nvPicPr>
          <p:cNvPr id="24" name="Picture 23" descr="manred"/>
          <p:cNvPicPr>
            <a:picLocks noChangeAspect="1" noChangeArrowheads="1"/>
          </p:cNvPicPr>
          <p:nvPr/>
        </p:nvPicPr>
        <p:blipFill>
          <a:blip r:embed="rId4"/>
          <a:srcRect/>
          <a:stretch>
            <a:fillRect/>
          </a:stretch>
        </p:blipFill>
        <p:spPr bwMode="auto">
          <a:xfrm>
            <a:off x="4953000" y="5105400"/>
            <a:ext cx="584200" cy="1066800"/>
          </a:xfrm>
          <a:prstGeom prst="rect">
            <a:avLst/>
          </a:prstGeom>
          <a:noFill/>
          <a:ln w="9525">
            <a:noFill/>
            <a:miter lim="800000"/>
            <a:headEnd/>
            <a:tailEnd/>
          </a:ln>
        </p:spPr>
      </p:pic>
      <p:pic>
        <p:nvPicPr>
          <p:cNvPr id="25" name="Picture 24" descr="manred"/>
          <p:cNvPicPr>
            <a:picLocks noChangeAspect="1" noChangeArrowheads="1"/>
          </p:cNvPicPr>
          <p:nvPr/>
        </p:nvPicPr>
        <p:blipFill>
          <a:blip r:embed="rId4"/>
          <a:srcRect/>
          <a:stretch>
            <a:fillRect/>
          </a:stretch>
        </p:blipFill>
        <p:spPr bwMode="auto">
          <a:xfrm>
            <a:off x="6629400" y="5105400"/>
            <a:ext cx="584200" cy="1066800"/>
          </a:xfrm>
          <a:prstGeom prst="rect">
            <a:avLst/>
          </a:prstGeom>
          <a:noFill/>
          <a:ln w="9525">
            <a:noFill/>
            <a:miter lim="800000"/>
            <a:headEnd/>
            <a:tailEnd/>
          </a:ln>
        </p:spPr>
      </p:pic>
      <p:pic>
        <p:nvPicPr>
          <p:cNvPr id="26" name="Picture 25" descr="manred"/>
          <p:cNvPicPr>
            <a:picLocks noChangeAspect="1" noChangeArrowheads="1"/>
          </p:cNvPicPr>
          <p:nvPr/>
        </p:nvPicPr>
        <p:blipFill>
          <a:blip r:embed="rId4"/>
          <a:srcRect/>
          <a:stretch>
            <a:fillRect/>
          </a:stretch>
        </p:blipFill>
        <p:spPr bwMode="auto">
          <a:xfrm>
            <a:off x="7848600" y="5105400"/>
            <a:ext cx="584200" cy="1066800"/>
          </a:xfrm>
          <a:prstGeom prst="rect">
            <a:avLst/>
          </a:prstGeom>
          <a:noFill/>
          <a:ln w="9525">
            <a:noFill/>
            <a:miter lim="800000"/>
            <a:headEnd/>
            <a:tailEnd/>
          </a:ln>
        </p:spPr>
      </p:pic>
      <p:pic>
        <p:nvPicPr>
          <p:cNvPr id="27" name="Picture 26" descr="mangreen"/>
          <p:cNvPicPr>
            <a:picLocks noChangeAspect="1" noChangeArrowheads="1"/>
          </p:cNvPicPr>
          <p:nvPr/>
        </p:nvPicPr>
        <p:blipFill>
          <a:blip r:embed="rId2"/>
          <a:srcRect/>
          <a:stretch>
            <a:fillRect/>
          </a:stretch>
        </p:blipFill>
        <p:spPr bwMode="auto">
          <a:xfrm>
            <a:off x="2971800" y="5105400"/>
            <a:ext cx="585788" cy="1066800"/>
          </a:xfrm>
          <a:prstGeom prst="rect">
            <a:avLst/>
          </a:prstGeom>
          <a:noFill/>
          <a:ln w="9525">
            <a:noFill/>
            <a:miter lim="800000"/>
            <a:headEnd/>
            <a:tailEnd/>
          </a:ln>
        </p:spPr>
      </p:pic>
      <p:pic>
        <p:nvPicPr>
          <p:cNvPr id="28" name="Picture 27" descr="mangreen"/>
          <p:cNvPicPr>
            <a:picLocks noChangeAspect="1" noChangeArrowheads="1"/>
          </p:cNvPicPr>
          <p:nvPr/>
        </p:nvPicPr>
        <p:blipFill>
          <a:blip r:embed="rId2"/>
          <a:srcRect/>
          <a:stretch>
            <a:fillRect/>
          </a:stretch>
        </p:blipFill>
        <p:spPr bwMode="auto">
          <a:xfrm>
            <a:off x="6629400" y="3886200"/>
            <a:ext cx="585788" cy="1066800"/>
          </a:xfrm>
          <a:prstGeom prst="rect">
            <a:avLst/>
          </a:prstGeom>
          <a:noFill/>
          <a:ln w="9525">
            <a:noFill/>
            <a:miter lim="800000"/>
            <a:headEnd/>
            <a:tailEnd/>
          </a:ln>
        </p:spPr>
      </p:pic>
      <p:pic>
        <p:nvPicPr>
          <p:cNvPr id="29" name="Picture 28" descr="mangreen"/>
          <p:cNvPicPr>
            <a:picLocks noChangeAspect="1" noChangeArrowheads="1"/>
          </p:cNvPicPr>
          <p:nvPr/>
        </p:nvPicPr>
        <p:blipFill>
          <a:blip r:embed="rId2"/>
          <a:srcRect/>
          <a:stretch>
            <a:fillRect/>
          </a:stretch>
        </p:blipFill>
        <p:spPr bwMode="auto">
          <a:xfrm>
            <a:off x="8229600" y="3886200"/>
            <a:ext cx="585788" cy="1066800"/>
          </a:xfrm>
          <a:prstGeom prst="rect">
            <a:avLst/>
          </a:prstGeom>
          <a:noFill/>
          <a:ln w="9525">
            <a:noFill/>
            <a:miter lim="800000"/>
            <a:headEnd/>
            <a:tailEnd/>
          </a:ln>
        </p:spPr>
      </p:pic>
      <p:pic>
        <p:nvPicPr>
          <p:cNvPr id="30" name="Picture 29" descr="mangreen"/>
          <p:cNvPicPr>
            <a:picLocks noChangeAspect="1" noChangeArrowheads="1"/>
          </p:cNvPicPr>
          <p:nvPr/>
        </p:nvPicPr>
        <p:blipFill>
          <a:blip r:embed="rId2"/>
          <a:srcRect/>
          <a:stretch>
            <a:fillRect/>
          </a:stretch>
        </p:blipFill>
        <p:spPr bwMode="auto">
          <a:xfrm>
            <a:off x="8305800" y="5105400"/>
            <a:ext cx="585788" cy="1066800"/>
          </a:xfrm>
          <a:prstGeom prst="rect">
            <a:avLst/>
          </a:prstGeom>
          <a:noFill/>
          <a:ln w="9525">
            <a:noFill/>
            <a:miter lim="800000"/>
            <a:headEnd/>
            <a:tailEnd/>
          </a:ln>
        </p:spPr>
      </p:pic>
      <p:graphicFrame>
        <p:nvGraphicFramePr>
          <p:cNvPr id="31" name="Object 32"/>
          <p:cNvGraphicFramePr>
            <a:graphicFrameLocks noChangeAspect="1"/>
          </p:cNvGraphicFramePr>
          <p:nvPr/>
        </p:nvGraphicFramePr>
        <p:xfrm>
          <a:off x="3454400" y="2420938"/>
          <a:ext cx="5491163" cy="1204912"/>
        </p:xfrm>
        <a:graphic>
          <a:graphicData uri="http://schemas.openxmlformats.org/presentationml/2006/ole">
            <mc:AlternateContent xmlns:mc="http://schemas.openxmlformats.org/markup-compatibility/2006">
              <mc:Choice xmlns:v="urn:schemas-microsoft-com:vml" Requires="v">
                <p:oleObj name="Equation" r:id="rId7" imgW="1968480" imgH="431640" progId="Equation.3">
                  <p:embed/>
                </p:oleObj>
              </mc:Choice>
              <mc:Fallback>
                <p:oleObj name="Equation" r:id="rId7" imgW="1968480" imgH="431640" progId="Equation.3">
                  <p:embed/>
                  <p:pic>
                    <p:nvPicPr>
                      <p:cNvPr id="31" name="Object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54400" y="2420938"/>
                        <a:ext cx="5491163" cy="1204912"/>
                      </a:xfrm>
                      <a:prstGeom prst="rect">
                        <a:avLst/>
                      </a:prstGeom>
                      <a:noFill/>
                      <a:extLst>
                        <a:ext uri="{909E8E84-426E-40DD-AFC4-6F175D3DCCD1}">
                          <a14:hiddenFill xmlns:a14="http://schemas.microsoft.com/office/drawing/2010/main">
                            <a:solidFill>
                              <a:srgbClr val="CC66FF"/>
                            </a:solidFill>
                          </a14:hiddenFill>
                        </a:ext>
                      </a:extLst>
                    </p:spPr>
                  </p:pic>
                </p:oleObj>
              </mc:Fallback>
            </mc:AlternateContent>
          </a:graphicData>
        </a:graphic>
      </p:graphicFrame>
      <p:sp>
        <p:nvSpPr>
          <p:cNvPr id="32" name="Line 34"/>
          <p:cNvSpPr>
            <a:spLocks noChangeShapeType="1"/>
          </p:cNvSpPr>
          <p:nvPr/>
        </p:nvSpPr>
        <p:spPr bwMode="auto">
          <a:xfrm flipH="1">
            <a:off x="7019925" y="2492375"/>
            <a:ext cx="1081088" cy="936625"/>
          </a:xfrm>
          <a:prstGeom prst="line">
            <a:avLst/>
          </a:prstGeom>
          <a:noFill/>
          <a:ln w="38100">
            <a:solidFill>
              <a:srgbClr val="FF0000"/>
            </a:solidFill>
            <a:round/>
            <a:headEnd/>
            <a:tailEnd/>
          </a:ln>
          <a:effectLst/>
        </p:spPr>
        <p:txBody>
          <a:bodyPr/>
          <a:lstStyle/>
          <a:p>
            <a:endParaRPr lang="en-US"/>
          </a:p>
        </p:txBody>
      </p:sp>
      <p:sp>
        <p:nvSpPr>
          <p:cNvPr id="33" name="Rectangle 32"/>
          <p:cNvSpPr/>
          <p:nvPr/>
        </p:nvSpPr>
        <p:spPr>
          <a:xfrm>
            <a:off x="152400" y="304800"/>
            <a:ext cx="8839200" cy="1938992"/>
          </a:xfrm>
          <a:prstGeom prst="rect">
            <a:avLst/>
          </a:prstGeom>
          <a:solidFill>
            <a:schemeClr val="accent1">
              <a:lumMod val="20000"/>
              <a:lumOff val="80000"/>
            </a:schemeClr>
          </a:solidFill>
        </p:spPr>
        <p:txBody>
          <a:bodyPr wrap="square">
            <a:spAutoFit/>
          </a:bodyPr>
          <a:lstStyle/>
          <a:p>
            <a:pPr algn="just" eaLnBrk="1" hangingPunct="1">
              <a:spcBef>
                <a:spcPct val="50000"/>
              </a:spcBef>
            </a:pPr>
            <a:r>
              <a:rPr lang="en-US" altLang="en-US" dirty="0">
                <a:solidFill>
                  <a:srgbClr val="C00000"/>
                </a:solidFill>
                <a:cs typeface="Times New Roman" pitchFamily="18" charset="0"/>
              </a:rPr>
              <a:t>Example:</a:t>
            </a:r>
            <a:r>
              <a:rPr lang="en-US" altLang="en-US" dirty="0">
                <a:cs typeface="Times New Roman" pitchFamily="18" charset="0"/>
              </a:rPr>
              <a:t> You need 2 people on your committee and you have 5 to choose from.  You can see that this is without repetition because you can only choose a person once, and order doesn’t matter.  You need 2 committee members but it doesn't matter who is chosen first.  How many combinations are there?</a:t>
            </a:r>
          </a:p>
        </p:txBody>
      </p:sp>
      <p:pic>
        <p:nvPicPr>
          <p:cNvPr id="34" name="Picture 5" descr="manblue"/>
          <p:cNvPicPr>
            <a:picLocks noChangeAspect="1" noChangeArrowheads="1"/>
          </p:cNvPicPr>
          <p:nvPr/>
        </p:nvPicPr>
        <p:blipFill>
          <a:blip r:embed="rId6"/>
          <a:srcRect/>
          <a:stretch>
            <a:fillRect/>
          </a:stretch>
        </p:blipFill>
        <p:spPr bwMode="auto">
          <a:xfrm>
            <a:off x="228600" y="2438400"/>
            <a:ext cx="584200" cy="1066800"/>
          </a:xfrm>
          <a:prstGeom prst="rect">
            <a:avLst/>
          </a:prstGeom>
          <a:noFill/>
          <a:ln w="9525">
            <a:noFill/>
            <a:miter lim="800000"/>
            <a:headEnd/>
            <a:tailEnd/>
          </a:ln>
        </p:spPr>
      </p:pic>
      <p:sp>
        <p:nvSpPr>
          <p:cNvPr id="35" name="AutoShape 31"/>
          <p:cNvSpPr>
            <a:spLocks noChangeArrowheads="1"/>
          </p:cNvSpPr>
          <p:nvPr/>
        </p:nvSpPr>
        <p:spPr bwMode="auto">
          <a:xfrm>
            <a:off x="2819400" y="381000"/>
            <a:ext cx="1143000" cy="381000"/>
          </a:xfrm>
          <a:prstGeom prst="roundRect">
            <a:avLst>
              <a:gd name="adj" fmla="val 16667"/>
            </a:avLst>
          </a:prstGeom>
          <a:noFill/>
          <a:ln w="38100">
            <a:solidFill>
              <a:srgbClr val="FF0000"/>
            </a:solidFill>
            <a:round/>
            <a:headEnd/>
            <a:tailEnd/>
          </a:ln>
          <a:effectLst/>
        </p:spPr>
        <p:txBody>
          <a:bodyPr wrap="none" anchor="ctr"/>
          <a:lstStyle/>
          <a:p>
            <a:pPr algn="ctr" eaLnBrk="1" hangingPunct="1"/>
            <a:endParaRPr lang="en-AU" altLang="en-US">
              <a:solidFill>
                <a:srgbClr val="FF0000"/>
              </a:solidFill>
            </a:endParaRPr>
          </a:p>
        </p:txBody>
      </p:sp>
      <p:sp>
        <p:nvSpPr>
          <p:cNvPr id="2" name="Oval 1"/>
          <p:cNvSpPr/>
          <p:nvPr/>
        </p:nvSpPr>
        <p:spPr>
          <a:xfrm>
            <a:off x="27160" y="2135842"/>
            <a:ext cx="3497262" cy="1708150"/>
          </a:xfrm>
          <a:prstGeom prst="ellipse">
            <a:avLst/>
          </a:prstGeom>
          <a:noFill/>
          <a:ln>
            <a:solidFill>
              <a:srgbClr val="8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1+#ppt_w/2"/>
                                          </p:val>
                                        </p:tav>
                                        <p:tav tm="100000">
                                          <p:val>
                                            <p:strVal val="#ppt_x"/>
                                          </p:val>
                                        </p:tav>
                                      </p:tavLst>
                                    </p:anim>
                                    <p:anim calcmode="lin" valueType="num">
                                      <p:cBhvr additive="base">
                                        <p:cTn id="8" dur="500" fill="hold"/>
                                        <p:tgtEl>
                                          <p:spTgt spid="3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1+#ppt_w/2"/>
                                          </p:val>
                                        </p:tav>
                                        <p:tav tm="100000">
                                          <p:val>
                                            <p:strVal val="#ppt_x"/>
                                          </p:val>
                                        </p:tav>
                                      </p:tavLst>
                                    </p:anim>
                                    <p:anim calcmode="lin" valueType="num">
                                      <p:cBhvr additive="base">
                                        <p:cTn id="13"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dissolve">
                                      <p:cBhvr>
                                        <p:cTn id="18" dur="500"/>
                                        <p:tgtEl>
                                          <p:spTgt spid="35"/>
                                        </p:tgtEl>
                                      </p:cBhvr>
                                    </p:animEffect>
                                  </p:childTnLst>
                                </p:cTn>
                              </p:par>
                            </p:childTnLst>
                          </p:cTn>
                        </p:par>
                        <p:par>
                          <p:cTn id="19" fill="hold">
                            <p:stCondLst>
                              <p:cond delay="500"/>
                            </p:stCondLst>
                            <p:childTnLst>
                              <p:par>
                                <p:cTn id="20" presetID="2" presetClass="entr" presetSubtype="2" fill="hold" nodeType="after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additive="base">
                                        <p:cTn id="22" dur="500" fill="hold"/>
                                        <p:tgtEl>
                                          <p:spTgt spid="10"/>
                                        </p:tgtEl>
                                        <p:attrNameLst>
                                          <p:attrName>ppt_x</p:attrName>
                                        </p:attrNameLst>
                                      </p:cBhvr>
                                      <p:tavLst>
                                        <p:tav tm="0">
                                          <p:val>
                                            <p:strVal val="1+#ppt_w/2"/>
                                          </p:val>
                                        </p:tav>
                                        <p:tav tm="100000">
                                          <p:val>
                                            <p:strVal val="#ppt_x"/>
                                          </p:val>
                                        </p:tav>
                                      </p:tavLst>
                                    </p:anim>
                                    <p:anim calcmode="lin" valueType="num">
                                      <p:cBhvr additive="base">
                                        <p:cTn id="23" dur="500" fill="hold"/>
                                        <p:tgtEl>
                                          <p:spTgt spid="10"/>
                                        </p:tgtEl>
                                        <p:attrNameLst>
                                          <p:attrName>ppt_y</p:attrName>
                                        </p:attrNameLst>
                                      </p:cBhvr>
                                      <p:tavLst>
                                        <p:tav tm="0">
                                          <p:val>
                                            <p:strVal val="#ppt_y"/>
                                          </p:val>
                                        </p:tav>
                                        <p:tav tm="100000">
                                          <p:val>
                                            <p:strVal val="#ppt_y"/>
                                          </p:val>
                                        </p:tav>
                                      </p:tavLst>
                                    </p:anim>
                                  </p:childTnLst>
                                </p:cTn>
                              </p:par>
                            </p:childTnLst>
                          </p:cTn>
                        </p:par>
                        <p:par>
                          <p:cTn id="24" fill="hold">
                            <p:stCondLst>
                              <p:cond delay="1000"/>
                            </p:stCondLst>
                            <p:childTnLst>
                              <p:par>
                                <p:cTn id="25" presetID="2" presetClass="entr" presetSubtype="2"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1+#ppt_w/2"/>
                                          </p:val>
                                        </p:tav>
                                        <p:tav tm="100000">
                                          <p:val>
                                            <p:strVal val="#ppt_x"/>
                                          </p:val>
                                        </p:tav>
                                      </p:tavLst>
                                    </p:anim>
                                    <p:anim calcmode="lin" valueType="num">
                                      <p:cBhvr additive="base">
                                        <p:cTn id="28" dur="500" fill="hold"/>
                                        <p:tgtEl>
                                          <p:spTgt spid="9"/>
                                        </p:tgtEl>
                                        <p:attrNameLst>
                                          <p:attrName>ppt_y</p:attrName>
                                        </p:attrNameLst>
                                      </p:cBhvr>
                                      <p:tavLst>
                                        <p:tav tm="0">
                                          <p:val>
                                            <p:strVal val="#ppt_y"/>
                                          </p:val>
                                        </p:tav>
                                        <p:tav tm="100000">
                                          <p:val>
                                            <p:strVal val="#ppt_y"/>
                                          </p:val>
                                        </p:tav>
                                      </p:tavLst>
                                    </p:anim>
                                  </p:childTnLst>
                                </p:cTn>
                              </p:par>
                            </p:childTnLst>
                          </p:cTn>
                        </p:par>
                        <p:par>
                          <p:cTn id="29" fill="hold">
                            <p:stCondLst>
                              <p:cond delay="1500"/>
                            </p:stCondLst>
                            <p:childTnLst>
                              <p:par>
                                <p:cTn id="30" presetID="2" presetClass="entr" presetSubtype="2" fill="hold" nodeType="after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500" fill="hold"/>
                                        <p:tgtEl>
                                          <p:spTgt spid="7"/>
                                        </p:tgtEl>
                                        <p:attrNameLst>
                                          <p:attrName>ppt_x</p:attrName>
                                        </p:attrNameLst>
                                      </p:cBhvr>
                                      <p:tavLst>
                                        <p:tav tm="0">
                                          <p:val>
                                            <p:strVal val="1+#ppt_w/2"/>
                                          </p:val>
                                        </p:tav>
                                        <p:tav tm="100000">
                                          <p:val>
                                            <p:strVal val="#ppt_x"/>
                                          </p:val>
                                        </p:tav>
                                      </p:tavLst>
                                    </p:anim>
                                    <p:anim calcmode="lin" valueType="num">
                                      <p:cBhvr additive="base">
                                        <p:cTn id="33"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nodeType="click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ppt_x</p:attrName>
                                        </p:attrNameLst>
                                      </p:cBhvr>
                                      <p:tavLst>
                                        <p:tav tm="0">
                                          <p:val>
                                            <p:strVal val="1+#ppt_w/2"/>
                                          </p:val>
                                        </p:tav>
                                        <p:tav tm="100000">
                                          <p:val>
                                            <p:strVal val="#ppt_x"/>
                                          </p:val>
                                        </p:tav>
                                      </p:tavLst>
                                    </p:anim>
                                    <p:anim calcmode="lin" valueType="num">
                                      <p:cBhvr additive="base">
                                        <p:cTn id="39" dur="500" fill="hold"/>
                                        <p:tgtEl>
                                          <p:spTgt spid="11"/>
                                        </p:tgtEl>
                                        <p:attrNameLst>
                                          <p:attrName>ppt_y</p:attrName>
                                        </p:attrNameLst>
                                      </p:cBhvr>
                                      <p:tavLst>
                                        <p:tav tm="0">
                                          <p:val>
                                            <p:strVal val="#ppt_y"/>
                                          </p:val>
                                        </p:tav>
                                        <p:tav tm="100000">
                                          <p:val>
                                            <p:strVal val="#ppt_y"/>
                                          </p:val>
                                        </p:tav>
                                      </p:tavLst>
                                    </p:anim>
                                  </p:childTnLst>
                                </p:cTn>
                              </p:par>
                            </p:childTnLst>
                          </p:cTn>
                        </p:par>
                        <p:par>
                          <p:cTn id="40" fill="hold">
                            <p:stCondLst>
                              <p:cond delay="500"/>
                            </p:stCondLst>
                            <p:childTnLst>
                              <p:par>
                                <p:cTn id="41" presetID="2" presetClass="entr" presetSubtype="2" fill="hold" nodeType="after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1+#ppt_w/2"/>
                                          </p:val>
                                        </p:tav>
                                        <p:tav tm="100000">
                                          <p:val>
                                            <p:strVal val="#ppt_x"/>
                                          </p:val>
                                        </p:tav>
                                      </p:tavLst>
                                    </p:anim>
                                    <p:anim calcmode="lin" valueType="num">
                                      <p:cBhvr additive="base">
                                        <p:cTn id="44"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nodeType="click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fill="hold"/>
                                        <p:tgtEl>
                                          <p:spTgt spid="12"/>
                                        </p:tgtEl>
                                        <p:attrNameLst>
                                          <p:attrName>ppt_x</p:attrName>
                                        </p:attrNameLst>
                                      </p:cBhvr>
                                      <p:tavLst>
                                        <p:tav tm="0">
                                          <p:val>
                                            <p:strVal val="1+#ppt_w/2"/>
                                          </p:val>
                                        </p:tav>
                                        <p:tav tm="100000">
                                          <p:val>
                                            <p:strVal val="#ppt_x"/>
                                          </p:val>
                                        </p:tav>
                                      </p:tavLst>
                                    </p:anim>
                                    <p:anim calcmode="lin" valueType="num">
                                      <p:cBhvr additive="base">
                                        <p:cTn id="50" dur="500" fill="hold"/>
                                        <p:tgtEl>
                                          <p:spTgt spid="12"/>
                                        </p:tgtEl>
                                        <p:attrNameLst>
                                          <p:attrName>ppt_y</p:attrName>
                                        </p:attrNameLst>
                                      </p:cBhvr>
                                      <p:tavLst>
                                        <p:tav tm="0">
                                          <p:val>
                                            <p:strVal val="#ppt_y"/>
                                          </p:val>
                                        </p:tav>
                                        <p:tav tm="100000">
                                          <p:val>
                                            <p:strVal val="#ppt_y"/>
                                          </p:val>
                                        </p:tav>
                                      </p:tavLst>
                                    </p:anim>
                                  </p:childTnLst>
                                </p:cTn>
                              </p:par>
                            </p:childTnLst>
                          </p:cTn>
                        </p:par>
                        <p:par>
                          <p:cTn id="51" fill="hold">
                            <p:stCondLst>
                              <p:cond delay="500"/>
                            </p:stCondLst>
                            <p:childTnLst>
                              <p:par>
                                <p:cTn id="52" presetID="2" presetClass="entr" presetSubtype="2" fill="hold" nodeType="afterEffect">
                                  <p:stCondLst>
                                    <p:cond delay="0"/>
                                  </p:stCondLst>
                                  <p:childTnLst>
                                    <p:set>
                                      <p:cBhvr>
                                        <p:cTn id="53" dur="1" fill="hold">
                                          <p:stCondLst>
                                            <p:cond delay="0"/>
                                          </p:stCondLst>
                                        </p:cTn>
                                        <p:tgtEl>
                                          <p:spTgt spid="19"/>
                                        </p:tgtEl>
                                        <p:attrNameLst>
                                          <p:attrName>style.visibility</p:attrName>
                                        </p:attrNameLst>
                                      </p:cBhvr>
                                      <p:to>
                                        <p:strVal val="visible"/>
                                      </p:to>
                                    </p:set>
                                    <p:anim calcmode="lin" valueType="num">
                                      <p:cBhvr additive="base">
                                        <p:cTn id="54" dur="500" fill="hold"/>
                                        <p:tgtEl>
                                          <p:spTgt spid="19"/>
                                        </p:tgtEl>
                                        <p:attrNameLst>
                                          <p:attrName>ppt_x</p:attrName>
                                        </p:attrNameLst>
                                      </p:cBhvr>
                                      <p:tavLst>
                                        <p:tav tm="0">
                                          <p:val>
                                            <p:strVal val="1+#ppt_w/2"/>
                                          </p:val>
                                        </p:tav>
                                        <p:tav tm="100000">
                                          <p:val>
                                            <p:strVal val="#ppt_x"/>
                                          </p:val>
                                        </p:tav>
                                      </p:tavLst>
                                    </p:anim>
                                    <p:anim calcmode="lin" valueType="num">
                                      <p:cBhvr additive="base">
                                        <p:cTn id="55"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2" fill="hold" nodeType="clickEffect">
                                  <p:stCondLst>
                                    <p:cond delay="0"/>
                                  </p:stCondLst>
                                  <p:childTnLst>
                                    <p:set>
                                      <p:cBhvr>
                                        <p:cTn id="59" dur="1" fill="hold">
                                          <p:stCondLst>
                                            <p:cond delay="0"/>
                                          </p:stCondLst>
                                        </p:cTn>
                                        <p:tgtEl>
                                          <p:spTgt spid="13"/>
                                        </p:tgtEl>
                                        <p:attrNameLst>
                                          <p:attrName>style.visibility</p:attrName>
                                        </p:attrNameLst>
                                      </p:cBhvr>
                                      <p:to>
                                        <p:strVal val="visible"/>
                                      </p:to>
                                    </p:set>
                                    <p:anim calcmode="lin" valueType="num">
                                      <p:cBhvr additive="base">
                                        <p:cTn id="60" dur="500" fill="hold"/>
                                        <p:tgtEl>
                                          <p:spTgt spid="13"/>
                                        </p:tgtEl>
                                        <p:attrNameLst>
                                          <p:attrName>ppt_x</p:attrName>
                                        </p:attrNameLst>
                                      </p:cBhvr>
                                      <p:tavLst>
                                        <p:tav tm="0">
                                          <p:val>
                                            <p:strVal val="1+#ppt_w/2"/>
                                          </p:val>
                                        </p:tav>
                                        <p:tav tm="100000">
                                          <p:val>
                                            <p:strVal val="#ppt_x"/>
                                          </p:val>
                                        </p:tav>
                                      </p:tavLst>
                                    </p:anim>
                                    <p:anim calcmode="lin" valueType="num">
                                      <p:cBhvr additive="base">
                                        <p:cTn id="61" dur="500" fill="hold"/>
                                        <p:tgtEl>
                                          <p:spTgt spid="13"/>
                                        </p:tgtEl>
                                        <p:attrNameLst>
                                          <p:attrName>ppt_y</p:attrName>
                                        </p:attrNameLst>
                                      </p:cBhvr>
                                      <p:tavLst>
                                        <p:tav tm="0">
                                          <p:val>
                                            <p:strVal val="#ppt_y"/>
                                          </p:val>
                                        </p:tav>
                                        <p:tav tm="100000">
                                          <p:val>
                                            <p:strVal val="#ppt_y"/>
                                          </p:val>
                                        </p:tav>
                                      </p:tavLst>
                                    </p:anim>
                                  </p:childTnLst>
                                </p:cTn>
                              </p:par>
                            </p:childTnLst>
                          </p:cTn>
                        </p:par>
                        <p:par>
                          <p:cTn id="62" fill="hold">
                            <p:stCondLst>
                              <p:cond delay="500"/>
                            </p:stCondLst>
                            <p:childTnLst>
                              <p:par>
                                <p:cTn id="63" presetID="2" presetClass="entr" presetSubtype="2" fill="hold" nodeType="afterEffect">
                                  <p:stCondLst>
                                    <p:cond delay="0"/>
                                  </p:stCondLst>
                                  <p:childTnLst>
                                    <p:set>
                                      <p:cBhvr>
                                        <p:cTn id="64" dur="1" fill="hold">
                                          <p:stCondLst>
                                            <p:cond delay="0"/>
                                          </p:stCondLst>
                                        </p:cTn>
                                        <p:tgtEl>
                                          <p:spTgt spid="23"/>
                                        </p:tgtEl>
                                        <p:attrNameLst>
                                          <p:attrName>style.visibility</p:attrName>
                                        </p:attrNameLst>
                                      </p:cBhvr>
                                      <p:to>
                                        <p:strVal val="visible"/>
                                      </p:to>
                                    </p:set>
                                    <p:anim calcmode="lin" valueType="num">
                                      <p:cBhvr additive="base">
                                        <p:cTn id="65" dur="500" fill="hold"/>
                                        <p:tgtEl>
                                          <p:spTgt spid="23"/>
                                        </p:tgtEl>
                                        <p:attrNameLst>
                                          <p:attrName>ppt_x</p:attrName>
                                        </p:attrNameLst>
                                      </p:cBhvr>
                                      <p:tavLst>
                                        <p:tav tm="0">
                                          <p:val>
                                            <p:strVal val="1+#ppt_w/2"/>
                                          </p:val>
                                        </p:tav>
                                        <p:tav tm="100000">
                                          <p:val>
                                            <p:strVal val="#ppt_x"/>
                                          </p:val>
                                        </p:tav>
                                      </p:tavLst>
                                    </p:anim>
                                    <p:anim calcmode="lin" valueType="num">
                                      <p:cBhvr additive="base">
                                        <p:cTn id="66"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2" fill="hold" nodeType="clickEffect">
                                  <p:stCondLst>
                                    <p:cond delay="0"/>
                                  </p:stCondLst>
                                  <p:childTnLst>
                                    <p:set>
                                      <p:cBhvr>
                                        <p:cTn id="70" dur="1" fill="hold">
                                          <p:stCondLst>
                                            <p:cond delay="0"/>
                                          </p:stCondLst>
                                        </p:cTn>
                                        <p:tgtEl>
                                          <p:spTgt spid="14"/>
                                        </p:tgtEl>
                                        <p:attrNameLst>
                                          <p:attrName>style.visibility</p:attrName>
                                        </p:attrNameLst>
                                      </p:cBhvr>
                                      <p:to>
                                        <p:strVal val="visible"/>
                                      </p:to>
                                    </p:set>
                                    <p:anim calcmode="lin" valueType="num">
                                      <p:cBhvr additive="base">
                                        <p:cTn id="71" dur="500" fill="hold"/>
                                        <p:tgtEl>
                                          <p:spTgt spid="14"/>
                                        </p:tgtEl>
                                        <p:attrNameLst>
                                          <p:attrName>ppt_x</p:attrName>
                                        </p:attrNameLst>
                                      </p:cBhvr>
                                      <p:tavLst>
                                        <p:tav tm="0">
                                          <p:val>
                                            <p:strVal val="1+#ppt_w/2"/>
                                          </p:val>
                                        </p:tav>
                                        <p:tav tm="100000">
                                          <p:val>
                                            <p:strVal val="#ppt_x"/>
                                          </p:val>
                                        </p:tav>
                                      </p:tavLst>
                                    </p:anim>
                                    <p:anim calcmode="lin" valueType="num">
                                      <p:cBhvr additive="base">
                                        <p:cTn id="72" dur="500" fill="hold"/>
                                        <p:tgtEl>
                                          <p:spTgt spid="14"/>
                                        </p:tgtEl>
                                        <p:attrNameLst>
                                          <p:attrName>ppt_y</p:attrName>
                                        </p:attrNameLst>
                                      </p:cBhvr>
                                      <p:tavLst>
                                        <p:tav tm="0">
                                          <p:val>
                                            <p:strVal val="#ppt_y"/>
                                          </p:val>
                                        </p:tav>
                                        <p:tav tm="100000">
                                          <p:val>
                                            <p:strVal val="#ppt_y"/>
                                          </p:val>
                                        </p:tav>
                                      </p:tavLst>
                                    </p:anim>
                                  </p:childTnLst>
                                </p:cTn>
                              </p:par>
                            </p:childTnLst>
                          </p:cTn>
                        </p:par>
                        <p:par>
                          <p:cTn id="73" fill="hold">
                            <p:stCondLst>
                              <p:cond delay="500"/>
                            </p:stCondLst>
                            <p:childTnLst>
                              <p:par>
                                <p:cTn id="74" presetID="2" presetClass="entr" presetSubtype="2" fill="hold" nodeType="afterEffect">
                                  <p:stCondLst>
                                    <p:cond delay="0"/>
                                  </p:stCondLst>
                                  <p:childTnLst>
                                    <p:set>
                                      <p:cBhvr>
                                        <p:cTn id="75" dur="1" fill="hold">
                                          <p:stCondLst>
                                            <p:cond delay="0"/>
                                          </p:stCondLst>
                                        </p:cTn>
                                        <p:tgtEl>
                                          <p:spTgt spid="27"/>
                                        </p:tgtEl>
                                        <p:attrNameLst>
                                          <p:attrName>style.visibility</p:attrName>
                                        </p:attrNameLst>
                                      </p:cBhvr>
                                      <p:to>
                                        <p:strVal val="visible"/>
                                      </p:to>
                                    </p:set>
                                    <p:anim calcmode="lin" valueType="num">
                                      <p:cBhvr additive="base">
                                        <p:cTn id="76" dur="500" fill="hold"/>
                                        <p:tgtEl>
                                          <p:spTgt spid="27"/>
                                        </p:tgtEl>
                                        <p:attrNameLst>
                                          <p:attrName>ppt_x</p:attrName>
                                        </p:attrNameLst>
                                      </p:cBhvr>
                                      <p:tavLst>
                                        <p:tav tm="0">
                                          <p:val>
                                            <p:strVal val="1+#ppt_w/2"/>
                                          </p:val>
                                        </p:tav>
                                        <p:tav tm="100000">
                                          <p:val>
                                            <p:strVal val="#ppt_x"/>
                                          </p:val>
                                        </p:tav>
                                      </p:tavLst>
                                    </p:anim>
                                    <p:anim calcmode="lin" valueType="num">
                                      <p:cBhvr additive="base">
                                        <p:cTn id="77"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2" fill="hold" nodeType="clickEffect">
                                  <p:stCondLst>
                                    <p:cond delay="0"/>
                                  </p:stCondLst>
                                  <p:childTnLst>
                                    <p:set>
                                      <p:cBhvr>
                                        <p:cTn id="81" dur="1" fill="hold">
                                          <p:stCondLst>
                                            <p:cond delay="0"/>
                                          </p:stCondLst>
                                        </p:cTn>
                                        <p:tgtEl>
                                          <p:spTgt spid="16"/>
                                        </p:tgtEl>
                                        <p:attrNameLst>
                                          <p:attrName>style.visibility</p:attrName>
                                        </p:attrNameLst>
                                      </p:cBhvr>
                                      <p:to>
                                        <p:strVal val="visible"/>
                                      </p:to>
                                    </p:set>
                                    <p:anim calcmode="lin" valueType="num">
                                      <p:cBhvr additive="base">
                                        <p:cTn id="82" dur="500" fill="hold"/>
                                        <p:tgtEl>
                                          <p:spTgt spid="16"/>
                                        </p:tgtEl>
                                        <p:attrNameLst>
                                          <p:attrName>ppt_x</p:attrName>
                                        </p:attrNameLst>
                                      </p:cBhvr>
                                      <p:tavLst>
                                        <p:tav tm="0">
                                          <p:val>
                                            <p:strVal val="1+#ppt_w/2"/>
                                          </p:val>
                                        </p:tav>
                                        <p:tav tm="100000">
                                          <p:val>
                                            <p:strVal val="#ppt_x"/>
                                          </p:val>
                                        </p:tav>
                                      </p:tavLst>
                                    </p:anim>
                                    <p:anim calcmode="lin" valueType="num">
                                      <p:cBhvr additive="base">
                                        <p:cTn id="83" dur="500" fill="hold"/>
                                        <p:tgtEl>
                                          <p:spTgt spid="16"/>
                                        </p:tgtEl>
                                        <p:attrNameLst>
                                          <p:attrName>ppt_y</p:attrName>
                                        </p:attrNameLst>
                                      </p:cBhvr>
                                      <p:tavLst>
                                        <p:tav tm="0">
                                          <p:val>
                                            <p:strVal val="#ppt_y"/>
                                          </p:val>
                                        </p:tav>
                                        <p:tav tm="100000">
                                          <p:val>
                                            <p:strVal val="#ppt_y"/>
                                          </p:val>
                                        </p:tav>
                                      </p:tavLst>
                                    </p:anim>
                                  </p:childTnLst>
                                </p:cTn>
                              </p:par>
                            </p:childTnLst>
                          </p:cTn>
                        </p:par>
                        <p:par>
                          <p:cTn id="84" fill="hold">
                            <p:stCondLst>
                              <p:cond delay="500"/>
                            </p:stCondLst>
                            <p:childTnLst>
                              <p:par>
                                <p:cTn id="85" presetID="2" presetClass="entr" presetSubtype="2" fill="hold" nodeType="afterEffect">
                                  <p:stCondLst>
                                    <p:cond delay="0"/>
                                  </p:stCondLst>
                                  <p:childTnLst>
                                    <p:set>
                                      <p:cBhvr>
                                        <p:cTn id="86" dur="1" fill="hold">
                                          <p:stCondLst>
                                            <p:cond delay="0"/>
                                          </p:stCondLst>
                                        </p:cTn>
                                        <p:tgtEl>
                                          <p:spTgt spid="20"/>
                                        </p:tgtEl>
                                        <p:attrNameLst>
                                          <p:attrName>style.visibility</p:attrName>
                                        </p:attrNameLst>
                                      </p:cBhvr>
                                      <p:to>
                                        <p:strVal val="visible"/>
                                      </p:to>
                                    </p:set>
                                    <p:anim calcmode="lin" valueType="num">
                                      <p:cBhvr additive="base">
                                        <p:cTn id="87" dur="500" fill="hold"/>
                                        <p:tgtEl>
                                          <p:spTgt spid="20"/>
                                        </p:tgtEl>
                                        <p:attrNameLst>
                                          <p:attrName>ppt_x</p:attrName>
                                        </p:attrNameLst>
                                      </p:cBhvr>
                                      <p:tavLst>
                                        <p:tav tm="0">
                                          <p:val>
                                            <p:strVal val="1+#ppt_w/2"/>
                                          </p:val>
                                        </p:tav>
                                        <p:tav tm="100000">
                                          <p:val>
                                            <p:strVal val="#ppt_x"/>
                                          </p:val>
                                        </p:tav>
                                      </p:tavLst>
                                    </p:anim>
                                    <p:anim calcmode="lin" valueType="num">
                                      <p:cBhvr additive="base">
                                        <p:cTn id="88"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2" presetClass="entr" presetSubtype="2" fill="hold" nodeType="clickEffect">
                                  <p:stCondLst>
                                    <p:cond delay="0"/>
                                  </p:stCondLst>
                                  <p:childTnLst>
                                    <p:set>
                                      <p:cBhvr>
                                        <p:cTn id="92" dur="1" fill="hold">
                                          <p:stCondLst>
                                            <p:cond delay="0"/>
                                          </p:stCondLst>
                                        </p:cTn>
                                        <p:tgtEl>
                                          <p:spTgt spid="17"/>
                                        </p:tgtEl>
                                        <p:attrNameLst>
                                          <p:attrName>style.visibility</p:attrName>
                                        </p:attrNameLst>
                                      </p:cBhvr>
                                      <p:to>
                                        <p:strVal val="visible"/>
                                      </p:to>
                                    </p:set>
                                    <p:anim calcmode="lin" valueType="num">
                                      <p:cBhvr additive="base">
                                        <p:cTn id="93" dur="500" fill="hold"/>
                                        <p:tgtEl>
                                          <p:spTgt spid="17"/>
                                        </p:tgtEl>
                                        <p:attrNameLst>
                                          <p:attrName>ppt_x</p:attrName>
                                        </p:attrNameLst>
                                      </p:cBhvr>
                                      <p:tavLst>
                                        <p:tav tm="0">
                                          <p:val>
                                            <p:strVal val="1+#ppt_w/2"/>
                                          </p:val>
                                        </p:tav>
                                        <p:tav tm="100000">
                                          <p:val>
                                            <p:strVal val="#ppt_x"/>
                                          </p:val>
                                        </p:tav>
                                      </p:tavLst>
                                    </p:anim>
                                    <p:anim calcmode="lin" valueType="num">
                                      <p:cBhvr additive="base">
                                        <p:cTn id="94" dur="500" fill="hold"/>
                                        <p:tgtEl>
                                          <p:spTgt spid="17"/>
                                        </p:tgtEl>
                                        <p:attrNameLst>
                                          <p:attrName>ppt_y</p:attrName>
                                        </p:attrNameLst>
                                      </p:cBhvr>
                                      <p:tavLst>
                                        <p:tav tm="0">
                                          <p:val>
                                            <p:strVal val="#ppt_y"/>
                                          </p:val>
                                        </p:tav>
                                        <p:tav tm="100000">
                                          <p:val>
                                            <p:strVal val="#ppt_y"/>
                                          </p:val>
                                        </p:tav>
                                      </p:tavLst>
                                    </p:anim>
                                  </p:childTnLst>
                                </p:cTn>
                              </p:par>
                            </p:childTnLst>
                          </p:cTn>
                        </p:par>
                        <p:par>
                          <p:cTn id="95" fill="hold">
                            <p:stCondLst>
                              <p:cond delay="500"/>
                            </p:stCondLst>
                            <p:childTnLst>
                              <p:par>
                                <p:cTn id="96" presetID="2" presetClass="entr" presetSubtype="2" fill="hold" nodeType="afterEffect">
                                  <p:stCondLst>
                                    <p:cond delay="0"/>
                                  </p:stCondLst>
                                  <p:childTnLst>
                                    <p:set>
                                      <p:cBhvr>
                                        <p:cTn id="97" dur="1" fill="hold">
                                          <p:stCondLst>
                                            <p:cond delay="0"/>
                                          </p:stCondLst>
                                        </p:cTn>
                                        <p:tgtEl>
                                          <p:spTgt spid="24"/>
                                        </p:tgtEl>
                                        <p:attrNameLst>
                                          <p:attrName>style.visibility</p:attrName>
                                        </p:attrNameLst>
                                      </p:cBhvr>
                                      <p:to>
                                        <p:strVal val="visible"/>
                                      </p:to>
                                    </p:set>
                                    <p:anim calcmode="lin" valueType="num">
                                      <p:cBhvr additive="base">
                                        <p:cTn id="98" dur="500" fill="hold"/>
                                        <p:tgtEl>
                                          <p:spTgt spid="24"/>
                                        </p:tgtEl>
                                        <p:attrNameLst>
                                          <p:attrName>ppt_x</p:attrName>
                                        </p:attrNameLst>
                                      </p:cBhvr>
                                      <p:tavLst>
                                        <p:tav tm="0">
                                          <p:val>
                                            <p:strVal val="1+#ppt_w/2"/>
                                          </p:val>
                                        </p:tav>
                                        <p:tav tm="100000">
                                          <p:val>
                                            <p:strVal val="#ppt_x"/>
                                          </p:val>
                                        </p:tav>
                                      </p:tavLst>
                                    </p:anim>
                                    <p:anim calcmode="lin" valueType="num">
                                      <p:cBhvr additive="base">
                                        <p:cTn id="99"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2" presetClass="entr" presetSubtype="2" fill="hold" nodeType="clickEffect">
                                  <p:stCondLst>
                                    <p:cond delay="0"/>
                                  </p:stCondLst>
                                  <p:childTnLst>
                                    <p:set>
                                      <p:cBhvr>
                                        <p:cTn id="103" dur="1" fill="hold">
                                          <p:stCondLst>
                                            <p:cond delay="0"/>
                                          </p:stCondLst>
                                        </p:cTn>
                                        <p:tgtEl>
                                          <p:spTgt spid="18"/>
                                        </p:tgtEl>
                                        <p:attrNameLst>
                                          <p:attrName>style.visibility</p:attrName>
                                        </p:attrNameLst>
                                      </p:cBhvr>
                                      <p:to>
                                        <p:strVal val="visible"/>
                                      </p:to>
                                    </p:set>
                                    <p:anim calcmode="lin" valueType="num">
                                      <p:cBhvr additive="base">
                                        <p:cTn id="104" dur="500" fill="hold"/>
                                        <p:tgtEl>
                                          <p:spTgt spid="18"/>
                                        </p:tgtEl>
                                        <p:attrNameLst>
                                          <p:attrName>ppt_x</p:attrName>
                                        </p:attrNameLst>
                                      </p:cBhvr>
                                      <p:tavLst>
                                        <p:tav tm="0">
                                          <p:val>
                                            <p:strVal val="1+#ppt_w/2"/>
                                          </p:val>
                                        </p:tav>
                                        <p:tav tm="100000">
                                          <p:val>
                                            <p:strVal val="#ppt_x"/>
                                          </p:val>
                                        </p:tav>
                                      </p:tavLst>
                                    </p:anim>
                                    <p:anim calcmode="lin" valueType="num">
                                      <p:cBhvr additive="base">
                                        <p:cTn id="105" dur="500" fill="hold"/>
                                        <p:tgtEl>
                                          <p:spTgt spid="18"/>
                                        </p:tgtEl>
                                        <p:attrNameLst>
                                          <p:attrName>ppt_y</p:attrName>
                                        </p:attrNameLst>
                                      </p:cBhvr>
                                      <p:tavLst>
                                        <p:tav tm="0">
                                          <p:val>
                                            <p:strVal val="#ppt_y"/>
                                          </p:val>
                                        </p:tav>
                                        <p:tav tm="100000">
                                          <p:val>
                                            <p:strVal val="#ppt_y"/>
                                          </p:val>
                                        </p:tav>
                                      </p:tavLst>
                                    </p:anim>
                                  </p:childTnLst>
                                </p:cTn>
                              </p:par>
                            </p:childTnLst>
                          </p:cTn>
                        </p:par>
                        <p:par>
                          <p:cTn id="106" fill="hold">
                            <p:stCondLst>
                              <p:cond delay="500"/>
                            </p:stCondLst>
                            <p:childTnLst>
                              <p:par>
                                <p:cTn id="107" presetID="2" presetClass="entr" presetSubtype="2" fill="hold" nodeType="afterEffect">
                                  <p:stCondLst>
                                    <p:cond delay="0"/>
                                  </p:stCondLst>
                                  <p:childTnLst>
                                    <p:set>
                                      <p:cBhvr>
                                        <p:cTn id="108" dur="1" fill="hold">
                                          <p:stCondLst>
                                            <p:cond delay="0"/>
                                          </p:stCondLst>
                                        </p:cTn>
                                        <p:tgtEl>
                                          <p:spTgt spid="28"/>
                                        </p:tgtEl>
                                        <p:attrNameLst>
                                          <p:attrName>style.visibility</p:attrName>
                                        </p:attrNameLst>
                                      </p:cBhvr>
                                      <p:to>
                                        <p:strVal val="visible"/>
                                      </p:to>
                                    </p:set>
                                    <p:anim calcmode="lin" valueType="num">
                                      <p:cBhvr additive="base">
                                        <p:cTn id="109" dur="500" fill="hold"/>
                                        <p:tgtEl>
                                          <p:spTgt spid="28"/>
                                        </p:tgtEl>
                                        <p:attrNameLst>
                                          <p:attrName>ppt_x</p:attrName>
                                        </p:attrNameLst>
                                      </p:cBhvr>
                                      <p:tavLst>
                                        <p:tav tm="0">
                                          <p:val>
                                            <p:strVal val="1+#ppt_w/2"/>
                                          </p:val>
                                        </p:tav>
                                        <p:tav tm="100000">
                                          <p:val>
                                            <p:strVal val="#ppt_x"/>
                                          </p:val>
                                        </p:tav>
                                      </p:tavLst>
                                    </p:anim>
                                    <p:anim calcmode="lin" valueType="num">
                                      <p:cBhvr additive="base">
                                        <p:cTn id="110"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2" fill="hold" nodeType="clickEffect">
                                  <p:stCondLst>
                                    <p:cond delay="0"/>
                                  </p:stCondLst>
                                  <p:childTnLst>
                                    <p:set>
                                      <p:cBhvr>
                                        <p:cTn id="114" dur="1" fill="hold">
                                          <p:stCondLst>
                                            <p:cond delay="0"/>
                                          </p:stCondLst>
                                        </p:cTn>
                                        <p:tgtEl>
                                          <p:spTgt spid="21"/>
                                        </p:tgtEl>
                                        <p:attrNameLst>
                                          <p:attrName>style.visibility</p:attrName>
                                        </p:attrNameLst>
                                      </p:cBhvr>
                                      <p:to>
                                        <p:strVal val="visible"/>
                                      </p:to>
                                    </p:set>
                                    <p:anim calcmode="lin" valueType="num">
                                      <p:cBhvr additive="base">
                                        <p:cTn id="115" dur="500" fill="hold"/>
                                        <p:tgtEl>
                                          <p:spTgt spid="21"/>
                                        </p:tgtEl>
                                        <p:attrNameLst>
                                          <p:attrName>ppt_x</p:attrName>
                                        </p:attrNameLst>
                                      </p:cBhvr>
                                      <p:tavLst>
                                        <p:tav tm="0">
                                          <p:val>
                                            <p:strVal val="1+#ppt_w/2"/>
                                          </p:val>
                                        </p:tav>
                                        <p:tav tm="100000">
                                          <p:val>
                                            <p:strVal val="#ppt_x"/>
                                          </p:val>
                                        </p:tav>
                                      </p:tavLst>
                                    </p:anim>
                                    <p:anim calcmode="lin" valueType="num">
                                      <p:cBhvr additive="base">
                                        <p:cTn id="116" dur="500" fill="hold"/>
                                        <p:tgtEl>
                                          <p:spTgt spid="21"/>
                                        </p:tgtEl>
                                        <p:attrNameLst>
                                          <p:attrName>ppt_y</p:attrName>
                                        </p:attrNameLst>
                                      </p:cBhvr>
                                      <p:tavLst>
                                        <p:tav tm="0">
                                          <p:val>
                                            <p:strVal val="#ppt_y"/>
                                          </p:val>
                                        </p:tav>
                                        <p:tav tm="100000">
                                          <p:val>
                                            <p:strVal val="#ppt_y"/>
                                          </p:val>
                                        </p:tav>
                                      </p:tavLst>
                                    </p:anim>
                                  </p:childTnLst>
                                </p:cTn>
                              </p:par>
                            </p:childTnLst>
                          </p:cTn>
                        </p:par>
                        <p:par>
                          <p:cTn id="117" fill="hold">
                            <p:stCondLst>
                              <p:cond delay="500"/>
                            </p:stCondLst>
                            <p:childTnLst>
                              <p:par>
                                <p:cTn id="118" presetID="2" presetClass="entr" presetSubtype="2" fill="hold" nodeType="afterEffect">
                                  <p:stCondLst>
                                    <p:cond delay="0"/>
                                  </p:stCondLst>
                                  <p:childTnLst>
                                    <p:set>
                                      <p:cBhvr>
                                        <p:cTn id="119" dur="1" fill="hold">
                                          <p:stCondLst>
                                            <p:cond delay="0"/>
                                          </p:stCondLst>
                                        </p:cTn>
                                        <p:tgtEl>
                                          <p:spTgt spid="25"/>
                                        </p:tgtEl>
                                        <p:attrNameLst>
                                          <p:attrName>style.visibility</p:attrName>
                                        </p:attrNameLst>
                                      </p:cBhvr>
                                      <p:to>
                                        <p:strVal val="visible"/>
                                      </p:to>
                                    </p:set>
                                    <p:anim calcmode="lin" valueType="num">
                                      <p:cBhvr additive="base">
                                        <p:cTn id="120" dur="500" fill="hold"/>
                                        <p:tgtEl>
                                          <p:spTgt spid="25"/>
                                        </p:tgtEl>
                                        <p:attrNameLst>
                                          <p:attrName>ppt_x</p:attrName>
                                        </p:attrNameLst>
                                      </p:cBhvr>
                                      <p:tavLst>
                                        <p:tav tm="0">
                                          <p:val>
                                            <p:strVal val="1+#ppt_w/2"/>
                                          </p:val>
                                        </p:tav>
                                        <p:tav tm="100000">
                                          <p:val>
                                            <p:strVal val="#ppt_x"/>
                                          </p:val>
                                        </p:tav>
                                      </p:tavLst>
                                    </p:anim>
                                    <p:anim calcmode="lin" valueType="num">
                                      <p:cBhvr additive="base">
                                        <p:cTn id="121"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2" presetClass="entr" presetSubtype="2" fill="hold" nodeType="clickEffect">
                                  <p:stCondLst>
                                    <p:cond delay="0"/>
                                  </p:stCondLst>
                                  <p:childTnLst>
                                    <p:set>
                                      <p:cBhvr>
                                        <p:cTn id="125" dur="1" fill="hold">
                                          <p:stCondLst>
                                            <p:cond delay="0"/>
                                          </p:stCondLst>
                                        </p:cTn>
                                        <p:tgtEl>
                                          <p:spTgt spid="22"/>
                                        </p:tgtEl>
                                        <p:attrNameLst>
                                          <p:attrName>style.visibility</p:attrName>
                                        </p:attrNameLst>
                                      </p:cBhvr>
                                      <p:to>
                                        <p:strVal val="visible"/>
                                      </p:to>
                                    </p:set>
                                    <p:anim calcmode="lin" valueType="num">
                                      <p:cBhvr additive="base">
                                        <p:cTn id="126" dur="500" fill="hold"/>
                                        <p:tgtEl>
                                          <p:spTgt spid="22"/>
                                        </p:tgtEl>
                                        <p:attrNameLst>
                                          <p:attrName>ppt_x</p:attrName>
                                        </p:attrNameLst>
                                      </p:cBhvr>
                                      <p:tavLst>
                                        <p:tav tm="0">
                                          <p:val>
                                            <p:strVal val="1+#ppt_w/2"/>
                                          </p:val>
                                        </p:tav>
                                        <p:tav tm="100000">
                                          <p:val>
                                            <p:strVal val="#ppt_x"/>
                                          </p:val>
                                        </p:tav>
                                      </p:tavLst>
                                    </p:anim>
                                    <p:anim calcmode="lin" valueType="num">
                                      <p:cBhvr additive="base">
                                        <p:cTn id="127" dur="500" fill="hold"/>
                                        <p:tgtEl>
                                          <p:spTgt spid="22"/>
                                        </p:tgtEl>
                                        <p:attrNameLst>
                                          <p:attrName>ppt_y</p:attrName>
                                        </p:attrNameLst>
                                      </p:cBhvr>
                                      <p:tavLst>
                                        <p:tav tm="0">
                                          <p:val>
                                            <p:strVal val="#ppt_y"/>
                                          </p:val>
                                        </p:tav>
                                        <p:tav tm="100000">
                                          <p:val>
                                            <p:strVal val="#ppt_y"/>
                                          </p:val>
                                        </p:tav>
                                      </p:tavLst>
                                    </p:anim>
                                  </p:childTnLst>
                                </p:cTn>
                              </p:par>
                            </p:childTnLst>
                          </p:cTn>
                        </p:par>
                        <p:par>
                          <p:cTn id="128" fill="hold">
                            <p:stCondLst>
                              <p:cond delay="500"/>
                            </p:stCondLst>
                            <p:childTnLst>
                              <p:par>
                                <p:cTn id="129" presetID="2" presetClass="entr" presetSubtype="2" fill="hold" nodeType="afterEffect">
                                  <p:stCondLst>
                                    <p:cond delay="0"/>
                                  </p:stCondLst>
                                  <p:childTnLst>
                                    <p:set>
                                      <p:cBhvr>
                                        <p:cTn id="130" dur="1" fill="hold">
                                          <p:stCondLst>
                                            <p:cond delay="0"/>
                                          </p:stCondLst>
                                        </p:cTn>
                                        <p:tgtEl>
                                          <p:spTgt spid="29"/>
                                        </p:tgtEl>
                                        <p:attrNameLst>
                                          <p:attrName>style.visibility</p:attrName>
                                        </p:attrNameLst>
                                      </p:cBhvr>
                                      <p:to>
                                        <p:strVal val="visible"/>
                                      </p:to>
                                    </p:set>
                                    <p:anim calcmode="lin" valueType="num">
                                      <p:cBhvr additive="base">
                                        <p:cTn id="131" dur="500" fill="hold"/>
                                        <p:tgtEl>
                                          <p:spTgt spid="29"/>
                                        </p:tgtEl>
                                        <p:attrNameLst>
                                          <p:attrName>ppt_x</p:attrName>
                                        </p:attrNameLst>
                                      </p:cBhvr>
                                      <p:tavLst>
                                        <p:tav tm="0">
                                          <p:val>
                                            <p:strVal val="1+#ppt_w/2"/>
                                          </p:val>
                                        </p:tav>
                                        <p:tav tm="100000">
                                          <p:val>
                                            <p:strVal val="#ppt_x"/>
                                          </p:val>
                                        </p:tav>
                                      </p:tavLst>
                                    </p:anim>
                                    <p:anim calcmode="lin" valueType="num">
                                      <p:cBhvr additive="base">
                                        <p:cTn id="132"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133" fill="hold">
                      <p:stCondLst>
                        <p:cond delay="indefinite"/>
                      </p:stCondLst>
                      <p:childTnLst>
                        <p:par>
                          <p:cTn id="134" fill="hold">
                            <p:stCondLst>
                              <p:cond delay="0"/>
                            </p:stCondLst>
                            <p:childTnLst>
                              <p:par>
                                <p:cTn id="135" presetID="2" presetClass="entr" presetSubtype="2" fill="hold" nodeType="clickEffect">
                                  <p:stCondLst>
                                    <p:cond delay="0"/>
                                  </p:stCondLst>
                                  <p:childTnLst>
                                    <p:set>
                                      <p:cBhvr>
                                        <p:cTn id="136" dur="1" fill="hold">
                                          <p:stCondLst>
                                            <p:cond delay="0"/>
                                          </p:stCondLst>
                                        </p:cTn>
                                        <p:tgtEl>
                                          <p:spTgt spid="26"/>
                                        </p:tgtEl>
                                        <p:attrNameLst>
                                          <p:attrName>style.visibility</p:attrName>
                                        </p:attrNameLst>
                                      </p:cBhvr>
                                      <p:to>
                                        <p:strVal val="visible"/>
                                      </p:to>
                                    </p:set>
                                    <p:anim calcmode="lin" valueType="num">
                                      <p:cBhvr additive="base">
                                        <p:cTn id="137" dur="500" fill="hold"/>
                                        <p:tgtEl>
                                          <p:spTgt spid="26"/>
                                        </p:tgtEl>
                                        <p:attrNameLst>
                                          <p:attrName>ppt_x</p:attrName>
                                        </p:attrNameLst>
                                      </p:cBhvr>
                                      <p:tavLst>
                                        <p:tav tm="0">
                                          <p:val>
                                            <p:strVal val="1+#ppt_w/2"/>
                                          </p:val>
                                        </p:tav>
                                        <p:tav tm="100000">
                                          <p:val>
                                            <p:strVal val="#ppt_x"/>
                                          </p:val>
                                        </p:tav>
                                      </p:tavLst>
                                    </p:anim>
                                    <p:anim calcmode="lin" valueType="num">
                                      <p:cBhvr additive="base">
                                        <p:cTn id="138" dur="500" fill="hold"/>
                                        <p:tgtEl>
                                          <p:spTgt spid="26"/>
                                        </p:tgtEl>
                                        <p:attrNameLst>
                                          <p:attrName>ppt_y</p:attrName>
                                        </p:attrNameLst>
                                      </p:cBhvr>
                                      <p:tavLst>
                                        <p:tav tm="0">
                                          <p:val>
                                            <p:strVal val="#ppt_y"/>
                                          </p:val>
                                        </p:tav>
                                        <p:tav tm="100000">
                                          <p:val>
                                            <p:strVal val="#ppt_y"/>
                                          </p:val>
                                        </p:tav>
                                      </p:tavLst>
                                    </p:anim>
                                  </p:childTnLst>
                                </p:cTn>
                              </p:par>
                            </p:childTnLst>
                          </p:cTn>
                        </p:par>
                        <p:par>
                          <p:cTn id="139" fill="hold">
                            <p:stCondLst>
                              <p:cond delay="500"/>
                            </p:stCondLst>
                            <p:childTnLst>
                              <p:par>
                                <p:cTn id="140" presetID="2" presetClass="entr" presetSubtype="2" fill="hold" nodeType="afterEffect">
                                  <p:stCondLst>
                                    <p:cond delay="0"/>
                                  </p:stCondLst>
                                  <p:childTnLst>
                                    <p:set>
                                      <p:cBhvr>
                                        <p:cTn id="141" dur="1" fill="hold">
                                          <p:stCondLst>
                                            <p:cond delay="0"/>
                                          </p:stCondLst>
                                        </p:cTn>
                                        <p:tgtEl>
                                          <p:spTgt spid="30"/>
                                        </p:tgtEl>
                                        <p:attrNameLst>
                                          <p:attrName>style.visibility</p:attrName>
                                        </p:attrNameLst>
                                      </p:cBhvr>
                                      <p:to>
                                        <p:strVal val="visible"/>
                                      </p:to>
                                    </p:set>
                                    <p:anim calcmode="lin" valueType="num">
                                      <p:cBhvr additive="base">
                                        <p:cTn id="142" dur="500" fill="hold"/>
                                        <p:tgtEl>
                                          <p:spTgt spid="30"/>
                                        </p:tgtEl>
                                        <p:attrNameLst>
                                          <p:attrName>ppt_x</p:attrName>
                                        </p:attrNameLst>
                                      </p:cBhvr>
                                      <p:tavLst>
                                        <p:tav tm="0">
                                          <p:val>
                                            <p:strVal val="1+#ppt_w/2"/>
                                          </p:val>
                                        </p:tav>
                                        <p:tav tm="100000">
                                          <p:val>
                                            <p:strVal val="#ppt_x"/>
                                          </p:val>
                                        </p:tav>
                                      </p:tavLst>
                                    </p:anim>
                                    <p:anim calcmode="lin" valueType="num">
                                      <p:cBhvr additive="base">
                                        <p:cTn id="143"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144" fill="hold">
                      <p:stCondLst>
                        <p:cond delay="indefinite"/>
                      </p:stCondLst>
                      <p:childTnLst>
                        <p:par>
                          <p:cTn id="145" fill="hold">
                            <p:stCondLst>
                              <p:cond delay="0"/>
                            </p:stCondLst>
                            <p:childTnLst>
                              <p:par>
                                <p:cTn id="146" presetID="5" presetClass="entr" presetSubtype="10" fill="hold" nodeType="clickEffect">
                                  <p:stCondLst>
                                    <p:cond delay="0"/>
                                  </p:stCondLst>
                                  <p:childTnLst>
                                    <p:set>
                                      <p:cBhvr>
                                        <p:cTn id="147" dur="1" fill="hold">
                                          <p:stCondLst>
                                            <p:cond delay="0"/>
                                          </p:stCondLst>
                                        </p:cTn>
                                        <p:tgtEl>
                                          <p:spTgt spid="31"/>
                                        </p:tgtEl>
                                        <p:attrNameLst>
                                          <p:attrName>style.visibility</p:attrName>
                                        </p:attrNameLst>
                                      </p:cBhvr>
                                      <p:to>
                                        <p:strVal val="visible"/>
                                      </p:to>
                                    </p:set>
                                    <p:animEffect transition="in" filter="checkerboard(across)">
                                      <p:cBhvr>
                                        <p:cTn id="148" dur="500"/>
                                        <p:tgtEl>
                                          <p:spTgt spid="31"/>
                                        </p:tgtEl>
                                      </p:cBhvr>
                                    </p:animEffect>
                                  </p:childTnLst>
                                </p:cTn>
                              </p:par>
                            </p:childTnLst>
                          </p:cTn>
                        </p:par>
                      </p:childTnLst>
                    </p:cTn>
                  </p:par>
                  <p:par>
                    <p:cTn id="149" fill="hold">
                      <p:stCondLst>
                        <p:cond delay="indefinite"/>
                      </p:stCondLst>
                      <p:childTnLst>
                        <p:par>
                          <p:cTn id="150" fill="hold">
                            <p:stCondLst>
                              <p:cond delay="0"/>
                            </p:stCondLst>
                            <p:childTnLst>
                              <p:par>
                                <p:cTn id="151" presetID="2" presetClass="entr" presetSubtype="12" fill="hold" grpId="0" nodeType="clickEffect">
                                  <p:stCondLst>
                                    <p:cond delay="0"/>
                                  </p:stCondLst>
                                  <p:childTnLst>
                                    <p:set>
                                      <p:cBhvr>
                                        <p:cTn id="152" dur="1" fill="hold">
                                          <p:stCondLst>
                                            <p:cond delay="0"/>
                                          </p:stCondLst>
                                        </p:cTn>
                                        <p:tgtEl>
                                          <p:spTgt spid="32"/>
                                        </p:tgtEl>
                                        <p:attrNameLst>
                                          <p:attrName>style.visibility</p:attrName>
                                        </p:attrNameLst>
                                      </p:cBhvr>
                                      <p:to>
                                        <p:strVal val="visible"/>
                                      </p:to>
                                    </p:set>
                                    <p:anim calcmode="lin" valueType="num">
                                      <p:cBhvr additive="base">
                                        <p:cTn id="153" dur="500" fill="hold"/>
                                        <p:tgtEl>
                                          <p:spTgt spid="32"/>
                                        </p:tgtEl>
                                        <p:attrNameLst>
                                          <p:attrName>ppt_x</p:attrName>
                                        </p:attrNameLst>
                                      </p:cBhvr>
                                      <p:tavLst>
                                        <p:tav tm="0">
                                          <p:val>
                                            <p:strVal val="0-#ppt_w/2"/>
                                          </p:val>
                                        </p:tav>
                                        <p:tav tm="100000">
                                          <p:val>
                                            <p:strVal val="#ppt_x"/>
                                          </p:val>
                                        </p:tav>
                                      </p:tavLst>
                                    </p:anim>
                                    <p:anim calcmode="lin" valueType="num">
                                      <p:cBhvr additive="base">
                                        <p:cTn id="154"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155" fill="hold">
                      <p:stCondLst>
                        <p:cond delay="indefinite"/>
                      </p:stCondLst>
                      <p:childTnLst>
                        <p:par>
                          <p:cTn id="156" fill="hold">
                            <p:stCondLst>
                              <p:cond delay="0"/>
                            </p:stCondLst>
                            <p:childTnLst>
                              <p:par>
                                <p:cTn id="157" presetID="56" presetClass="path" presetSubtype="0" accel="50000" decel="50000" fill="hold" grpId="1" nodeType="clickEffect">
                                  <p:stCondLst>
                                    <p:cond delay="0"/>
                                  </p:stCondLst>
                                  <p:childTnLst>
                                    <p:animMotion origin="layout" path="M 3.88889E-6 -2.96296E-6 L -3.33333E-6 1.11111E-6 " pathEditMode="relative" rAng="0" ptsTypes="AA">
                                      <p:cBhvr>
                                        <p:cTn id="158" dur="2000" fill="hold"/>
                                        <p:tgtEl>
                                          <p:spTgt spid="32"/>
                                        </p:tgtEl>
                                        <p:attrNameLst>
                                          <p:attrName>ppt_x</p:attrName>
                                          <p:attrName>ppt_y</p:attrName>
                                        </p:attrNameLst>
                                      </p:cBhvr>
                                      <p:rCtr x="1580" y="-215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2" grpId="1" animBg="1"/>
      <p:bldP spid="35" grpId="0" animBg="1"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Example 3.24:</a:t>
            </a:r>
            <a:endParaRPr lang="en-GB"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pPr>
              <a:defRPr/>
            </a:pPr>
            <a:fld id="{D838EFC1-33E8-4A03-810B-532BFB27C302}"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70</a:t>
            </a:fld>
            <a:endParaRPr lang="en-US"/>
          </a:p>
        </p:txBody>
      </p:sp>
      <p:sp>
        <p:nvSpPr>
          <p:cNvPr id="6" name="Footer Placeholder 5"/>
          <p:cNvSpPr>
            <a:spLocks noGrp="1"/>
          </p:cNvSpPr>
          <p:nvPr>
            <p:ph type="ftr" sz="quarter" idx="11"/>
          </p:nvPr>
        </p:nvSpPr>
        <p:spPr/>
        <p:txBody>
          <a:bodyPr/>
          <a:lstStyle/>
          <a:p>
            <a:pPr>
              <a:defRPr/>
            </a:pPr>
            <a:r>
              <a:rPr lang="en-US"/>
              <a:t>STAT 154 -09</a:t>
            </a:r>
          </a:p>
        </p:txBody>
      </p:sp>
      <mc:AlternateContent xmlns:mc="http://schemas.openxmlformats.org/markup-compatibility/2006" xmlns:a14="http://schemas.microsoft.com/office/drawing/2010/main">
        <mc:Choice Requires="a14">
          <p:sp>
            <p:nvSpPr>
              <p:cNvPr id="8" name="Content Placeholder 2"/>
              <p:cNvSpPr>
                <a:spLocks noGrp="1"/>
              </p:cNvSpPr>
              <p:nvPr>
                <p:ph sz="quarter" idx="1"/>
              </p:nvPr>
            </p:nvSpPr>
            <p:spPr>
              <a:xfrm>
                <a:off x="259080" y="1447800"/>
                <a:ext cx="8503920" cy="4572000"/>
              </a:xfrm>
            </p:spPr>
            <p:txBody>
              <a:bodyPr/>
              <a:lstStyle/>
              <a:p>
                <a:pPr marL="0" indent="0" algn="just">
                  <a:buNone/>
                </a:pPr>
                <a:r>
                  <a:rPr lang="en-IN" sz="3000" dirty="0">
                    <a:latin typeface="Times New Roman" pitchFamily="18" charset="0"/>
                    <a:cs typeface="Times New Roman" pitchFamily="18" charset="0"/>
                  </a:rPr>
                  <a:t>Two different items could be selected from four different items in</a:t>
                </a:r>
              </a:p>
              <a:p>
                <a:pPr marL="0" indent="0" algn="just">
                  <a:buNone/>
                </a:pPr>
                <a14:m>
                  <m:oMath xmlns:m="http://schemas.openxmlformats.org/officeDocument/2006/math">
                    <m:f>
                      <m:fPr>
                        <m:ctrlPr>
                          <a:rPr lang="en-GB" sz="3000" i="1" smtClean="0">
                            <a:latin typeface="Cambria Math" panose="02040503050406030204" pitchFamily="18" charset="0"/>
                            <a:cs typeface="Times New Roman" pitchFamily="18" charset="0"/>
                          </a:rPr>
                        </m:ctrlPr>
                      </m:fPr>
                      <m:num>
                        <m:r>
                          <a:rPr lang="en-GB" sz="3000" b="0" i="1" smtClean="0">
                            <a:latin typeface="Cambria Math"/>
                            <a:cs typeface="Times New Roman" pitchFamily="18" charset="0"/>
                          </a:rPr>
                          <m:t>4∗3</m:t>
                        </m:r>
                      </m:num>
                      <m:den>
                        <m:r>
                          <a:rPr lang="en-GB" sz="3000" b="0" i="1" smtClean="0">
                            <a:latin typeface="Cambria Math"/>
                            <a:cs typeface="Times New Roman" pitchFamily="18" charset="0"/>
                          </a:rPr>
                          <m:t>2∗1</m:t>
                        </m:r>
                      </m:den>
                    </m:f>
                    <m:r>
                      <a:rPr lang="en-GB" sz="3000" b="0" i="1" smtClean="0">
                        <a:latin typeface="Cambria Math"/>
                        <a:cs typeface="Times New Roman" pitchFamily="18" charset="0"/>
                      </a:rPr>
                      <m:t>=6</m:t>
                    </m:r>
                  </m:oMath>
                </a14:m>
                <a:r>
                  <a:rPr lang="en-GB" sz="3000" dirty="0">
                    <a:latin typeface="Times New Roman" pitchFamily="18" charset="0"/>
                    <a:cs typeface="Times New Roman" pitchFamily="18" charset="0"/>
                  </a:rPr>
                  <a:t>  or </a:t>
                </a:r>
                <a14:m>
                  <m:oMath xmlns:m="http://schemas.openxmlformats.org/officeDocument/2006/math">
                    <m:r>
                      <a:rPr lang="en-GB" sz="2800" b="0" i="1" baseline="-25000" smtClean="0">
                        <a:latin typeface="Cambria Math"/>
                        <a:cs typeface="Times New Roman" pitchFamily="18" charset="0"/>
                      </a:rPr>
                      <m:t>4</m:t>
                    </m:r>
                    <m:r>
                      <a:rPr lang="en-GB" sz="2800" b="0" i="1" smtClean="0">
                        <a:latin typeface="Cambria Math"/>
                        <a:cs typeface="Times New Roman" pitchFamily="18" charset="0"/>
                      </a:rPr>
                      <m:t>𝐶</m:t>
                    </m:r>
                    <m:r>
                      <a:rPr lang="en-GB" sz="2800" b="0" i="1" baseline="-25000" smtClean="0">
                        <a:latin typeface="Cambria Math"/>
                        <a:cs typeface="Times New Roman" pitchFamily="18" charset="0"/>
                      </a:rPr>
                      <m:t>2</m:t>
                    </m:r>
                  </m:oMath>
                </a14:m>
                <a:r>
                  <a:rPr lang="en-GB" sz="3000" dirty="0">
                    <a:latin typeface="Times New Roman" pitchFamily="18" charset="0"/>
                    <a:cs typeface="Times New Roman" pitchFamily="18" charset="0"/>
                  </a:rPr>
                  <a:t>= </a:t>
                </a:r>
                <a14:m>
                  <m:oMath xmlns:m="http://schemas.openxmlformats.org/officeDocument/2006/math">
                    <m:f>
                      <m:fPr>
                        <m:ctrlPr>
                          <a:rPr lang="en-GB" sz="3000" i="1" smtClean="0">
                            <a:latin typeface="Cambria Math" panose="02040503050406030204" pitchFamily="18" charset="0"/>
                            <a:cs typeface="Times New Roman" pitchFamily="18" charset="0"/>
                          </a:rPr>
                        </m:ctrlPr>
                      </m:fPr>
                      <m:num>
                        <m:d>
                          <m:dPr>
                            <m:ctrlPr>
                              <a:rPr lang="en-GB" sz="3000" i="1" smtClean="0">
                                <a:latin typeface="Cambria Math" panose="02040503050406030204" pitchFamily="18" charset="0"/>
                                <a:cs typeface="Times New Roman" pitchFamily="18" charset="0"/>
                              </a:rPr>
                            </m:ctrlPr>
                          </m:dPr>
                          <m:e>
                            <m:r>
                              <a:rPr lang="en-GB" sz="3000" b="0" i="1" smtClean="0">
                                <a:latin typeface="Cambria Math"/>
                                <a:cs typeface="Times New Roman" pitchFamily="18" charset="0"/>
                              </a:rPr>
                              <m:t>4</m:t>
                            </m:r>
                          </m:e>
                        </m:d>
                        <m:r>
                          <a:rPr lang="en-GB" sz="3000" i="1" smtClean="0">
                            <a:latin typeface="Cambria Math"/>
                            <a:ea typeface="Cambria Math"/>
                            <a:cs typeface="Times New Roman" pitchFamily="18" charset="0"/>
                          </a:rPr>
                          <m:t>!</m:t>
                        </m:r>
                      </m:num>
                      <m:den>
                        <m:d>
                          <m:dPr>
                            <m:ctrlPr>
                              <a:rPr lang="en-GB" sz="3000" i="1" smtClean="0">
                                <a:latin typeface="Cambria Math" panose="02040503050406030204" pitchFamily="18" charset="0"/>
                                <a:cs typeface="Times New Roman" pitchFamily="18" charset="0"/>
                              </a:rPr>
                            </m:ctrlPr>
                          </m:dPr>
                          <m:e>
                            <m:r>
                              <a:rPr lang="en-GB" sz="3000" b="0" i="1" smtClean="0">
                                <a:latin typeface="Cambria Math"/>
                                <a:cs typeface="Times New Roman" pitchFamily="18" charset="0"/>
                              </a:rPr>
                              <m:t>4−2</m:t>
                            </m:r>
                          </m:e>
                        </m:d>
                        <m:r>
                          <a:rPr lang="en-GB" sz="3000" i="1" smtClean="0">
                            <a:latin typeface="Cambria Math"/>
                            <a:ea typeface="Cambria Math"/>
                            <a:cs typeface="Times New Roman" pitchFamily="18" charset="0"/>
                          </a:rPr>
                          <m:t>!</m:t>
                        </m:r>
                        <m:d>
                          <m:dPr>
                            <m:ctrlPr>
                              <a:rPr lang="en-GB" sz="3000" i="1" smtClean="0">
                                <a:latin typeface="Cambria Math" panose="02040503050406030204" pitchFamily="18" charset="0"/>
                                <a:cs typeface="Times New Roman" pitchFamily="18" charset="0"/>
                              </a:rPr>
                            </m:ctrlPr>
                          </m:dPr>
                          <m:e>
                            <m:r>
                              <a:rPr lang="en-GB" sz="3000" b="0" i="1" smtClean="0">
                                <a:latin typeface="Cambria Math"/>
                                <a:cs typeface="Times New Roman" pitchFamily="18" charset="0"/>
                              </a:rPr>
                              <m:t>2</m:t>
                            </m:r>
                          </m:e>
                        </m:d>
                        <m:r>
                          <a:rPr lang="en-GB" sz="3000" i="1" smtClean="0">
                            <a:latin typeface="Cambria Math"/>
                            <a:ea typeface="Cambria Math"/>
                            <a:cs typeface="Times New Roman" pitchFamily="18" charset="0"/>
                          </a:rPr>
                          <m:t>!</m:t>
                        </m:r>
                      </m:den>
                    </m:f>
                    <m:r>
                      <a:rPr lang="en-GB" sz="3000" b="0" i="1" smtClean="0">
                        <a:latin typeface="Cambria Math"/>
                        <a:cs typeface="Times New Roman" pitchFamily="18" charset="0"/>
                      </a:rPr>
                      <m:t>= </m:t>
                    </m:r>
                    <m:f>
                      <m:fPr>
                        <m:ctrlPr>
                          <a:rPr lang="en-GB" sz="3000" b="0" i="1" smtClean="0">
                            <a:latin typeface="Cambria Math" panose="02040503050406030204" pitchFamily="18" charset="0"/>
                            <a:cs typeface="Times New Roman" pitchFamily="18" charset="0"/>
                          </a:rPr>
                        </m:ctrlPr>
                      </m:fPr>
                      <m:num>
                        <m:r>
                          <a:rPr lang="en-GB" sz="3000" b="0" i="1" smtClean="0">
                            <a:latin typeface="Cambria Math"/>
                            <a:cs typeface="Times New Roman" pitchFamily="18" charset="0"/>
                          </a:rPr>
                          <m:t>4∗3∗2∗1</m:t>
                        </m:r>
                      </m:num>
                      <m:den>
                        <m:d>
                          <m:dPr>
                            <m:ctrlPr>
                              <a:rPr lang="en-GB" sz="3000" b="0" i="1" smtClean="0">
                                <a:latin typeface="Cambria Math" panose="02040503050406030204" pitchFamily="18" charset="0"/>
                                <a:cs typeface="Times New Roman" pitchFamily="18" charset="0"/>
                              </a:rPr>
                            </m:ctrlPr>
                          </m:dPr>
                          <m:e>
                            <m:r>
                              <a:rPr lang="en-GB" sz="3000" b="0" i="1" smtClean="0">
                                <a:latin typeface="Cambria Math"/>
                                <a:cs typeface="Times New Roman" pitchFamily="18" charset="0"/>
                              </a:rPr>
                              <m:t>2∗1</m:t>
                            </m:r>
                          </m:e>
                        </m:d>
                        <m:r>
                          <a:rPr lang="en-GB" sz="3000" b="0" i="1" smtClean="0">
                            <a:latin typeface="Cambria Math"/>
                            <a:cs typeface="Times New Roman" pitchFamily="18" charset="0"/>
                          </a:rPr>
                          <m:t>∗</m:t>
                        </m:r>
                        <m:d>
                          <m:dPr>
                            <m:ctrlPr>
                              <a:rPr lang="en-GB" sz="3000" b="0" i="1" smtClean="0">
                                <a:latin typeface="Cambria Math" panose="02040503050406030204" pitchFamily="18" charset="0"/>
                                <a:cs typeface="Times New Roman" pitchFamily="18" charset="0"/>
                              </a:rPr>
                            </m:ctrlPr>
                          </m:dPr>
                          <m:e>
                            <m:r>
                              <a:rPr lang="en-GB" sz="3000" b="0" i="1" smtClean="0">
                                <a:latin typeface="Cambria Math"/>
                                <a:cs typeface="Times New Roman" pitchFamily="18" charset="0"/>
                              </a:rPr>
                              <m:t>2∗1</m:t>
                            </m:r>
                          </m:e>
                        </m:d>
                      </m:den>
                    </m:f>
                    <m:r>
                      <a:rPr lang="en-GB" sz="3000" b="0" i="1" smtClean="0">
                        <a:latin typeface="Cambria Math"/>
                        <a:cs typeface="Times New Roman" pitchFamily="18" charset="0"/>
                      </a:rPr>
                      <m:t>=6</m:t>
                    </m:r>
                  </m:oMath>
                </a14:m>
                <a:r>
                  <a:rPr lang="en-GB" sz="3000" dirty="0">
                    <a:latin typeface="Times New Roman" pitchFamily="18" charset="0"/>
                    <a:cs typeface="Times New Roman" pitchFamily="18" charset="0"/>
                  </a:rPr>
                  <a:t> different ways.</a:t>
                </a:r>
              </a:p>
              <a:p>
                <a:pPr marL="0" indent="0" algn="just">
                  <a:buNone/>
                </a:pPr>
                <a:r>
                  <a:rPr lang="en-IN" sz="3000" dirty="0">
                    <a:latin typeface="Times New Roman" pitchFamily="18" charset="0"/>
                    <a:cs typeface="Times New Roman" pitchFamily="18" charset="0"/>
                  </a:rPr>
                  <a:t>Five different items can be selected from five </a:t>
                </a:r>
                <a:r>
                  <a:rPr lang="en-GB" sz="3000" dirty="0">
                    <a:latin typeface="Times New Roman" pitchFamily="18" charset="0"/>
                    <a:cs typeface="Times New Roman" pitchFamily="18" charset="0"/>
                  </a:rPr>
                  <a:t>different items in</a:t>
                </a:r>
              </a:p>
              <a:p>
                <a:pPr marL="0" indent="0" algn="just">
                  <a:buNone/>
                </a:pPr>
                <a14:m>
                  <m:oMath xmlns:m="http://schemas.openxmlformats.org/officeDocument/2006/math">
                    <m:f>
                      <m:fPr>
                        <m:ctrlPr>
                          <a:rPr lang="en-GB" sz="3000" i="1">
                            <a:latin typeface="Cambria Math" panose="02040503050406030204" pitchFamily="18" charset="0"/>
                            <a:cs typeface="Times New Roman" pitchFamily="18" charset="0"/>
                          </a:rPr>
                        </m:ctrlPr>
                      </m:fPr>
                      <m:num>
                        <m:r>
                          <a:rPr lang="en-GB" sz="3000" b="0" i="1" smtClean="0">
                            <a:latin typeface="Cambria Math"/>
                            <a:cs typeface="Times New Roman" pitchFamily="18" charset="0"/>
                          </a:rPr>
                          <m:t>5∗</m:t>
                        </m:r>
                        <m:r>
                          <a:rPr lang="en-GB" sz="3000" i="1">
                            <a:latin typeface="Cambria Math"/>
                            <a:cs typeface="Times New Roman" pitchFamily="18" charset="0"/>
                          </a:rPr>
                          <m:t>4∗3</m:t>
                        </m:r>
                        <m:r>
                          <a:rPr lang="en-GB" sz="3000" b="0" i="1" smtClean="0">
                            <a:latin typeface="Cambria Math"/>
                            <a:cs typeface="Times New Roman" pitchFamily="18" charset="0"/>
                          </a:rPr>
                          <m:t>∗2∗1</m:t>
                        </m:r>
                      </m:num>
                      <m:den>
                        <m:r>
                          <a:rPr lang="en-GB" sz="3000" b="0" i="1" smtClean="0">
                            <a:latin typeface="Cambria Math"/>
                            <a:cs typeface="Times New Roman" pitchFamily="18" charset="0"/>
                          </a:rPr>
                          <m:t>5∗4∗3∗</m:t>
                        </m:r>
                        <m:r>
                          <a:rPr lang="en-GB" sz="3000" i="1">
                            <a:latin typeface="Cambria Math"/>
                            <a:cs typeface="Times New Roman" pitchFamily="18" charset="0"/>
                          </a:rPr>
                          <m:t>2∗1</m:t>
                        </m:r>
                      </m:den>
                    </m:f>
                    <m:r>
                      <a:rPr lang="en-GB" sz="3000" i="1">
                        <a:latin typeface="Cambria Math"/>
                        <a:cs typeface="Times New Roman" pitchFamily="18" charset="0"/>
                      </a:rPr>
                      <m:t>=</m:t>
                    </m:r>
                    <m:r>
                      <a:rPr lang="en-GB" sz="3000" b="0" i="1" smtClean="0">
                        <a:latin typeface="Cambria Math"/>
                        <a:cs typeface="Times New Roman" pitchFamily="18" charset="0"/>
                      </a:rPr>
                      <m:t>1</m:t>
                    </m:r>
                  </m:oMath>
                </a14:m>
                <a:r>
                  <a:rPr lang="en-GB" sz="3000" dirty="0">
                    <a:latin typeface="Times New Roman" pitchFamily="18" charset="0"/>
                    <a:cs typeface="Times New Roman" pitchFamily="18" charset="0"/>
                  </a:rPr>
                  <a:t>  or </a:t>
                </a:r>
                <a14:m>
                  <m:oMath xmlns:m="http://schemas.openxmlformats.org/officeDocument/2006/math">
                    <m:r>
                      <a:rPr lang="en-GB" sz="2800" i="1" baseline="-25000" dirty="0" smtClean="0">
                        <a:latin typeface="Cambria Math"/>
                        <a:cs typeface="Times New Roman" pitchFamily="18" charset="0"/>
                      </a:rPr>
                      <m:t>5</m:t>
                    </m:r>
                    <m:r>
                      <a:rPr lang="en-GB" sz="2800" i="1">
                        <a:latin typeface="Cambria Math"/>
                        <a:cs typeface="Times New Roman" pitchFamily="18" charset="0"/>
                      </a:rPr>
                      <m:t>𝐶</m:t>
                    </m:r>
                    <m:r>
                      <a:rPr lang="en-GB" sz="2800" b="0" i="1" baseline="-25000" smtClean="0">
                        <a:latin typeface="Cambria Math"/>
                        <a:cs typeface="Times New Roman" pitchFamily="18" charset="0"/>
                      </a:rPr>
                      <m:t>5</m:t>
                    </m:r>
                  </m:oMath>
                </a14:m>
                <a:r>
                  <a:rPr lang="en-GB" sz="3000" dirty="0">
                    <a:latin typeface="Times New Roman" pitchFamily="18" charset="0"/>
                    <a:cs typeface="Times New Roman" pitchFamily="18" charset="0"/>
                  </a:rPr>
                  <a:t>= </a:t>
                </a:r>
                <a14:m>
                  <m:oMath xmlns:m="http://schemas.openxmlformats.org/officeDocument/2006/math">
                    <m:f>
                      <m:fPr>
                        <m:ctrlPr>
                          <a:rPr lang="en-GB" sz="3000" i="1">
                            <a:latin typeface="Cambria Math" panose="02040503050406030204" pitchFamily="18" charset="0"/>
                            <a:cs typeface="Times New Roman" pitchFamily="18" charset="0"/>
                          </a:rPr>
                        </m:ctrlPr>
                      </m:fPr>
                      <m:num>
                        <m:d>
                          <m:dPr>
                            <m:ctrlPr>
                              <a:rPr lang="en-GB" sz="3000" i="1">
                                <a:latin typeface="Cambria Math" panose="02040503050406030204" pitchFamily="18" charset="0"/>
                                <a:cs typeface="Times New Roman" pitchFamily="18" charset="0"/>
                              </a:rPr>
                            </m:ctrlPr>
                          </m:dPr>
                          <m:e>
                            <m:r>
                              <a:rPr lang="en-GB" sz="3000" b="0" i="1" smtClean="0">
                                <a:latin typeface="Cambria Math"/>
                                <a:cs typeface="Times New Roman" pitchFamily="18" charset="0"/>
                              </a:rPr>
                              <m:t>5</m:t>
                            </m:r>
                          </m:e>
                        </m:d>
                        <m:r>
                          <a:rPr lang="en-GB" sz="3000" i="1">
                            <a:latin typeface="Cambria Math"/>
                            <a:ea typeface="Cambria Math"/>
                            <a:cs typeface="Times New Roman" pitchFamily="18" charset="0"/>
                          </a:rPr>
                          <m:t>!</m:t>
                        </m:r>
                      </m:num>
                      <m:den>
                        <m:d>
                          <m:dPr>
                            <m:ctrlPr>
                              <a:rPr lang="en-GB" sz="3000" i="1">
                                <a:latin typeface="Cambria Math" panose="02040503050406030204" pitchFamily="18" charset="0"/>
                                <a:cs typeface="Times New Roman" pitchFamily="18" charset="0"/>
                              </a:rPr>
                            </m:ctrlPr>
                          </m:dPr>
                          <m:e>
                            <m:r>
                              <a:rPr lang="en-GB" sz="3000" b="0" i="1" smtClean="0">
                                <a:latin typeface="Cambria Math"/>
                                <a:cs typeface="Times New Roman" pitchFamily="18" charset="0"/>
                              </a:rPr>
                              <m:t>5−5</m:t>
                            </m:r>
                          </m:e>
                        </m:d>
                        <m:r>
                          <a:rPr lang="en-GB" sz="3000" i="1">
                            <a:latin typeface="Cambria Math"/>
                            <a:ea typeface="Cambria Math"/>
                            <a:cs typeface="Times New Roman" pitchFamily="18" charset="0"/>
                          </a:rPr>
                          <m:t>!</m:t>
                        </m:r>
                        <m:d>
                          <m:dPr>
                            <m:ctrlPr>
                              <a:rPr lang="en-GB" sz="3000" i="1">
                                <a:latin typeface="Cambria Math" panose="02040503050406030204" pitchFamily="18" charset="0"/>
                                <a:cs typeface="Times New Roman" pitchFamily="18" charset="0"/>
                              </a:rPr>
                            </m:ctrlPr>
                          </m:dPr>
                          <m:e>
                            <m:r>
                              <a:rPr lang="en-GB" sz="3000" b="0" i="1" smtClean="0">
                                <a:latin typeface="Cambria Math"/>
                                <a:cs typeface="Times New Roman" pitchFamily="18" charset="0"/>
                              </a:rPr>
                              <m:t>5</m:t>
                            </m:r>
                          </m:e>
                        </m:d>
                        <m:r>
                          <a:rPr lang="en-GB" sz="3000" i="1">
                            <a:latin typeface="Cambria Math"/>
                            <a:ea typeface="Cambria Math"/>
                            <a:cs typeface="Times New Roman" pitchFamily="18" charset="0"/>
                          </a:rPr>
                          <m:t>!</m:t>
                        </m:r>
                      </m:den>
                    </m:f>
                    <m:r>
                      <a:rPr lang="en-GB" sz="3000" i="1">
                        <a:latin typeface="Cambria Math"/>
                        <a:cs typeface="Times New Roman" pitchFamily="18" charset="0"/>
                      </a:rPr>
                      <m:t>= </m:t>
                    </m:r>
                    <m:f>
                      <m:fPr>
                        <m:ctrlPr>
                          <a:rPr lang="en-GB" sz="3000" i="1">
                            <a:latin typeface="Cambria Math" panose="02040503050406030204" pitchFamily="18" charset="0"/>
                            <a:cs typeface="Times New Roman" pitchFamily="18" charset="0"/>
                          </a:rPr>
                        </m:ctrlPr>
                      </m:fPr>
                      <m:num>
                        <m:r>
                          <a:rPr lang="en-GB" sz="3000" b="0" i="1" smtClean="0">
                            <a:latin typeface="Cambria Math"/>
                            <a:cs typeface="Times New Roman" pitchFamily="18" charset="0"/>
                          </a:rPr>
                          <m:t>5∗</m:t>
                        </m:r>
                        <m:r>
                          <a:rPr lang="en-GB" sz="3000" i="1">
                            <a:latin typeface="Cambria Math"/>
                            <a:cs typeface="Times New Roman" pitchFamily="18" charset="0"/>
                          </a:rPr>
                          <m:t>4∗3∗2∗1</m:t>
                        </m:r>
                      </m:num>
                      <m:den>
                        <m:d>
                          <m:dPr>
                            <m:ctrlPr>
                              <a:rPr lang="en-GB" sz="3000" i="1">
                                <a:latin typeface="Cambria Math" panose="02040503050406030204" pitchFamily="18" charset="0"/>
                                <a:cs typeface="Times New Roman" pitchFamily="18" charset="0"/>
                              </a:rPr>
                            </m:ctrlPr>
                          </m:dPr>
                          <m:e>
                            <m:r>
                              <a:rPr lang="en-GB" sz="3000" i="1">
                                <a:latin typeface="Cambria Math"/>
                                <a:cs typeface="Times New Roman" pitchFamily="18" charset="0"/>
                              </a:rPr>
                              <m:t>1</m:t>
                            </m:r>
                          </m:e>
                        </m:d>
                        <m:r>
                          <a:rPr lang="en-GB" sz="3000" i="1">
                            <a:latin typeface="Cambria Math"/>
                            <a:cs typeface="Times New Roman" pitchFamily="18" charset="0"/>
                          </a:rPr>
                          <m:t>∗</m:t>
                        </m:r>
                        <m:d>
                          <m:dPr>
                            <m:ctrlPr>
                              <a:rPr lang="en-GB" sz="3000" i="1">
                                <a:latin typeface="Cambria Math" panose="02040503050406030204" pitchFamily="18" charset="0"/>
                                <a:cs typeface="Times New Roman" pitchFamily="18" charset="0"/>
                              </a:rPr>
                            </m:ctrlPr>
                          </m:dPr>
                          <m:e>
                            <m:r>
                              <a:rPr lang="en-GB" sz="3000" b="0" i="1" smtClean="0">
                                <a:latin typeface="Cambria Math"/>
                                <a:cs typeface="Times New Roman" pitchFamily="18" charset="0"/>
                              </a:rPr>
                              <m:t>5∗4∗3∗</m:t>
                            </m:r>
                            <m:r>
                              <a:rPr lang="en-GB" sz="3000" i="1">
                                <a:latin typeface="Cambria Math"/>
                                <a:cs typeface="Times New Roman" pitchFamily="18" charset="0"/>
                              </a:rPr>
                              <m:t>2∗1</m:t>
                            </m:r>
                          </m:e>
                        </m:d>
                      </m:den>
                    </m:f>
                    <m:r>
                      <a:rPr lang="en-GB" sz="3000" i="1">
                        <a:latin typeface="Cambria Math"/>
                        <a:cs typeface="Times New Roman" pitchFamily="18" charset="0"/>
                      </a:rPr>
                      <m:t>=</m:t>
                    </m:r>
                    <m:r>
                      <a:rPr lang="en-GB" sz="3000" b="0" i="1" smtClean="0">
                        <a:latin typeface="Cambria Math"/>
                        <a:cs typeface="Times New Roman" pitchFamily="18" charset="0"/>
                      </a:rPr>
                      <m:t>1</m:t>
                    </m:r>
                  </m:oMath>
                </a14:m>
                <a:endParaRPr lang="en-GB" sz="3000" dirty="0">
                  <a:latin typeface="Times New Roman" pitchFamily="18" charset="0"/>
                  <a:cs typeface="Times New Roman" pitchFamily="18" charset="0"/>
                </a:endParaRPr>
              </a:p>
              <a:p>
                <a:pPr marL="0" indent="0" algn="just">
                  <a:buNone/>
                </a:pPr>
                <a:r>
                  <a:rPr lang="en-GB" sz="3000" dirty="0">
                    <a:latin typeface="Times New Roman" pitchFamily="18" charset="0"/>
                    <a:cs typeface="Times New Roman" pitchFamily="18" charset="0"/>
                  </a:rPr>
                  <a:t>way.</a:t>
                </a:r>
              </a:p>
            </p:txBody>
          </p:sp>
        </mc:Choice>
        <mc:Fallback xmlns="">
          <p:sp>
            <p:nvSpPr>
              <p:cNvPr id="8" name="Content Placeholder 2"/>
              <p:cNvSpPr>
                <a:spLocks noGrp="1" noRot="1" noChangeAspect="1" noMove="1" noResize="1" noEditPoints="1" noAdjustHandles="1" noChangeArrowheads="1" noChangeShapeType="1" noTextEdit="1"/>
              </p:cNvSpPr>
              <p:nvPr>
                <p:ph sz="quarter" idx="1"/>
              </p:nvPr>
            </p:nvSpPr>
            <p:spPr>
              <a:xfrm>
                <a:off x="259080" y="1447800"/>
                <a:ext cx="8503920" cy="4572000"/>
              </a:xfrm>
              <a:blipFill rotWithShape="0">
                <a:blip r:embed="rId2"/>
                <a:stretch>
                  <a:fillRect l="-1720" t="-1733" r="-1649" b="-8267"/>
                </a:stretch>
              </a:blipFill>
            </p:spPr>
            <p:txBody>
              <a:bodyPr/>
              <a:lstStyle/>
              <a:p>
                <a:r>
                  <a:rPr lang="en-US">
                    <a:noFill/>
                  </a:rPr>
                  <a:t> </a:t>
                </a:r>
              </a:p>
            </p:txBody>
          </p:sp>
        </mc:Fallback>
      </mc:AlternateContent>
    </p:spTree>
    <p:extLst>
      <p:ext uri="{BB962C8B-B14F-4D97-AF65-F5344CB8AC3E}">
        <p14:creationId xmlns:p14="http://schemas.microsoft.com/office/powerpoint/2010/main" val="3388761644"/>
      </p:ext>
    </p:extLst>
  </p:cSld>
  <p:clrMapOvr>
    <a:masterClrMapping/>
  </p:clrMapOvr>
  <p:transition spd="slow">
    <p:wipe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2151" t="-2133"/>
            </a:stretch>
          </a:blipFill>
        </p:spPr>
        <p:txBody>
          <a:bodyPr/>
          <a:lstStyle/>
          <a:p>
            <a:pPr>
              <a:buNone/>
            </a:pPr>
            <a:r>
              <a:rPr lang="en-GB" dirty="0">
                <a:ln>
                  <a:solidFill>
                    <a:schemeClr val="tx1"/>
                  </a:solidFill>
                </a:ln>
                <a:noFill/>
              </a:rPr>
              <a:t>  </a:t>
            </a:r>
          </a:p>
        </p:txBody>
      </p:sp>
      <p:sp>
        <p:nvSpPr>
          <p:cNvPr id="4" name="Date Placeholder 3"/>
          <p:cNvSpPr>
            <a:spLocks noGrp="1"/>
          </p:cNvSpPr>
          <p:nvPr>
            <p:ph type="dt" sz="half" idx="10"/>
          </p:nvPr>
        </p:nvSpPr>
        <p:spPr/>
        <p:txBody>
          <a:bodyPr/>
          <a:lstStyle/>
          <a:p>
            <a:pPr>
              <a:defRPr/>
            </a:pPr>
            <a:fld id="{D525B907-2780-4F84-BF7A-C81346428C1A}" type="datetime2">
              <a:rPr lang="en-US" smtClean="0"/>
              <a:pPr>
                <a:defRPr/>
              </a:pPr>
              <a:t>Monday, December 8, 2025</a:t>
            </a:fld>
            <a:endParaRPr lang="en-US"/>
          </a:p>
        </p:txBody>
      </p:sp>
      <p:sp>
        <p:nvSpPr>
          <p:cNvPr id="5" name="Slide Number Placeholder 4"/>
          <p:cNvSpPr>
            <a:spLocks noGrp="1"/>
          </p:cNvSpPr>
          <p:nvPr>
            <p:ph type="sldNum" sz="quarter" idx="12"/>
          </p:nvPr>
        </p:nvSpPr>
        <p:spPr/>
        <p:txBody>
          <a:bodyPr/>
          <a:lstStyle/>
          <a:p>
            <a:pPr>
              <a:defRPr/>
            </a:pPr>
            <a:fld id="{C70CFA2D-21B9-45B6-893F-7371CE3DE2D8}" type="slidenum">
              <a:rPr lang="en-US" smtClean="0"/>
              <a:pPr>
                <a:defRPr/>
              </a:pPr>
              <a:t>71</a:t>
            </a:fld>
            <a:endParaRPr lang="en-US"/>
          </a:p>
        </p:txBody>
      </p:sp>
      <p:sp>
        <p:nvSpPr>
          <p:cNvPr id="6" name="Footer Placeholder 5"/>
          <p:cNvSpPr>
            <a:spLocks noGrp="1"/>
          </p:cNvSpPr>
          <p:nvPr>
            <p:ph type="ftr" sz="quarter" idx="11"/>
          </p:nvPr>
        </p:nvSpPr>
        <p:spPr/>
        <p:txBody>
          <a:bodyPr/>
          <a:lstStyle/>
          <a:p>
            <a:pPr>
              <a:defRPr/>
            </a:pPr>
            <a:r>
              <a:rPr lang="en-US"/>
              <a:t>STAT 154 -09</a:t>
            </a:r>
          </a:p>
        </p:txBody>
      </p:sp>
    </p:spTree>
    <p:extLst>
      <p:ext uri="{BB962C8B-B14F-4D97-AF65-F5344CB8AC3E}">
        <p14:creationId xmlns:p14="http://schemas.microsoft.com/office/powerpoint/2010/main" val="3314288660"/>
      </p:ext>
    </p:extLst>
  </p:cSld>
  <p:clrMapOvr>
    <a:masterClrMapping/>
  </p:clrMapOvr>
  <p:transition spd="slow">
    <p:wipe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84175"/>
            <a:ext cx="8534400" cy="758825"/>
          </a:xfrm>
        </p:spPr>
        <p:txBody>
          <a:bodyPr/>
          <a:lstStyle/>
          <a:p>
            <a:pPr algn="l"/>
            <a:r>
              <a:rPr lang="en-US" altLang="en-US"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 Example: </a:t>
            </a:r>
            <a:endParaRPr lang="en-US"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sz="quarter" idx="1"/>
          </p:nvPr>
        </p:nvSpPr>
        <p:spPr>
          <a:xfrm>
            <a:off x="228600" y="1371600"/>
            <a:ext cx="8503920" cy="4572000"/>
          </a:xfrm>
        </p:spPr>
        <p:txBody>
          <a:bodyPr/>
          <a:lstStyle/>
          <a:p>
            <a:pPr marL="0" indent="0" algn="just">
              <a:buNone/>
            </a:pPr>
            <a:r>
              <a:rPr lang="en-US" altLang="en-US" sz="2800" dirty="0">
                <a:latin typeface="Times New Roman" pitchFamily="18" charset="0"/>
                <a:cs typeface="Times New Roman" pitchFamily="18" charset="0"/>
              </a:rPr>
              <a:t>Two men and two women from a firm will attend a conference. If the firm has ten men and nine women, in how many different ways can the conference attendees be selected?</a:t>
            </a:r>
          </a:p>
          <a:p>
            <a:pPr marL="0" indent="0" algn="just" eaLnBrk="1" hangingPunct="1">
              <a:buNone/>
            </a:pPr>
            <a:r>
              <a:rPr lang="en-US" altLang="en-US" sz="2800" b="1" dirty="0">
                <a:latin typeface="Times New Roman" pitchFamily="18" charset="0"/>
                <a:cs typeface="Times New Roman" pitchFamily="18" charset="0"/>
              </a:rPr>
              <a:t>Stage 1</a:t>
            </a:r>
            <a:r>
              <a:rPr lang="en-US" altLang="en-US" sz="2800" dirty="0">
                <a:latin typeface="Times New Roman" pitchFamily="18" charset="0"/>
                <a:cs typeface="Times New Roman" pitchFamily="18" charset="0"/>
              </a:rPr>
              <a:t>: Select the two women from the nine available.</a:t>
            </a:r>
          </a:p>
          <a:p>
            <a:pPr marL="0" indent="0" algn="just" eaLnBrk="1" hangingPunct="1">
              <a:buNone/>
            </a:pPr>
            <a:endParaRPr lang="en-US" altLang="en-US" sz="2800" dirty="0">
              <a:latin typeface="Times New Roman" pitchFamily="18" charset="0"/>
              <a:cs typeface="Times New Roman" pitchFamily="18" charset="0"/>
            </a:endParaRPr>
          </a:p>
          <a:p>
            <a:pPr marL="0" indent="0" algn="just" eaLnBrk="1" hangingPunct="1">
              <a:buNone/>
            </a:pPr>
            <a:r>
              <a:rPr lang="en-US" altLang="en-US" sz="2800" b="1" dirty="0">
                <a:latin typeface="Times New Roman" pitchFamily="18" charset="0"/>
                <a:cs typeface="Times New Roman" pitchFamily="18" charset="0"/>
              </a:rPr>
              <a:t>Stage 2</a:t>
            </a:r>
            <a:r>
              <a:rPr lang="en-US" altLang="en-US" sz="2800" dirty="0">
                <a:latin typeface="Times New Roman" pitchFamily="18" charset="0"/>
                <a:cs typeface="Times New Roman" pitchFamily="18" charset="0"/>
              </a:rPr>
              <a:t>: Select the two men from the ten available.</a:t>
            </a:r>
          </a:p>
          <a:p>
            <a:pPr marL="0" indent="0" algn="just" eaLnBrk="1" hangingPunct="1">
              <a:buNone/>
            </a:pPr>
            <a:endParaRPr lang="en-US" altLang="en-US" sz="2800" dirty="0">
              <a:latin typeface="Times New Roman" pitchFamily="18" charset="0"/>
              <a:cs typeface="Times New Roman" pitchFamily="18" charset="0"/>
            </a:endParaRPr>
          </a:p>
          <a:p>
            <a:pPr marL="0" indent="0" algn="just" eaLnBrk="1" hangingPunct="1">
              <a:buNone/>
            </a:pPr>
            <a:r>
              <a:rPr lang="en-US" altLang="en-US" sz="2800" dirty="0">
                <a:latin typeface="Times New Roman" pitchFamily="18" charset="0"/>
                <a:cs typeface="Times New Roman" pitchFamily="18" charset="0"/>
              </a:rPr>
              <a:t>Thus, choosing the women and then choosing the men can be done in  36*45 = 1620 ways.</a:t>
            </a:r>
          </a:p>
          <a:p>
            <a:pPr marL="0" indent="0" algn="just">
              <a:buNone/>
            </a:pPr>
            <a:endParaRPr lang="en-US" sz="28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pPr>
              <a:defRPr/>
            </a:pPr>
            <a:fld id="{435B9553-B32A-4AA7-87D9-AACB6065D541}" type="datetime2">
              <a:rPr lang="en-US" smtClean="0"/>
              <a:pPr>
                <a:defRPr/>
              </a:pPr>
              <a:t>Monday, December 8, 2025</a:t>
            </a:fld>
            <a:endParaRPr lang="en-US"/>
          </a:p>
        </p:txBody>
      </p:sp>
      <p:sp>
        <p:nvSpPr>
          <p:cNvPr id="5" name="Footer Placeholder 4"/>
          <p:cNvSpPr>
            <a:spLocks noGrp="1"/>
          </p:cNvSpPr>
          <p:nvPr>
            <p:ph type="ftr" sz="quarter" idx="11"/>
          </p:nvPr>
        </p:nvSpPr>
        <p:spPr/>
        <p:txBody>
          <a:bodyPr/>
          <a:lstStyle/>
          <a:p>
            <a:pPr>
              <a:defRPr/>
            </a:pPr>
            <a:r>
              <a:rPr lang="en-US"/>
              <a:t>STAT 154 -09</a:t>
            </a:r>
          </a:p>
        </p:txBody>
      </p:sp>
      <p:sp>
        <p:nvSpPr>
          <p:cNvPr id="6" name="Slide Number Placeholder 5"/>
          <p:cNvSpPr>
            <a:spLocks noGrp="1"/>
          </p:cNvSpPr>
          <p:nvPr>
            <p:ph type="sldNum" sz="quarter" idx="12"/>
          </p:nvPr>
        </p:nvSpPr>
        <p:spPr/>
        <p:txBody>
          <a:bodyPr/>
          <a:lstStyle/>
          <a:p>
            <a:pPr>
              <a:defRPr/>
            </a:pPr>
            <a:fld id="{C70CFA2D-21B9-45B6-893F-7371CE3DE2D8}" type="slidenum">
              <a:rPr lang="en-US" smtClean="0"/>
              <a:pPr>
                <a:defRPr/>
              </a:pPr>
              <a:t>72</a:t>
            </a:fld>
            <a:endParaRPr lang="en-US"/>
          </a:p>
        </p:txBody>
      </p:sp>
      <p:graphicFrame>
        <p:nvGraphicFramePr>
          <p:cNvPr id="80898" name="Object 2"/>
          <p:cNvGraphicFramePr>
            <a:graphicFrameLocks noChangeAspect="1"/>
          </p:cNvGraphicFramePr>
          <p:nvPr/>
        </p:nvGraphicFramePr>
        <p:xfrm>
          <a:off x="3057712" y="3581400"/>
          <a:ext cx="1882588" cy="609600"/>
        </p:xfrm>
        <a:graphic>
          <a:graphicData uri="http://schemas.openxmlformats.org/presentationml/2006/ole">
            <mc:AlternateContent xmlns:mc="http://schemas.openxmlformats.org/markup-compatibility/2006">
              <mc:Choice xmlns:v="urn:schemas-microsoft-com:vml" Requires="v">
                <p:oleObj name="Equation" r:id="rId2" imgW="1333440" imgH="431640" progId="Equation.3">
                  <p:embed/>
                </p:oleObj>
              </mc:Choice>
              <mc:Fallback>
                <p:oleObj name="Equation" r:id="rId2" imgW="1333440" imgH="431640" progId="Equation.3">
                  <p:embed/>
                  <p:pic>
                    <p:nvPicPr>
                      <p:cNvPr id="80898"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7712" y="3581400"/>
                        <a:ext cx="1882588"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0899" name="Object 3"/>
          <p:cNvGraphicFramePr>
            <a:graphicFrameLocks noChangeAspect="1"/>
          </p:cNvGraphicFramePr>
          <p:nvPr/>
        </p:nvGraphicFramePr>
        <p:xfrm>
          <a:off x="3052856" y="4724400"/>
          <a:ext cx="2008094" cy="609600"/>
        </p:xfrm>
        <a:graphic>
          <a:graphicData uri="http://schemas.openxmlformats.org/presentationml/2006/ole">
            <mc:AlternateContent xmlns:mc="http://schemas.openxmlformats.org/markup-compatibility/2006">
              <mc:Choice xmlns:v="urn:schemas-microsoft-com:vml" Requires="v">
                <p:oleObj name="Equation" r:id="rId4" imgW="1422360" imgH="431640" progId="Equation.3">
                  <p:embed/>
                </p:oleObj>
              </mc:Choice>
              <mc:Fallback>
                <p:oleObj name="Equation" r:id="rId4" imgW="1422360" imgH="431640" progId="Equation.3">
                  <p:embed/>
                  <p:pic>
                    <p:nvPicPr>
                      <p:cNvPr id="8089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52856" y="4724400"/>
                        <a:ext cx="2008094"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wipe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pPr marL="0" indent="0" algn="just">
              <a:buNone/>
            </a:pPr>
            <a:r>
              <a:rPr lang="en-US" altLang="en-US" sz="3200" dirty="0">
                <a:latin typeface="Times New Roman" pitchFamily="18" charset="0"/>
                <a:cs typeface="Times New Roman" pitchFamily="18" charset="0"/>
              </a:rPr>
              <a:t>A basketball team consists of two centers, five forwards, and four guards. In how many ways can the coach select a starting line up of one center, two forwards, and two guards?</a:t>
            </a:r>
            <a:endParaRPr lang="en-US" altLang="en-US" sz="3200" dirty="0">
              <a:solidFill>
                <a:srgbClr val="C00000"/>
              </a:solidFill>
              <a:latin typeface="Times New Roman" pitchFamily="18" charset="0"/>
              <a:cs typeface="Times New Roman" pitchFamily="18" charset="0"/>
            </a:endParaRPr>
          </a:p>
          <a:p>
            <a:pPr marL="0" indent="0" algn="just">
              <a:buNone/>
            </a:pPr>
            <a:r>
              <a:rPr lang="en-US" altLang="en-US" sz="3200" dirty="0" err="1">
                <a:solidFill>
                  <a:srgbClr val="C00000"/>
                </a:solidFill>
                <a:latin typeface="Times New Roman" pitchFamily="18" charset="0"/>
                <a:cs typeface="Times New Roman" pitchFamily="18" charset="0"/>
              </a:rPr>
              <a:t>Ans</a:t>
            </a:r>
            <a:r>
              <a:rPr lang="en-US" altLang="en-US" sz="3200" dirty="0">
                <a:solidFill>
                  <a:srgbClr val="C00000"/>
                </a:solidFill>
                <a:latin typeface="Times New Roman" pitchFamily="18" charset="0"/>
                <a:cs typeface="Times New Roman" pitchFamily="18" charset="0"/>
              </a:rPr>
              <a:t>:</a:t>
            </a:r>
            <a:endParaRPr lang="en-US" altLang="en-US" sz="3200" dirty="0">
              <a:latin typeface="Times New Roman" pitchFamily="18" charset="0"/>
              <a:cs typeface="Times New Roman" pitchFamily="18" charset="0"/>
            </a:endParaRPr>
          </a:p>
          <a:p>
            <a:pPr marL="0" indent="0" algn="just">
              <a:buNone/>
            </a:pPr>
            <a:endParaRPr lang="en-US" altLang="en-US" sz="3200" dirty="0">
              <a:latin typeface="Times New Roman" pitchFamily="18" charset="0"/>
              <a:cs typeface="Times New Roman" pitchFamily="18" charset="0"/>
            </a:endParaRPr>
          </a:p>
          <a:p>
            <a:pPr marL="0" indent="0" algn="just">
              <a:buNone/>
            </a:pPr>
            <a:r>
              <a:rPr lang="en-US" altLang="en-US" sz="3200" dirty="0">
                <a:latin typeface="Times New Roman" pitchFamily="18" charset="0"/>
                <a:cs typeface="Times New Roman" pitchFamily="18" charset="0"/>
              </a:rPr>
              <a:t>Thus, the number of ways to select the starting line up is  2*10*6  = </a:t>
            </a:r>
            <a:r>
              <a:rPr lang="en-US" altLang="en-US" sz="3200" dirty="0">
                <a:solidFill>
                  <a:srgbClr val="FF0000"/>
                </a:solidFill>
                <a:latin typeface="Times New Roman" pitchFamily="18" charset="0"/>
                <a:cs typeface="Times New Roman" pitchFamily="18" charset="0"/>
              </a:rPr>
              <a:t>120</a:t>
            </a:r>
            <a:r>
              <a:rPr lang="en-US" altLang="en-US" sz="3200" dirty="0">
                <a:latin typeface="Times New Roman" pitchFamily="18" charset="0"/>
                <a:cs typeface="Times New Roman" pitchFamily="18" charset="0"/>
              </a:rPr>
              <a:t>.</a:t>
            </a:r>
          </a:p>
          <a:p>
            <a:pPr marL="0" indent="0" algn="just">
              <a:buNone/>
            </a:pPr>
            <a:endParaRPr lang="en-US" altLang="en-US" sz="3200" dirty="0">
              <a:latin typeface="Times New Roman" pitchFamily="18" charset="0"/>
              <a:cs typeface="Times New Roman" pitchFamily="18" charset="0"/>
            </a:endParaRPr>
          </a:p>
          <a:p>
            <a:pPr marL="0" indent="0" algn="just">
              <a:buNone/>
            </a:pPr>
            <a:endParaRPr lang="en-US" sz="32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pPr>
              <a:defRPr/>
            </a:pPr>
            <a:fld id="{435B9553-B32A-4AA7-87D9-AACB6065D541}" type="datetime2">
              <a:rPr lang="en-US" smtClean="0"/>
              <a:pPr>
                <a:defRPr/>
              </a:pPr>
              <a:t>Monday, December 8, 2025</a:t>
            </a:fld>
            <a:endParaRPr lang="en-US"/>
          </a:p>
        </p:txBody>
      </p:sp>
      <p:sp>
        <p:nvSpPr>
          <p:cNvPr id="5" name="Footer Placeholder 4"/>
          <p:cNvSpPr>
            <a:spLocks noGrp="1"/>
          </p:cNvSpPr>
          <p:nvPr>
            <p:ph type="ftr" sz="quarter" idx="11"/>
          </p:nvPr>
        </p:nvSpPr>
        <p:spPr/>
        <p:txBody>
          <a:bodyPr/>
          <a:lstStyle/>
          <a:p>
            <a:pPr>
              <a:defRPr/>
            </a:pPr>
            <a:r>
              <a:rPr lang="en-US"/>
              <a:t>STAT 154 -09</a:t>
            </a:r>
          </a:p>
        </p:txBody>
      </p:sp>
      <p:sp>
        <p:nvSpPr>
          <p:cNvPr id="6" name="Slide Number Placeholder 5"/>
          <p:cNvSpPr>
            <a:spLocks noGrp="1"/>
          </p:cNvSpPr>
          <p:nvPr>
            <p:ph type="sldNum" sz="quarter" idx="12"/>
          </p:nvPr>
        </p:nvSpPr>
        <p:spPr/>
        <p:txBody>
          <a:bodyPr/>
          <a:lstStyle/>
          <a:p>
            <a:pPr>
              <a:defRPr/>
            </a:pPr>
            <a:fld id="{C70CFA2D-21B9-45B6-893F-7371CE3DE2D8}" type="slidenum">
              <a:rPr lang="en-US" smtClean="0"/>
              <a:pPr>
                <a:defRPr/>
              </a:pPr>
              <a:t>73</a:t>
            </a:fld>
            <a:endParaRPr lang="en-US"/>
          </a:p>
        </p:txBody>
      </p:sp>
      <p:sp>
        <p:nvSpPr>
          <p:cNvPr id="7" name="Title 1"/>
          <p:cNvSpPr>
            <a:spLocks noGrp="1"/>
          </p:cNvSpPr>
          <p:nvPr>
            <p:ph type="title"/>
          </p:nvPr>
        </p:nvSpPr>
        <p:spPr>
          <a:xfrm>
            <a:off x="152400" y="384175"/>
            <a:ext cx="8534400" cy="758825"/>
          </a:xfrm>
        </p:spPr>
        <p:txBody>
          <a:bodyPr/>
          <a:lstStyle/>
          <a:p>
            <a:pPr algn="l"/>
            <a:r>
              <a:rPr lang="en-US" altLang="en-US"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 Example: </a:t>
            </a:r>
            <a:endParaRPr lang="en-US"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p:txBody>
      </p:sp>
      <p:graphicFrame>
        <p:nvGraphicFramePr>
          <p:cNvPr id="81924" name="Object 4"/>
          <p:cNvGraphicFramePr>
            <a:graphicFrameLocks noChangeAspect="1"/>
          </p:cNvGraphicFramePr>
          <p:nvPr/>
        </p:nvGraphicFramePr>
        <p:xfrm>
          <a:off x="1447800" y="4114800"/>
          <a:ext cx="2873677" cy="630237"/>
        </p:xfrm>
        <a:graphic>
          <a:graphicData uri="http://schemas.openxmlformats.org/presentationml/2006/ole">
            <mc:AlternateContent xmlns:mc="http://schemas.openxmlformats.org/markup-compatibility/2006">
              <mc:Choice xmlns:v="urn:schemas-microsoft-com:vml" Requires="v">
                <p:oleObj name="Equation" r:id="rId2" imgW="812520" imgH="177480" progId="Equation.3">
                  <p:embed/>
                </p:oleObj>
              </mc:Choice>
              <mc:Fallback>
                <p:oleObj name="Equation" r:id="rId2" imgW="812520" imgH="177480" progId="Equation.3">
                  <p:embed/>
                  <p:pic>
                    <p:nvPicPr>
                      <p:cNvPr id="8192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4114800"/>
                        <a:ext cx="2873677" cy="630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linds(horizontal)">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81924"/>
                                        </p:tgtEl>
                                        <p:attrNameLst>
                                          <p:attrName>style.visibility</p:attrName>
                                        </p:attrNameLst>
                                      </p:cBhvr>
                                      <p:to>
                                        <p:strVal val="visible"/>
                                      </p:to>
                                    </p:set>
                                    <p:animEffect transition="in" filter="blinds(horizontal)">
                                      <p:cBhvr>
                                        <p:cTn id="15" dur="500"/>
                                        <p:tgtEl>
                                          <p:spTgt spid="81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35B9553-B32A-4AA7-87D9-AACB6065D541}" type="datetime2">
              <a:rPr lang="en-US" smtClean="0"/>
              <a:pPr>
                <a:defRPr/>
              </a:pPr>
              <a:t>Monday, December 8, 2025</a:t>
            </a:fld>
            <a:endParaRPr lang="en-US"/>
          </a:p>
        </p:txBody>
      </p:sp>
      <p:sp>
        <p:nvSpPr>
          <p:cNvPr id="5" name="Footer Placeholder 4"/>
          <p:cNvSpPr>
            <a:spLocks noGrp="1"/>
          </p:cNvSpPr>
          <p:nvPr>
            <p:ph type="ftr" sz="quarter" idx="11"/>
          </p:nvPr>
        </p:nvSpPr>
        <p:spPr/>
        <p:txBody>
          <a:bodyPr/>
          <a:lstStyle/>
          <a:p>
            <a:pPr>
              <a:defRPr/>
            </a:pPr>
            <a:r>
              <a:rPr lang="en-US"/>
              <a:t>STAT 154 -09</a:t>
            </a:r>
          </a:p>
        </p:txBody>
      </p:sp>
      <p:sp>
        <p:nvSpPr>
          <p:cNvPr id="6" name="Slide Number Placeholder 5"/>
          <p:cNvSpPr>
            <a:spLocks noGrp="1"/>
          </p:cNvSpPr>
          <p:nvPr>
            <p:ph type="sldNum" sz="quarter" idx="12"/>
          </p:nvPr>
        </p:nvSpPr>
        <p:spPr/>
        <p:txBody>
          <a:bodyPr/>
          <a:lstStyle/>
          <a:p>
            <a:pPr>
              <a:defRPr/>
            </a:pPr>
            <a:fld id="{C70CFA2D-21B9-45B6-893F-7371CE3DE2D8}" type="slidenum">
              <a:rPr lang="en-US" smtClean="0"/>
              <a:pPr>
                <a:defRPr/>
              </a:pPr>
              <a:t>74</a:t>
            </a:fld>
            <a:endParaRPr lang="en-US"/>
          </a:p>
        </p:txBody>
      </p:sp>
      <p:pic>
        <p:nvPicPr>
          <p:cNvPr id="7" name="table"/>
          <p:cNvPicPr>
            <a:picLocks noChangeAspect="1"/>
          </p:cNvPicPr>
          <p:nvPr/>
        </p:nvPicPr>
        <p:blipFill>
          <a:blip r:embed="rId2"/>
          <a:srcRect/>
          <a:stretch>
            <a:fillRect/>
          </a:stretch>
        </p:blipFill>
        <p:spPr bwMode="auto">
          <a:xfrm>
            <a:off x="569913" y="1533525"/>
            <a:ext cx="8001000" cy="4791075"/>
          </a:xfrm>
          <a:prstGeom prst="rect">
            <a:avLst/>
          </a:prstGeom>
          <a:noFill/>
          <a:ln w="9525">
            <a:noFill/>
            <a:miter lim="800000"/>
            <a:headEnd/>
            <a:tailEnd/>
          </a:ln>
        </p:spPr>
      </p:pic>
      <p:sp>
        <p:nvSpPr>
          <p:cNvPr id="8" name="Title 1"/>
          <p:cNvSpPr>
            <a:spLocks noGrp="1"/>
          </p:cNvSpPr>
          <p:nvPr>
            <p:ph type="title"/>
          </p:nvPr>
        </p:nvSpPr>
        <p:spPr>
          <a:xfrm>
            <a:off x="301625" y="228600"/>
            <a:ext cx="8534400" cy="758825"/>
          </a:xfrm>
        </p:spPr>
        <p:txBody>
          <a:bodyPr/>
          <a:lstStyle/>
          <a:p>
            <a:pPr algn="l"/>
            <a:r>
              <a:rPr lang="en-IN"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Permutation &amp; Combination</a:t>
            </a:r>
            <a:endParaRPr lang="en-GB"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DA49E-655F-5993-FAAF-9258E86218E5}"/>
              </a:ext>
            </a:extLst>
          </p:cNvPr>
          <p:cNvSpPr>
            <a:spLocks noGrp="1"/>
          </p:cNvSpPr>
          <p:nvPr>
            <p:ph type="title"/>
          </p:nvPr>
        </p:nvSpPr>
        <p:spPr>
          <a:xfrm>
            <a:off x="152400" y="381000"/>
            <a:ext cx="8534400" cy="758825"/>
          </a:xfrm>
        </p:spPr>
        <p:txBody>
          <a:bodyPr/>
          <a:lstStyle/>
          <a:p>
            <a:pPr algn="l">
              <a:defRPr/>
            </a:pPr>
            <a:r>
              <a:rPr lang="en-US"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In Your calculator….</a:t>
            </a:r>
          </a:p>
        </p:txBody>
      </p:sp>
      <p:sp>
        <p:nvSpPr>
          <p:cNvPr id="83971" name="Date Placeholder 3">
            <a:extLst>
              <a:ext uri="{FF2B5EF4-FFF2-40B4-BE49-F238E27FC236}">
                <a16:creationId xmlns:a16="http://schemas.microsoft.com/office/drawing/2014/main" id="{F6E1C506-6B9E-282B-29A0-1127F65D75F6}"/>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A074FE9-A7AE-424B-9B61-82A9FFC7B437}" type="datetime2">
              <a:rPr lang="en-US" altLang="en-US" sz="1400">
                <a:solidFill>
                  <a:srgbClr val="FFFFFF"/>
                </a:solidFill>
              </a:rPr>
              <a:pPr/>
              <a:t>Monday, December 8, 2025</a:t>
            </a:fld>
            <a:endParaRPr lang="en-US" altLang="en-US" sz="1400">
              <a:solidFill>
                <a:srgbClr val="FFFFFF"/>
              </a:solidFill>
            </a:endParaRPr>
          </a:p>
        </p:txBody>
      </p:sp>
      <p:sp>
        <p:nvSpPr>
          <p:cNvPr id="83972" name="Footer Placeholder 4">
            <a:extLst>
              <a:ext uri="{FF2B5EF4-FFF2-40B4-BE49-F238E27FC236}">
                <a16:creationId xmlns:a16="http://schemas.microsoft.com/office/drawing/2014/main" id="{92BBA880-46C5-E11C-D857-3CF8F5772C6F}"/>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200">
                <a:solidFill>
                  <a:srgbClr val="FFFFFF"/>
                </a:solidFill>
              </a:rPr>
              <a:t>MC3020</a:t>
            </a:r>
          </a:p>
        </p:txBody>
      </p:sp>
      <p:sp>
        <p:nvSpPr>
          <p:cNvPr id="6" name="Slide Number Placeholder 5">
            <a:extLst>
              <a:ext uri="{FF2B5EF4-FFF2-40B4-BE49-F238E27FC236}">
                <a16:creationId xmlns:a16="http://schemas.microsoft.com/office/drawing/2014/main" id="{4D9BBDFD-E39A-1B7A-D8D4-657C8BF268BC}"/>
              </a:ext>
            </a:extLst>
          </p:cNvPr>
          <p:cNvSpPr>
            <a:spLocks noGrp="1"/>
          </p:cNvSpPr>
          <p:nvPr>
            <p:ph type="sldNum" sz="quarter" idx="12"/>
          </p:nvPr>
        </p:nvSpPr>
        <p:spPr/>
        <p:txBody>
          <a:bodyPr/>
          <a:lstStyle/>
          <a:p>
            <a:pPr>
              <a:defRPr/>
            </a:pPr>
            <a:fld id="{C804AB4C-ED53-4995-80D0-BD9D5F3D4E3B}" type="slidenum">
              <a:rPr lang="en-US" smtClean="0"/>
              <a:pPr>
                <a:defRPr/>
              </a:pPr>
              <a:t>75</a:t>
            </a:fld>
            <a:endParaRPr lang="en-US"/>
          </a:p>
        </p:txBody>
      </p:sp>
      <p:pic>
        <p:nvPicPr>
          <p:cNvPr id="5" name="Picture 4" descr="Graphical user interface, text, application">
            <a:extLst>
              <a:ext uri="{FF2B5EF4-FFF2-40B4-BE49-F238E27FC236}">
                <a16:creationId xmlns:a16="http://schemas.microsoft.com/office/drawing/2014/main" id="{7B0AC7BA-AA38-973B-8DE2-2220426765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915" y="2123295"/>
            <a:ext cx="8385148" cy="2058018"/>
          </a:xfrm>
          <a:prstGeom prst="rect">
            <a:avLst/>
          </a:prstGeom>
        </p:spPr>
      </p:pic>
    </p:spTree>
  </p:cSld>
  <p:clrMapOvr>
    <a:masterClrMapping/>
  </p:clrMapOvr>
  <p:transition spd="slow">
    <p:wipe dir="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1752" y="1527048"/>
            <a:ext cx="8503920" cy="4721352"/>
          </a:xfrm>
        </p:spPr>
        <p:txBody>
          <a:bodyPr/>
          <a:lstStyle/>
          <a:p>
            <a:pPr marL="0" indent="0" algn="just">
              <a:buNone/>
            </a:pPr>
            <a:r>
              <a:rPr lang="en-US" sz="2500" dirty="0">
                <a:latin typeface="Times New Roman" panose="02020603050405020304" pitchFamily="18" charset="0"/>
                <a:cs typeface="Times New Roman" panose="02020603050405020304" pitchFamily="18" charset="0"/>
              </a:rPr>
              <a:t>A group of 7 seniors,5 juniors and 4 sophomores have volunteered to be peer tutors. Mr. Delucky needs to choose 12 students out of the group.</a:t>
            </a:r>
          </a:p>
          <a:p>
            <a:pPr marL="514350" indent="-514350" algn="just">
              <a:buFont typeface="+mj-lt"/>
              <a:buAutoNum type="alphaLcPeriod"/>
            </a:pPr>
            <a:r>
              <a:rPr lang="en-US" sz="2500" dirty="0">
                <a:latin typeface="Times New Roman" panose="02020603050405020304" pitchFamily="18" charset="0"/>
                <a:cs typeface="Times New Roman" panose="02020603050405020304" pitchFamily="18" charset="0"/>
              </a:rPr>
              <a:t>How many ways can the 12 students be chosen?</a:t>
            </a:r>
          </a:p>
          <a:p>
            <a:pPr marL="514350" indent="-514350" algn="just">
              <a:buFont typeface="+mj-lt"/>
              <a:buAutoNum type="alphaLcPeriod"/>
            </a:pPr>
            <a:r>
              <a:rPr lang="en-US" sz="2500" dirty="0">
                <a:latin typeface="Times New Roman" panose="02020603050405020304" pitchFamily="18" charset="0"/>
                <a:cs typeface="Times New Roman" panose="02020603050405020304" pitchFamily="18" charset="0"/>
              </a:rPr>
              <a:t>If the students are chosen randomly, what is the probability that 4 seniors,4 juniors and 4 sophomores will be selected?</a:t>
            </a:r>
          </a:p>
          <a:p>
            <a:pPr marL="514350" indent="-514350" algn="just">
              <a:buFont typeface="+mj-lt"/>
              <a:buAutoNum type="alphaLcPeriod"/>
            </a:pPr>
            <a:r>
              <a:rPr lang="en-US" sz="2500" dirty="0">
                <a:latin typeface="Times New Roman" panose="02020603050405020304" pitchFamily="18" charset="0"/>
                <a:cs typeface="Times New Roman" panose="02020603050405020304" pitchFamily="18" charset="0"/>
              </a:rPr>
              <a:t>If the students are chosen randomly, what is the probability that 4 seniors, juniors and at least 3 sophomores will be selected?</a:t>
            </a:r>
          </a:p>
          <a:p>
            <a:pPr marL="514350" indent="-514350" algn="just">
              <a:buFont typeface="+mj-lt"/>
              <a:buAutoNum type="alphaLcPeriod"/>
            </a:pPr>
            <a:endParaRPr lang="en-US" sz="2500" dirty="0">
              <a:latin typeface="Times New Roman" panose="02020603050405020304" pitchFamily="18" charset="0"/>
              <a:cs typeface="Times New Roman" panose="02020603050405020304" pitchFamily="18" charset="0"/>
            </a:endParaRPr>
          </a:p>
          <a:p>
            <a:pPr marL="0" indent="0" algn="just">
              <a:buNone/>
            </a:pPr>
            <a:r>
              <a:rPr lang="en-US" sz="2500" dirty="0" err="1">
                <a:solidFill>
                  <a:srgbClr val="FF0000"/>
                </a:solidFill>
                <a:latin typeface="Times New Roman" panose="02020603050405020304" pitchFamily="18" charset="0"/>
                <a:cs typeface="Times New Roman" panose="02020603050405020304" pitchFamily="18" charset="0"/>
              </a:rPr>
              <a:t>Ans</a:t>
            </a:r>
            <a:r>
              <a:rPr lang="en-US" sz="2500" dirty="0">
                <a:solidFill>
                  <a:srgbClr val="FF0000"/>
                </a:solidFill>
                <a:latin typeface="Times New Roman" panose="02020603050405020304" pitchFamily="18" charset="0"/>
                <a:cs typeface="Times New Roman" panose="02020603050405020304" pitchFamily="18" charset="0"/>
              </a:rPr>
              <a:t>: a-1820, b-175/1820,c-?</a:t>
            </a:r>
          </a:p>
        </p:txBody>
      </p:sp>
      <p:sp>
        <p:nvSpPr>
          <p:cNvPr id="4" name="Date Placeholder 3"/>
          <p:cNvSpPr>
            <a:spLocks noGrp="1"/>
          </p:cNvSpPr>
          <p:nvPr>
            <p:ph type="dt" sz="half" idx="10"/>
          </p:nvPr>
        </p:nvSpPr>
        <p:spPr/>
        <p:txBody>
          <a:bodyPr/>
          <a:lstStyle/>
          <a:p>
            <a:pPr>
              <a:defRPr/>
            </a:pPr>
            <a:fld id="{435B9553-B32A-4AA7-87D9-AACB6065D541}" type="datetime2">
              <a:rPr lang="en-US" smtClean="0"/>
              <a:pPr>
                <a:defRPr/>
              </a:pPr>
              <a:t>Monday, December 8, 2025</a:t>
            </a:fld>
            <a:endParaRPr lang="en-US"/>
          </a:p>
        </p:txBody>
      </p:sp>
      <p:sp>
        <p:nvSpPr>
          <p:cNvPr id="5" name="Footer Placeholder 4"/>
          <p:cNvSpPr>
            <a:spLocks noGrp="1"/>
          </p:cNvSpPr>
          <p:nvPr>
            <p:ph type="ftr" sz="quarter" idx="11"/>
          </p:nvPr>
        </p:nvSpPr>
        <p:spPr/>
        <p:txBody>
          <a:bodyPr/>
          <a:lstStyle/>
          <a:p>
            <a:pPr>
              <a:defRPr/>
            </a:pPr>
            <a:r>
              <a:rPr lang="en-US"/>
              <a:t>STAT 154 -09</a:t>
            </a:r>
          </a:p>
        </p:txBody>
      </p:sp>
      <p:sp>
        <p:nvSpPr>
          <p:cNvPr id="6" name="Slide Number Placeholder 5"/>
          <p:cNvSpPr>
            <a:spLocks noGrp="1"/>
          </p:cNvSpPr>
          <p:nvPr>
            <p:ph type="sldNum" sz="quarter" idx="12"/>
          </p:nvPr>
        </p:nvSpPr>
        <p:spPr/>
        <p:txBody>
          <a:bodyPr/>
          <a:lstStyle/>
          <a:p>
            <a:pPr>
              <a:defRPr/>
            </a:pPr>
            <a:fld id="{C70CFA2D-21B9-45B6-893F-7371CE3DE2D8}" type="slidenum">
              <a:rPr lang="en-US" smtClean="0"/>
              <a:pPr>
                <a:defRPr/>
              </a:pPr>
              <a:t>76</a:t>
            </a:fld>
            <a:endParaRPr lang="en-US"/>
          </a:p>
        </p:txBody>
      </p:sp>
      <p:sp>
        <p:nvSpPr>
          <p:cNvPr id="7" name="Title 1"/>
          <p:cNvSpPr>
            <a:spLocks noGrp="1"/>
          </p:cNvSpPr>
          <p:nvPr>
            <p:ph type="title"/>
          </p:nvPr>
        </p:nvSpPr>
        <p:spPr/>
        <p:txBody>
          <a:bodyPr/>
          <a:lstStyle/>
          <a:p>
            <a:pPr algn="l"/>
            <a:r>
              <a:rPr lang="en-US" altLang="en-US"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 Example: </a:t>
            </a:r>
            <a:endParaRPr lang="en-US"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2592294388"/>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tLang="en-US" sz="36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 Example: </a:t>
            </a:r>
            <a:endParaRPr lang="en-US" dirty="0"/>
          </a:p>
        </p:txBody>
      </p:sp>
      <p:sp>
        <p:nvSpPr>
          <p:cNvPr id="4" name="Date Placeholder 3"/>
          <p:cNvSpPr>
            <a:spLocks noGrp="1"/>
          </p:cNvSpPr>
          <p:nvPr>
            <p:ph type="dt" sz="half" idx="10"/>
          </p:nvPr>
        </p:nvSpPr>
        <p:spPr/>
        <p:txBody>
          <a:bodyPr/>
          <a:lstStyle/>
          <a:p>
            <a:pPr>
              <a:defRPr/>
            </a:pPr>
            <a:fld id="{435B9553-B32A-4AA7-87D9-AACB6065D541}" type="datetime2">
              <a:rPr lang="en-US" smtClean="0"/>
              <a:pPr>
                <a:defRPr/>
              </a:pPr>
              <a:t>Monday, December 8, 2025</a:t>
            </a:fld>
            <a:endParaRPr lang="en-US"/>
          </a:p>
        </p:txBody>
      </p:sp>
      <p:sp>
        <p:nvSpPr>
          <p:cNvPr id="5" name="Footer Placeholder 4"/>
          <p:cNvSpPr>
            <a:spLocks noGrp="1"/>
          </p:cNvSpPr>
          <p:nvPr>
            <p:ph type="ftr" sz="quarter" idx="11"/>
          </p:nvPr>
        </p:nvSpPr>
        <p:spPr/>
        <p:txBody>
          <a:bodyPr/>
          <a:lstStyle/>
          <a:p>
            <a:pPr>
              <a:defRPr/>
            </a:pPr>
            <a:r>
              <a:rPr lang="en-US"/>
              <a:t>STAT 154 -09</a:t>
            </a:r>
          </a:p>
        </p:txBody>
      </p:sp>
      <p:sp>
        <p:nvSpPr>
          <p:cNvPr id="6" name="Slide Number Placeholder 5"/>
          <p:cNvSpPr>
            <a:spLocks noGrp="1"/>
          </p:cNvSpPr>
          <p:nvPr>
            <p:ph type="sldNum" sz="quarter" idx="12"/>
          </p:nvPr>
        </p:nvSpPr>
        <p:spPr/>
        <p:txBody>
          <a:bodyPr/>
          <a:lstStyle/>
          <a:p>
            <a:pPr>
              <a:defRPr/>
            </a:pPr>
            <a:fld id="{C70CFA2D-21B9-45B6-893F-7371CE3DE2D8}" type="slidenum">
              <a:rPr lang="en-US" smtClean="0"/>
              <a:pPr>
                <a:defRPr/>
              </a:pPr>
              <a:t>77</a:t>
            </a:fld>
            <a:endParaRPr lang="en-US"/>
          </a:p>
        </p:txBody>
      </p:sp>
      <p:sp>
        <p:nvSpPr>
          <p:cNvPr id="7" name="Rectangle 6"/>
          <p:cNvSpPr/>
          <p:nvPr/>
        </p:nvSpPr>
        <p:spPr>
          <a:xfrm>
            <a:off x="228600" y="1384042"/>
            <a:ext cx="8534400" cy="5016758"/>
          </a:xfrm>
          <a:prstGeom prst="rect">
            <a:avLst/>
          </a:prstGeom>
        </p:spPr>
        <p:txBody>
          <a:bodyPr wrap="square">
            <a:spAutoFit/>
          </a:bodyPr>
          <a:lstStyle/>
          <a:p>
            <a:pPr algn="just"/>
            <a:r>
              <a:rPr lang="en-US" sz="3200" dirty="0">
                <a:cs typeface="Times New Roman" panose="02020603050405020304" pitchFamily="18" charset="0"/>
              </a:rPr>
              <a:t>A box contains 24 transistors, 4 of which are defective. If 4 are sold at random, find the following probabilities.</a:t>
            </a:r>
          </a:p>
          <a:p>
            <a:pPr marL="1428750" lvl="2" indent="-514350">
              <a:buClr>
                <a:srgbClr val="FF0000"/>
              </a:buClr>
              <a:buSzPct val="100000"/>
              <a:buFont typeface="+mj-lt"/>
              <a:buAutoNum type="alphaLcPeriod"/>
            </a:pPr>
            <a:r>
              <a:rPr lang="en-US" sz="3200" dirty="0">
                <a:cs typeface="Times New Roman" panose="02020603050405020304" pitchFamily="18" charset="0"/>
              </a:rPr>
              <a:t>Exactly 2 are defective. </a:t>
            </a:r>
          </a:p>
          <a:p>
            <a:pPr marL="1428750" lvl="2" indent="-514350">
              <a:buClr>
                <a:srgbClr val="FF0000"/>
              </a:buClr>
              <a:buSzPct val="100000"/>
              <a:buFont typeface="+mj-lt"/>
              <a:buAutoNum type="alphaLcPeriod"/>
            </a:pPr>
            <a:endParaRPr lang="en-US" sz="3200" dirty="0">
              <a:cs typeface="Times New Roman" panose="02020603050405020304" pitchFamily="18" charset="0"/>
            </a:endParaRPr>
          </a:p>
          <a:p>
            <a:pPr marL="1428750" lvl="2" indent="-514350">
              <a:buClr>
                <a:srgbClr val="FF0000"/>
              </a:buClr>
              <a:buSzPct val="100000"/>
              <a:buFont typeface="+mj-lt"/>
              <a:buAutoNum type="alphaLcPeriod"/>
            </a:pPr>
            <a:r>
              <a:rPr lang="en-US" sz="3200" dirty="0">
                <a:cs typeface="Times New Roman" panose="02020603050405020304" pitchFamily="18" charset="0"/>
              </a:rPr>
              <a:t>All are defective.</a:t>
            </a:r>
          </a:p>
          <a:p>
            <a:pPr marL="1428750" lvl="2" indent="-514350">
              <a:buClr>
                <a:srgbClr val="FF0000"/>
              </a:buClr>
              <a:buSzPct val="100000"/>
              <a:buFont typeface="+mj-lt"/>
              <a:buAutoNum type="alphaLcPeriod"/>
            </a:pPr>
            <a:endParaRPr lang="en-US" sz="3200" dirty="0">
              <a:cs typeface="Times New Roman" panose="02020603050405020304" pitchFamily="18" charset="0"/>
            </a:endParaRPr>
          </a:p>
          <a:p>
            <a:pPr marL="1428750" lvl="2" indent="-514350">
              <a:buClr>
                <a:srgbClr val="FF0000"/>
              </a:buClr>
              <a:buSzPct val="100000"/>
              <a:buFont typeface="+mj-lt"/>
              <a:buAutoNum type="alphaLcPeriod"/>
            </a:pPr>
            <a:r>
              <a:rPr lang="en-US" sz="3200" i="1" dirty="0">
                <a:cs typeface="Times New Roman" panose="02020603050405020304" pitchFamily="18" charset="0"/>
              </a:rPr>
              <a:t> </a:t>
            </a:r>
            <a:r>
              <a:rPr lang="en-US" sz="3200" dirty="0">
                <a:cs typeface="Times New Roman" panose="02020603050405020304" pitchFamily="18" charset="0"/>
              </a:rPr>
              <a:t>None is defective. </a:t>
            </a:r>
          </a:p>
          <a:p>
            <a:pPr marL="1428750" lvl="2" indent="-514350">
              <a:buClr>
                <a:srgbClr val="FF0000"/>
              </a:buClr>
              <a:buSzPct val="100000"/>
              <a:buFont typeface="+mj-lt"/>
              <a:buAutoNum type="alphaLcPeriod"/>
            </a:pPr>
            <a:endParaRPr lang="en-US" sz="3200" dirty="0">
              <a:cs typeface="Times New Roman" panose="02020603050405020304" pitchFamily="18" charset="0"/>
            </a:endParaRPr>
          </a:p>
          <a:p>
            <a:pPr marL="1428750" lvl="2" indent="-514350">
              <a:buClr>
                <a:srgbClr val="FF0000"/>
              </a:buClr>
              <a:buSzPct val="100000"/>
              <a:buFont typeface="+mj-lt"/>
              <a:buAutoNum type="alphaLcPeriod"/>
            </a:pPr>
            <a:r>
              <a:rPr lang="en-US" sz="3200" dirty="0">
                <a:cs typeface="Times New Roman" panose="02020603050405020304" pitchFamily="18" charset="0"/>
              </a:rPr>
              <a:t>At least 1 is defective.</a:t>
            </a:r>
          </a:p>
        </p:txBody>
      </p:sp>
      <mc:AlternateContent xmlns:mc="http://schemas.openxmlformats.org/markup-compatibility/2006" xmlns:a14="http://schemas.microsoft.com/office/drawing/2010/main">
        <mc:Choice Requires="a14">
          <p:sp>
            <p:nvSpPr>
              <p:cNvPr id="8" name="TextBox 7"/>
              <p:cNvSpPr txBox="1"/>
              <p:nvPr/>
            </p:nvSpPr>
            <p:spPr>
              <a:xfrm>
                <a:off x="5638800" y="2911598"/>
                <a:ext cx="1295400" cy="669414"/>
              </a:xfrm>
              <a:prstGeom prst="rect">
                <a:avLst/>
              </a:prstGeom>
              <a:noFill/>
              <a:ln>
                <a:solidFill>
                  <a:schemeClr val="accent1"/>
                </a:solidFill>
              </a:ln>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000" i="1" smtClean="0">
                              <a:solidFill>
                                <a:srgbClr val="FF0000"/>
                              </a:solidFill>
                              <a:latin typeface="Cambria Math" panose="02040503050406030204" pitchFamily="18" charset="0"/>
                            </a:rPr>
                          </m:ctrlPr>
                        </m:fPr>
                        <m:num>
                          <m:r>
                            <a:rPr lang="en-US" sz="2000" b="0" i="1" smtClean="0">
                              <a:solidFill>
                                <a:srgbClr val="FF0000"/>
                              </a:solidFill>
                              <a:latin typeface="Cambria Math" panose="02040503050406030204" pitchFamily="18" charset="0"/>
                            </a:rPr>
                            <m:t>190</m:t>
                          </m:r>
                        </m:num>
                        <m:den>
                          <m:r>
                            <a:rPr lang="en-US" sz="2000" b="0" i="1" smtClean="0">
                              <a:solidFill>
                                <a:srgbClr val="FF0000"/>
                              </a:solidFill>
                              <a:latin typeface="Cambria Math" panose="02040503050406030204" pitchFamily="18" charset="0"/>
                            </a:rPr>
                            <m:t>1771</m:t>
                          </m:r>
                        </m:den>
                      </m:f>
                    </m:oMath>
                  </m:oMathPara>
                </a14:m>
                <a:endParaRPr lang="en-US" sz="2000" dirty="0">
                  <a:cs typeface="Times New Roman" panose="02020603050405020304" pitchFamily="18" charset="0"/>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5638800" y="2911598"/>
                <a:ext cx="1295400" cy="669414"/>
              </a:xfrm>
              <a:prstGeom prst="rect">
                <a:avLst/>
              </a:prstGeom>
              <a:blipFill rotWithShape="0">
                <a:blip r:embed="rId2"/>
                <a:stretch>
                  <a:fillRect/>
                </a:stretch>
              </a:blipFill>
              <a:l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5647099" y="5486400"/>
                <a:ext cx="1295400" cy="669414"/>
              </a:xfrm>
              <a:prstGeom prst="rect">
                <a:avLst/>
              </a:prstGeom>
              <a:noFill/>
              <a:ln>
                <a:solidFill>
                  <a:schemeClr val="accent1"/>
                </a:solidFill>
              </a:ln>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000" i="1" smtClean="0">
                              <a:solidFill>
                                <a:srgbClr val="FF0000"/>
                              </a:solidFill>
                              <a:latin typeface="Cambria Math" panose="02040503050406030204" pitchFamily="18" charset="0"/>
                            </a:rPr>
                          </m:ctrlPr>
                        </m:fPr>
                        <m:num>
                          <m:r>
                            <a:rPr lang="en-US" sz="2000" b="0" i="1" smtClean="0">
                              <a:solidFill>
                                <a:srgbClr val="FF0000"/>
                              </a:solidFill>
                              <a:latin typeface="Cambria Math" panose="02040503050406030204" pitchFamily="18" charset="0"/>
                            </a:rPr>
                            <m:t>1927</m:t>
                          </m:r>
                        </m:num>
                        <m:den>
                          <m:r>
                            <a:rPr lang="en-US" sz="2000" b="0" i="1" smtClean="0">
                              <a:solidFill>
                                <a:srgbClr val="FF0000"/>
                              </a:solidFill>
                              <a:latin typeface="Cambria Math" panose="02040503050406030204" pitchFamily="18" charset="0"/>
                            </a:rPr>
                            <m:t>1771</m:t>
                          </m:r>
                        </m:den>
                      </m:f>
                    </m:oMath>
                  </m:oMathPara>
                </a14:m>
                <a:endParaRPr lang="en-US" sz="2000" dirty="0"/>
              </a:p>
            </p:txBody>
          </p:sp>
        </mc:Choice>
        <mc:Fallback xmlns="">
          <p:sp>
            <p:nvSpPr>
              <p:cNvPr id="9" name="TextBox 8"/>
              <p:cNvSpPr txBox="1">
                <a:spLocks noRot="1" noChangeAspect="1" noMove="1" noResize="1" noEditPoints="1" noAdjustHandles="1" noChangeArrowheads="1" noChangeShapeType="1" noTextEdit="1"/>
              </p:cNvSpPr>
              <p:nvPr/>
            </p:nvSpPr>
            <p:spPr>
              <a:xfrm>
                <a:off x="5647099" y="5486400"/>
                <a:ext cx="1295400" cy="669414"/>
              </a:xfrm>
              <a:prstGeom prst="rect">
                <a:avLst/>
              </a:prstGeom>
              <a:blipFill rotWithShape="0">
                <a:blip r:embed="rId3"/>
                <a:stretch>
                  <a:fillRect/>
                </a:stretch>
              </a:blipFill>
              <a:l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5638800" y="4625305"/>
                <a:ext cx="1295400" cy="676852"/>
              </a:xfrm>
              <a:prstGeom prst="rect">
                <a:avLst/>
              </a:prstGeom>
              <a:noFill/>
              <a:ln>
                <a:solidFill>
                  <a:schemeClr val="accent1"/>
                </a:solidFill>
              </a:ln>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000" i="1" smtClean="0">
                              <a:solidFill>
                                <a:srgbClr val="FF0000"/>
                              </a:solidFill>
                              <a:latin typeface="Cambria Math" panose="02040503050406030204" pitchFamily="18" charset="0"/>
                            </a:rPr>
                          </m:ctrlPr>
                        </m:fPr>
                        <m:num>
                          <m:r>
                            <a:rPr lang="en-US" sz="2000" b="0" i="1" smtClean="0">
                              <a:solidFill>
                                <a:srgbClr val="FF0000"/>
                              </a:solidFill>
                              <a:latin typeface="Cambria Math" panose="02040503050406030204" pitchFamily="18" charset="0"/>
                            </a:rPr>
                            <m:t>1615</m:t>
                          </m:r>
                        </m:num>
                        <m:den>
                          <m:r>
                            <a:rPr lang="en-US" sz="2000" b="0" i="1" smtClean="0">
                              <a:solidFill>
                                <a:srgbClr val="FF0000"/>
                              </a:solidFill>
                              <a:latin typeface="Cambria Math" panose="02040503050406030204" pitchFamily="18" charset="0"/>
                            </a:rPr>
                            <m:t>3542</m:t>
                          </m:r>
                        </m:den>
                      </m:f>
                    </m:oMath>
                  </m:oMathPara>
                </a14:m>
                <a:endParaRPr lang="en-US" sz="2000" dirty="0"/>
              </a:p>
            </p:txBody>
          </p:sp>
        </mc:Choice>
        <mc:Fallback xmlns="">
          <p:sp>
            <p:nvSpPr>
              <p:cNvPr id="10" name="TextBox 9"/>
              <p:cNvSpPr txBox="1">
                <a:spLocks noRot="1" noChangeAspect="1" noMove="1" noResize="1" noEditPoints="1" noAdjustHandles="1" noChangeArrowheads="1" noChangeShapeType="1" noTextEdit="1"/>
              </p:cNvSpPr>
              <p:nvPr/>
            </p:nvSpPr>
            <p:spPr>
              <a:xfrm>
                <a:off x="5638800" y="4625305"/>
                <a:ext cx="1295400" cy="676852"/>
              </a:xfrm>
              <a:prstGeom prst="rect">
                <a:avLst/>
              </a:prstGeom>
              <a:blipFill rotWithShape="0">
                <a:blip r:embed="rId4"/>
                <a:stretch>
                  <a:fillRect/>
                </a:stretch>
              </a:blipFill>
              <a:l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5632010" y="3787105"/>
                <a:ext cx="1295400" cy="670568"/>
              </a:xfrm>
              <a:prstGeom prst="rect">
                <a:avLst/>
              </a:prstGeom>
              <a:noFill/>
              <a:ln>
                <a:solidFill>
                  <a:schemeClr val="accent1"/>
                </a:solidFill>
              </a:ln>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000" i="1" smtClean="0">
                              <a:solidFill>
                                <a:srgbClr val="FF0000"/>
                              </a:solidFill>
                              <a:latin typeface="Cambria Math" panose="02040503050406030204" pitchFamily="18" charset="0"/>
                            </a:rPr>
                          </m:ctrlPr>
                        </m:fPr>
                        <m:num>
                          <m:r>
                            <a:rPr lang="en-US" sz="2000" b="0" i="1" smtClean="0">
                              <a:solidFill>
                                <a:srgbClr val="FF0000"/>
                              </a:solidFill>
                              <a:latin typeface="Cambria Math" panose="02040503050406030204" pitchFamily="18" charset="0"/>
                            </a:rPr>
                            <m:t>1</m:t>
                          </m:r>
                        </m:num>
                        <m:den>
                          <m:r>
                            <a:rPr lang="en-US" sz="2000" b="0" i="1" smtClean="0">
                              <a:solidFill>
                                <a:srgbClr val="FF0000"/>
                              </a:solidFill>
                              <a:latin typeface="Cambria Math" panose="02040503050406030204" pitchFamily="18" charset="0"/>
                            </a:rPr>
                            <m:t>10626</m:t>
                          </m:r>
                        </m:den>
                      </m:f>
                    </m:oMath>
                  </m:oMathPara>
                </a14:m>
                <a:endParaRPr lang="en-US" sz="2000" dirty="0"/>
              </a:p>
            </p:txBody>
          </p:sp>
        </mc:Choice>
        <mc:Fallback xmlns="">
          <p:sp>
            <p:nvSpPr>
              <p:cNvPr id="11" name="TextBox 10"/>
              <p:cNvSpPr txBox="1">
                <a:spLocks noRot="1" noChangeAspect="1" noMove="1" noResize="1" noEditPoints="1" noAdjustHandles="1" noChangeArrowheads="1" noChangeShapeType="1" noTextEdit="1"/>
              </p:cNvSpPr>
              <p:nvPr/>
            </p:nvSpPr>
            <p:spPr>
              <a:xfrm>
                <a:off x="5632010" y="3787105"/>
                <a:ext cx="1295400" cy="670568"/>
              </a:xfrm>
              <a:prstGeom prst="rect">
                <a:avLst/>
              </a:prstGeom>
              <a:blipFill rotWithShape="0">
                <a:blip r:embed="rId5"/>
                <a:stretch>
                  <a:fillRect/>
                </a:stretch>
              </a:blipFill>
              <a:ln>
                <a:solidFill>
                  <a:schemeClr val="accent1"/>
                </a:solidFill>
              </a:ln>
            </p:spPr>
            <p:txBody>
              <a:bodyPr/>
              <a:lstStyle/>
              <a:p>
                <a:r>
                  <a:rPr lang="en-US">
                    <a:noFill/>
                  </a:rPr>
                  <a:t> </a:t>
                </a:r>
              </a:p>
            </p:txBody>
          </p:sp>
        </mc:Fallback>
      </mc:AlternateContent>
    </p:spTree>
    <p:extLst>
      <p:ext uri="{BB962C8B-B14F-4D97-AF65-F5344CB8AC3E}">
        <p14:creationId xmlns:p14="http://schemas.microsoft.com/office/powerpoint/2010/main" val="2158072168"/>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35B9553-B32A-4AA7-87D9-AACB6065D541}" type="datetime2">
              <a:rPr lang="en-US" smtClean="0"/>
              <a:pPr>
                <a:defRPr/>
              </a:pPr>
              <a:t>Monday, December 8, 2025</a:t>
            </a:fld>
            <a:endParaRPr lang="en-US"/>
          </a:p>
        </p:txBody>
      </p:sp>
      <p:sp>
        <p:nvSpPr>
          <p:cNvPr id="5" name="Footer Placeholder 4"/>
          <p:cNvSpPr>
            <a:spLocks noGrp="1"/>
          </p:cNvSpPr>
          <p:nvPr>
            <p:ph type="ftr" sz="quarter" idx="11"/>
          </p:nvPr>
        </p:nvSpPr>
        <p:spPr/>
        <p:txBody>
          <a:bodyPr/>
          <a:lstStyle/>
          <a:p>
            <a:pPr>
              <a:defRPr/>
            </a:pPr>
            <a:r>
              <a:rPr lang="en-US"/>
              <a:t>STAT 154 -09</a:t>
            </a:r>
          </a:p>
        </p:txBody>
      </p:sp>
      <p:sp>
        <p:nvSpPr>
          <p:cNvPr id="6" name="Slide Number Placeholder 5"/>
          <p:cNvSpPr>
            <a:spLocks noGrp="1"/>
          </p:cNvSpPr>
          <p:nvPr>
            <p:ph type="sldNum" sz="quarter" idx="12"/>
          </p:nvPr>
        </p:nvSpPr>
        <p:spPr/>
        <p:txBody>
          <a:bodyPr/>
          <a:lstStyle/>
          <a:p>
            <a:pPr>
              <a:defRPr/>
            </a:pPr>
            <a:fld id="{C70CFA2D-21B9-45B6-893F-7371CE3DE2D8}" type="slidenum">
              <a:rPr lang="en-US" smtClean="0"/>
              <a:pPr>
                <a:defRPr/>
              </a:pPr>
              <a:t>78</a:t>
            </a:fld>
            <a:endParaRPr lang="en-US"/>
          </a:p>
        </p:txBody>
      </p:sp>
      <p:sp>
        <p:nvSpPr>
          <p:cNvPr id="7" name="Rectangle 6"/>
          <p:cNvSpPr/>
          <p:nvPr/>
        </p:nvSpPr>
        <p:spPr>
          <a:xfrm>
            <a:off x="228599" y="1536174"/>
            <a:ext cx="8607425" cy="3170099"/>
          </a:xfrm>
          <a:prstGeom prst="rect">
            <a:avLst/>
          </a:prstGeom>
        </p:spPr>
        <p:txBody>
          <a:bodyPr wrap="square">
            <a:spAutoFit/>
          </a:bodyPr>
          <a:lstStyle/>
          <a:p>
            <a:pPr algn="just"/>
            <a:r>
              <a:rPr lang="en-US" sz="3000" dirty="0">
                <a:ea typeface="Times New Roman" panose="02020603050405020304" pitchFamily="18" charset="0"/>
              </a:rPr>
              <a:t>A statistics student wants to ensure that she is not late for an early class because of a malfunctioning alarm clock. Instead of using one alarm clock, she decides to use three. What is the probability that at least one of her alarm clocks works correctly if each individual alarm clock has a 90% chance of working correctly?</a:t>
            </a:r>
          </a:p>
          <a:p>
            <a:pPr algn="just"/>
            <a:r>
              <a:rPr lang="en-US" sz="1800" dirty="0">
                <a:solidFill>
                  <a:srgbClr val="FF0000"/>
                </a:solidFill>
                <a:ea typeface="Times New Roman" panose="02020603050405020304" pitchFamily="18" charset="0"/>
              </a:rPr>
              <a:t>[Test 2 question in Fall 2016] </a:t>
            </a:r>
            <a:endParaRPr lang="en-US" sz="1800" dirty="0">
              <a:solidFill>
                <a:srgbClr val="FF0000"/>
              </a:solidFill>
            </a:endParaRPr>
          </a:p>
        </p:txBody>
      </p:sp>
      <p:sp>
        <p:nvSpPr>
          <p:cNvPr id="8" name="Title 1"/>
          <p:cNvSpPr>
            <a:spLocks noGrp="1"/>
          </p:cNvSpPr>
          <p:nvPr>
            <p:ph type="title"/>
          </p:nvPr>
        </p:nvSpPr>
        <p:spPr>
          <a:xfrm>
            <a:off x="152400" y="364069"/>
            <a:ext cx="8534400" cy="758825"/>
          </a:xfrm>
        </p:spPr>
        <p:txBody>
          <a:bodyPr/>
          <a:lstStyle/>
          <a:p>
            <a:pPr algn="l"/>
            <a:r>
              <a:rPr lang="en-US" altLang="en-US"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 Example: </a:t>
            </a:r>
            <a:endParaRPr lang="en-US"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1228660671"/>
      </p:ext>
    </p:extLst>
  </p:cSld>
  <p:clrMapOvr>
    <a:masterClrMapping/>
  </p:clrMapOvr>
  <p:transition spd="slow">
    <p:wipe dir="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1752" y="1527048"/>
            <a:ext cx="8232648" cy="4572000"/>
          </a:xfrm>
        </p:spPr>
        <p:txBody>
          <a:bodyPr/>
          <a:lstStyle/>
          <a:p>
            <a:pPr marL="0" indent="0">
              <a:lnSpc>
                <a:spcPct val="120000"/>
              </a:lnSpc>
              <a:buNone/>
            </a:pPr>
            <a:r>
              <a:rPr lang="en-US" sz="2800" dirty="0"/>
              <a:t>if the probability of each clock working correctly is 0.9, then the probability of it failing is </a:t>
            </a:r>
            <a:r>
              <a:rPr lang="en-US" sz="2800" dirty="0">
                <a:solidFill>
                  <a:srgbClr val="FF0000"/>
                </a:solidFill>
              </a:rPr>
              <a:t>0.1. </a:t>
            </a:r>
            <a:br>
              <a:rPr lang="en-US" sz="2800" dirty="0"/>
            </a:br>
            <a:r>
              <a:rPr lang="en-US" sz="2800" dirty="0"/>
              <a:t>The probability of all three clocks failing is </a:t>
            </a:r>
          </a:p>
          <a:p>
            <a:pPr marL="0" indent="0">
              <a:lnSpc>
                <a:spcPct val="120000"/>
              </a:lnSpc>
              <a:buNone/>
            </a:pPr>
            <a:r>
              <a:rPr lang="en-US" sz="2800" dirty="0">
                <a:solidFill>
                  <a:srgbClr val="FF0000"/>
                </a:solidFill>
              </a:rPr>
              <a:t>0.1 x 0.1 x 0.1 = 0.001 </a:t>
            </a:r>
            <a:br>
              <a:rPr lang="en-US" sz="2800" dirty="0"/>
            </a:br>
            <a:br>
              <a:rPr lang="en-US" sz="2800" dirty="0"/>
            </a:br>
            <a:r>
              <a:rPr lang="en-US" sz="2800" dirty="0"/>
              <a:t>So the probability that at least one of them functions correctly is </a:t>
            </a:r>
            <a:r>
              <a:rPr lang="en-US" sz="2800" dirty="0">
                <a:solidFill>
                  <a:srgbClr val="FF0000"/>
                </a:solidFill>
              </a:rPr>
              <a:t>1 - 0.001 = 0.999. </a:t>
            </a:r>
            <a:br>
              <a:rPr lang="en-US" sz="2000" dirty="0"/>
            </a:br>
            <a:endParaRPr lang="en-US" sz="2000" dirty="0"/>
          </a:p>
        </p:txBody>
      </p:sp>
      <p:sp>
        <p:nvSpPr>
          <p:cNvPr id="4" name="Date Placeholder 3"/>
          <p:cNvSpPr>
            <a:spLocks noGrp="1"/>
          </p:cNvSpPr>
          <p:nvPr>
            <p:ph type="dt" sz="half" idx="10"/>
          </p:nvPr>
        </p:nvSpPr>
        <p:spPr/>
        <p:txBody>
          <a:bodyPr/>
          <a:lstStyle/>
          <a:p>
            <a:pPr>
              <a:defRPr/>
            </a:pPr>
            <a:fld id="{435B9553-B32A-4AA7-87D9-AACB6065D541}" type="datetime2">
              <a:rPr lang="en-US" smtClean="0"/>
              <a:pPr>
                <a:defRPr/>
              </a:pPr>
              <a:t>Monday, December 8, 2025</a:t>
            </a:fld>
            <a:endParaRPr lang="en-US"/>
          </a:p>
        </p:txBody>
      </p:sp>
      <p:sp>
        <p:nvSpPr>
          <p:cNvPr id="5" name="Footer Placeholder 4"/>
          <p:cNvSpPr>
            <a:spLocks noGrp="1"/>
          </p:cNvSpPr>
          <p:nvPr>
            <p:ph type="ftr" sz="quarter" idx="11"/>
          </p:nvPr>
        </p:nvSpPr>
        <p:spPr/>
        <p:txBody>
          <a:bodyPr/>
          <a:lstStyle/>
          <a:p>
            <a:pPr>
              <a:defRPr/>
            </a:pPr>
            <a:r>
              <a:rPr lang="en-US"/>
              <a:t>STAT 154 -09</a:t>
            </a:r>
          </a:p>
        </p:txBody>
      </p:sp>
      <p:sp>
        <p:nvSpPr>
          <p:cNvPr id="6" name="Slide Number Placeholder 5"/>
          <p:cNvSpPr>
            <a:spLocks noGrp="1"/>
          </p:cNvSpPr>
          <p:nvPr>
            <p:ph type="sldNum" sz="quarter" idx="12"/>
          </p:nvPr>
        </p:nvSpPr>
        <p:spPr/>
        <p:txBody>
          <a:bodyPr/>
          <a:lstStyle/>
          <a:p>
            <a:pPr>
              <a:defRPr/>
            </a:pPr>
            <a:fld id="{C70CFA2D-21B9-45B6-893F-7371CE3DE2D8}" type="slidenum">
              <a:rPr lang="en-US" smtClean="0"/>
              <a:pPr>
                <a:defRPr/>
              </a:pPr>
              <a:t>79</a:t>
            </a:fld>
            <a:endParaRPr lang="en-US"/>
          </a:p>
        </p:txBody>
      </p:sp>
    </p:spTree>
    <p:extLst>
      <p:ext uri="{BB962C8B-B14F-4D97-AF65-F5344CB8AC3E}">
        <p14:creationId xmlns:p14="http://schemas.microsoft.com/office/powerpoint/2010/main" val="1570782640"/>
      </p:ext>
    </p:extLst>
  </p:cSld>
  <p:clrMapOvr>
    <a:masterClrMapping/>
  </p:clrMapOvr>
  <p:transition spd="slow">
    <p:wipe dir="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Date Placeholder 3">
            <a:extLst>
              <a:ext uri="{FF2B5EF4-FFF2-40B4-BE49-F238E27FC236}">
                <a16:creationId xmlns:a16="http://schemas.microsoft.com/office/drawing/2014/main" id="{D9ACE885-E5F3-CE2C-25B9-950ABCF1B628}"/>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553CC87-BBB7-47F7-9F16-FCE151BEE5BD}" type="datetime2">
              <a:rPr lang="en-US" altLang="en-US" sz="1400">
                <a:solidFill>
                  <a:srgbClr val="FFFFFF"/>
                </a:solidFill>
              </a:rPr>
              <a:pPr/>
              <a:t>Monday, December 8, 2025</a:t>
            </a:fld>
            <a:endParaRPr lang="en-US" altLang="en-US" sz="1400">
              <a:solidFill>
                <a:srgbClr val="FFFFFF"/>
              </a:solidFill>
            </a:endParaRPr>
          </a:p>
        </p:txBody>
      </p:sp>
      <p:sp>
        <p:nvSpPr>
          <p:cNvPr id="5" name="Slide Number Placeholder 4">
            <a:extLst>
              <a:ext uri="{FF2B5EF4-FFF2-40B4-BE49-F238E27FC236}">
                <a16:creationId xmlns:a16="http://schemas.microsoft.com/office/drawing/2014/main" id="{AF29BF66-CCFA-5B0C-BA97-728221FF60D3}"/>
              </a:ext>
            </a:extLst>
          </p:cNvPr>
          <p:cNvSpPr>
            <a:spLocks noGrp="1"/>
          </p:cNvSpPr>
          <p:nvPr>
            <p:ph type="sldNum" sz="quarter" idx="12"/>
          </p:nvPr>
        </p:nvSpPr>
        <p:spPr/>
        <p:txBody>
          <a:bodyPr/>
          <a:lstStyle/>
          <a:p>
            <a:pPr>
              <a:defRPr/>
            </a:pPr>
            <a:fld id="{39DD50EE-8851-4B42-A4D3-0A5F7FE914BD}" type="slidenum">
              <a:rPr lang="en-US" smtClean="0"/>
              <a:pPr>
                <a:defRPr/>
              </a:pPr>
              <a:t>80</a:t>
            </a:fld>
            <a:endParaRPr lang="en-US"/>
          </a:p>
        </p:txBody>
      </p:sp>
      <p:sp>
        <p:nvSpPr>
          <p:cNvPr id="90117" name="Footer Placeholder 5">
            <a:extLst>
              <a:ext uri="{FF2B5EF4-FFF2-40B4-BE49-F238E27FC236}">
                <a16:creationId xmlns:a16="http://schemas.microsoft.com/office/drawing/2014/main" id="{37EA34B7-B87A-1787-8CA5-44DA159E14E7}"/>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200">
                <a:solidFill>
                  <a:srgbClr val="FFFFFF"/>
                </a:solidFill>
              </a:rPr>
              <a:t>MC3020</a:t>
            </a:r>
          </a:p>
        </p:txBody>
      </p:sp>
      <p:sp>
        <p:nvSpPr>
          <p:cNvPr id="3" name="TextBox 2">
            <a:extLst>
              <a:ext uri="{FF2B5EF4-FFF2-40B4-BE49-F238E27FC236}">
                <a16:creationId xmlns:a16="http://schemas.microsoft.com/office/drawing/2014/main" id="{5C86C50B-7B7B-66D7-95BB-6222A8749EE0}"/>
              </a:ext>
            </a:extLst>
          </p:cNvPr>
          <p:cNvSpPr txBox="1"/>
          <p:nvPr/>
        </p:nvSpPr>
        <p:spPr>
          <a:xfrm>
            <a:off x="152400" y="1468438"/>
            <a:ext cx="8763000" cy="4031873"/>
          </a:xfrm>
          <a:prstGeom prst="rect">
            <a:avLst/>
          </a:prstGeom>
          <a:noFill/>
        </p:spPr>
        <p:txBody>
          <a:bodyPr wrap="square">
            <a:spAutoFit/>
          </a:bodyPr>
          <a:lstStyle/>
          <a:p>
            <a:pPr algn="just"/>
            <a:r>
              <a:rPr lang="en-US" sz="3200" b="0" i="0" u="none" strike="noStrike" baseline="0" dirty="0">
                <a:solidFill>
                  <a:srgbClr val="000000"/>
                </a:solidFill>
                <a:cs typeface="Times New Roman" panose="02020603050405020304" pitchFamily="18" charset="0"/>
              </a:rPr>
              <a:t>Don’t hesitate to contact us if you have any questions about this course’s teaching contents. Also, don’t forget to check out the course page and Microsoft Team folder,</a:t>
            </a:r>
          </a:p>
          <a:p>
            <a:pPr marL="457200" indent="-457200">
              <a:buFont typeface="Arial" panose="020B0604020202020204" pitchFamily="34" charset="0"/>
              <a:buChar char="•"/>
            </a:pPr>
            <a:r>
              <a:rPr lang="fr-FR" sz="3200" b="0" i="0" u="none" strike="noStrike" baseline="0" dirty="0">
                <a:solidFill>
                  <a:srgbClr val="000000"/>
                </a:solidFill>
                <a:cs typeface="Times New Roman" panose="02020603050405020304" pitchFamily="18" charset="0"/>
              </a:rPr>
              <a:t>course page </a:t>
            </a:r>
            <a:r>
              <a:rPr lang="fr-FR" sz="3200" b="0" i="0" u="none" strike="noStrike" baseline="0" dirty="0">
                <a:solidFill>
                  <a:srgbClr val="0000FF"/>
                </a:solidFill>
                <a:cs typeface="Times New Roman" panose="02020603050405020304" pitchFamily="18" charset="0"/>
                <a:hlinkClick r:id="rId2"/>
              </a:rPr>
              <a:t>https://mayooran1987.github.io/MC3020-E24/</a:t>
            </a:r>
            <a:endParaRPr lang="fr-FR" sz="3200" b="0" i="0" u="none" strike="noStrike" baseline="0" dirty="0">
              <a:solidFill>
                <a:srgbClr val="0000FF"/>
              </a:solidFill>
              <a:cs typeface="Times New Roman" panose="02020603050405020304" pitchFamily="18" charset="0"/>
            </a:endParaRPr>
          </a:p>
          <a:p>
            <a:pPr algn="just"/>
            <a:endParaRPr lang="fr-FR" sz="3200" b="0" i="0" u="none" strike="noStrike" baseline="0" dirty="0">
              <a:solidFill>
                <a:srgbClr val="0000FF"/>
              </a:solidFill>
              <a:cs typeface="Times New Roman" panose="02020603050405020304" pitchFamily="18" charset="0"/>
            </a:endParaRPr>
          </a:p>
          <a:p>
            <a:pPr marL="457200" indent="-457200" algn="just">
              <a:buFont typeface="Arial" panose="020B0604020202020204" pitchFamily="34" charset="0"/>
              <a:buChar char="•"/>
            </a:pPr>
            <a:r>
              <a:rPr lang="en-US" sz="3200" b="0" i="0" u="none" strike="noStrike" baseline="0" dirty="0">
                <a:solidFill>
                  <a:srgbClr val="000000"/>
                </a:solidFill>
                <a:cs typeface="Times New Roman" panose="02020603050405020304" pitchFamily="18" charset="0"/>
              </a:rPr>
              <a:t>Microsoft Team folder.</a:t>
            </a:r>
            <a:endParaRPr lang="en-US" sz="3200" dirty="0">
              <a:cs typeface="Times New Roman" panose="02020603050405020304" pitchFamily="18" charset="0"/>
            </a:endParaRPr>
          </a:p>
        </p:txBody>
      </p:sp>
    </p:spTree>
  </p:cSld>
  <p:clrMapOvr>
    <a:masterClrMapping/>
  </p:clrMapOvr>
  <p:transition spd="slow">
    <p:wipe dir="r"/>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1451</TotalTime>
  <Words>3146</Words>
  <Application>Microsoft Office PowerPoint</Application>
  <PresentationFormat>On-screen Show (4:3)</PresentationFormat>
  <Paragraphs>554</Paragraphs>
  <Slides>80</Slides>
  <Notes>1</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80</vt:i4>
      </vt:variant>
    </vt:vector>
  </HeadingPairs>
  <TitlesOfParts>
    <vt:vector size="92" baseType="lpstr">
      <vt:lpstr>Algerian</vt:lpstr>
      <vt:lpstr>Arial</vt:lpstr>
      <vt:lpstr>Bookman Old Style</vt:lpstr>
      <vt:lpstr>Calibri</vt:lpstr>
      <vt:lpstr>Cambria Math</vt:lpstr>
      <vt:lpstr>Georgia</vt:lpstr>
      <vt:lpstr>Symbol</vt:lpstr>
      <vt:lpstr>Times New Roman</vt:lpstr>
      <vt:lpstr>Wingdings</vt:lpstr>
      <vt:lpstr>Wingdings 2</vt:lpstr>
      <vt:lpstr>Civic</vt:lpstr>
      <vt:lpstr>Equation</vt:lpstr>
      <vt:lpstr>PowerPoint Presentation</vt:lpstr>
      <vt:lpstr>PowerPoint Presentation</vt:lpstr>
      <vt:lpstr>Definition: Inferential Statistics</vt:lpstr>
      <vt:lpstr>Example 1:</vt:lpstr>
      <vt:lpstr>Example 2:</vt:lpstr>
      <vt:lpstr>PowerPoint Presentation</vt:lpstr>
      <vt:lpstr>PowerPoint Presentation</vt:lpstr>
      <vt:lpstr>Why Learn Probability?</vt:lpstr>
      <vt:lpstr>Probabilistic vs Statistical Reasoning</vt:lpstr>
      <vt:lpstr>Experiment:</vt:lpstr>
      <vt:lpstr>Examples</vt:lpstr>
      <vt:lpstr>Sample Space</vt:lpstr>
      <vt:lpstr>Example</vt:lpstr>
      <vt:lpstr>Definitions:</vt:lpstr>
      <vt:lpstr>Probability:</vt:lpstr>
      <vt:lpstr>Basic Approaches to Computing Probability</vt:lpstr>
      <vt:lpstr>Approach #1: </vt:lpstr>
      <vt:lpstr>Approach #2: </vt:lpstr>
      <vt:lpstr>Example 8:</vt:lpstr>
      <vt:lpstr>Approach #3:</vt:lpstr>
      <vt:lpstr>Example 9:</vt:lpstr>
      <vt:lpstr>Example:</vt:lpstr>
      <vt:lpstr>PowerPoint Presentation</vt:lpstr>
      <vt:lpstr>PowerPoint Presentation</vt:lpstr>
      <vt:lpstr>PowerPoint Presentation</vt:lpstr>
      <vt:lpstr>PowerPoint Presentation</vt:lpstr>
      <vt:lpstr>PowerPoint Presentation</vt:lpstr>
      <vt:lpstr>Subset/Sub event:</vt:lpstr>
      <vt:lpstr>Example 10:</vt:lpstr>
      <vt:lpstr>Complement:</vt:lpstr>
      <vt:lpstr>PowerPoint Presentation</vt:lpstr>
      <vt:lpstr>Example 11:</vt:lpstr>
      <vt:lpstr>Union:</vt:lpstr>
      <vt:lpstr>Example 12:</vt:lpstr>
      <vt:lpstr>Intersection:</vt:lpstr>
      <vt:lpstr>Example 13:</vt:lpstr>
      <vt:lpstr>Example</vt:lpstr>
      <vt:lpstr>Mutually Exclusive or Disjoint:</vt:lpstr>
      <vt:lpstr>PowerPoint Presentation</vt:lpstr>
      <vt:lpstr>Addition Rule:</vt:lpstr>
      <vt:lpstr>Example 3.15:</vt:lpstr>
      <vt:lpstr>Conditional Probability </vt:lpstr>
      <vt:lpstr>Definition:</vt:lpstr>
      <vt:lpstr>Example 3.16:</vt:lpstr>
      <vt:lpstr>Example 3.16: Continue….</vt:lpstr>
      <vt:lpstr>Multiplication Rule:</vt:lpstr>
      <vt:lpstr>Example 3.17:</vt:lpstr>
      <vt:lpstr>Example:</vt:lpstr>
      <vt:lpstr>Bayes’ Rule:</vt:lpstr>
      <vt:lpstr>Venn diagram for Bayes’ rule</vt:lpstr>
      <vt:lpstr>Example 3.18:</vt:lpstr>
      <vt:lpstr>PowerPoint Presentation</vt:lpstr>
      <vt:lpstr>Example</vt:lpstr>
      <vt:lpstr>Independence:</vt:lpstr>
      <vt:lpstr>Counting</vt:lpstr>
      <vt:lpstr>Counting:</vt:lpstr>
      <vt:lpstr>Example 3.20:</vt:lpstr>
      <vt:lpstr>Factorial</vt:lpstr>
      <vt:lpstr>Example</vt:lpstr>
      <vt:lpstr>Example</vt:lpstr>
      <vt:lpstr>Example</vt:lpstr>
      <vt:lpstr>Example</vt:lpstr>
      <vt:lpstr>Example</vt:lpstr>
      <vt:lpstr>Permutation:</vt:lpstr>
      <vt:lpstr>PowerPoint Presentation</vt:lpstr>
      <vt:lpstr>Example 3.23:</vt:lpstr>
      <vt:lpstr>Combination:</vt:lpstr>
      <vt:lpstr>PowerPoint Presentation</vt:lpstr>
      <vt:lpstr>PowerPoint Presentation</vt:lpstr>
      <vt:lpstr>Example 3.24:</vt:lpstr>
      <vt:lpstr>PowerPoint Presentation</vt:lpstr>
      <vt:lpstr> Example: </vt:lpstr>
      <vt:lpstr> Example: </vt:lpstr>
      <vt:lpstr>Permutation &amp; Combination</vt:lpstr>
      <vt:lpstr>In Your calculator….</vt:lpstr>
      <vt:lpstr> Example: </vt:lpstr>
      <vt:lpstr> Example: </vt:lpstr>
      <vt:lpstr> Example: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thevaraja.mayooran@mnsu.edu</dc:creator>
  <cp:lastModifiedBy>Thevarajah Mayooran</cp:lastModifiedBy>
  <cp:revision>168</cp:revision>
  <dcterms:created xsi:type="dcterms:W3CDTF">2004-07-31T21:46:05Z</dcterms:created>
  <dcterms:modified xsi:type="dcterms:W3CDTF">2025-12-08T01:25:01Z</dcterms:modified>
</cp:coreProperties>
</file>
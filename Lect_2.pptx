
<file path=[Content_Types].xml><?xml version="1.0" encoding="utf-8"?>
<Types xmlns="http://schemas.openxmlformats.org/package/2006/content-types">
  <Default Extension="bin" ContentType="application/vnd.openxmlformats-officedocument.oleObject"/>
  <Default Extension="jpe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55" r:id="rId1"/>
  </p:sldMasterIdLst>
  <p:notesMasterIdLst>
    <p:notesMasterId r:id="rId64"/>
  </p:notesMasterIdLst>
  <p:handoutMasterIdLst>
    <p:handoutMasterId r:id="rId65"/>
  </p:handoutMasterIdLst>
  <p:sldIdLst>
    <p:sldId id="258" r:id="rId2"/>
    <p:sldId id="308" r:id="rId3"/>
    <p:sldId id="309" r:id="rId4"/>
    <p:sldId id="318" r:id="rId5"/>
    <p:sldId id="320" r:id="rId6"/>
    <p:sldId id="317" r:id="rId7"/>
    <p:sldId id="260" r:id="rId8"/>
    <p:sldId id="315" r:id="rId9"/>
    <p:sldId id="316" r:id="rId10"/>
    <p:sldId id="310" r:id="rId11"/>
    <p:sldId id="375" r:id="rId12"/>
    <p:sldId id="311" r:id="rId13"/>
    <p:sldId id="312" r:id="rId14"/>
    <p:sldId id="321" r:id="rId15"/>
    <p:sldId id="376" r:id="rId16"/>
    <p:sldId id="322" r:id="rId17"/>
    <p:sldId id="279" r:id="rId18"/>
    <p:sldId id="280" r:id="rId19"/>
    <p:sldId id="327" r:id="rId20"/>
    <p:sldId id="372" r:id="rId21"/>
    <p:sldId id="373" r:id="rId22"/>
    <p:sldId id="323" r:id="rId23"/>
    <p:sldId id="330" r:id="rId24"/>
    <p:sldId id="331" r:id="rId25"/>
    <p:sldId id="374" r:id="rId26"/>
    <p:sldId id="332" r:id="rId27"/>
    <p:sldId id="290" r:id="rId28"/>
    <p:sldId id="341" r:id="rId29"/>
    <p:sldId id="291" r:id="rId30"/>
    <p:sldId id="333" r:id="rId31"/>
    <p:sldId id="370" r:id="rId32"/>
    <p:sldId id="334" r:id="rId33"/>
    <p:sldId id="338" r:id="rId34"/>
    <p:sldId id="380" r:id="rId35"/>
    <p:sldId id="342" r:id="rId36"/>
    <p:sldId id="351" r:id="rId37"/>
    <p:sldId id="352" r:id="rId38"/>
    <p:sldId id="357" r:id="rId39"/>
    <p:sldId id="371" r:id="rId40"/>
    <p:sldId id="354" r:id="rId41"/>
    <p:sldId id="343" r:id="rId42"/>
    <p:sldId id="344" r:id="rId43"/>
    <p:sldId id="355" r:id="rId44"/>
    <p:sldId id="346" r:id="rId45"/>
    <p:sldId id="347" r:id="rId46"/>
    <p:sldId id="381" r:id="rId47"/>
    <p:sldId id="356" r:id="rId48"/>
    <p:sldId id="358" r:id="rId49"/>
    <p:sldId id="359" r:id="rId50"/>
    <p:sldId id="360" r:id="rId51"/>
    <p:sldId id="361" r:id="rId52"/>
    <p:sldId id="362" r:id="rId53"/>
    <p:sldId id="363" r:id="rId54"/>
    <p:sldId id="364" r:id="rId55"/>
    <p:sldId id="365" r:id="rId56"/>
    <p:sldId id="366" r:id="rId57"/>
    <p:sldId id="377" r:id="rId58"/>
    <p:sldId id="378" r:id="rId59"/>
    <p:sldId id="368" r:id="rId60"/>
    <p:sldId id="369" r:id="rId61"/>
    <p:sldId id="379" r:id="rId62"/>
    <p:sldId id="256" r:id="rId63"/>
  </p:sldIdLst>
  <p:sldSz cx="9144000" cy="6858000" type="screen4x3"/>
  <p:notesSz cx="6858000" cy="9144000"/>
  <p:defaultTextStyle>
    <a:defPPr>
      <a:defRPr lang="en-US"/>
    </a:defPPr>
    <a:lvl1pPr algn="l" rtl="0" fontAlgn="base">
      <a:spcBef>
        <a:spcPct val="0"/>
      </a:spcBef>
      <a:spcAft>
        <a:spcPct val="0"/>
      </a:spcAft>
      <a:defRPr kern="1200">
        <a:solidFill>
          <a:schemeClr val="tx1"/>
        </a:solidFill>
        <a:latin typeface="Arial" charset="0"/>
        <a:ea typeface="+mn-ea"/>
        <a:cs typeface="+mn-cs"/>
      </a:defRPr>
    </a:lvl1pPr>
    <a:lvl2pPr marL="457200" algn="l" rtl="0" fontAlgn="base">
      <a:spcBef>
        <a:spcPct val="0"/>
      </a:spcBef>
      <a:spcAft>
        <a:spcPct val="0"/>
      </a:spcAft>
      <a:defRPr kern="1200">
        <a:solidFill>
          <a:schemeClr val="tx1"/>
        </a:solidFill>
        <a:latin typeface="Arial" charset="0"/>
        <a:ea typeface="+mn-ea"/>
        <a:cs typeface="+mn-cs"/>
      </a:defRPr>
    </a:lvl2pPr>
    <a:lvl3pPr marL="914400" algn="l" rtl="0" fontAlgn="base">
      <a:spcBef>
        <a:spcPct val="0"/>
      </a:spcBef>
      <a:spcAft>
        <a:spcPct val="0"/>
      </a:spcAft>
      <a:defRPr kern="1200">
        <a:solidFill>
          <a:schemeClr val="tx1"/>
        </a:solidFill>
        <a:latin typeface="Arial" charset="0"/>
        <a:ea typeface="+mn-ea"/>
        <a:cs typeface="+mn-cs"/>
      </a:defRPr>
    </a:lvl3pPr>
    <a:lvl4pPr marL="1371600" algn="l" rtl="0" fontAlgn="base">
      <a:spcBef>
        <a:spcPct val="0"/>
      </a:spcBef>
      <a:spcAft>
        <a:spcPct val="0"/>
      </a:spcAft>
      <a:defRPr kern="1200">
        <a:solidFill>
          <a:schemeClr val="tx1"/>
        </a:solidFill>
        <a:latin typeface="Arial" charset="0"/>
        <a:ea typeface="+mn-ea"/>
        <a:cs typeface="+mn-cs"/>
      </a:defRPr>
    </a:lvl4pPr>
    <a:lvl5pPr marL="1828800" algn="l" rtl="0" fontAlgn="base">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2880" userDrawn="1">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3399"/>
    <a:srgbClr val="CC3300"/>
    <a:srgbClr val="00FF00"/>
    <a:srgbClr val="FFFF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ADB017E-DD66-4264-86CC-3C76838ABE99}" v="11" dt="2025-12-16T01:13:15.017"/>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3969" autoAdjust="0"/>
  </p:normalViewPr>
  <p:slideViewPr>
    <p:cSldViewPr>
      <p:cViewPr varScale="1">
        <p:scale>
          <a:sx n="61" d="100"/>
          <a:sy n="61" d="100"/>
        </p:scale>
        <p:origin x="1656" y="282"/>
      </p:cViewPr>
      <p:guideLst>
        <p:guide orient="horz" pos="2160"/>
        <p:guide pos="2880"/>
      </p:guideLst>
    </p:cSldViewPr>
  </p:slideViewPr>
  <p:notesTextViewPr>
    <p:cViewPr>
      <p:scale>
        <a:sx n="100" d="100"/>
        <a:sy n="100" d="100"/>
      </p:scale>
      <p:origin x="0" y="0"/>
    </p:cViewPr>
  </p:notesTextViewPr>
  <p:sorterViewPr>
    <p:cViewPr>
      <p:scale>
        <a:sx n="100" d="100"/>
        <a:sy n="100" d="100"/>
      </p:scale>
      <p:origin x="0" y="5124"/>
    </p:cViewPr>
  </p:sorterViewPr>
  <p:notesViewPr>
    <p:cSldViewPr>
      <p:cViewPr varScale="1">
        <p:scale>
          <a:sx n="67" d="100"/>
          <a:sy n="67" d="100"/>
        </p:scale>
        <p:origin x="-2016" y="-96"/>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theme" Target="theme/theme1.xml"/><Relationship Id="rId7" Type="http://schemas.openxmlformats.org/officeDocument/2006/relationships/slide" Target="slides/slide6.xml"/><Relationship Id="rId71"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presProps" Target="presProp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notesMaster" Target="notesMasters/notesMaster1.xml"/><Relationship Id="rId69"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handoutMaster" Target="handoutMasters/handoutMaster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Thevarajah Mayooran" userId="028ced5d-c088-4edf-a4ff-720435ef9709" providerId="ADAL" clId="{DC8E7E0F-80C3-4AF6-B417-59EB41DBE316}"/>
    <pc:docChg chg="custSel addSld delSld modSld">
      <pc:chgData name="Thevarajah Mayooran" userId="028ced5d-c088-4edf-a4ff-720435ef9709" providerId="ADAL" clId="{DC8E7E0F-80C3-4AF6-B417-59EB41DBE316}" dt="2025-12-16T01:13:39.057" v="149" actId="20577"/>
      <pc:docMkLst>
        <pc:docMk/>
      </pc:docMkLst>
      <pc:sldChg chg="addSp delSp modSp mod">
        <pc:chgData name="Thevarajah Mayooran" userId="028ced5d-c088-4edf-a4ff-720435ef9709" providerId="ADAL" clId="{DC8E7E0F-80C3-4AF6-B417-59EB41DBE316}" dt="2025-12-16T01:06:21.315" v="123" actId="20577"/>
        <pc:sldMkLst>
          <pc:docMk/>
          <pc:sldMk cId="1031238138" sldId="331"/>
        </pc:sldMkLst>
        <pc:spChg chg="del mod">
          <ac:chgData name="Thevarajah Mayooran" userId="028ced5d-c088-4edf-a4ff-720435ef9709" providerId="ADAL" clId="{DC8E7E0F-80C3-4AF6-B417-59EB41DBE316}" dt="2025-12-16T01:02:05.897" v="1" actId="478"/>
          <ac:spMkLst>
            <pc:docMk/>
            <pc:sldMk cId="1031238138" sldId="331"/>
            <ac:spMk id="6" creationId="{00000000-0000-0000-0000-000000000000}"/>
          </ac:spMkLst>
        </pc:spChg>
        <pc:spChg chg="add mod">
          <ac:chgData name="Thevarajah Mayooran" userId="028ced5d-c088-4edf-a4ff-720435ef9709" providerId="ADAL" clId="{DC8E7E0F-80C3-4AF6-B417-59EB41DBE316}" dt="2025-12-16T01:06:21.315" v="123" actId="20577"/>
          <ac:spMkLst>
            <pc:docMk/>
            <pc:sldMk cId="1031238138" sldId="331"/>
            <ac:spMk id="7" creationId="{DB03B745-C6DC-5D15-6834-8DE6AD873403}"/>
          </ac:spMkLst>
        </pc:spChg>
      </pc:sldChg>
      <pc:sldChg chg="del">
        <pc:chgData name="Thevarajah Mayooran" userId="028ced5d-c088-4edf-a4ff-720435ef9709" providerId="ADAL" clId="{DC8E7E0F-80C3-4AF6-B417-59EB41DBE316}" dt="2025-12-16T01:13:01.332" v="125" actId="47"/>
        <pc:sldMkLst>
          <pc:docMk/>
          <pc:sldMk cId="4173003297" sldId="340"/>
        </pc:sldMkLst>
      </pc:sldChg>
      <pc:sldChg chg="del">
        <pc:chgData name="Thevarajah Mayooran" userId="028ced5d-c088-4edf-a4ff-720435ef9709" providerId="ADAL" clId="{DC8E7E0F-80C3-4AF6-B417-59EB41DBE316}" dt="2025-12-16T01:13:17.963" v="127" actId="47"/>
        <pc:sldMkLst>
          <pc:docMk/>
          <pc:sldMk cId="3418450939" sldId="350"/>
        </pc:sldMkLst>
      </pc:sldChg>
      <pc:sldChg chg="modSp mod">
        <pc:chgData name="Thevarajah Mayooran" userId="028ced5d-c088-4edf-a4ff-720435ef9709" providerId="ADAL" clId="{DC8E7E0F-80C3-4AF6-B417-59EB41DBE316}" dt="2025-12-16T01:13:39.057" v="149" actId="20577"/>
        <pc:sldMkLst>
          <pc:docMk/>
          <pc:sldMk cId="1997271014" sldId="369"/>
        </pc:sldMkLst>
        <pc:spChg chg="mod">
          <ac:chgData name="Thevarajah Mayooran" userId="028ced5d-c088-4edf-a4ff-720435ef9709" providerId="ADAL" clId="{DC8E7E0F-80C3-4AF6-B417-59EB41DBE316}" dt="2025-12-16T01:13:39.057" v="149" actId="20577"/>
          <ac:spMkLst>
            <pc:docMk/>
            <pc:sldMk cId="1997271014" sldId="369"/>
            <ac:spMk id="6" creationId="{00000000-0000-0000-0000-000000000000}"/>
          </ac:spMkLst>
        </pc:spChg>
      </pc:sldChg>
      <pc:sldChg chg="add">
        <pc:chgData name="Thevarajah Mayooran" userId="028ced5d-c088-4edf-a4ff-720435ef9709" providerId="ADAL" clId="{DC8E7E0F-80C3-4AF6-B417-59EB41DBE316}" dt="2025-12-16T01:12:57.529" v="124"/>
        <pc:sldMkLst>
          <pc:docMk/>
          <pc:sldMk cId="4229818888" sldId="380"/>
        </pc:sldMkLst>
      </pc:sldChg>
      <pc:sldChg chg="add">
        <pc:chgData name="Thevarajah Mayooran" userId="028ced5d-c088-4edf-a4ff-720435ef9709" providerId="ADAL" clId="{DC8E7E0F-80C3-4AF6-B417-59EB41DBE316}" dt="2025-12-16T01:13:15.015" v="126"/>
        <pc:sldMkLst>
          <pc:docMk/>
          <pc:sldMk cId="1129781313" sldId="381"/>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eaLnBrk="0" hangingPunct="0">
              <a:defRPr sz="1200">
                <a:latin typeface="Arial" charset="0"/>
              </a:defRPr>
            </a:lvl1pPr>
          </a:lstStyle>
          <a:p>
            <a:pPr>
              <a:defRPr/>
            </a:pPr>
            <a:endParaRPr lang="en-US"/>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eaLnBrk="0" hangingPunct="0">
              <a:defRPr sz="1200">
                <a:latin typeface="Arial" charset="0"/>
              </a:defRPr>
            </a:lvl1pPr>
          </a:lstStyle>
          <a:p>
            <a:pPr>
              <a:defRPr/>
            </a:pPr>
            <a:fld id="{B68C0B2E-3E47-43A3-A924-250EC03FCF3F}" type="datetimeFigureOut">
              <a:rPr lang="en-US"/>
              <a:pPr>
                <a:defRPr/>
              </a:pPr>
              <a:t>12/16/2025</a:t>
            </a:fld>
            <a:endParaRPr lang="en-US"/>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eaLnBrk="0" hangingPunct="0">
              <a:defRPr sz="1200">
                <a:latin typeface="Arial" charset="0"/>
              </a:defRPr>
            </a:lvl1pPr>
          </a:lstStyle>
          <a:p>
            <a:pPr>
              <a:defRPr/>
            </a:pPr>
            <a:endParaRPr lang="en-US"/>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eaLnBrk="0" hangingPunct="0">
              <a:defRPr sz="1200">
                <a:latin typeface="Arial" charset="0"/>
              </a:defRPr>
            </a:lvl1pPr>
          </a:lstStyle>
          <a:p>
            <a:pPr>
              <a:defRPr/>
            </a:pPr>
            <a:fld id="{B5D8897D-297A-4B34-A101-960369851C8D}" type="slidenum">
              <a:rPr lang="en-US"/>
              <a:pPr>
                <a:defRPr/>
              </a:pPr>
              <a:t>‹#›</a:t>
            </a:fld>
            <a:endParaRPr lang="en-US"/>
          </a:p>
        </p:txBody>
      </p:sp>
    </p:spTree>
    <p:extLst>
      <p:ext uri="{BB962C8B-B14F-4D97-AF65-F5344CB8AC3E}">
        <p14:creationId xmlns:p14="http://schemas.microsoft.com/office/powerpoint/2010/main" val="114416268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eaLnBrk="0" hangingPunct="0">
              <a:defRPr sz="1200">
                <a:latin typeface="Arial" charset="0"/>
              </a:defRPr>
            </a:lvl1pPr>
          </a:lstStyle>
          <a:p>
            <a:pPr>
              <a:defRPr/>
            </a:pPr>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eaLnBrk="0" hangingPunct="0">
              <a:defRPr sz="1200">
                <a:latin typeface="Arial" charset="0"/>
              </a:defRPr>
            </a:lvl1pPr>
          </a:lstStyle>
          <a:p>
            <a:pPr>
              <a:defRPr/>
            </a:pPr>
            <a:fld id="{B6DD377C-054E-4B4C-8D98-7C36549C9E56}" type="datetimeFigureOut">
              <a:rPr lang="en-US"/>
              <a:pPr>
                <a:defRPr/>
              </a:pPr>
              <a:t>12/16/2025</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pPr lvl="0"/>
            <a:endParaRPr lang="en-US" noProof="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eaLnBrk="0" hangingPunct="0">
              <a:defRPr sz="1200">
                <a:latin typeface="Arial" charset="0"/>
              </a:defRPr>
            </a:lvl1pPr>
          </a:lstStyle>
          <a:p>
            <a:pPr>
              <a:defRPr/>
            </a:pPr>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eaLnBrk="0" hangingPunct="0">
              <a:defRPr sz="1200">
                <a:latin typeface="Arial" charset="0"/>
              </a:defRPr>
            </a:lvl1pPr>
          </a:lstStyle>
          <a:p>
            <a:pPr>
              <a:defRPr/>
            </a:pPr>
            <a:fld id="{B5A2DDC4-0147-42D7-8BCF-2473917B4D92}" type="slidenum">
              <a:rPr lang="en-US"/>
              <a:pPr>
                <a:defRPr/>
              </a:pPr>
              <a:t>‹#›</a:t>
            </a:fld>
            <a:endParaRPr lang="en-US"/>
          </a:p>
        </p:txBody>
      </p:sp>
    </p:spTree>
    <p:extLst>
      <p:ext uri="{BB962C8B-B14F-4D97-AF65-F5344CB8AC3E}">
        <p14:creationId xmlns:p14="http://schemas.microsoft.com/office/powerpoint/2010/main" val="1792149472"/>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mn-lt"/>
        <a:ea typeface="+mn-ea"/>
        <a:cs typeface="+mn-cs"/>
      </a:defRPr>
    </a:lvl1pPr>
    <a:lvl2pPr marL="457200" algn="l" rtl="0" eaLnBrk="0" fontAlgn="base" hangingPunct="0">
      <a:spcBef>
        <a:spcPct val="30000"/>
      </a:spcBef>
      <a:spcAft>
        <a:spcPct val="0"/>
      </a:spcAft>
      <a:defRPr sz="1200" kern="1200">
        <a:solidFill>
          <a:schemeClr val="tx1"/>
        </a:solidFill>
        <a:latin typeface="+mn-lt"/>
        <a:ea typeface="+mn-ea"/>
        <a:cs typeface="+mn-cs"/>
      </a:defRPr>
    </a:lvl2pPr>
    <a:lvl3pPr marL="914400" algn="l" rtl="0" eaLnBrk="0" fontAlgn="base" hangingPunct="0">
      <a:spcBef>
        <a:spcPct val="30000"/>
      </a:spcBef>
      <a:spcAft>
        <a:spcPct val="0"/>
      </a:spcAft>
      <a:defRPr sz="1200" kern="1200">
        <a:solidFill>
          <a:schemeClr val="tx1"/>
        </a:solidFill>
        <a:latin typeface="+mn-lt"/>
        <a:ea typeface="+mn-ea"/>
        <a:cs typeface="+mn-cs"/>
      </a:defRPr>
    </a:lvl3pPr>
    <a:lvl4pPr marL="1371600" algn="l" rtl="0" eaLnBrk="0" fontAlgn="base" hangingPunct="0">
      <a:spcBef>
        <a:spcPct val="30000"/>
      </a:spcBef>
      <a:spcAft>
        <a:spcPct val="0"/>
      </a:spcAft>
      <a:defRPr sz="1200" kern="1200">
        <a:solidFill>
          <a:schemeClr val="tx1"/>
        </a:solidFill>
        <a:latin typeface="+mn-lt"/>
        <a:ea typeface="+mn-ea"/>
        <a:cs typeface="+mn-cs"/>
      </a:defRPr>
    </a:lvl4pPr>
    <a:lvl5pPr marL="1828800" algn="l" rtl="0" eaLnBrk="0" fontAlgn="base" hangingPunct="0">
      <a:spcBef>
        <a:spcPct val="30000"/>
      </a:spcBef>
      <a:spcAft>
        <a:spcPct val="0"/>
      </a:spcAft>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43000" y="685800"/>
            <a:ext cx="4572000" cy="3429000"/>
          </a:xfrm>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pPr>
              <a:defRPr/>
            </a:pPr>
            <a:fld id="{B5A2DDC4-0147-42D7-8BCF-2473917B4D92}" type="slidenum">
              <a:rPr lang="en-US" smtClean="0"/>
              <a:pPr>
                <a:defRPr/>
              </a:pPr>
              <a:t>1</a:t>
            </a:fld>
            <a:endParaRPr lang="en-US"/>
          </a:p>
        </p:txBody>
      </p:sp>
    </p:spTree>
    <p:extLst>
      <p:ext uri="{BB962C8B-B14F-4D97-AF65-F5344CB8AC3E}">
        <p14:creationId xmlns:p14="http://schemas.microsoft.com/office/powerpoint/2010/main" val="184558812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43000" y="685800"/>
            <a:ext cx="4572000" cy="3429000"/>
          </a:xfrm>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pPr>
              <a:defRPr/>
            </a:pPr>
            <a:fld id="{B5A2DDC4-0147-42D7-8BCF-2473917B4D92}" type="slidenum">
              <a:rPr lang="en-US" smtClean="0"/>
              <a:pPr>
                <a:defRPr/>
              </a:pPr>
              <a:t>4</a:t>
            </a:fld>
            <a:endParaRPr lang="en-US"/>
          </a:p>
        </p:txBody>
      </p:sp>
    </p:spTree>
    <p:extLst>
      <p:ext uri="{BB962C8B-B14F-4D97-AF65-F5344CB8AC3E}">
        <p14:creationId xmlns:p14="http://schemas.microsoft.com/office/powerpoint/2010/main" val="62602017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90C5C7D2-803A-4FBA-A077-B15704BE8710}" type="slidenum">
              <a:rPr lang="en-AU"/>
              <a:pPr/>
              <a:t>5</a:t>
            </a:fld>
            <a:endParaRPr lang="en-AU"/>
          </a:p>
        </p:txBody>
      </p:sp>
      <p:sp>
        <p:nvSpPr>
          <p:cNvPr id="23554" name="Rectangle 2"/>
          <p:cNvSpPr>
            <a:spLocks noGrp="1" noRot="1" noChangeAspect="1" noChangeArrowheads="1" noTextEdit="1"/>
          </p:cNvSpPr>
          <p:nvPr>
            <p:ph type="sldImg"/>
          </p:nvPr>
        </p:nvSpPr>
        <p:spPr>
          <a:xfrm>
            <a:off x="1143000" y="685800"/>
            <a:ext cx="4572000" cy="3429000"/>
          </a:xfrm>
          <a:ln/>
        </p:spPr>
      </p:sp>
      <p:sp>
        <p:nvSpPr>
          <p:cNvPr id="23555" name="Rectangle 3"/>
          <p:cNvSpPr>
            <a:spLocks noGrp="1" noChangeArrowheads="1"/>
          </p:cNvSpPr>
          <p:nvPr>
            <p:ph type="body" idx="1"/>
          </p:nvPr>
        </p:nvSpPr>
        <p:spPr/>
        <p:txBody>
          <a:bodyPr/>
          <a:lstStyle/>
          <a:p>
            <a:endParaRPr lang="en-US"/>
          </a:p>
        </p:txBody>
      </p:sp>
    </p:spTree>
    <p:extLst>
      <p:ext uri="{BB962C8B-B14F-4D97-AF65-F5344CB8AC3E}">
        <p14:creationId xmlns:p14="http://schemas.microsoft.com/office/powerpoint/2010/main" val="142940274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43000" y="685800"/>
            <a:ext cx="4572000" cy="3429000"/>
          </a:xfrm>
        </p:spPr>
      </p:sp>
      <p:sp>
        <p:nvSpPr>
          <p:cNvPr id="3" name="Notes Placeholder 2"/>
          <p:cNvSpPr>
            <a:spLocks noGrp="1"/>
          </p:cNvSpPr>
          <p:nvPr>
            <p:ph type="body" idx="1"/>
          </p:nvPr>
        </p:nvSpPr>
        <p:spPr/>
        <p:txBody>
          <a:bodyPr>
            <a:normAutofit/>
          </a:bodyPr>
          <a:lstStyle/>
          <a:p>
            <a:endParaRPr lang="en-NZ" dirty="0"/>
          </a:p>
        </p:txBody>
      </p:sp>
      <p:sp>
        <p:nvSpPr>
          <p:cNvPr id="4" name="Header Placeholder 3"/>
          <p:cNvSpPr>
            <a:spLocks noGrp="1"/>
          </p:cNvSpPr>
          <p:nvPr>
            <p:ph type="hdr" sz="quarter" idx="10"/>
          </p:nvPr>
        </p:nvSpPr>
        <p:spPr/>
        <p:txBody>
          <a:bodyPr/>
          <a:lstStyle/>
          <a:p>
            <a:pPr>
              <a:defRPr/>
            </a:pPr>
            <a:r>
              <a:rPr lang="en-AU">
                <a:solidFill>
                  <a:prstClr val="black"/>
                </a:solidFill>
              </a:rPr>
              <a:t>161.110 Introductory Business Statistics</a:t>
            </a:r>
          </a:p>
        </p:txBody>
      </p:sp>
      <p:sp>
        <p:nvSpPr>
          <p:cNvPr id="5" name="Slide Number Placeholder 4"/>
          <p:cNvSpPr>
            <a:spLocks noGrp="1"/>
          </p:cNvSpPr>
          <p:nvPr>
            <p:ph type="sldNum" sz="quarter" idx="11"/>
          </p:nvPr>
        </p:nvSpPr>
        <p:spPr/>
        <p:txBody>
          <a:bodyPr/>
          <a:lstStyle/>
          <a:p>
            <a:pPr>
              <a:defRPr/>
            </a:pPr>
            <a:fld id="{2006C1AD-01FE-4EE4-A308-EFAF4D5247DA}" type="slidenum">
              <a:rPr lang="en-AU" smtClean="0">
                <a:solidFill>
                  <a:prstClr val="black"/>
                </a:solidFill>
              </a:rPr>
              <a:pPr>
                <a:defRPr/>
              </a:pPr>
              <a:t>7</a:t>
            </a:fld>
            <a:endParaRPr lang="en-AU">
              <a:solidFill>
                <a:prstClr val="black"/>
              </a:solidFill>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43000" y="685800"/>
            <a:ext cx="4572000" cy="3429000"/>
          </a:xfrm>
        </p:spPr>
      </p:sp>
      <p:sp>
        <p:nvSpPr>
          <p:cNvPr id="3" name="Notes Placeholder 2"/>
          <p:cNvSpPr>
            <a:spLocks noGrp="1"/>
          </p:cNvSpPr>
          <p:nvPr>
            <p:ph type="body" idx="1"/>
          </p:nvPr>
        </p:nvSpPr>
        <p:spPr/>
        <p:txBody>
          <a:bodyPr/>
          <a:lstStyle/>
          <a:p>
            <a:r>
              <a:rPr lang="en-NZ" dirty="0"/>
              <a:t>-There are four criteria to work out if something is Binomial or not. </a:t>
            </a:r>
          </a:p>
          <a:p>
            <a:r>
              <a:rPr lang="en-NZ" dirty="0"/>
              <a:t>-The acronym BINS can be used to help remember.</a:t>
            </a:r>
          </a:p>
          <a:p>
            <a:r>
              <a:rPr lang="en-NZ" dirty="0"/>
              <a:t>B: Bivariate:</a:t>
            </a:r>
          </a:p>
          <a:p>
            <a:pPr marL="483306" lvl="1" defTabSz="966612"/>
            <a:r>
              <a:rPr lang="en-US" sz="1300" dirty="0"/>
              <a:t>- e.g. head or tail in each toss of a coin; </a:t>
            </a:r>
          </a:p>
          <a:p>
            <a:pPr marL="483306" lvl="1"/>
            <a:r>
              <a:rPr lang="en-NZ" dirty="0"/>
              <a:t>- Note that ‘Success’ doesn’t have to be a positive thing, it can be the number of failures of something, and that would be defined as a `success’.</a:t>
            </a:r>
          </a:p>
          <a:p>
            <a:endParaRPr lang="en-NZ" dirty="0"/>
          </a:p>
          <a:p>
            <a:pPr marL="181240" indent="-181240">
              <a:buFontTx/>
              <a:buChar char="-"/>
            </a:pPr>
            <a:endParaRPr lang="en-NZ" dirty="0"/>
          </a:p>
        </p:txBody>
      </p:sp>
      <p:sp>
        <p:nvSpPr>
          <p:cNvPr id="4" name="Slide Number Placeholder 3"/>
          <p:cNvSpPr>
            <a:spLocks noGrp="1"/>
          </p:cNvSpPr>
          <p:nvPr>
            <p:ph type="sldNum" sz="quarter" idx="5"/>
          </p:nvPr>
        </p:nvSpPr>
        <p:spPr/>
        <p:txBody>
          <a:bodyPr/>
          <a:lstStyle/>
          <a:p>
            <a:fld id="{FA8FF33C-C64A-4EE7-9FDC-3B4C59075F35}" type="slidenum">
              <a:rPr lang="en-NZ" smtClean="0"/>
              <a:t>17</a:t>
            </a:fld>
            <a:endParaRPr lang="en-NZ"/>
          </a:p>
        </p:txBody>
      </p:sp>
    </p:spTree>
    <p:extLst>
      <p:ext uri="{BB962C8B-B14F-4D97-AF65-F5344CB8AC3E}">
        <p14:creationId xmlns:p14="http://schemas.microsoft.com/office/powerpoint/2010/main" val="295554158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Answer:</a:t>
            </a:r>
          </a:p>
          <a:p>
            <a:r>
              <a:rPr lang="en-GB" dirty="0"/>
              <a:t>(These questions are a little bit harder)</a:t>
            </a:r>
          </a:p>
          <a:p>
            <a:pPr marL="241653" indent="-241653">
              <a:buFont typeface="+mj-lt"/>
              <a:buAutoNum type="alphaUcPeriod"/>
            </a:pPr>
            <a:r>
              <a:rPr lang="en-GB" dirty="0"/>
              <a:t>NOT Binomial as the independence</a:t>
            </a:r>
            <a:r>
              <a:rPr lang="en-GB" baseline="0" dirty="0"/>
              <a:t> criteria is not satisfied (e.g. if one cow has tuberculosis it is likely it will effect the other cows as it is contagious).</a:t>
            </a:r>
          </a:p>
          <a:p>
            <a:pPr marL="241653" indent="-241653">
              <a:buFont typeface="+mj-lt"/>
              <a:buAutoNum type="alphaUcPeriod"/>
            </a:pPr>
            <a:r>
              <a:rPr lang="en-GB" baseline="0" dirty="0"/>
              <a:t>IS Binomial (could argue it is not Binomial as it may be likely that if one seed in the pack germinates, they all do, and if one doesn’t none of them do, so not independent)</a:t>
            </a:r>
          </a:p>
          <a:p>
            <a:pPr marL="241653" indent="-241653">
              <a:buFont typeface="+mj-lt"/>
              <a:buAutoNum type="alphaUcPeriod"/>
            </a:pPr>
            <a:r>
              <a:rPr lang="en-GB" baseline="0" dirty="0"/>
              <a:t>IS Binomial</a:t>
            </a:r>
          </a:p>
          <a:p>
            <a:pPr marL="241653" indent="-241653">
              <a:buFont typeface="+mj-lt"/>
              <a:buAutoNum type="alphaUcPeriod"/>
            </a:pPr>
            <a:r>
              <a:rPr lang="en-GB" baseline="0" dirty="0"/>
              <a:t>NOT Binomial as the independence criteria is not satisfied, as if one tree is infected with a fungus, it is likely to infect the tree next to it.</a:t>
            </a:r>
          </a:p>
          <a:p>
            <a:endParaRPr lang="en-GB" dirty="0"/>
          </a:p>
        </p:txBody>
      </p:sp>
      <p:sp>
        <p:nvSpPr>
          <p:cNvPr id="4" name="Header Placeholder 3"/>
          <p:cNvSpPr>
            <a:spLocks noGrp="1"/>
          </p:cNvSpPr>
          <p:nvPr>
            <p:ph type="hdr" sz="quarter" idx="10"/>
          </p:nvPr>
        </p:nvSpPr>
        <p:spPr/>
        <p:txBody>
          <a:bodyPr/>
          <a:lstStyle/>
          <a:p>
            <a:pPr>
              <a:defRPr/>
            </a:pPr>
            <a:r>
              <a:rPr lang="en-AU"/>
              <a:t>161.110 Introductory Business Statistics</a:t>
            </a:r>
          </a:p>
        </p:txBody>
      </p:sp>
      <p:sp>
        <p:nvSpPr>
          <p:cNvPr id="5" name="Slide Number Placeholder 4"/>
          <p:cNvSpPr>
            <a:spLocks noGrp="1"/>
          </p:cNvSpPr>
          <p:nvPr>
            <p:ph type="sldNum" sz="quarter" idx="11"/>
          </p:nvPr>
        </p:nvSpPr>
        <p:spPr/>
        <p:txBody>
          <a:bodyPr/>
          <a:lstStyle/>
          <a:p>
            <a:pPr>
              <a:defRPr/>
            </a:pPr>
            <a:fld id="{2006C1AD-01FE-4EE4-A308-EFAF4D5247DA}" type="slidenum">
              <a:rPr lang="en-AU" smtClean="0"/>
              <a:pPr>
                <a:defRPr/>
              </a:pPr>
              <a:t>18</a:t>
            </a:fld>
            <a:endParaRPr lang="en-AU"/>
          </a:p>
        </p:txBody>
      </p:sp>
    </p:spTree>
    <p:extLst>
      <p:ext uri="{BB962C8B-B14F-4D97-AF65-F5344CB8AC3E}">
        <p14:creationId xmlns:p14="http://schemas.microsoft.com/office/powerpoint/2010/main" val="299473787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Slide Image Placeholder 1"/>
          <p:cNvSpPr>
            <a:spLocks noGrp="1" noRot="1" noChangeAspect="1" noTextEdit="1"/>
          </p:cNvSpPr>
          <p:nvPr>
            <p:ph type="sldImg"/>
          </p:nvPr>
        </p:nvSpPr>
        <p:spPr bwMode="auto">
          <a:xfrm>
            <a:off x="1143000" y="685800"/>
            <a:ext cx="4572000" cy="3429000"/>
          </a:xfrm>
          <a:noFill/>
          <a:ln>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35843" name="Notes Placeholder 2"/>
          <p:cNvSpPr>
            <a:spLocks noGrp="1"/>
          </p:cNvSpPr>
          <p:nvPr>
            <p:ph type="body" idx="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t" anchorCtr="0" compatLnSpc="1">
            <a:prstTxWarp prst="textNoShape">
              <a:avLst/>
            </a:prstTxWarp>
          </a:bodyPr>
          <a:lstStyle/>
          <a:p>
            <a:pPr eaLnBrk="1" hangingPunct="1">
              <a:spcBef>
                <a:spcPct val="0"/>
              </a:spcBef>
            </a:pPr>
            <a:endParaRPr lang="en-US"/>
          </a:p>
        </p:txBody>
      </p:sp>
      <p:sp>
        <p:nvSpPr>
          <p:cNvPr id="35844" name="Slide Number Placeholder 3"/>
          <p:cNvSpPr>
            <a:spLocks noGrp="1"/>
          </p:cNvSpPr>
          <p:nvPr>
            <p:ph type="sldNum" sz="quarter" idx="5"/>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numCol="1" anchorCtr="0" compatLnSpc="1">
            <a:prstTxWarp prst="textNoShape">
              <a:avLst/>
            </a:prstTxWarp>
          </a:bodyPr>
          <a:lstStyle>
            <a:lvl1pPr eaLnBrk="0" hangingPunct="0">
              <a:defRPr>
                <a:solidFill>
                  <a:schemeClr val="tx1"/>
                </a:solidFill>
                <a:latin typeface="Arial" charset="0"/>
              </a:defRPr>
            </a:lvl1pPr>
            <a:lvl2pPr marL="742950" indent="-285750" eaLnBrk="0" hangingPunct="0">
              <a:defRPr>
                <a:solidFill>
                  <a:schemeClr val="tx1"/>
                </a:solidFill>
                <a:latin typeface="Arial" charset="0"/>
              </a:defRPr>
            </a:lvl2pPr>
            <a:lvl3pPr marL="1143000" indent="-228600" eaLnBrk="0" hangingPunct="0">
              <a:defRPr>
                <a:solidFill>
                  <a:schemeClr val="tx1"/>
                </a:solidFill>
                <a:latin typeface="Arial" charset="0"/>
              </a:defRPr>
            </a:lvl3pPr>
            <a:lvl4pPr marL="1600200" indent="-228600" eaLnBrk="0" hangingPunct="0">
              <a:defRPr>
                <a:solidFill>
                  <a:schemeClr val="tx1"/>
                </a:solidFill>
                <a:latin typeface="Arial" charset="0"/>
              </a:defRPr>
            </a:lvl4pPr>
            <a:lvl5pPr marL="2057400" indent="-228600" eaLnBrk="0" hangingPunct="0">
              <a:defRPr>
                <a:solidFill>
                  <a:schemeClr val="tx1"/>
                </a:solidFill>
                <a:latin typeface="Arial" charset="0"/>
              </a:defRPr>
            </a:lvl5pPr>
            <a:lvl6pPr marL="2514600" indent="-228600" eaLnBrk="0" fontAlgn="base" hangingPunct="0">
              <a:spcBef>
                <a:spcPct val="0"/>
              </a:spcBef>
              <a:spcAft>
                <a:spcPct val="0"/>
              </a:spcAft>
              <a:defRPr>
                <a:solidFill>
                  <a:schemeClr val="tx1"/>
                </a:solidFill>
                <a:latin typeface="Arial" charset="0"/>
              </a:defRPr>
            </a:lvl6pPr>
            <a:lvl7pPr marL="2971800" indent="-228600" eaLnBrk="0" fontAlgn="base" hangingPunct="0">
              <a:spcBef>
                <a:spcPct val="0"/>
              </a:spcBef>
              <a:spcAft>
                <a:spcPct val="0"/>
              </a:spcAft>
              <a:defRPr>
                <a:solidFill>
                  <a:schemeClr val="tx1"/>
                </a:solidFill>
                <a:latin typeface="Arial" charset="0"/>
              </a:defRPr>
            </a:lvl7pPr>
            <a:lvl8pPr marL="3429000" indent="-228600" eaLnBrk="0" fontAlgn="base" hangingPunct="0">
              <a:spcBef>
                <a:spcPct val="0"/>
              </a:spcBef>
              <a:spcAft>
                <a:spcPct val="0"/>
              </a:spcAft>
              <a:defRPr>
                <a:solidFill>
                  <a:schemeClr val="tx1"/>
                </a:solidFill>
                <a:latin typeface="Arial" charset="0"/>
              </a:defRPr>
            </a:lvl8pPr>
            <a:lvl9pPr marL="3886200" indent="-228600" eaLnBrk="0" fontAlgn="base" hangingPunct="0">
              <a:spcBef>
                <a:spcPct val="0"/>
              </a:spcBef>
              <a:spcAft>
                <a:spcPct val="0"/>
              </a:spcAft>
              <a:defRPr>
                <a:solidFill>
                  <a:schemeClr val="tx1"/>
                </a:solidFill>
                <a:latin typeface="Arial" charset="0"/>
              </a:defRPr>
            </a:lvl9pPr>
          </a:lstStyle>
          <a:p>
            <a:fld id="{BCAB3787-5CAB-42C4-8019-B6F8CB3E2C7F}" type="slidenum">
              <a:rPr lang="en-US" smtClean="0"/>
              <a:pPr/>
              <a:t>20</a:t>
            </a:fld>
            <a:endParaRPr lang="en-US"/>
          </a:p>
        </p:txBody>
      </p:sp>
    </p:spTree>
    <p:extLst>
      <p:ext uri="{BB962C8B-B14F-4D97-AF65-F5344CB8AC3E}">
        <p14:creationId xmlns:p14="http://schemas.microsoft.com/office/powerpoint/2010/main" val="241510005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43000" y="685800"/>
            <a:ext cx="4572000" cy="3429000"/>
          </a:xfrm>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pPr>
              <a:defRPr/>
            </a:pPr>
            <a:fld id="{B5A2DDC4-0147-42D7-8BCF-2473917B4D92}" type="slidenum">
              <a:rPr lang="en-US" smtClean="0"/>
              <a:pPr>
                <a:defRPr/>
              </a:pPr>
              <a:t>26</a:t>
            </a:fld>
            <a:endParaRPr lang="en-US"/>
          </a:p>
        </p:txBody>
      </p:sp>
    </p:spTree>
    <p:extLst>
      <p:ext uri="{BB962C8B-B14F-4D97-AF65-F5344CB8AC3E}">
        <p14:creationId xmlns:p14="http://schemas.microsoft.com/office/powerpoint/2010/main" val="417014192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43000" y="685800"/>
            <a:ext cx="4572000" cy="3429000"/>
          </a:xfrm>
        </p:spPr>
      </p:sp>
      <p:sp>
        <p:nvSpPr>
          <p:cNvPr id="3" name="Notes Placeholder 2"/>
          <p:cNvSpPr>
            <a:spLocks noGrp="1"/>
          </p:cNvSpPr>
          <p:nvPr>
            <p:ph type="body" idx="1"/>
          </p:nvPr>
        </p:nvSpPr>
        <p:spPr/>
        <p:txBody>
          <a:bodyPr/>
          <a:lstStyle/>
          <a:p>
            <a:r>
              <a:rPr lang="en-NZ" dirty="0"/>
              <a:t>-The Poisson distribution has five criteria that must hold.</a:t>
            </a:r>
          </a:p>
          <a:p>
            <a:r>
              <a:rPr lang="en-NZ" dirty="0"/>
              <a:t>4: </a:t>
            </a:r>
            <a:r>
              <a:rPr lang="en-NZ" sz="1300" dirty="0"/>
              <a:t>that is, the probability of two events occurring simultaneously is zero.</a:t>
            </a:r>
          </a:p>
          <a:p>
            <a:r>
              <a:rPr lang="en-NZ" sz="1300" dirty="0"/>
              <a:t>5: That is, the probability of an event occurring in any small interval is independent of the probability of the event occurring in any other small interval.</a:t>
            </a:r>
            <a:endParaRPr lang="en-NZ" dirty="0"/>
          </a:p>
        </p:txBody>
      </p:sp>
      <p:sp>
        <p:nvSpPr>
          <p:cNvPr id="4" name="Slide Number Placeholder 3"/>
          <p:cNvSpPr>
            <a:spLocks noGrp="1"/>
          </p:cNvSpPr>
          <p:nvPr>
            <p:ph type="sldNum" sz="quarter" idx="5"/>
          </p:nvPr>
        </p:nvSpPr>
        <p:spPr/>
        <p:txBody>
          <a:bodyPr/>
          <a:lstStyle/>
          <a:p>
            <a:fld id="{FA8FF33C-C64A-4EE7-9FDC-3B4C59075F35}" type="slidenum">
              <a:rPr lang="en-NZ" smtClean="0"/>
              <a:t>27</a:t>
            </a:fld>
            <a:endParaRPr lang="en-NZ"/>
          </a:p>
        </p:txBody>
      </p:sp>
    </p:spTree>
    <p:extLst>
      <p:ext uri="{BB962C8B-B14F-4D97-AF65-F5344CB8AC3E}">
        <p14:creationId xmlns:p14="http://schemas.microsoft.com/office/powerpoint/2010/main" val="99897416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43000" y="685800"/>
            <a:ext cx="4572000" cy="3429000"/>
          </a:xfrm>
        </p:spPr>
      </p:sp>
      <p:sp>
        <p:nvSpPr>
          <p:cNvPr id="3" name="Notes Placeholder 2"/>
          <p:cNvSpPr>
            <a:spLocks noGrp="1"/>
          </p:cNvSpPr>
          <p:nvPr>
            <p:ph type="body" idx="1"/>
          </p:nvPr>
        </p:nvSpPr>
        <p:spPr/>
        <p:txBody>
          <a:bodyPr/>
          <a:lstStyle/>
          <a:p>
            <a:r>
              <a:rPr lang="en-AU" baseline="0" dirty="0"/>
              <a:t>Answers:</a:t>
            </a:r>
            <a:endParaRPr lang="en-NZ" baseline="0" dirty="0"/>
          </a:p>
          <a:p>
            <a:pPr marL="241653" indent="-241653" defTabSz="966612">
              <a:buFontTx/>
              <a:buAutoNum type="alphaUcPeriod"/>
              <a:defRPr/>
            </a:pPr>
            <a:r>
              <a:rPr lang="en-NZ" baseline="0" dirty="0"/>
              <a:t>Possibly Poisson, assuming the independence criteria is satisfied. (Although can argue that independence does not hold, as Takahe are often quite territorial so if a nest is on a location, there may not be many other nests around it. If assume it is independent then the Poisson would hold).</a:t>
            </a:r>
          </a:p>
          <a:p>
            <a:pPr marL="241653" indent="-241653">
              <a:buAutoNum type="alphaUcPeriod"/>
            </a:pPr>
            <a:r>
              <a:rPr lang="en-NZ" baseline="0" dirty="0"/>
              <a:t>NOT Poisson, one wet day is likely to be followed by another so the independence criteria is not satisfied.</a:t>
            </a:r>
          </a:p>
          <a:p>
            <a:pPr marL="241653" indent="-241653">
              <a:buAutoNum type="alphaUcPeriod"/>
            </a:pPr>
            <a:r>
              <a:rPr lang="en-NZ" baseline="0" dirty="0"/>
              <a:t>Probably NOT Poisson as the independence criteria is probably not satisfied.</a:t>
            </a:r>
          </a:p>
          <a:p>
            <a:pPr marL="241653" indent="-241653">
              <a:buAutoNum type="alphaUcPeriod"/>
            </a:pPr>
            <a:r>
              <a:rPr lang="en-NZ" baseline="0" dirty="0"/>
              <a:t>Possibly Poisson, assuming the independence criteria is satisfied.</a:t>
            </a:r>
          </a:p>
          <a:p>
            <a:pPr marL="241653" indent="-241653">
              <a:buAutoNum type="alphaUcPeriod"/>
            </a:pPr>
            <a:endParaRPr lang="en-NZ" baseline="0" dirty="0"/>
          </a:p>
          <a:p>
            <a:pPr marL="241653" indent="-241653">
              <a:buAutoNum type="alphaUcPeriod"/>
            </a:pPr>
            <a:endParaRPr lang="en-NZ" dirty="0"/>
          </a:p>
        </p:txBody>
      </p:sp>
      <p:sp>
        <p:nvSpPr>
          <p:cNvPr id="4" name="Slide Number Placeholder 3"/>
          <p:cNvSpPr>
            <a:spLocks noGrp="1"/>
          </p:cNvSpPr>
          <p:nvPr>
            <p:ph type="sldNum" sz="quarter" idx="10"/>
          </p:nvPr>
        </p:nvSpPr>
        <p:spPr/>
        <p:txBody>
          <a:bodyPr/>
          <a:lstStyle/>
          <a:p>
            <a:fld id="{FA8FF33C-C64A-4EE7-9FDC-3B4C59075F35}" type="slidenum">
              <a:rPr lang="en-NZ" smtClean="0"/>
              <a:t>29</a:t>
            </a:fld>
            <a:endParaRPr lang="en-NZ"/>
          </a:p>
        </p:txBody>
      </p:sp>
    </p:spTree>
    <p:extLst>
      <p:ext uri="{BB962C8B-B14F-4D97-AF65-F5344CB8AC3E}">
        <p14:creationId xmlns:p14="http://schemas.microsoft.com/office/powerpoint/2010/main" val="303306814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143000" y="685800"/>
            <a:ext cx="4572000" cy="3429000"/>
          </a:xfrm>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pPr>
              <a:defRPr/>
            </a:pPr>
            <a:fld id="{B5A2DDC4-0147-42D7-8BCF-2473917B4D92}" type="slidenum">
              <a:rPr lang="en-US" smtClean="0"/>
              <a:pPr>
                <a:defRPr/>
              </a:pPr>
              <a:t>31</a:t>
            </a:fld>
            <a:endParaRPr lang="en-US"/>
          </a:p>
        </p:txBody>
      </p:sp>
    </p:spTree>
    <p:extLst>
      <p:ext uri="{BB962C8B-B14F-4D97-AF65-F5344CB8AC3E}">
        <p14:creationId xmlns:p14="http://schemas.microsoft.com/office/powerpoint/2010/main" val="244577993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4" name="Group 6"/>
          <p:cNvGrpSpPr>
            <a:grpSpLocks/>
          </p:cNvGrpSpPr>
          <p:nvPr/>
        </p:nvGrpSpPr>
        <p:grpSpPr bwMode="auto">
          <a:xfrm>
            <a:off x="0" y="914400"/>
            <a:ext cx="8686800" cy="2514600"/>
            <a:chOff x="0" y="576"/>
            <a:chExt cx="5472" cy="1584"/>
          </a:xfrm>
        </p:grpSpPr>
        <p:sp>
          <p:nvSpPr>
            <p:cNvPr id="5" name="Oval 7"/>
            <p:cNvSpPr>
              <a:spLocks noChangeArrowheads="1"/>
            </p:cNvSpPr>
            <p:nvPr/>
          </p:nvSpPr>
          <p:spPr bwMode="auto">
            <a:xfrm>
              <a:off x="144" y="576"/>
              <a:ext cx="1584" cy="1584"/>
            </a:xfrm>
            <a:prstGeom prst="ellipse">
              <a:avLst/>
            </a:prstGeom>
            <a:noFill/>
            <a:ln w="12700">
              <a:solidFill>
                <a:schemeClr val="accent1"/>
              </a:solidFill>
              <a:round/>
              <a:headEnd/>
              <a:tailEnd/>
            </a:ln>
            <a:effectLst/>
          </p:spPr>
          <p:txBody>
            <a:bodyPr wrap="none" anchor="ctr"/>
            <a:lstStyle/>
            <a:p>
              <a:pPr algn="ctr">
                <a:defRPr/>
              </a:pPr>
              <a:endParaRPr lang="en-US"/>
            </a:p>
          </p:txBody>
        </p:sp>
        <p:sp>
          <p:nvSpPr>
            <p:cNvPr id="6" name="Rectangle 8"/>
            <p:cNvSpPr>
              <a:spLocks noChangeArrowheads="1"/>
            </p:cNvSpPr>
            <p:nvPr/>
          </p:nvSpPr>
          <p:spPr bwMode="hidden">
            <a:xfrm>
              <a:off x="0" y="1056"/>
              <a:ext cx="2976" cy="720"/>
            </a:xfrm>
            <a:prstGeom prst="rect">
              <a:avLst/>
            </a:prstGeom>
            <a:solidFill>
              <a:schemeClr val="accent2"/>
            </a:solidFill>
            <a:ln w="9525">
              <a:noFill/>
              <a:miter lim="800000"/>
              <a:headEnd/>
              <a:tailEnd/>
            </a:ln>
            <a:effectLst/>
          </p:spPr>
          <p:txBody>
            <a:bodyPr wrap="none" anchor="ctr"/>
            <a:lstStyle/>
            <a:p>
              <a:pPr algn="ctr">
                <a:defRPr/>
              </a:pPr>
              <a:endParaRPr lang="en-US" sz="2400">
                <a:latin typeface="Times New Roman" pitchFamily="18" charset="0"/>
              </a:endParaRPr>
            </a:p>
          </p:txBody>
        </p:sp>
        <p:sp>
          <p:nvSpPr>
            <p:cNvPr id="7" name="Rectangle 9"/>
            <p:cNvSpPr>
              <a:spLocks noChangeArrowheads="1"/>
            </p:cNvSpPr>
            <p:nvPr/>
          </p:nvSpPr>
          <p:spPr bwMode="hidden">
            <a:xfrm>
              <a:off x="2496" y="1056"/>
              <a:ext cx="2976" cy="720"/>
            </a:xfrm>
            <a:prstGeom prst="rect">
              <a:avLst/>
            </a:prstGeom>
            <a:gradFill rotWithShape="0">
              <a:gsLst>
                <a:gs pos="0">
                  <a:schemeClr val="accent2"/>
                </a:gs>
                <a:gs pos="100000">
                  <a:schemeClr val="bg1"/>
                </a:gs>
              </a:gsLst>
              <a:lin ang="0" scaled="1"/>
            </a:gradFill>
            <a:ln w="9525">
              <a:noFill/>
              <a:miter lim="800000"/>
              <a:headEnd/>
              <a:tailEnd/>
            </a:ln>
            <a:effectLst/>
          </p:spPr>
          <p:txBody>
            <a:bodyPr wrap="none" anchor="ctr"/>
            <a:lstStyle/>
            <a:p>
              <a:pPr algn="ctr">
                <a:defRPr/>
              </a:pPr>
              <a:endParaRPr lang="en-US" sz="2400">
                <a:latin typeface="Times New Roman" pitchFamily="18" charset="0"/>
              </a:endParaRPr>
            </a:p>
          </p:txBody>
        </p:sp>
        <p:sp>
          <p:nvSpPr>
            <p:cNvPr id="8" name="Freeform 10"/>
            <p:cNvSpPr>
              <a:spLocks noChangeArrowheads="1"/>
            </p:cNvSpPr>
            <p:nvPr/>
          </p:nvSpPr>
          <p:spPr bwMode="auto">
            <a:xfrm>
              <a:off x="384" y="960"/>
              <a:ext cx="144" cy="913"/>
            </a:xfrm>
            <a:custGeom>
              <a:avLst/>
              <a:gdLst/>
              <a:ahLst/>
              <a:cxnLst>
                <a:cxn ang="0">
                  <a:pos x="1000" y="1000"/>
                </a:cxn>
                <a:cxn ang="0">
                  <a:pos x="0" y="1000"/>
                </a:cxn>
                <a:cxn ang="0">
                  <a:pos x="0" y="0"/>
                </a:cxn>
                <a:cxn ang="0">
                  <a:pos x="1000" y="0"/>
                </a:cxn>
              </a:cxnLst>
              <a:rect l="0" t="0" r="r" b="b"/>
              <a:pathLst>
                <a:path w="1000" h="1000">
                  <a:moveTo>
                    <a:pt x="1000" y="1000"/>
                  </a:moveTo>
                  <a:lnTo>
                    <a:pt x="0" y="1000"/>
                  </a:lnTo>
                  <a:lnTo>
                    <a:pt x="0" y="0"/>
                  </a:lnTo>
                  <a:lnTo>
                    <a:pt x="1000" y="0"/>
                  </a:lnTo>
                </a:path>
              </a:pathLst>
            </a:custGeom>
            <a:noFill/>
            <a:ln w="76200" cmpd="sng">
              <a:solidFill>
                <a:schemeClr val="tx2"/>
              </a:solidFill>
              <a:miter lim="800000"/>
              <a:headEnd/>
              <a:tailEnd/>
            </a:ln>
          </p:spPr>
          <p:txBody>
            <a:bodyPr/>
            <a:lstStyle/>
            <a:p>
              <a:pPr eaLnBrk="0" hangingPunct="0">
                <a:defRPr/>
              </a:pPr>
              <a:endParaRPr lang="en-US"/>
            </a:p>
          </p:txBody>
        </p:sp>
        <p:sp>
          <p:nvSpPr>
            <p:cNvPr id="9" name="Freeform 11"/>
            <p:cNvSpPr>
              <a:spLocks noChangeArrowheads="1"/>
            </p:cNvSpPr>
            <p:nvPr/>
          </p:nvSpPr>
          <p:spPr bwMode="auto">
            <a:xfrm>
              <a:off x="4944" y="762"/>
              <a:ext cx="165" cy="864"/>
            </a:xfrm>
            <a:custGeom>
              <a:avLst/>
              <a:gdLst/>
              <a:ahLst/>
              <a:cxnLst>
                <a:cxn ang="0">
                  <a:pos x="0" y="0"/>
                </a:cxn>
                <a:cxn ang="0">
                  <a:pos x="1000" y="0"/>
                </a:cxn>
                <a:cxn ang="0">
                  <a:pos x="1000" y="1000"/>
                </a:cxn>
                <a:cxn ang="0">
                  <a:pos x="0" y="1000"/>
                </a:cxn>
              </a:cxnLst>
              <a:rect l="0" t="0" r="r" b="b"/>
              <a:pathLst>
                <a:path w="1000" h="1000">
                  <a:moveTo>
                    <a:pt x="0" y="0"/>
                  </a:moveTo>
                  <a:lnTo>
                    <a:pt x="1000" y="0"/>
                  </a:lnTo>
                  <a:lnTo>
                    <a:pt x="1000" y="1000"/>
                  </a:lnTo>
                  <a:lnTo>
                    <a:pt x="0" y="1000"/>
                  </a:lnTo>
                </a:path>
              </a:pathLst>
            </a:custGeom>
            <a:noFill/>
            <a:ln w="76200" cap="flat" cmpd="sng">
              <a:solidFill>
                <a:schemeClr val="accent1"/>
              </a:solidFill>
              <a:prstDash val="solid"/>
              <a:miter lim="800000"/>
              <a:headEnd/>
              <a:tailEnd/>
            </a:ln>
          </p:spPr>
          <p:txBody>
            <a:bodyPr/>
            <a:lstStyle/>
            <a:p>
              <a:pPr eaLnBrk="0" hangingPunct="0">
                <a:defRPr/>
              </a:pPr>
              <a:endParaRPr lang="en-US"/>
            </a:p>
          </p:txBody>
        </p:sp>
      </p:grpSp>
      <p:sp>
        <p:nvSpPr>
          <p:cNvPr id="13314" name="Rectangle 2"/>
          <p:cNvSpPr>
            <a:spLocks noGrp="1" noChangeArrowheads="1"/>
          </p:cNvSpPr>
          <p:nvPr>
            <p:ph type="subTitle" idx="1"/>
          </p:nvPr>
        </p:nvSpPr>
        <p:spPr>
          <a:xfrm>
            <a:off x="2286000" y="3581400"/>
            <a:ext cx="5638800" cy="1905000"/>
          </a:xfrm>
        </p:spPr>
        <p:txBody>
          <a:bodyPr/>
          <a:lstStyle>
            <a:lvl1pPr marL="0" indent="0">
              <a:buFont typeface="Wingdings" pitchFamily="2" charset="2"/>
              <a:buNone/>
              <a:defRPr/>
            </a:lvl1pPr>
          </a:lstStyle>
          <a:p>
            <a:r>
              <a:rPr lang="en-US"/>
              <a:t>Click to edit Master subtitle style</a:t>
            </a:r>
          </a:p>
        </p:txBody>
      </p:sp>
      <p:sp>
        <p:nvSpPr>
          <p:cNvPr id="13324" name="Rectangle 12"/>
          <p:cNvSpPr>
            <a:spLocks noGrp="1" noChangeArrowheads="1"/>
          </p:cNvSpPr>
          <p:nvPr>
            <p:ph type="ctrTitle"/>
          </p:nvPr>
        </p:nvSpPr>
        <p:spPr>
          <a:xfrm>
            <a:off x="838200" y="1443038"/>
            <a:ext cx="7086600" cy="1600200"/>
          </a:xfrm>
        </p:spPr>
        <p:txBody>
          <a:bodyPr anchor="ctr"/>
          <a:lstStyle>
            <a:lvl1pPr>
              <a:defRPr/>
            </a:lvl1pPr>
          </a:lstStyle>
          <a:p>
            <a:r>
              <a:rPr lang="en-US"/>
              <a:t>Click to edit Master title style</a:t>
            </a:r>
          </a:p>
        </p:txBody>
      </p:sp>
      <p:sp>
        <p:nvSpPr>
          <p:cNvPr id="10" name="Rectangle 3"/>
          <p:cNvSpPr>
            <a:spLocks noGrp="1" noChangeArrowheads="1"/>
          </p:cNvSpPr>
          <p:nvPr>
            <p:ph type="dt" sz="half" idx="10"/>
          </p:nvPr>
        </p:nvSpPr>
        <p:spPr>
          <a:xfrm>
            <a:off x="685800" y="6248400"/>
            <a:ext cx="1905000" cy="457200"/>
          </a:xfrm>
        </p:spPr>
        <p:txBody>
          <a:bodyPr/>
          <a:lstStyle>
            <a:lvl1pPr>
              <a:defRPr/>
            </a:lvl1pPr>
          </a:lstStyle>
          <a:p>
            <a:pPr>
              <a:defRPr/>
            </a:pPr>
            <a:fld id="{09F8CC9C-84F8-40DE-8072-8418EEAB0285}" type="datetime3">
              <a:rPr lang="en-US" smtClean="0"/>
              <a:t>16 December 2025</a:t>
            </a:fld>
            <a:endParaRPr lang="en-US"/>
          </a:p>
        </p:txBody>
      </p:sp>
      <p:sp>
        <p:nvSpPr>
          <p:cNvPr id="11" name="Rectangle 4"/>
          <p:cNvSpPr>
            <a:spLocks noGrp="1" noChangeArrowheads="1"/>
          </p:cNvSpPr>
          <p:nvPr>
            <p:ph type="ftr" sz="quarter" idx="11"/>
          </p:nvPr>
        </p:nvSpPr>
        <p:spPr>
          <a:xfrm>
            <a:off x="3124200" y="6248400"/>
            <a:ext cx="2895600" cy="457200"/>
          </a:xfrm>
        </p:spPr>
        <p:txBody>
          <a:bodyPr/>
          <a:lstStyle>
            <a:lvl1pPr>
              <a:defRPr/>
            </a:lvl1pPr>
          </a:lstStyle>
          <a:p>
            <a:pPr>
              <a:defRPr/>
            </a:pPr>
            <a:r>
              <a:rPr lang="en-US"/>
              <a:t>T. Mayooran</a:t>
            </a:r>
          </a:p>
        </p:txBody>
      </p:sp>
      <p:sp>
        <p:nvSpPr>
          <p:cNvPr id="12" name="Rectangle 5"/>
          <p:cNvSpPr>
            <a:spLocks noGrp="1" noChangeArrowheads="1"/>
          </p:cNvSpPr>
          <p:nvPr>
            <p:ph type="sldNum" sz="quarter" idx="12"/>
          </p:nvPr>
        </p:nvSpPr>
        <p:spPr>
          <a:xfrm>
            <a:off x="6553200" y="6248400"/>
            <a:ext cx="1905000" cy="457200"/>
          </a:xfrm>
        </p:spPr>
        <p:txBody>
          <a:bodyPr/>
          <a:lstStyle>
            <a:lvl1pPr>
              <a:defRPr/>
            </a:lvl1pPr>
          </a:lstStyle>
          <a:p>
            <a:pPr>
              <a:defRPr/>
            </a:pPr>
            <a:fld id="{14F20912-3964-4AC0-A76F-E2BBB0A2FF93}" type="slidenum">
              <a:rPr lang="en-US"/>
              <a:pPr>
                <a:defRPr/>
              </a:pPr>
              <a:t>‹#›</a:t>
            </a:fld>
            <a:endParaRPr lang="en-US"/>
          </a:p>
        </p:txBody>
      </p:sp>
    </p:spTree>
    <p:extLst>
      <p:ext uri="{BB962C8B-B14F-4D97-AF65-F5344CB8AC3E}">
        <p14:creationId xmlns:p14="http://schemas.microsoft.com/office/powerpoint/2010/main" val="257184781"/>
      </p:ext>
    </p:extLst>
  </p:cSld>
  <p:clrMapOvr>
    <a:masterClrMapping/>
  </p:clrMapOvr>
  <p:transition spd="slow">
    <p:wipe dir="r"/>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6"/>
          <p:cNvSpPr>
            <a:spLocks noGrp="1" noChangeArrowheads="1"/>
          </p:cNvSpPr>
          <p:nvPr>
            <p:ph type="dt" sz="half" idx="10"/>
          </p:nvPr>
        </p:nvSpPr>
        <p:spPr>
          <a:ln/>
        </p:spPr>
        <p:txBody>
          <a:bodyPr/>
          <a:lstStyle>
            <a:lvl1pPr>
              <a:defRPr/>
            </a:lvl1pPr>
          </a:lstStyle>
          <a:p>
            <a:pPr>
              <a:defRPr/>
            </a:pPr>
            <a:fld id="{E84513CC-386E-465A-BA6A-30F6981BE159}" type="datetime3">
              <a:rPr lang="en-US" smtClean="0"/>
              <a:t>16 December 2025</a:t>
            </a:fld>
            <a:endParaRPr lang="en-US"/>
          </a:p>
        </p:txBody>
      </p:sp>
      <p:sp>
        <p:nvSpPr>
          <p:cNvPr id="5" name="Rectangle 7"/>
          <p:cNvSpPr>
            <a:spLocks noGrp="1" noChangeArrowheads="1"/>
          </p:cNvSpPr>
          <p:nvPr>
            <p:ph type="ftr" sz="quarter" idx="11"/>
          </p:nvPr>
        </p:nvSpPr>
        <p:spPr>
          <a:ln/>
        </p:spPr>
        <p:txBody>
          <a:bodyPr/>
          <a:lstStyle>
            <a:lvl1pPr>
              <a:defRPr/>
            </a:lvl1pPr>
          </a:lstStyle>
          <a:p>
            <a:pPr>
              <a:defRPr/>
            </a:pPr>
            <a:r>
              <a:rPr lang="en-US"/>
              <a:t>T. Mayooran</a:t>
            </a:r>
          </a:p>
        </p:txBody>
      </p:sp>
      <p:sp>
        <p:nvSpPr>
          <p:cNvPr id="6" name="Rectangle 8"/>
          <p:cNvSpPr>
            <a:spLocks noGrp="1" noChangeArrowheads="1"/>
          </p:cNvSpPr>
          <p:nvPr>
            <p:ph type="sldNum" sz="quarter" idx="12"/>
          </p:nvPr>
        </p:nvSpPr>
        <p:spPr>
          <a:ln/>
        </p:spPr>
        <p:txBody>
          <a:bodyPr/>
          <a:lstStyle>
            <a:lvl1pPr>
              <a:defRPr/>
            </a:lvl1pPr>
          </a:lstStyle>
          <a:p>
            <a:pPr>
              <a:defRPr/>
            </a:pPr>
            <a:fld id="{645ED874-4033-4CEE-AE69-D7CB222F48E6}" type="slidenum">
              <a:rPr lang="en-US"/>
              <a:pPr>
                <a:defRPr/>
              </a:pPr>
              <a:t>‹#›</a:t>
            </a:fld>
            <a:endParaRPr lang="en-US"/>
          </a:p>
        </p:txBody>
      </p:sp>
    </p:spTree>
    <p:extLst>
      <p:ext uri="{BB962C8B-B14F-4D97-AF65-F5344CB8AC3E}">
        <p14:creationId xmlns:p14="http://schemas.microsoft.com/office/powerpoint/2010/main" val="2865308922"/>
      </p:ext>
    </p:extLst>
  </p:cSld>
  <p:clrMapOvr>
    <a:masterClrMapping/>
  </p:clrMapOvr>
  <p:transition spd="slow">
    <p:wipe dir="r"/>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4"/>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
        <p:nvSpPr>
          <p:cNvPr id="4" name="Rectangle 6"/>
          <p:cNvSpPr>
            <a:spLocks noGrp="1" noChangeArrowheads="1"/>
          </p:cNvSpPr>
          <p:nvPr>
            <p:ph type="dt" sz="half" idx="10"/>
          </p:nvPr>
        </p:nvSpPr>
        <p:spPr>
          <a:ln/>
        </p:spPr>
        <p:txBody>
          <a:bodyPr/>
          <a:lstStyle>
            <a:lvl1pPr>
              <a:defRPr/>
            </a:lvl1pPr>
          </a:lstStyle>
          <a:p>
            <a:pPr>
              <a:defRPr/>
            </a:pPr>
            <a:fld id="{69C60E08-14DF-4CC3-9FDE-CF7B231AFBD8}" type="datetime3">
              <a:rPr lang="en-US" smtClean="0"/>
              <a:t>16 December 2025</a:t>
            </a:fld>
            <a:endParaRPr lang="en-US"/>
          </a:p>
        </p:txBody>
      </p:sp>
      <p:sp>
        <p:nvSpPr>
          <p:cNvPr id="5" name="Rectangle 7"/>
          <p:cNvSpPr>
            <a:spLocks noGrp="1" noChangeArrowheads="1"/>
          </p:cNvSpPr>
          <p:nvPr>
            <p:ph type="ftr" sz="quarter" idx="11"/>
          </p:nvPr>
        </p:nvSpPr>
        <p:spPr>
          <a:ln/>
        </p:spPr>
        <p:txBody>
          <a:bodyPr/>
          <a:lstStyle>
            <a:lvl1pPr>
              <a:defRPr/>
            </a:lvl1pPr>
          </a:lstStyle>
          <a:p>
            <a:pPr>
              <a:defRPr/>
            </a:pPr>
            <a:r>
              <a:rPr lang="en-US"/>
              <a:t>T. Mayooran</a:t>
            </a:r>
          </a:p>
        </p:txBody>
      </p:sp>
      <p:sp>
        <p:nvSpPr>
          <p:cNvPr id="6" name="Rectangle 8"/>
          <p:cNvSpPr>
            <a:spLocks noGrp="1" noChangeArrowheads="1"/>
          </p:cNvSpPr>
          <p:nvPr>
            <p:ph type="sldNum" sz="quarter" idx="12"/>
          </p:nvPr>
        </p:nvSpPr>
        <p:spPr>
          <a:ln/>
        </p:spPr>
        <p:txBody>
          <a:bodyPr/>
          <a:lstStyle>
            <a:lvl1pPr>
              <a:defRPr/>
            </a:lvl1pPr>
          </a:lstStyle>
          <a:p>
            <a:pPr>
              <a:defRPr/>
            </a:pPr>
            <a:fld id="{00D12143-4CA1-4B5D-8192-280F0A8950D9}" type="slidenum">
              <a:rPr lang="en-US"/>
              <a:pPr>
                <a:defRPr/>
              </a:pPr>
              <a:t>‹#›</a:t>
            </a:fld>
            <a:endParaRPr lang="en-US"/>
          </a:p>
        </p:txBody>
      </p:sp>
    </p:spTree>
    <p:extLst>
      <p:ext uri="{BB962C8B-B14F-4D97-AF65-F5344CB8AC3E}">
        <p14:creationId xmlns:p14="http://schemas.microsoft.com/office/powerpoint/2010/main" val="1788375589"/>
      </p:ext>
    </p:extLst>
  </p:cSld>
  <p:clrMapOvr>
    <a:masterClrMapping/>
  </p:clrMapOvr>
  <p:transition spd="slow">
    <p:wipe dir="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949326" y="1981200"/>
            <a:ext cx="3754438" cy="41148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856165" y="1981200"/>
            <a:ext cx="3754437" cy="41148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6"/>
          <p:cNvSpPr>
            <a:spLocks noGrp="1" noChangeArrowheads="1"/>
          </p:cNvSpPr>
          <p:nvPr>
            <p:ph type="dt" sz="half" idx="10"/>
          </p:nvPr>
        </p:nvSpPr>
        <p:spPr>
          <a:ln/>
        </p:spPr>
        <p:txBody>
          <a:bodyPr/>
          <a:lstStyle>
            <a:lvl1pPr>
              <a:defRPr/>
            </a:lvl1pPr>
          </a:lstStyle>
          <a:p>
            <a:pPr>
              <a:defRPr/>
            </a:pPr>
            <a:fld id="{9AE376AB-52E6-4ECC-81F8-F519C015FFCD}" type="datetime3">
              <a:rPr lang="en-US" smtClean="0"/>
              <a:t>16 December 2025</a:t>
            </a:fld>
            <a:endParaRPr lang="en-US"/>
          </a:p>
        </p:txBody>
      </p:sp>
      <p:sp>
        <p:nvSpPr>
          <p:cNvPr id="6" name="Rectangle 7"/>
          <p:cNvSpPr>
            <a:spLocks noGrp="1" noChangeArrowheads="1"/>
          </p:cNvSpPr>
          <p:nvPr>
            <p:ph type="ftr" sz="quarter" idx="11"/>
          </p:nvPr>
        </p:nvSpPr>
        <p:spPr>
          <a:ln/>
        </p:spPr>
        <p:txBody>
          <a:bodyPr/>
          <a:lstStyle>
            <a:lvl1pPr>
              <a:defRPr/>
            </a:lvl1pPr>
          </a:lstStyle>
          <a:p>
            <a:pPr>
              <a:defRPr/>
            </a:pPr>
            <a:r>
              <a:rPr lang="en-US"/>
              <a:t>T. Mayooran</a:t>
            </a:r>
          </a:p>
        </p:txBody>
      </p:sp>
      <p:sp>
        <p:nvSpPr>
          <p:cNvPr id="7" name="Rectangle 8"/>
          <p:cNvSpPr>
            <a:spLocks noGrp="1" noChangeArrowheads="1"/>
          </p:cNvSpPr>
          <p:nvPr>
            <p:ph type="sldNum" sz="quarter" idx="12"/>
          </p:nvPr>
        </p:nvSpPr>
        <p:spPr>
          <a:ln/>
        </p:spPr>
        <p:txBody>
          <a:bodyPr/>
          <a:lstStyle>
            <a:lvl1pPr>
              <a:defRPr/>
            </a:lvl1pPr>
          </a:lstStyle>
          <a:p>
            <a:pPr>
              <a:defRPr/>
            </a:pPr>
            <a:fld id="{605A68BB-D301-4C84-8D5A-68B072225578}" type="slidenum">
              <a:rPr lang="en-US"/>
              <a:pPr>
                <a:defRPr/>
              </a:pPr>
              <a:t>‹#›</a:t>
            </a:fld>
            <a:endParaRPr lang="en-US"/>
          </a:p>
        </p:txBody>
      </p:sp>
    </p:spTree>
    <p:extLst>
      <p:ext uri="{BB962C8B-B14F-4D97-AF65-F5344CB8AC3E}">
        <p14:creationId xmlns:p14="http://schemas.microsoft.com/office/powerpoint/2010/main" val="2002444222"/>
      </p:ext>
    </p:extLst>
  </p:cSld>
  <p:clrMapOvr>
    <a:masterClrMapping/>
  </p:clrMapOvr>
  <p:transition spd="slow">
    <p:wipe dir="r"/>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7"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7"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6"/>
          <p:cNvSpPr>
            <a:spLocks noGrp="1" noChangeArrowheads="1"/>
          </p:cNvSpPr>
          <p:nvPr>
            <p:ph type="dt" sz="half" idx="10"/>
          </p:nvPr>
        </p:nvSpPr>
        <p:spPr>
          <a:ln/>
        </p:spPr>
        <p:txBody>
          <a:bodyPr/>
          <a:lstStyle>
            <a:lvl1pPr>
              <a:defRPr/>
            </a:lvl1pPr>
          </a:lstStyle>
          <a:p>
            <a:pPr>
              <a:defRPr/>
            </a:pPr>
            <a:fld id="{8CD96E5A-2F28-43E6-9810-21E990481036}" type="datetime3">
              <a:rPr lang="en-US" smtClean="0"/>
              <a:t>16 December 2025</a:t>
            </a:fld>
            <a:endParaRPr lang="en-US"/>
          </a:p>
        </p:txBody>
      </p:sp>
      <p:sp>
        <p:nvSpPr>
          <p:cNvPr id="8" name="Rectangle 7"/>
          <p:cNvSpPr>
            <a:spLocks noGrp="1" noChangeArrowheads="1"/>
          </p:cNvSpPr>
          <p:nvPr>
            <p:ph type="ftr" sz="quarter" idx="11"/>
          </p:nvPr>
        </p:nvSpPr>
        <p:spPr>
          <a:ln/>
        </p:spPr>
        <p:txBody>
          <a:bodyPr/>
          <a:lstStyle>
            <a:lvl1pPr>
              <a:defRPr/>
            </a:lvl1pPr>
          </a:lstStyle>
          <a:p>
            <a:pPr>
              <a:defRPr/>
            </a:pPr>
            <a:r>
              <a:rPr lang="en-US"/>
              <a:t>T. Mayooran</a:t>
            </a:r>
          </a:p>
        </p:txBody>
      </p:sp>
      <p:sp>
        <p:nvSpPr>
          <p:cNvPr id="9" name="Rectangle 8"/>
          <p:cNvSpPr>
            <a:spLocks noGrp="1" noChangeArrowheads="1"/>
          </p:cNvSpPr>
          <p:nvPr>
            <p:ph type="sldNum" sz="quarter" idx="12"/>
          </p:nvPr>
        </p:nvSpPr>
        <p:spPr>
          <a:ln/>
        </p:spPr>
        <p:txBody>
          <a:bodyPr/>
          <a:lstStyle>
            <a:lvl1pPr>
              <a:defRPr/>
            </a:lvl1pPr>
          </a:lstStyle>
          <a:p>
            <a:pPr>
              <a:defRPr/>
            </a:pPr>
            <a:fld id="{280F40D6-973E-420A-8A2A-57EE40479B76}" type="slidenum">
              <a:rPr lang="en-US"/>
              <a:pPr>
                <a:defRPr/>
              </a:pPr>
              <a:t>‹#›</a:t>
            </a:fld>
            <a:endParaRPr lang="en-US"/>
          </a:p>
        </p:txBody>
      </p:sp>
    </p:spTree>
    <p:extLst>
      <p:ext uri="{BB962C8B-B14F-4D97-AF65-F5344CB8AC3E}">
        <p14:creationId xmlns:p14="http://schemas.microsoft.com/office/powerpoint/2010/main" val="1712266525"/>
      </p:ext>
    </p:extLst>
  </p:cSld>
  <p:clrMapOvr>
    <a:masterClrMapping/>
  </p:clrMapOvr>
  <p:transition spd="slow">
    <p:wipe dir="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Rectangle 6"/>
          <p:cNvSpPr>
            <a:spLocks noGrp="1" noChangeArrowheads="1"/>
          </p:cNvSpPr>
          <p:nvPr>
            <p:ph type="dt" sz="half" idx="10"/>
          </p:nvPr>
        </p:nvSpPr>
        <p:spPr>
          <a:ln/>
        </p:spPr>
        <p:txBody>
          <a:bodyPr/>
          <a:lstStyle>
            <a:lvl1pPr>
              <a:defRPr/>
            </a:lvl1pPr>
          </a:lstStyle>
          <a:p>
            <a:pPr>
              <a:defRPr/>
            </a:pPr>
            <a:fld id="{C94AA14A-B3C0-4F6A-9ECD-D50E54560BF4}" type="datetime3">
              <a:rPr lang="en-US" smtClean="0"/>
              <a:t>16 December 2025</a:t>
            </a:fld>
            <a:endParaRPr lang="en-US"/>
          </a:p>
        </p:txBody>
      </p:sp>
      <p:sp>
        <p:nvSpPr>
          <p:cNvPr id="4" name="Rectangle 7"/>
          <p:cNvSpPr>
            <a:spLocks noGrp="1" noChangeArrowheads="1"/>
          </p:cNvSpPr>
          <p:nvPr>
            <p:ph type="ftr" sz="quarter" idx="11"/>
          </p:nvPr>
        </p:nvSpPr>
        <p:spPr>
          <a:ln/>
        </p:spPr>
        <p:txBody>
          <a:bodyPr/>
          <a:lstStyle>
            <a:lvl1pPr>
              <a:defRPr/>
            </a:lvl1pPr>
          </a:lstStyle>
          <a:p>
            <a:pPr>
              <a:defRPr/>
            </a:pPr>
            <a:r>
              <a:rPr lang="en-US"/>
              <a:t>T. Mayooran</a:t>
            </a:r>
          </a:p>
        </p:txBody>
      </p:sp>
      <p:sp>
        <p:nvSpPr>
          <p:cNvPr id="5" name="Rectangle 8"/>
          <p:cNvSpPr>
            <a:spLocks noGrp="1" noChangeArrowheads="1"/>
          </p:cNvSpPr>
          <p:nvPr>
            <p:ph type="sldNum" sz="quarter" idx="12"/>
          </p:nvPr>
        </p:nvSpPr>
        <p:spPr>
          <a:ln/>
        </p:spPr>
        <p:txBody>
          <a:bodyPr/>
          <a:lstStyle>
            <a:lvl1pPr>
              <a:defRPr/>
            </a:lvl1pPr>
          </a:lstStyle>
          <a:p>
            <a:pPr>
              <a:defRPr/>
            </a:pPr>
            <a:fld id="{91405199-A820-4E09-B31F-8A886D86286D}" type="slidenum">
              <a:rPr lang="en-US"/>
              <a:pPr>
                <a:defRPr/>
              </a:pPr>
              <a:t>‹#›</a:t>
            </a:fld>
            <a:endParaRPr lang="en-US"/>
          </a:p>
        </p:txBody>
      </p:sp>
    </p:spTree>
    <p:extLst>
      <p:ext uri="{BB962C8B-B14F-4D97-AF65-F5344CB8AC3E}">
        <p14:creationId xmlns:p14="http://schemas.microsoft.com/office/powerpoint/2010/main" val="3327904356"/>
      </p:ext>
    </p:extLst>
  </p:cSld>
  <p:clrMapOvr>
    <a:masterClrMapping/>
  </p:clrMapOvr>
  <p:transition spd="slow">
    <p:wipe dir="r"/>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6"/>
          <p:cNvSpPr>
            <a:spLocks noGrp="1" noChangeArrowheads="1"/>
          </p:cNvSpPr>
          <p:nvPr>
            <p:ph type="dt" sz="half" idx="10"/>
          </p:nvPr>
        </p:nvSpPr>
        <p:spPr>
          <a:ln/>
        </p:spPr>
        <p:txBody>
          <a:bodyPr/>
          <a:lstStyle>
            <a:lvl1pPr>
              <a:defRPr/>
            </a:lvl1pPr>
          </a:lstStyle>
          <a:p>
            <a:pPr>
              <a:defRPr/>
            </a:pPr>
            <a:fld id="{2DF9D6B0-2C09-47F5-8733-DDB6D3B95B5B}" type="datetime3">
              <a:rPr lang="en-US" smtClean="0"/>
              <a:t>16 December 2025</a:t>
            </a:fld>
            <a:endParaRPr lang="en-US"/>
          </a:p>
        </p:txBody>
      </p:sp>
      <p:sp>
        <p:nvSpPr>
          <p:cNvPr id="3" name="Rectangle 7"/>
          <p:cNvSpPr>
            <a:spLocks noGrp="1" noChangeArrowheads="1"/>
          </p:cNvSpPr>
          <p:nvPr>
            <p:ph type="ftr" sz="quarter" idx="11"/>
          </p:nvPr>
        </p:nvSpPr>
        <p:spPr>
          <a:ln/>
        </p:spPr>
        <p:txBody>
          <a:bodyPr/>
          <a:lstStyle>
            <a:lvl1pPr>
              <a:defRPr/>
            </a:lvl1pPr>
          </a:lstStyle>
          <a:p>
            <a:pPr>
              <a:defRPr/>
            </a:pPr>
            <a:r>
              <a:rPr lang="en-US"/>
              <a:t>T. Mayooran</a:t>
            </a:r>
          </a:p>
        </p:txBody>
      </p:sp>
      <p:sp>
        <p:nvSpPr>
          <p:cNvPr id="4" name="Rectangle 8"/>
          <p:cNvSpPr>
            <a:spLocks noGrp="1" noChangeArrowheads="1"/>
          </p:cNvSpPr>
          <p:nvPr>
            <p:ph type="sldNum" sz="quarter" idx="12"/>
          </p:nvPr>
        </p:nvSpPr>
        <p:spPr>
          <a:ln/>
        </p:spPr>
        <p:txBody>
          <a:bodyPr/>
          <a:lstStyle>
            <a:lvl1pPr>
              <a:defRPr/>
            </a:lvl1pPr>
          </a:lstStyle>
          <a:p>
            <a:pPr>
              <a:defRPr/>
            </a:pPr>
            <a:fld id="{D04035A3-F0E6-4F56-B6BB-121338858F57}" type="slidenum">
              <a:rPr lang="en-US"/>
              <a:pPr>
                <a:defRPr/>
              </a:pPr>
              <a:t>‹#›</a:t>
            </a:fld>
            <a:endParaRPr lang="en-US"/>
          </a:p>
        </p:txBody>
      </p:sp>
    </p:spTree>
    <p:extLst>
      <p:ext uri="{BB962C8B-B14F-4D97-AF65-F5344CB8AC3E}">
        <p14:creationId xmlns:p14="http://schemas.microsoft.com/office/powerpoint/2010/main" val="3772379094"/>
      </p:ext>
    </p:extLst>
  </p:cSld>
  <p:clrMapOvr>
    <a:masterClrMapping/>
  </p:clrMapOvr>
  <p:transition spd="slow">
    <p:wipe dir="r"/>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2" y="273050"/>
            <a:ext cx="3008313" cy="1162050"/>
          </a:xfrm>
        </p:spPr>
        <p:txBody>
          <a:bodyPr/>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4"/>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2" y="1435103"/>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6"/>
          <p:cNvSpPr>
            <a:spLocks noGrp="1" noChangeArrowheads="1"/>
          </p:cNvSpPr>
          <p:nvPr>
            <p:ph type="dt" sz="half" idx="10"/>
          </p:nvPr>
        </p:nvSpPr>
        <p:spPr>
          <a:ln/>
        </p:spPr>
        <p:txBody>
          <a:bodyPr/>
          <a:lstStyle>
            <a:lvl1pPr>
              <a:defRPr/>
            </a:lvl1pPr>
          </a:lstStyle>
          <a:p>
            <a:pPr>
              <a:defRPr/>
            </a:pPr>
            <a:fld id="{FE51208B-D869-4FEE-B747-98C7BABACDFD}" type="datetime3">
              <a:rPr lang="en-US" smtClean="0"/>
              <a:t>16 December 2025</a:t>
            </a:fld>
            <a:endParaRPr lang="en-US"/>
          </a:p>
        </p:txBody>
      </p:sp>
      <p:sp>
        <p:nvSpPr>
          <p:cNvPr id="6" name="Rectangle 7"/>
          <p:cNvSpPr>
            <a:spLocks noGrp="1" noChangeArrowheads="1"/>
          </p:cNvSpPr>
          <p:nvPr>
            <p:ph type="ftr" sz="quarter" idx="11"/>
          </p:nvPr>
        </p:nvSpPr>
        <p:spPr>
          <a:ln/>
        </p:spPr>
        <p:txBody>
          <a:bodyPr/>
          <a:lstStyle>
            <a:lvl1pPr>
              <a:defRPr/>
            </a:lvl1pPr>
          </a:lstStyle>
          <a:p>
            <a:pPr>
              <a:defRPr/>
            </a:pPr>
            <a:r>
              <a:rPr lang="en-US"/>
              <a:t>T. Mayooran</a:t>
            </a:r>
          </a:p>
        </p:txBody>
      </p:sp>
      <p:sp>
        <p:nvSpPr>
          <p:cNvPr id="7" name="Rectangle 8"/>
          <p:cNvSpPr>
            <a:spLocks noGrp="1" noChangeArrowheads="1"/>
          </p:cNvSpPr>
          <p:nvPr>
            <p:ph type="sldNum" sz="quarter" idx="12"/>
          </p:nvPr>
        </p:nvSpPr>
        <p:spPr>
          <a:ln/>
        </p:spPr>
        <p:txBody>
          <a:bodyPr/>
          <a:lstStyle>
            <a:lvl1pPr>
              <a:defRPr/>
            </a:lvl1pPr>
          </a:lstStyle>
          <a:p>
            <a:pPr>
              <a:defRPr/>
            </a:pPr>
            <a:fld id="{5E57952B-F832-44D9-AB1C-19D8A9007706}" type="slidenum">
              <a:rPr lang="en-US"/>
              <a:pPr>
                <a:defRPr/>
              </a:pPr>
              <a:t>‹#›</a:t>
            </a:fld>
            <a:endParaRPr lang="en-US"/>
          </a:p>
        </p:txBody>
      </p:sp>
    </p:spTree>
    <p:extLst>
      <p:ext uri="{BB962C8B-B14F-4D97-AF65-F5344CB8AC3E}">
        <p14:creationId xmlns:p14="http://schemas.microsoft.com/office/powerpoint/2010/main" val="2065922134"/>
      </p:ext>
    </p:extLst>
  </p:cSld>
  <p:clrMapOvr>
    <a:masterClrMapping/>
  </p:clrMapOvr>
  <p:transition spd="slow">
    <p:wipe dir="r"/>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6"/>
          <p:cNvSpPr>
            <a:spLocks noGrp="1" noChangeArrowheads="1"/>
          </p:cNvSpPr>
          <p:nvPr>
            <p:ph type="dt" sz="half" idx="10"/>
          </p:nvPr>
        </p:nvSpPr>
        <p:spPr>
          <a:ln/>
        </p:spPr>
        <p:txBody>
          <a:bodyPr/>
          <a:lstStyle>
            <a:lvl1pPr>
              <a:defRPr/>
            </a:lvl1pPr>
          </a:lstStyle>
          <a:p>
            <a:pPr>
              <a:defRPr/>
            </a:pPr>
            <a:fld id="{A3DBA343-2E60-4640-801C-3DC38DEBAD4C}" type="datetime3">
              <a:rPr lang="en-US" smtClean="0"/>
              <a:t>16 December 2025</a:t>
            </a:fld>
            <a:endParaRPr lang="en-US"/>
          </a:p>
        </p:txBody>
      </p:sp>
      <p:sp>
        <p:nvSpPr>
          <p:cNvPr id="6" name="Rectangle 7"/>
          <p:cNvSpPr>
            <a:spLocks noGrp="1" noChangeArrowheads="1"/>
          </p:cNvSpPr>
          <p:nvPr>
            <p:ph type="ftr" sz="quarter" idx="11"/>
          </p:nvPr>
        </p:nvSpPr>
        <p:spPr>
          <a:ln/>
        </p:spPr>
        <p:txBody>
          <a:bodyPr/>
          <a:lstStyle>
            <a:lvl1pPr>
              <a:defRPr/>
            </a:lvl1pPr>
          </a:lstStyle>
          <a:p>
            <a:pPr>
              <a:defRPr/>
            </a:pPr>
            <a:r>
              <a:rPr lang="en-US"/>
              <a:t>T. Mayooran</a:t>
            </a:r>
          </a:p>
        </p:txBody>
      </p:sp>
      <p:sp>
        <p:nvSpPr>
          <p:cNvPr id="7" name="Rectangle 8"/>
          <p:cNvSpPr>
            <a:spLocks noGrp="1" noChangeArrowheads="1"/>
          </p:cNvSpPr>
          <p:nvPr>
            <p:ph type="sldNum" sz="quarter" idx="12"/>
          </p:nvPr>
        </p:nvSpPr>
        <p:spPr>
          <a:ln/>
        </p:spPr>
        <p:txBody>
          <a:bodyPr/>
          <a:lstStyle>
            <a:lvl1pPr>
              <a:defRPr/>
            </a:lvl1pPr>
          </a:lstStyle>
          <a:p>
            <a:pPr>
              <a:defRPr/>
            </a:pPr>
            <a:fld id="{5D9D0630-C4F3-409D-9A0D-A69F5C145D77}" type="slidenum">
              <a:rPr lang="en-US"/>
              <a:pPr>
                <a:defRPr/>
              </a:pPr>
              <a:t>‹#›</a:t>
            </a:fld>
            <a:endParaRPr lang="en-US"/>
          </a:p>
        </p:txBody>
      </p:sp>
    </p:spTree>
    <p:extLst>
      <p:ext uri="{BB962C8B-B14F-4D97-AF65-F5344CB8AC3E}">
        <p14:creationId xmlns:p14="http://schemas.microsoft.com/office/powerpoint/2010/main" val="1301865638"/>
      </p:ext>
    </p:extLst>
  </p:cSld>
  <p:clrMapOvr>
    <a:masterClrMapping/>
  </p:clrMapOvr>
  <p:transition spd="slow">
    <p:wipe dir="r"/>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6"/>
          <p:cNvSpPr>
            <a:spLocks noGrp="1" noChangeArrowheads="1"/>
          </p:cNvSpPr>
          <p:nvPr>
            <p:ph type="dt" sz="half" idx="10"/>
          </p:nvPr>
        </p:nvSpPr>
        <p:spPr>
          <a:ln/>
        </p:spPr>
        <p:txBody>
          <a:bodyPr/>
          <a:lstStyle>
            <a:lvl1pPr>
              <a:defRPr/>
            </a:lvl1pPr>
          </a:lstStyle>
          <a:p>
            <a:pPr>
              <a:defRPr/>
            </a:pPr>
            <a:fld id="{716D55AE-634D-4C1B-8690-AC1D7DE7B5BE}" type="datetime3">
              <a:rPr lang="en-US" smtClean="0"/>
              <a:t>16 December 2025</a:t>
            </a:fld>
            <a:endParaRPr lang="en-US"/>
          </a:p>
        </p:txBody>
      </p:sp>
      <p:sp>
        <p:nvSpPr>
          <p:cNvPr id="5" name="Rectangle 7"/>
          <p:cNvSpPr>
            <a:spLocks noGrp="1" noChangeArrowheads="1"/>
          </p:cNvSpPr>
          <p:nvPr>
            <p:ph type="ftr" sz="quarter" idx="11"/>
          </p:nvPr>
        </p:nvSpPr>
        <p:spPr>
          <a:ln/>
        </p:spPr>
        <p:txBody>
          <a:bodyPr/>
          <a:lstStyle>
            <a:lvl1pPr>
              <a:defRPr/>
            </a:lvl1pPr>
          </a:lstStyle>
          <a:p>
            <a:pPr>
              <a:defRPr/>
            </a:pPr>
            <a:r>
              <a:rPr lang="en-US"/>
              <a:t>T. Mayooran</a:t>
            </a:r>
          </a:p>
        </p:txBody>
      </p:sp>
      <p:sp>
        <p:nvSpPr>
          <p:cNvPr id="6" name="Rectangle 8"/>
          <p:cNvSpPr>
            <a:spLocks noGrp="1" noChangeArrowheads="1"/>
          </p:cNvSpPr>
          <p:nvPr>
            <p:ph type="sldNum" sz="quarter" idx="12"/>
          </p:nvPr>
        </p:nvSpPr>
        <p:spPr>
          <a:ln/>
        </p:spPr>
        <p:txBody>
          <a:bodyPr/>
          <a:lstStyle>
            <a:lvl1pPr>
              <a:defRPr/>
            </a:lvl1pPr>
          </a:lstStyle>
          <a:p>
            <a:pPr>
              <a:defRPr/>
            </a:pPr>
            <a:fld id="{FBD8310E-0DB0-4721-B025-0CB70D41D95B}" type="slidenum">
              <a:rPr lang="en-US"/>
              <a:pPr>
                <a:defRPr/>
              </a:pPr>
              <a:t>‹#›</a:t>
            </a:fld>
            <a:endParaRPr lang="en-US"/>
          </a:p>
        </p:txBody>
      </p:sp>
    </p:spTree>
    <p:extLst>
      <p:ext uri="{BB962C8B-B14F-4D97-AF65-F5344CB8AC3E}">
        <p14:creationId xmlns:p14="http://schemas.microsoft.com/office/powerpoint/2010/main" val="697371622"/>
      </p:ext>
    </p:extLst>
  </p:cSld>
  <p:clrMapOvr>
    <a:masterClrMapping/>
  </p:clrMapOvr>
  <p:transition spd="slow">
    <p:wipe dir="r"/>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91315" y="96838"/>
            <a:ext cx="1919287" cy="5999162"/>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931864" y="96838"/>
            <a:ext cx="5607050" cy="5999162"/>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6"/>
          <p:cNvSpPr>
            <a:spLocks noGrp="1" noChangeArrowheads="1"/>
          </p:cNvSpPr>
          <p:nvPr>
            <p:ph type="dt" sz="half" idx="10"/>
          </p:nvPr>
        </p:nvSpPr>
        <p:spPr>
          <a:ln/>
        </p:spPr>
        <p:txBody>
          <a:bodyPr/>
          <a:lstStyle>
            <a:lvl1pPr>
              <a:defRPr/>
            </a:lvl1pPr>
          </a:lstStyle>
          <a:p>
            <a:pPr>
              <a:defRPr/>
            </a:pPr>
            <a:fld id="{FC5FEC6E-2813-41AC-AFD2-1BB4F76C4C42}" type="datetime3">
              <a:rPr lang="en-US" smtClean="0"/>
              <a:t>16 December 2025</a:t>
            </a:fld>
            <a:endParaRPr lang="en-US"/>
          </a:p>
        </p:txBody>
      </p:sp>
      <p:sp>
        <p:nvSpPr>
          <p:cNvPr id="5" name="Rectangle 7"/>
          <p:cNvSpPr>
            <a:spLocks noGrp="1" noChangeArrowheads="1"/>
          </p:cNvSpPr>
          <p:nvPr>
            <p:ph type="ftr" sz="quarter" idx="11"/>
          </p:nvPr>
        </p:nvSpPr>
        <p:spPr>
          <a:ln/>
        </p:spPr>
        <p:txBody>
          <a:bodyPr/>
          <a:lstStyle>
            <a:lvl1pPr>
              <a:defRPr/>
            </a:lvl1pPr>
          </a:lstStyle>
          <a:p>
            <a:pPr>
              <a:defRPr/>
            </a:pPr>
            <a:r>
              <a:rPr lang="en-US"/>
              <a:t>T. Mayooran</a:t>
            </a:r>
          </a:p>
        </p:txBody>
      </p:sp>
      <p:sp>
        <p:nvSpPr>
          <p:cNvPr id="6" name="Rectangle 8"/>
          <p:cNvSpPr>
            <a:spLocks noGrp="1" noChangeArrowheads="1"/>
          </p:cNvSpPr>
          <p:nvPr>
            <p:ph type="sldNum" sz="quarter" idx="12"/>
          </p:nvPr>
        </p:nvSpPr>
        <p:spPr>
          <a:ln/>
        </p:spPr>
        <p:txBody>
          <a:bodyPr/>
          <a:lstStyle>
            <a:lvl1pPr>
              <a:defRPr/>
            </a:lvl1pPr>
          </a:lstStyle>
          <a:p>
            <a:pPr>
              <a:defRPr/>
            </a:pPr>
            <a:fld id="{95FD2ED4-81C2-415D-9DB9-34C0DEB3242C}" type="slidenum">
              <a:rPr lang="en-US"/>
              <a:pPr>
                <a:defRPr/>
              </a:pPr>
              <a:t>‹#›</a:t>
            </a:fld>
            <a:endParaRPr lang="en-US"/>
          </a:p>
        </p:txBody>
      </p:sp>
    </p:spTree>
    <p:extLst>
      <p:ext uri="{BB962C8B-B14F-4D97-AF65-F5344CB8AC3E}">
        <p14:creationId xmlns:p14="http://schemas.microsoft.com/office/powerpoint/2010/main" val="3791597630"/>
      </p:ext>
    </p:extLst>
  </p:cSld>
  <p:clrMapOvr>
    <a:masterClrMapping/>
  </p:clrMapOvr>
  <p:transition spd="slow">
    <p:wipe dir="r"/>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type="txAndObj" preserve="1">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931865" y="96842"/>
            <a:ext cx="7158037" cy="1412875"/>
          </a:xfrm>
        </p:spPr>
        <p:txBody>
          <a:bodyPr/>
          <a:lstStyle/>
          <a:p>
            <a:r>
              <a:rPr lang="en-US"/>
              <a:t>Click to edit Master title style</a:t>
            </a:r>
          </a:p>
        </p:txBody>
      </p:sp>
      <p:sp>
        <p:nvSpPr>
          <p:cNvPr id="3" name="Text Placeholder 2"/>
          <p:cNvSpPr>
            <a:spLocks noGrp="1"/>
          </p:cNvSpPr>
          <p:nvPr>
            <p:ph type="body" sz="half" idx="1"/>
          </p:nvPr>
        </p:nvSpPr>
        <p:spPr>
          <a:xfrm>
            <a:off x="949326" y="1981200"/>
            <a:ext cx="3754438"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856165" y="1981200"/>
            <a:ext cx="3754437"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6"/>
          <p:cNvSpPr>
            <a:spLocks noGrp="1" noChangeArrowheads="1"/>
          </p:cNvSpPr>
          <p:nvPr>
            <p:ph type="dt" sz="half" idx="10"/>
          </p:nvPr>
        </p:nvSpPr>
        <p:spPr>
          <a:ln/>
        </p:spPr>
        <p:txBody>
          <a:bodyPr/>
          <a:lstStyle>
            <a:lvl1pPr>
              <a:defRPr/>
            </a:lvl1pPr>
          </a:lstStyle>
          <a:p>
            <a:pPr>
              <a:defRPr/>
            </a:pPr>
            <a:fld id="{47601248-B7BA-4226-AE39-676FAFBA4435}" type="datetime3">
              <a:rPr lang="en-US" smtClean="0"/>
              <a:t>16 December 2025</a:t>
            </a:fld>
            <a:endParaRPr lang="en-US"/>
          </a:p>
        </p:txBody>
      </p:sp>
      <p:sp>
        <p:nvSpPr>
          <p:cNvPr id="6" name="Rectangle 7"/>
          <p:cNvSpPr>
            <a:spLocks noGrp="1" noChangeArrowheads="1"/>
          </p:cNvSpPr>
          <p:nvPr>
            <p:ph type="ftr" sz="quarter" idx="11"/>
          </p:nvPr>
        </p:nvSpPr>
        <p:spPr>
          <a:ln/>
        </p:spPr>
        <p:txBody>
          <a:bodyPr/>
          <a:lstStyle>
            <a:lvl1pPr>
              <a:defRPr/>
            </a:lvl1pPr>
          </a:lstStyle>
          <a:p>
            <a:pPr>
              <a:defRPr/>
            </a:pPr>
            <a:r>
              <a:rPr lang="en-US"/>
              <a:t>T. Mayooran</a:t>
            </a:r>
          </a:p>
        </p:txBody>
      </p:sp>
      <p:sp>
        <p:nvSpPr>
          <p:cNvPr id="7" name="Rectangle 8"/>
          <p:cNvSpPr>
            <a:spLocks noGrp="1" noChangeArrowheads="1"/>
          </p:cNvSpPr>
          <p:nvPr>
            <p:ph type="sldNum" sz="quarter" idx="12"/>
          </p:nvPr>
        </p:nvSpPr>
        <p:spPr>
          <a:ln/>
        </p:spPr>
        <p:txBody>
          <a:bodyPr/>
          <a:lstStyle>
            <a:lvl1pPr>
              <a:defRPr/>
            </a:lvl1pPr>
          </a:lstStyle>
          <a:p>
            <a:pPr>
              <a:defRPr/>
            </a:pPr>
            <a:fld id="{6A1B57EA-E72A-4329-81F2-51EDB34B2E37}" type="slidenum">
              <a:rPr lang="en-US"/>
              <a:pPr>
                <a:defRPr/>
              </a:pPr>
              <a:t>‹#›</a:t>
            </a:fld>
            <a:endParaRPr lang="en-US"/>
          </a:p>
        </p:txBody>
      </p:sp>
    </p:spTree>
    <p:extLst>
      <p:ext uri="{BB962C8B-B14F-4D97-AF65-F5344CB8AC3E}">
        <p14:creationId xmlns:p14="http://schemas.microsoft.com/office/powerpoint/2010/main" val="274550140"/>
      </p:ext>
    </p:extLst>
  </p:cSld>
  <p:clrMapOvr>
    <a:masterClrMapping/>
  </p:clrMapOvr>
  <p:transition spd="slow">
    <p:wipe dir="r"/>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type="txAndTwoObj" preserve="1">
  <p:cSld name="Title, Text, and 2 Content">
    <p:spTree>
      <p:nvGrpSpPr>
        <p:cNvPr id="1" name=""/>
        <p:cNvGrpSpPr/>
        <p:nvPr/>
      </p:nvGrpSpPr>
      <p:grpSpPr>
        <a:xfrm>
          <a:off x="0" y="0"/>
          <a:ext cx="0" cy="0"/>
          <a:chOff x="0" y="0"/>
          <a:chExt cx="0" cy="0"/>
        </a:xfrm>
      </p:grpSpPr>
      <p:sp>
        <p:nvSpPr>
          <p:cNvPr id="2" name="Title 1"/>
          <p:cNvSpPr>
            <a:spLocks noGrp="1"/>
          </p:cNvSpPr>
          <p:nvPr>
            <p:ph type="title"/>
          </p:nvPr>
        </p:nvSpPr>
        <p:spPr>
          <a:xfrm>
            <a:off x="931865" y="96842"/>
            <a:ext cx="7158037" cy="1412875"/>
          </a:xfrm>
        </p:spPr>
        <p:txBody>
          <a:bodyPr/>
          <a:lstStyle/>
          <a:p>
            <a:r>
              <a:rPr lang="en-US"/>
              <a:t>Click to edit Master title style</a:t>
            </a:r>
          </a:p>
        </p:txBody>
      </p:sp>
      <p:sp>
        <p:nvSpPr>
          <p:cNvPr id="3" name="Text Placeholder 2"/>
          <p:cNvSpPr>
            <a:spLocks noGrp="1"/>
          </p:cNvSpPr>
          <p:nvPr>
            <p:ph type="body" sz="half" idx="1"/>
          </p:nvPr>
        </p:nvSpPr>
        <p:spPr>
          <a:xfrm>
            <a:off x="949326" y="1981200"/>
            <a:ext cx="3754438"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quarter" idx="2"/>
          </p:nvPr>
        </p:nvSpPr>
        <p:spPr>
          <a:xfrm>
            <a:off x="4856165" y="1981200"/>
            <a:ext cx="3754437" cy="1981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Content Placeholder 4"/>
          <p:cNvSpPr>
            <a:spLocks noGrp="1"/>
          </p:cNvSpPr>
          <p:nvPr>
            <p:ph sz="quarter" idx="3"/>
          </p:nvPr>
        </p:nvSpPr>
        <p:spPr>
          <a:xfrm>
            <a:off x="4856165" y="4114800"/>
            <a:ext cx="3754437" cy="1981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Rectangle 6"/>
          <p:cNvSpPr>
            <a:spLocks noGrp="1" noChangeArrowheads="1"/>
          </p:cNvSpPr>
          <p:nvPr>
            <p:ph type="dt" sz="half" idx="10"/>
          </p:nvPr>
        </p:nvSpPr>
        <p:spPr>
          <a:ln/>
        </p:spPr>
        <p:txBody>
          <a:bodyPr/>
          <a:lstStyle>
            <a:lvl1pPr>
              <a:defRPr/>
            </a:lvl1pPr>
          </a:lstStyle>
          <a:p>
            <a:pPr>
              <a:defRPr/>
            </a:pPr>
            <a:fld id="{75917CBA-66F1-4240-B43C-9C76CBF5B267}" type="datetime3">
              <a:rPr lang="en-US" smtClean="0"/>
              <a:t>16 December 2025</a:t>
            </a:fld>
            <a:endParaRPr lang="en-US"/>
          </a:p>
        </p:txBody>
      </p:sp>
      <p:sp>
        <p:nvSpPr>
          <p:cNvPr id="7" name="Rectangle 7"/>
          <p:cNvSpPr>
            <a:spLocks noGrp="1" noChangeArrowheads="1"/>
          </p:cNvSpPr>
          <p:nvPr>
            <p:ph type="ftr" sz="quarter" idx="11"/>
          </p:nvPr>
        </p:nvSpPr>
        <p:spPr>
          <a:ln/>
        </p:spPr>
        <p:txBody>
          <a:bodyPr/>
          <a:lstStyle>
            <a:lvl1pPr>
              <a:defRPr/>
            </a:lvl1pPr>
          </a:lstStyle>
          <a:p>
            <a:pPr>
              <a:defRPr/>
            </a:pPr>
            <a:r>
              <a:rPr lang="en-US"/>
              <a:t>T. Mayooran</a:t>
            </a:r>
          </a:p>
        </p:txBody>
      </p:sp>
      <p:sp>
        <p:nvSpPr>
          <p:cNvPr id="8" name="Rectangle 8"/>
          <p:cNvSpPr>
            <a:spLocks noGrp="1" noChangeArrowheads="1"/>
          </p:cNvSpPr>
          <p:nvPr>
            <p:ph type="sldNum" sz="quarter" idx="12"/>
          </p:nvPr>
        </p:nvSpPr>
        <p:spPr>
          <a:ln/>
        </p:spPr>
        <p:txBody>
          <a:bodyPr/>
          <a:lstStyle>
            <a:lvl1pPr>
              <a:defRPr/>
            </a:lvl1pPr>
          </a:lstStyle>
          <a:p>
            <a:pPr>
              <a:defRPr/>
            </a:pPr>
            <a:fld id="{2EC6C997-B2A1-4F64-94C9-9181FD65C0A1}" type="slidenum">
              <a:rPr lang="en-US"/>
              <a:pPr>
                <a:defRPr/>
              </a:pPr>
              <a:t>‹#›</a:t>
            </a:fld>
            <a:endParaRPr lang="en-US"/>
          </a:p>
        </p:txBody>
      </p:sp>
    </p:spTree>
    <p:extLst>
      <p:ext uri="{BB962C8B-B14F-4D97-AF65-F5344CB8AC3E}">
        <p14:creationId xmlns:p14="http://schemas.microsoft.com/office/powerpoint/2010/main" val="531946398"/>
      </p:ext>
    </p:extLst>
  </p:cSld>
  <p:clrMapOvr>
    <a:masterClrMapping/>
  </p:clrMapOvr>
  <p:transition spd="slow">
    <p:wipe dir="r"/>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type="objOnly" preserve="1">
  <p:cSld name="Content">
    <p:spTree>
      <p:nvGrpSpPr>
        <p:cNvPr id="1" name=""/>
        <p:cNvGrpSpPr/>
        <p:nvPr/>
      </p:nvGrpSpPr>
      <p:grpSpPr>
        <a:xfrm>
          <a:off x="0" y="0"/>
          <a:ext cx="0" cy="0"/>
          <a:chOff x="0" y="0"/>
          <a:chExt cx="0" cy="0"/>
        </a:xfrm>
      </p:grpSpPr>
      <p:sp>
        <p:nvSpPr>
          <p:cNvPr id="2" name="Content Placeholder 1"/>
          <p:cNvSpPr>
            <a:spLocks noGrp="1"/>
          </p:cNvSpPr>
          <p:nvPr>
            <p:ph/>
          </p:nvPr>
        </p:nvSpPr>
        <p:spPr>
          <a:xfrm>
            <a:off x="931865" y="96838"/>
            <a:ext cx="7678737" cy="59991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 name="Rectangle 6"/>
          <p:cNvSpPr>
            <a:spLocks noGrp="1" noChangeArrowheads="1"/>
          </p:cNvSpPr>
          <p:nvPr>
            <p:ph type="dt" sz="half" idx="10"/>
          </p:nvPr>
        </p:nvSpPr>
        <p:spPr>
          <a:ln/>
        </p:spPr>
        <p:txBody>
          <a:bodyPr/>
          <a:lstStyle>
            <a:lvl1pPr>
              <a:defRPr/>
            </a:lvl1pPr>
          </a:lstStyle>
          <a:p>
            <a:pPr>
              <a:defRPr/>
            </a:pPr>
            <a:fld id="{4A83CA73-0BFC-4EA3-BF88-0A7EFA16E2AD}" type="datetime3">
              <a:rPr lang="en-US" smtClean="0"/>
              <a:t>16 December 2025</a:t>
            </a:fld>
            <a:endParaRPr lang="en-US"/>
          </a:p>
        </p:txBody>
      </p:sp>
      <p:sp>
        <p:nvSpPr>
          <p:cNvPr id="4" name="Rectangle 7"/>
          <p:cNvSpPr>
            <a:spLocks noGrp="1" noChangeArrowheads="1"/>
          </p:cNvSpPr>
          <p:nvPr>
            <p:ph type="ftr" sz="quarter" idx="11"/>
          </p:nvPr>
        </p:nvSpPr>
        <p:spPr>
          <a:ln/>
        </p:spPr>
        <p:txBody>
          <a:bodyPr/>
          <a:lstStyle>
            <a:lvl1pPr>
              <a:defRPr/>
            </a:lvl1pPr>
          </a:lstStyle>
          <a:p>
            <a:pPr>
              <a:defRPr/>
            </a:pPr>
            <a:r>
              <a:rPr lang="en-US"/>
              <a:t>T. Mayooran</a:t>
            </a:r>
          </a:p>
        </p:txBody>
      </p:sp>
      <p:sp>
        <p:nvSpPr>
          <p:cNvPr id="5" name="Rectangle 8"/>
          <p:cNvSpPr>
            <a:spLocks noGrp="1" noChangeArrowheads="1"/>
          </p:cNvSpPr>
          <p:nvPr>
            <p:ph type="sldNum" sz="quarter" idx="12"/>
          </p:nvPr>
        </p:nvSpPr>
        <p:spPr>
          <a:ln/>
        </p:spPr>
        <p:txBody>
          <a:bodyPr/>
          <a:lstStyle>
            <a:lvl1pPr>
              <a:defRPr/>
            </a:lvl1pPr>
          </a:lstStyle>
          <a:p>
            <a:pPr>
              <a:defRPr/>
            </a:pPr>
            <a:fld id="{9ED58F9B-28CC-45BA-B87E-300B3A1B38A0}" type="slidenum">
              <a:rPr lang="en-US"/>
              <a:pPr>
                <a:defRPr/>
              </a:pPr>
              <a:t>‹#›</a:t>
            </a:fld>
            <a:endParaRPr lang="en-US"/>
          </a:p>
        </p:txBody>
      </p:sp>
    </p:spTree>
    <p:extLst>
      <p:ext uri="{BB962C8B-B14F-4D97-AF65-F5344CB8AC3E}">
        <p14:creationId xmlns:p14="http://schemas.microsoft.com/office/powerpoint/2010/main" val="3747416825"/>
      </p:ext>
    </p:extLst>
  </p:cSld>
  <p:clrMapOvr>
    <a:masterClrMapping/>
  </p:clrMapOvr>
  <p:transition spd="slow">
    <p:wipe dir="r"/>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2290" name="Rectangle 2"/>
          <p:cNvSpPr>
            <a:spLocks noChangeArrowheads="1"/>
          </p:cNvSpPr>
          <p:nvPr/>
        </p:nvSpPr>
        <p:spPr bwMode="auto">
          <a:xfrm>
            <a:off x="0" y="1377950"/>
            <a:ext cx="2133600" cy="101600"/>
          </a:xfrm>
          <a:prstGeom prst="rect">
            <a:avLst/>
          </a:prstGeom>
          <a:solidFill>
            <a:schemeClr val="accent2"/>
          </a:solidFill>
          <a:ln w="9525">
            <a:noFill/>
            <a:miter lim="800000"/>
            <a:headEnd/>
            <a:tailEnd/>
          </a:ln>
          <a:effectLst/>
        </p:spPr>
        <p:txBody>
          <a:bodyPr wrap="none" anchor="ctr"/>
          <a:lstStyle/>
          <a:p>
            <a:pPr algn="ctr">
              <a:defRPr/>
            </a:pPr>
            <a:endParaRPr lang="en-US" sz="2400">
              <a:latin typeface="Times New Roman" pitchFamily="18" charset="0"/>
            </a:endParaRPr>
          </a:p>
        </p:txBody>
      </p:sp>
      <p:sp>
        <p:nvSpPr>
          <p:cNvPr id="12291" name="Rectangle 3"/>
          <p:cNvSpPr>
            <a:spLocks noChangeArrowheads="1"/>
          </p:cNvSpPr>
          <p:nvPr/>
        </p:nvSpPr>
        <p:spPr bwMode="auto">
          <a:xfrm>
            <a:off x="1447800" y="1377950"/>
            <a:ext cx="7239000" cy="101600"/>
          </a:xfrm>
          <a:prstGeom prst="rect">
            <a:avLst/>
          </a:prstGeom>
          <a:gradFill rotWithShape="0">
            <a:gsLst>
              <a:gs pos="0">
                <a:schemeClr val="accent2"/>
              </a:gs>
              <a:gs pos="100000">
                <a:schemeClr val="bg1"/>
              </a:gs>
            </a:gsLst>
            <a:lin ang="0" scaled="1"/>
          </a:gradFill>
          <a:ln w="9525">
            <a:noFill/>
            <a:miter lim="800000"/>
            <a:headEnd/>
            <a:tailEnd/>
          </a:ln>
          <a:effectLst/>
        </p:spPr>
        <p:txBody>
          <a:bodyPr wrap="none" anchor="ctr"/>
          <a:lstStyle/>
          <a:p>
            <a:pPr algn="ctr">
              <a:defRPr/>
            </a:pPr>
            <a:endParaRPr lang="en-US" sz="2400">
              <a:latin typeface="Times New Roman" pitchFamily="18" charset="0"/>
            </a:endParaRPr>
          </a:p>
        </p:txBody>
      </p:sp>
      <p:sp>
        <p:nvSpPr>
          <p:cNvPr id="16388" name="Rectangle 4"/>
          <p:cNvSpPr>
            <a:spLocks noGrp="1" noChangeArrowheads="1"/>
          </p:cNvSpPr>
          <p:nvPr>
            <p:ph type="title"/>
          </p:nvPr>
        </p:nvSpPr>
        <p:spPr bwMode="auto">
          <a:xfrm>
            <a:off x="931865" y="96842"/>
            <a:ext cx="7158037" cy="1412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p>
            <a:pPr lvl="0"/>
            <a:r>
              <a:rPr lang="en-US"/>
              <a:t>Click to edit Master title style</a:t>
            </a:r>
          </a:p>
        </p:txBody>
      </p:sp>
      <p:sp>
        <p:nvSpPr>
          <p:cNvPr id="16389" name="Rectangle 5"/>
          <p:cNvSpPr>
            <a:spLocks noGrp="1" noChangeArrowheads="1"/>
          </p:cNvSpPr>
          <p:nvPr>
            <p:ph type="body" idx="1"/>
          </p:nvPr>
        </p:nvSpPr>
        <p:spPr bwMode="auto">
          <a:xfrm>
            <a:off x="949327" y="1981200"/>
            <a:ext cx="7661275" cy="411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294" name="Rectangle 6"/>
          <p:cNvSpPr>
            <a:spLocks noGrp="1" noChangeArrowheads="1"/>
          </p:cNvSpPr>
          <p:nvPr>
            <p:ph type="dt" sz="half" idx="2"/>
          </p:nvPr>
        </p:nvSpPr>
        <p:spPr bwMode="auto">
          <a:xfrm>
            <a:off x="946150" y="6248400"/>
            <a:ext cx="19050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eaLnBrk="1" hangingPunct="1">
              <a:defRPr sz="1000">
                <a:latin typeface="Arial" charset="0"/>
              </a:defRPr>
            </a:lvl1pPr>
          </a:lstStyle>
          <a:p>
            <a:pPr>
              <a:defRPr/>
            </a:pPr>
            <a:fld id="{CABEC362-8481-4E91-9909-6D6E193E08BE}" type="datetime3">
              <a:rPr lang="en-US" smtClean="0"/>
              <a:t>16 December 2025</a:t>
            </a:fld>
            <a:endParaRPr lang="en-US"/>
          </a:p>
        </p:txBody>
      </p:sp>
      <p:sp>
        <p:nvSpPr>
          <p:cNvPr id="12295" name="Rectangle 7"/>
          <p:cNvSpPr>
            <a:spLocks noGrp="1" noChangeArrowheads="1"/>
          </p:cNvSpPr>
          <p:nvPr>
            <p:ph type="ftr" sz="quarter" idx="3"/>
          </p:nvPr>
        </p:nvSpPr>
        <p:spPr bwMode="auto">
          <a:xfrm>
            <a:off x="3352800" y="6248400"/>
            <a:ext cx="28956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ctr" eaLnBrk="1" hangingPunct="1">
              <a:defRPr sz="1000">
                <a:latin typeface="Arial" charset="0"/>
              </a:defRPr>
            </a:lvl1pPr>
          </a:lstStyle>
          <a:p>
            <a:pPr>
              <a:defRPr/>
            </a:pPr>
            <a:r>
              <a:rPr lang="en-US"/>
              <a:t>T. Mayooran</a:t>
            </a:r>
          </a:p>
        </p:txBody>
      </p:sp>
      <p:sp>
        <p:nvSpPr>
          <p:cNvPr id="12296" name="Rectangle 8"/>
          <p:cNvSpPr>
            <a:spLocks noGrp="1" noChangeArrowheads="1"/>
          </p:cNvSpPr>
          <p:nvPr>
            <p:ph type="sldNum" sz="quarter" idx="4"/>
          </p:nvPr>
        </p:nvSpPr>
        <p:spPr bwMode="auto">
          <a:xfrm>
            <a:off x="6705600" y="6248400"/>
            <a:ext cx="19050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eaLnBrk="1" hangingPunct="1">
              <a:defRPr sz="1000">
                <a:latin typeface="Arial" charset="0"/>
              </a:defRPr>
            </a:lvl1pPr>
          </a:lstStyle>
          <a:p>
            <a:pPr>
              <a:defRPr/>
            </a:pPr>
            <a:fld id="{EA6F07DB-81A9-484A-A862-6F9F9832A9F4}" type="slidenum">
              <a:rPr lang="en-US"/>
              <a:pPr>
                <a:defRPr/>
              </a:pPr>
              <a:t>‹#›</a:t>
            </a:fld>
            <a:endParaRPr lang="en-US"/>
          </a:p>
        </p:txBody>
      </p:sp>
      <p:sp>
        <p:nvSpPr>
          <p:cNvPr id="12297" name="Freeform 9"/>
          <p:cNvSpPr>
            <a:spLocks noChangeArrowheads="1"/>
          </p:cNvSpPr>
          <p:nvPr/>
        </p:nvSpPr>
        <p:spPr bwMode="auto">
          <a:xfrm>
            <a:off x="838200" y="561975"/>
            <a:ext cx="152400" cy="1066800"/>
          </a:xfrm>
          <a:custGeom>
            <a:avLst/>
            <a:gdLst/>
            <a:ahLst/>
            <a:cxnLst>
              <a:cxn ang="0">
                <a:pos x="1000" y="1000"/>
              </a:cxn>
              <a:cxn ang="0">
                <a:pos x="0" y="1000"/>
              </a:cxn>
              <a:cxn ang="0">
                <a:pos x="0" y="0"/>
              </a:cxn>
              <a:cxn ang="0">
                <a:pos x="1000" y="0"/>
              </a:cxn>
            </a:cxnLst>
            <a:rect l="0" t="0" r="r" b="b"/>
            <a:pathLst>
              <a:path w="1000" h="1000">
                <a:moveTo>
                  <a:pt x="1000" y="1000"/>
                </a:moveTo>
                <a:lnTo>
                  <a:pt x="0" y="1000"/>
                </a:lnTo>
                <a:lnTo>
                  <a:pt x="0" y="0"/>
                </a:lnTo>
                <a:lnTo>
                  <a:pt x="1000" y="0"/>
                </a:lnTo>
              </a:path>
            </a:pathLst>
          </a:custGeom>
          <a:noFill/>
          <a:ln w="76200" cmpd="sng">
            <a:solidFill>
              <a:schemeClr val="tx2"/>
            </a:solidFill>
            <a:miter lim="800000"/>
            <a:headEnd/>
            <a:tailEnd/>
          </a:ln>
        </p:spPr>
        <p:txBody>
          <a:bodyPr/>
          <a:lstStyle/>
          <a:p>
            <a:pPr eaLnBrk="0" hangingPunct="0">
              <a:defRPr/>
            </a:pPr>
            <a:endParaRPr lang="en-US"/>
          </a:p>
        </p:txBody>
      </p:sp>
      <p:sp>
        <p:nvSpPr>
          <p:cNvPr id="12298" name="Freeform 10"/>
          <p:cNvSpPr>
            <a:spLocks noChangeArrowheads="1"/>
          </p:cNvSpPr>
          <p:nvPr/>
        </p:nvSpPr>
        <p:spPr bwMode="auto">
          <a:xfrm>
            <a:off x="8262938" y="269875"/>
            <a:ext cx="152400" cy="1073150"/>
          </a:xfrm>
          <a:custGeom>
            <a:avLst/>
            <a:gdLst/>
            <a:ahLst/>
            <a:cxnLst>
              <a:cxn ang="0">
                <a:pos x="0" y="0"/>
              </a:cxn>
              <a:cxn ang="0">
                <a:pos x="1000" y="0"/>
              </a:cxn>
              <a:cxn ang="0">
                <a:pos x="1000" y="1000"/>
              </a:cxn>
              <a:cxn ang="0">
                <a:pos x="0" y="1000"/>
              </a:cxn>
            </a:cxnLst>
            <a:rect l="0" t="0" r="r" b="b"/>
            <a:pathLst>
              <a:path w="1000" h="1000">
                <a:moveTo>
                  <a:pt x="0" y="0"/>
                </a:moveTo>
                <a:lnTo>
                  <a:pt x="1000" y="0"/>
                </a:lnTo>
                <a:lnTo>
                  <a:pt x="1000" y="1000"/>
                </a:lnTo>
                <a:lnTo>
                  <a:pt x="0" y="1000"/>
                </a:lnTo>
              </a:path>
            </a:pathLst>
          </a:custGeom>
          <a:noFill/>
          <a:ln w="76200" cap="flat" cmpd="sng">
            <a:solidFill>
              <a:schemeClr val="accent1"/>
            </a:solidFill>
            <a:prstDash val="solid"/>
            <a:miter lim="800000"/>
            <a:headEnd/>
            <a:tailEnd/>
          </a:ln>
        </p:spPr>
        <p:txBody>
          <a:bodyPr/>
          <a:lstStyle/>
          <a:p>
            <a:pPr eaLnBrk="0" hangingPunct="0">
              <a:defRPr/>
            </a:pPr>
            <a:endParaRPr lang="en-US"/>
          </a:p>
        </p:txBody>
      </p:sp>
    </p:spTree>
  </p:cSld>
  <p:clrMap bg1="lt1" tx1="dk1" bg2="lt2" tx2="dk2" accent1="accent1" accent2="accent2" accent3="accent3" accent4="accent4" accent5="accent5" accent6="accent6" hlink="hlink" folHlink="folHlink"/>
  <p:sldLayoutIdLst>
    <p:sldLayoutId id="2147483729" r:id="rId1"/>
    <p:sldLayoutId id="2147483716" r:id="rId2"/>
    <p:sldLayoutId id="2147483717" r:id="rId3"/>
    <p:sldLayoutId id="2147483718" r:id="rId4"/>
    <p:sldLayoutId id="2147483719" r:id="rId5"/>
    <p:sldLayoutId id="2147483720" r:id="rId6"/>
    <p:sldLayoutId id="2147483721" r:id="rId7"/>
    <p:sldLayoutId id="2147483722" r:id="rId8"/>
    <p:sldLayoutId id="2147483723" r:id="rId9"/>
    <p:sldLayoutId id="2147483724" r:id="rId10"/>
    <p:sldLayoutId id="2147483725" r:id="rId11"/>
    <p:sldLayoutId id="2147483726" r:id="rId12"/>
    <p:sldLayoutId id="2147483727" r:id="rId13"/>
    <p:sldLayoutId id="2147483728" r:id="rId14"/>
  </p:sldLayoutIdLst>
  <p:transition spd="slow">
    <p:wipe dir="r"/>
  </p:transition>
  <p:hf hdr="0"/>
  <p:txStyles>
    <p:titleStyle>
      <a:lvl1pPr algn="l" rtl="0" eaLnBrk="0" fontAlgn="base" hangingPunct="0">
        <a:spcBef>
          <a:spcPct val="0"/>
        </a:spcBef>
        <a:spcAft>
          <a:spcPct val="0"/>
        </a:spcAft>
        <a:defRPr sz="4000">
          <a:solidFill>
            <a:schemeClr val="tx2"/>
          </a:solidFill>
          <a:latin typeface="+mj-lt"/>
          <a:ea typeface="+mj-ea"/>
          <a:cs typeface="+mj-cs"/>
        </a:defRPr>
      </a:lvl1pPr>
      <a:lvl2pPr algn="l" rtl="0" eaLnBrk="0" fontAlgn="base" hangingPunct="0">
        <a:spcBef>
          <a:spcPct val="0"/>
        </a:spcBef>
        <a:spcAft>
          <a:spcPct val="0"/>
        </a:spcAft>
        <a:defRPr sz="4000">
          <a:solidFill>
            <a:schemeClr val="tx2"/>
          </a:solidFill>
          <a:latin typeface="Arial" charset="0"/>
        </a:defRPr>
      </a:lvl2pPr>
      <a:lvl3pPr algn="l" rtl="0" eaLnBrk="0" fontAlgn="base" hangingPunct="0">
        <a:spcBef>
          <a:spcPct val="0"/>
        </a:spcBef>
        <a:spcAft>
          <a:spcPct val="0"/>
        </a:spcAft>
        <a:defRPr sz="4000">
          <a:solidFill>
            <a:schemeClr val="tx2"/>
          </a:solidFill>
          <a:latin typeface="Arial" charset="0"/>
        </a:defRPr>
      </a:lvl3pPr>
      <a:lvl4pPr algn="l" rtl="0" eaLnBrk="0" fontAlgn="base" hangingPunct="0">
        <a:spcBef>
          <a:spcPct val="0"/>
        </a:spcBef>
        <a:spcAft>
          <a:spcPct val="0"/>
        </a:spcAft>
        <a:defRPr sz="4000">
          <a:solidFill>
            <a:schemeClr val="tx2"/>
          </a:solidFill>
          <a:latin typeface="Arial" charset="0"/>
        </a:defRPr>
      </a:lvl4pPr>
      <a:lvl5pPr algn="l" rtl="0" eaLnBrk="0" fontAlgn="base" hangingPunct="0">
        <a:spcBef>
          <a:spcPct val="0"/>
        </a:spcBef>
        <a:spcAft>
          <a:spcPct val="0"/>
        </a:spcAft>
        <a:defRPr sz="4000">
          <a:solidFill>
            <a:schemeClr val="tx2"/>
          </a:solidFill>
          <a:latin typeface="Arial" charset="0"/>
        </a:defRPr>
      </a:lvl5pPr>
      <a:lvl6pPr marL="457200" algn="l" rtl="0" fontAlgn="base">
        <a:spcBef>
          <a:spcPct val="0"/>
        </a:spcBef>
        <a:spcAft>
          <a:spcPct val="0"/>
        </a:spcAft>
        <a:defRPr sz="4000">
          <a:solidFill>
            <a:schemeClr val="tx2"/>
          </a:solidFill>
          <a:latin typeface="Arial" charset="0"/>
        </a:defRPr>
      </a:lvl6pPr>
      <a:lvl7pPr marL="914400" algn="l" rtl="0" fontAlgn="base">
        <a:spcBef>
          <a:spcPct val="0"/>
        </a:spcBef>
        <a:spcAft>
          <a:spcPct val="0"/>
        </a:spcAft>
        <a:defRPr sz="4000">
          <a:solidFill>
            <a:schemeClr val="tx2"/>
          </a:solidFill>
          <a:latin typeface="Arial" charset="0"/>
        </a:defRPr>
      </a:lvl7pPr>
      <a:lvl8pPr marL="1371600" algn="l" rtl="0" fontAlgn="base">
        <a:spcBef>
          <a:spcPct val="0"/>
        </a:spcBef>
        <a:spcAft>
          <a:spcPct val="0"/>
        </a:spcAft>
        <a:defRPr sz="4000">
          <a:solidFill>
            <a:schemeClr val="tx2"/>
          </a:solidFill>
          <a:latin typeface="Arial" charset="0"/>
        </a:defRPr>
      </a:lvl8pPr>
      <a:lvl9pPr marL="1828800" algn="l" rtl="0" fontAlgn="base">
        <a:spcBef>
          <a:spcPct val="0"/>
        </a:spcBef>
        <a:spcAft>
          <a:spcPct val="0"/>
        </a:spcAft>
        <a:defRPr sz="4000">
          <a:solidFill>
            <a:schemeClr val="tx2"/>
          </a:solidFill>
          <a:latin typeface="Arial" charset="0"/>
        </a:defRPr>
      </a:lvl9pPr>
    </p:titleStyle>
    <p:bodyStyle>
      <a:lvl1pPr marL="447675" indent="-447675" algn="l" rtl="0" eaLnBrk="0" fontAlgn="base" hangingPunct="0">
        <a:spcBef>
          <a:spcPct val="20000"/>
        </a:spcBef>
        <a:spcAft>
          <a:spcPct val="0"/>
        </a:spcAft>
        <a:buClr>
          <a:schemeClr val="accent1"/>
        </a:buClr>
        <a:buSzPct val="70000"/>
        <a:buFont typeface="Wingdings" pitchFamily="2" charset="2"/>
        <a:buChar char="n"/>
        <a:defRPr sz="3200">
          <a:solidFill>
            <a:schemeClr val="tx1"/>
          </a:solidFill>
          <a:latin typeface="+mn-lt"/>
          <a:ea typeface="+mn-ea"/>
          <a:cs typeface="+mn-cs"/>
        </a:defRPr>
      </a:lvl1pPr>
      <a:lvl2pPr marL="889000" indent="-439738" algn="l" rtl="0" eaLnBrk="0" fontAlgn="base" hangingPunct="0">
        <a:spcBef>
          <a:spcPct val="20000"/>
        </a:spcBef>
        <a:spcAft>
          <a:spcPct val="0"/>
        </a:spcAft>
        <a:buClr>
          <a:schemeClr val="hlink"/>
        </a:buClr>
        <a:buSzPct val="65000"/>
        <a:buFont typeface="Wingdings" pitchFamily="2" charset="2"/>
        <a:buChar char="¡"/>
        <a:defRPr sz="2800">
          <a:solidFill>
            <a:schemeClr val="tx1"/>
          </a:solidFill>
          <a:latin typeface="+mn-lt"/>
        </a:defRPr>
      </a:lvl2pPr>
      <a:lvl3pPr marL="1293813" indent="-403225" algn="l" rtl="0" eaLnBrk="0" fontAlgn="base" hangingPunct="0">
        <a:spcBef>
          <a:spcPct val="20000"/>
        </a:spcBef>
        <a:spcAft>
          <a:spcPct val="0"/>
        </a:spcAft>
        <a:buClr>
          <a:schemeClr val="accent1"/>
        </a:buClr>
        <a:buSzPct val="70000"/>
        <a:buFont typeface="Wingdings" pitchFamily="2" charset="2"/>
        <a:buChar char="n"/>
        <a:defRPr sz="2400">
          <a:solidFill>
            <a:schemeClr val="tx1"/>
          </a:solidFill>
          <a:latin typeface="+mn-lt"/>
        </a:defRPr>
      </a:lvl3pPr>
      <a:lvl4pPr marL="1681163" indent="-385763" algn="l" rtl="0" eaLnBrk="0" fontAlgn="base" hangingPunct="0">
        <a:spcBef>
          <a:spcPct val="20000"/>
        </a:spcBef>
        <a:spcAft>
          <a:spcPct val="0"/>
        </a:spcAft>
        <a:buClr>
          <a:schemeClr val="hlink"/>
        </a:buClr>
        <a:buSzPct val="75000"/>
        <a:buFont typeface="Wingdings" pitchFamily="2" charset="2"/>
        <a:buChar char="¡"/>
        <a:defRPr sz="2000">
          <a:solidFill>
            <a:schemeClr val="tx1"/>
          </a:solidFill>
          <a:latin typeface="+mn-lt"/>
        </a:defRPr>
      </a:lvl4pPr>
      <a:lvl5pPr marL="2070100" indent="-387350" algn="l" rtl="0" eaLnBrk="0" fontAlgn="base" hangingPunct="0">
        <a:spcBef>
          <a:spcPct val="20000"/>
        </a:spcBef>
        <a:spcAft>
          <a:spcPct val="0"/>
        </a:spcAft>
        <a:buClr>
          <a:schemeClr val="accent1"/>
        </a:buClr>
        <a:buSzPct val="70000"/>
        <a:buFont typeface="Wingdings" pitchFamily="2" charset="2"/>
        <a:buChar char="n"/>
        <a:defRPr sz="2000">
          <a:solidFill>
            <a:schemeClr val="tx1"/>
          </a:solidFill>
          <a:latin typeface="+mn-lt"/>
        </a:defRPr>
      </a:lvl5pPr>
      <a:lvl6pPr marL="2527300" indent="-387350" algn="l" rtl="0" fontAlgn="base">
        <a:spcBef>
          <a:spcPct val="20000"/>
        </a:spcBef>
        <a:spcAft>
          <a:spcPct val="0"/>
        </a:spcAft>
        <a:buClr>
          <a:schemeClr val="accent1"/>
        </a:buClr>
        <a:buSzPct val="70000"/>
        <a:buFont typeface="Wingdings" pitchFamily="2" charset="2"/>
        <a:buChar char="n"/>
        <a:defRPr sz="2000">
          <a:solidFill>
            <a:schemeClr val="tx1"/>
          </a:solidFill>
          <a:latin typeface="+mn-lt"/>
        </a:defRPr>
      </a:lvl6pPr>
      <a:lvl7pPr marL="2984500" indent="-387350" algn="l" rtl="0" fontAlgn="base">
        <a:spcBef>
          <a:spcPct val="20000"/>
        </a:spcBef>
        <a:spcAft>
          <a:spcPct val="0"/>
        </a:spcAft>
        <a:buClr>
          <a:schemeClr val="accent1"/>
        </a:buClr>
        <a:buSzPct val="70000"/>
        <a:buFont typeface="Wingdings" pitchFamily="2" charset="2"/>
        <a:buChar char="n"/>
        <a:defRPr sz="2000">
          <a:solidFill>
            <a:schemeClr val="tx1"/>
          </a:solidFill>
          <a:latin typeface="+mn-lt"/>
        </a:defRPr>
      </a:lvl7pPr>
      <a:lvl8pPr marL="3441700" indent="-387350" algn="l" rtl="0" fontAlgn="base">
        <a:spcBef>
          <a:spcPct val="20000"/>
        </a:spcBef>
        <a:spcAft>
          <a:spcPct val="0"/>
        </a:spcAft>
        <a:buClr>
          <a:schemeClr val="accent1"/>
        </a:buClr>
        <a:buSzPct val="70000"/>
        <a:buFont typeface="Wingdings" pitchFamily="2" charset="2"/>
        <a:buChar char="n"/>
        <a:defRPr sz="2000">
          <a:solidFill>
            <a:schemeClr val="tx1"/>
          </a:solidFill>
          <a:latin typeface="+mn-lt"/>
        </a:defRPr>
      </a:lvl8pPr>
      <a:lvl9pPr marL="3898900" indent="-387350" algn="l" rtl="0" fontAlgn="base">
        <a:spcBef>
          <a:spcPct val="20000"/>
        </a:spcBef>
        <a:spcAft>
          <a:spcPct val="0"/>
        </a:spcAft>
        <a:buClr>
          <a:schemeClr val="accent1"/>
        </a:buClr>
        <a:buSzPct val="70000"/>
        <a:buFont typeface="Wingdings" pitchFamily="2" charset="2"/>
        <a:buChar char="n"/>
        <a:defRPr sz="2000">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hyperlink" Target="mailto:mayooran@eng.jfn.ac.lk"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2.jpeg"/><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notesSlide" Target="../notesSlides/notesSlide7.xml"/><Relationship Id="rId1" Type="http://schemas.openxmlformats.org/officeDocument/2006/relationships/slideLayout" Target="../slideLayouts/slideLayout12.xml"/><Relationship Id="rId4" Type="http://schemas.openxmlformats.org/officeDocument/2006/relationships/image" Target="../media/image11.wmf"/></Relationships>
</file>

<file path=ppt/slides/_rels/slide21.xml.rels><?xml version="1.0" encoding="UTF-8" standalone="yes"?>
<Relationships xmlns="http://schemas.openxmlformats.org/package/2006/relationships"><Relationship Id="rId3" Type="http://schemas.openxmlformats.org/officeDocument/2006/relationships/image" Target="../media/image12.wmf"/><Relationship Id="rId2" Type="http://schemas.openxmlformats.org/officeDocument/2006/relationships/oleObject" Target="../embeddings/oleObject2.bin"/><Relationship Id="rId1" Type="http://schemas.openxmlformats.org/officeDocument/2006/relationships/slideLayout" Target="../slideLayouts/slideLayout1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hyperlink" Target="https://mayooran1987.github.io/MC3020_E24/weeks/week-2.html" TargetMode="Externa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 Id="rId5" Type="http://schemas.openxmlformats.org/officeDocument/2006/relationships/image" Target="../media/image13.png"/><Relationship Id="rId4" Type="http://schemas.openxmlformats.org/officeDocument/2006/relationships/image" Target="../media/image12.png"/></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hyperlink" Target="https://en.wikipedia.org/wiki/Takah%C4%93" TargetMode="External"/><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30.xml.rels><?xml version="1.0" encoding="UTF-8" standalone="yes"?>
<Relationships xmlns="http://schemas.openxmlformats.org/package/2006/relationships"><Relationship Id="rId2" Type="http://schemas.openxmlformats.org/officeDocument/2006/relationships/image" Target="../media/image13.jpe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hyperlink" Target="https://mayooran1987.github.io/MC3020_E24/weeks/week-2.html" TargetMode="Externa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15.wmf"/><Relationship Id="rId2" Type="http://schemas.openxmlformats.org/officeDocument/2006/relationships/oleObject" Target="../embeddings/oleObject3.bin"/><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16.wmf"/><Relationship Id="rId2" Type="http://schemas.openxmlformats.org/officeDocument/2006/relationships/oleObject" Target="../embeddings/oleObject4.bin"/><Relationship Id="rId1" Type="http://schemas.openxmlformats.org/officeDocument/2006/relationships/slideLayout" Target="../slideLayouts/slideLayout4.xml"/><Relationship Id="rId4" Type="http://schemas.openxmlformats.org/officeDocument/2006/relationships/image" Target="../media/image17.jpeg"/></Relationships>
</file>

<file path=ppt/slides/_rels/slide41.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19.wmf"/><Relationship Id="rId2" Type="http://schemas.openxmlformats.org/officeDocument/2006/relationships/oleObject" Target="../embeddings/oleObject5.bin"/><Relationship Id="rId1" Type="http://schemas.openxmlformats.org/officeDocument/2006/relationships/slideLayout" Target="../slideLayouts/slideLayout2.xml"/><Relationship Id="rId6" Type="http://schemas.openxmlformats.org/officeDocument/2006/relationships/image" Target="../media/image18.png"/><Relationship Id="rId5" Type="http://schemas.openxmlformats.org/officeDocument/2006/relationships/image" Target="../media/image20.wmf"/><Relationship Id="rId4" Type="http://schemas.openxmlformats.org/officeDocument/2006/relationships/oleObject" Target="../embeddings/oleObject6.bin"/></Relationships>
</file>

<file path=ppt/slides/_rels/slide43.xml.rels><?xml version="1.0" encoding="UTF-8" standalone="yes"?>
<Relationships xmlns="http://schemas.openxmlformats.org/package/2006/relationships"><Relationship Id="rId3" Type="http://schemas.openxmlformats.org/officeDocument/2006/relationships/image" Target="../media/image21.wmf"/><Relationship Id="rId2" Type="http://schemas.openxmlformats.org/officeDocument/2006/relationships/oleObject" Target="../embeddings/oleObject7.bin"/><Relationship Id="rId1" Type="http://schemas.openxmlformats.org/officeDocument/2006/relationships/slideLayout" Target="../slideLayouts/slideLayout2.xml"/><Relationship Id="rId6" Type="http://schemas.openxmlformats.org/officeDocument/2006/relationships/image" Target="../media/image18.png"/><Relationship Id="rId5" Type="http://schemas.openxmlformats.org/officeDocument/2006/relationships/image" Target="../media/image22.wmf"/><Relationship Id="rId4" Type="http://schemas.openxmlformats.org/officeDocument/2006/relationships/oleObject" Target="../embeddings/oleObject8.bin"/></Relationships>
</file>

<file path=ppt/slides/_rels/slide44.xml.rels><?xml version="1.0" encoding="UTF-8" standalone="yes"?>
<Relationships xmlns="http://schemas.openxmlformats.org/package/2006/relationships"><Relationship Id="rId3" Type="http://schemas.openxmlformats.org/officeDocument/2006/relationships/oleObject" Target="../embeddings/oleObject9.bin"/><Relationship Id="rId2" Type="http://schemas.openxmlformats.org/officeDocument/2006/relationships/image" Target="../media/image23.jpeg"/><Relationship Id="rId1" Type="http://schemas.openxmlformats.org/officeDocument/2006/relationships/slideLayout" Target="../slideLayouts/slideLayout2.xml"/><Relationship Id="rId4" Type="http://schemas.openxmlformats.org/officeDocument/2006/relationships/image" Target="../media/image24.wmf"/></Relationships>
</file>

<file path=ppt/slides/_rels/slide45.xml.rels><?xml version="1.0" encoding="UTF-8" standalone="yes"?>
<Relationships xmlns="http://schemas.openxmlformats.org/package/2006/relationships"><Relationship Id="rId8" Type="http://schemas.openxmlformats.org/officeDocument/2006/relationships/image" Target="../media/image27.wmf"/><Relationship Id="rId3" Type="http://schemas.openxmlformats.org/officeDocument/2006/relationships/oleObject" Target="../embeddings/oleObject10.bin"/><Relationship Id="rId7" Type="http://schemas.openxmlformats.org/officeDocument/2006/relationships/oleObject" Target="../embeddings/oleObject12.bin"/><Relationship Id="rId12" Type="http://schemas.openxmlformats.org/officeDocument/2006/relationships/image" Target="../media/image29.wmf"/><Relationship Id="rId2" Type="http://schemas.openxmlformats.org/officeDocument/2006/relationships/image" Target="../media/image23.jpeg"/><Relationship Id="rId1" Type="http://schemas.openxmlformats.org/officeDocument/2006/relationships/slideLayout" Target="../slideLayouts/slideLayout2.xml"/><Relationship Id="rId6" Type="http://schemas.openxmlformats.org/officeDocument/2006/relationships/image" Target="../media/image26.wmf"/><Relationship Id="rId11" Type="http://schemas.openxmlformats.org/officeDocument/2006/relationships/oleObject" Target="../embeddings/oleObject14.bin"/><Relationship Id="rId5" Type="http://schemas.openxmlformats.org/officeDocument/2006/relationships/oleObject" Target="../embeddings/oleObject11.bin"/><Relationship Id="rId10" Type="http://schemas.openxmlformats.org/officeDocument/2006/relationships/image" Target="../media/image28.wmf"/><Relationship Id="rId4" Type="http://schemas.openxmlformats.org/officeDocument/2006/relationships/image" Target="../media/image25.wmf"/><Relationship Id="rId9" Type="http://schemas.openxmlformats.org/officeDocument/2006/relationships/oleObject" Target="../embeddings/oleObject13.bin"/></Relationships>
</file>

<file path=ppt/slides/_rels/slide46.xml.rels><?xml version="1.0" encoding="UTF-8" standalone="yes"?>
<Relationships xmlns="http://schemas.openxmlformats.org/package/2006/relationships"><Relationship Id="rId2" Type="http://schemas.openxmlformats.org/officeDocument/2006/relationships/hyperlink" Target="https://mayooran1987.github.io/MC3020_E24/weeks/week-2.html" TargetMode="Externa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36.png"/><Relationship Id="rId7" Type="http://schemas.openxmlformats.org/officeDocument/2006/relationships/image" Target="../media/image31.wmf"/><Relationship Id="rId1" Type="http://schemas.openxmlformats.org/officeDocument/2006/relationships/slideLayout" Target="../slideLayouts/slideLayout2.xml"/><Relationship Id="rId6" Type="http://schemas.openxmlformats.org/officeDocument/2006/relationships/oleObject" Target="../embeddings/oleObject16.bin"/><Relationship Id="rId5" Type="http://schemas.openxmlformats.org/officeDocument/2006/relationships/image" Target="../media/image30.wmf"/><Relationship Id="rId4" Type="http://schemas.openxmlformats.org/officeDocument/2006/relationships/oleObject" Target="../embeddings/oleObject15.bin"/></Relationships>
</file>

<file path=ppt/slides/_rels/slide53.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32.jpe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33.wmf"/><Relationship Id="rId2" Type="http://schemas.openxmlformats.org/officeDocument/2006/relationships/oleObject" Target="../embeddings/oleObject17.bin"/><Relationship Id="rId1" Type="http://schemas.openxmlformats.org/officeDocument/2006/relationships/slideLayout" Target="../slideLayouts/slideLayout2.xml"/><Relationship Id="rId5" Type="http://schemas.openxmlformats.org/officeDocument/2006/relationships/image" Target="../media/image34.wmf"/><Relationship Id="rId4" Type="http://schemas.openxmlformats.org/officeDocument/2006/relationships/oleObject" Target="../embeddings/oleObject18.bin"/></Relationships>
</file>

<file path=ppt/slides/_rels/slide56.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hyperlink" Target="https://teams.microsoft.com/l/channel/19%3abGtNw0RkJEnYxOOwZ2AmPQjXjcOAa6MZlMFRVam2Aj81%40thread.tacv2/General?groupId=083b8d81-e749-4b5b-8e8b-f9f289ffb5a2&amp;tenantId=569779cc-e9ff-4510-98cb-ed948a207bb6" TargetMode="External"/><Relationship Id="rId2" Type="http://schemas.openxmlformats.org/officeDocument/2006/relationships/hyperlink" Target="https://mayooran1987.github.io/MC3020/" TargetMode="External"/><Relationship Id="rId1" Type="http://schemas.openxmlformats.org/officeDocument/2006/relationships/slideLayout" Target="../slideLayouts/slideLayout2.xml"/><Relationship Id="rId4" Type="http://schemas.openxmlformats.org/officeDocument/2006/relationships/image" Target="../media/image40.png"/></Relationships>
</file>

<file path=ppt/slides/_rels/slide62.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206836" y="3894764"/>
            <a:ext cx="2971800" cy="296323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18435" name="Rectangle 6"/>
          <p:cNvSpPr>
            <a:spLocks noGrp="1" noChangeArrowheads="1"/>
          </p:cNvSpPr>
          <p:nvPr>
            <p:ph type="ctrTitle"/>
          </p:nvPr>
        </p:nvSpPr>
        <p:spPr>
          <a:xfrm>
            <a:off x="762000" y="1447800"/>
            <a:ext cx="7086600" cy="1600200"/>
          </a:xfrm>
        </p:spPr>
        <p:txBody>
          <a:bodyPr/>
          <a:lstStyle/>
          <a:p>
            <a:pPr algn="ctr" eaLnBrk="1" hangingPunct="1"/>
            <a:r>
              <a:rPr lang="en-GB" dirty="0">
                <a:solidFill>
                  <a:srgbClr val="C00000"/>
                </a:solidFill>
                <a:latin typeface="Algerian" pitchFamily="82" charset="0"/>
              </a:rPr>
              <a:t>Mc3020: Discrete Probability Distributions</a:t>
            </a:r>
            <a:endParaRPr lang="en-US" dirty="0">
              <a:solidFill>
                <a:srgbClr val="C00000"/>
              </a:solidFill>
              <a:latin typeface="Algerian" pitchFamily="82" charset="0"/>
            </a:endParaRPr>
          </a:p>
        </p:txBody>
      </p:sp>
      <p:sp>
        <p:nvSpPr>
          <p:cNvPr id="6" name="Rectangle 13">
            <a:extLst>
              <a:ext uri="{FF2B5EF4-FFF2-40B4-BE49-F238E27FC236}">
                <a16:creationId xmlns:a16="http://schemas.microsoft.com/office/drawing/2014/main" id="{3380A8C3-4726-4A9E-9961-401E33219616}"/>
              </a:ext>
            </a:extLst>
          </p:cNvPr>
          <p:cNvSpPr>
            <a:spLocks noChangeArrowheads="1"/>
          </p:cNvSpPr>
          <p:nvPr/>
        </p:nvSpPr>
        <p:spPr bwMode="auto">
          <a:xfrm>
            <a:off x="606136" y="2957985"/>
            <a:ext cx="7086600" cy="2895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Font typeface="Arial" panose="020B0604020202020204" pitchFamily="34" charset="0"/>
              <a:buChar char="•"/>
              <a:defRPr sz="3200">
                <a:solidFill>
                  <a:schemeClr val="tx1"/>
                </a:solidFill>
                <a:latin typeface="Calibri" panose="020F0502020204030204" pitchFamily="34" charset="0"/>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defRPr>
            </a:lvl9pPr>
          </a:lstStyle>
          <a:p>
            <a:pPr algn="ctr" eaLnBrk="1" hangingPunct="1">
              <a:spcBef>
                <a:spcPct val="0"/>
              </a:spcBef>
              <a:buFontTx/>
              <a:buNone/>
            </a:pPr>
            <a:endParaRPr lang="en-US" altLang="en-US" sz="2400" b="1" dirty="0">
              <a:latin typeface="Bookman Old Style" panose="02050604050505020204" pitchFamily="18" charset="0"/>
              <a:cs typeface="Arabic Typesetting" panose="03020402040406030203" pitchFamily="66" charset="-78"/>
            </a:endParaRPr>
          </a:p>
          <a:p>
            <a:pPr algn="ctr" eaLnBrk="1" hangingPunct="1">
              <a:spcBef>
                <a:spcPct val="0"/>
              </a:spcBef>
              <a:buFontTx/>
              <a:buNone/>
            </a:pPr>
            <a:r>
              <a:rPr lang="en-US" altLang="en-US" sz="2400" dirty="0">
                <a:latin typeface="Bookman Old Style" panose="02050604050505020204" pitchFamily="18" charset="0"/>
                <a:cs typeface="Arabic Typesetting" panose="03020402040406030203" pitchFamily="66" charset="-78"/>
              </a:rPr>
              <a:t> Dr T. Mayooran,</a:t>
            </a:r>
          </a:p>
          <a:p>
            <a:pPr algn="ctr" eaLnBrk="1" hangingPunct="1">
              <a:spcBef>
                <a:spcPct val="0"/>
              </a:spcBef>
              <a:buFontTx/>
              <a:buNone/>
            </a:pPr>
            <a:r>
              <a:rPr lang="en-US" altLang="en-US" sz="2400" dirty="0">
                <a:latin typeface="Bookman Old Style" panose="02050604050505020204" pitchFamily="18" charset="0"/>
                <a:cs typeface="Arabic Typesetting" panose="03020402040406030203" pitchFamily="66" charset="-78"/>
              </a:rPr>
              <a:t>Senior Lecturer, </a:t>
            </a:r>
          </a:p>
          <a:p>
            <a:pPr algn="ctr" eaLnBrk="1" hangingPunct="1">
              <a:spcBef>
                <a:spcPct val="0"/>
              </a:spcBef>
              <a:buFontTx/>
              <a:buNone/>
            </a:pPr>
            <a:r>
              <a:rPr lang="en-US" altLang="en-US" sz="2400" dirty="0">
                <a:latin typeface="Bookman Old Style" panose="02050604050505020204" pitchFamily="18" charset="0"/>
                <a:cs typeface="Arabic Typesetting" panose="03020402040406030203" pitchFamily="66" charset="-78"/>
              </a:rPr>
              <a:t>Department of Interdisciplinary Studies,</a:t>
            </a:r>
          </a:p>
          <a:p>
            <a:pPr algn="ctr" eaLnBrk="1" hangingPunct="1">
              <a:lnSpc>
                <a:spcPct val="110000"/>
              </a:lnSpc>
              <a:spcBef>
                <a:spcPct val="0"/>
              </a:spcBef>
              <a:buFontTx/>
              <a:buNone/>
            </a:pPr>
            <a:r>
              <a:rPr lang="en-US" altLang="en-US" sz="2400" dirty="0">
                <a:latin typeface="Bookman Old Style" panose="02050604050505020204" pitchFamily="18" charset="0"/>
                <a:cs typeface="Arabic Typesetting" panose="03020402040406030203" pitchFamily="66" charset="-78"/>
              </a:rPr>
              <a:t>Faculty of Engineering,</a:t>
            </a:r>
          </a:p>
          <a:p>
            <a:pPr algn="ctr" eaLnBrk="1" hangingPunct="1">
              <a:lnSpc>
                <a:spcPct val="110000"/>
              </a:lnSpc>
              <a:spcBef>
                <a:spcPct val="0"/>
              </a:spcBef>
              <a:buFontTx/>
              <a:buNone/>
            </a:pPr>
            <a:r>
              <a:rPr lang="en-US" altLang="en-US" sz="2400" dirty="0">
                <a:latin typeface="Bookman Old Style" panose="02050604050505020204" pitchFamily="18" charset="0"/>
                <a:cs typeface="Arabic Typesetting" panose="03020402040406030203" pitchFamily="66" charset="-78"/>
              </a:rPr>
              <a:t>University of Jaffna</a:t>
            </a:r>
            <a:r>
              <a:rPr lang="en-US" altLang="en-US" sz="2400" b="1" dirty="0">
                <a:latin typeface="Bookman Old Style" panose="02050604050505020204" pitchFamily="18" charset="0"/>
                <a:cs typeface="Arabic Typesetting" panose="03020402040406030203" pitchFamily="66" charset="-78"/>
              </a:rPr>
              <a:t>.</a:t>
            </a:r>
          </a:p>
          <a:p>
            <a:pPr algn="ctr" eaLnBrk="1" hangingPunct="1">
              <a:lnSpc>
                <a:spcPct val="110000"/>
              </a:lnSpc>
              <a:spcBef>
                <a:spcPct val="0"/>
              </a:spcBef>
              <a:buFontTx/>
              <a:buNone/>
            </a:pPr>
            <a:endParaRPr lang="en-US" altLang="en-US" sz="2400" b="1" dirty="0">
              <a:latin typeface="Bookman Old Style" panose="02050604050505020204" pitchFamily="18" charset="0"/>
              <a:cs typeface="Arabic Typesetting" panose="03020402040406030203" pitchFamily="66" charset="-78"/>
            </a:endParaRPr>
          </a:p>
          <a:p>
            <a:pPr algn="ctr" eaLnBrk="1" hangingPunct="1">
              <a:lnSpc>
                <a:spcPct val="110000"/>
              </a:lnSpc>
              <a:spcBef>
                <a:spcPct val="0"/>
              </a:spcBef>
              <a:buFontTx/>
              <a:buNone/>
            </a:pPr>
            <a:r>
              <a:rPr lang="en-US" altLang="en-US" sz="2400" dirty="0">
                <a:latin typeface="Bookman Old Style" panose="02050604050505020204" pitchFamily="18" charset="0"/>
                <a:cs typeface="Arabic Typesetting" panose="03020402040406030203" pitchFamily="66" charset="-78"/>
              </a:rPr>
              <a:t>Email: </a:t>
            </a:r>
            <a:r>
              <a:rPr lang="en-US" altLang="en-US" sz="2400" dirty="0">
                <a:latin typeface="Bookman Old Style" panose="02050604050505020204" pitchFamily="18" charset="0"/>
                <a:cs typeface="Arabic Typesetting" panose="03020402040406030203" pitchFamily="66" charset="-78"/>
                <a:hlinkClick r:id="rId4"/>
              </a:rPr>
              <a:t>mayooran@eng.jfn.ac.lk</a:t>
            </a:r>
            <a:endParaRPr lang="en-US" altLang="en-US" sz="2400" dirty="0">
              <a:latin typeface="Bookman Old Style" panose="02050604050505020204" pitchFamily="18" charset="0"/>
              <a:cs typeface="Arabic Typesetting" panose="03020402040406030203" pitchFamily="66" charset="-78"/>
            </a:endParaRPr>
          </a:p>
          <a:p>
            <a:pPr algn="ctr" eaLnBrk="1" hangingPunct="1">
              <a:spcBef>
                <a:spcPct val="0"/>
              </a:spcBef>
              <a:buFontTx/>
              <a:buNone/>
            </a:pPr>
            <a:r>
              <a:rPr lang="en-US" altLang="en-US" sz="2400" b="1" dirty="0">
                <a:latin typeface="Bookman Old Style" panose="02050604050505020204" pitchFamily="18" charset="0"/>
                <a:cs typeface="Arabic Typesetting" panose="03020402040406030203" pitchFamily="66" charset="-78"/>
              </a:rPr>
              <a:t>	</a:t>
            </a:r>
            <a:r>
              <a:rPr lang="en-US" altLang="en-US" sz="2400" b="1" dirty="0">
                <a:latin typeface="Bookman Old Style" panose="02050604050505020204" pitchFamily="18" charset="0"/>
                <a:cs typeface="Tahoma" panose="020B0604030504040204" pitchFamily="34" charset="0"/>
              </a:rPr>
              <a:t> </a:t>
            </a:r>
          </a:p>
        </p:txBody>
      </p:sp>
    </p:spTree>
  </p:cSld>
  <p:clrMapOvr>
    <a:masterClrMapping/>
  </p:clrMapOvr>
  <p:transition spd="slow">
    <p:wipe dir="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31863" y="-41275"/>
            <a:ext cx="7158037" cy="1412875"/>
          </a:xfrm>
        </p:spPr>
        <p:txBody>
          <a:bodyPr/>
          <a:lstStyle/>
          <a:p>
            <a:r>
              <a:rPr lang="en-GB" dirty="0">
                <a:solidFill>
                  <a:srgbClr val="C00000"/>
                </a:solidFill>
                <a:effectLst>
                  <a:outerShdw blurRad="38100" dist="38100" dir="2700000" algn="tl">
                    <a:srgbClr val="000000">
                      <a:alpha val="43137"/>
                    </a:srgbClr>
                  </a:outerShdw>
                </a:effectLst>
                <a:latin typeface="Times New Roman" pitchFamily="18" charset="0"/>
                <a:cs typeface="Times New Roman" pitchFamily="18" charset="0"/>
              </a:rPr>
              <a:t>Discrete Probability Distributions</a:t>
            </a:r>
          </a:p>
        </p:txBody>
      </p:sp>
      <p:sp>
        <p:nvSpPr>
          <p:cNvPr id="3" name="Content Placeholder 2"/>
          <p:cNvSpPr>
            <a:spLocks noGrp="1"/>
          </p:cNvSpPr>
          <p:nvPr>
            <p:ph idx="1"/>
          </p:nvPr>
        </p:nvSpPr>
        <p:spPr/>
        <p:txBody>
          <a:bodyPr/>
          <a:lstStyle/>
          <a:p>
            <a:r>
              <a:rPr lang="en-GB" sz="3500" dirty="0">
                <a:latin typeface="Times New Roman" pitchFamily="18" charset="0"/>
                <a:cs typeface="Times New Roman" pitchFamily="18" charset="0"/>
              </a:rPr>
              <a:t>Definitions</a:t>
            </a:r>
          </a:p>
          <a:p>
            <a:r>
              <a:rPr lang="en-GB" sz="3500" dirty="0">
                <a:latin typeface="Times New Roman" pitchFamily="18" charset="0"/>
                <a:cs typeface="Times New Roman" pitchFamily="18" charset="0"/>
              </a:rPr>
              <a:t>Discrete Probability Distributions</a:t>
            </a:r>
          </a:p>
          <a:p>
            <a:r>
              <a:rPr lang="en-IN" sz="3500" dirty="0">
                <a:latin typeface="Times New Roman" pitchFamily="18" charset="0"/>
                <a:cs typeface="Times New Roman" pitchFamily="18" charset="0"/>
              </a:rPr>
              <a:t>Mean or Expected Value of a Discrete </a:t>
            </a:r>
            <a:r>
              <a:rPr lang="en-GB" sz="3500" dirty="0">
                <a:latin typeface="Times New Roman" pitchFamily="18" charset="0"/>
                <a:cs typeface="Times New Roman" pitchFamily="18" charset="0"/>
              </a:rPr>
              <a:t>Random Variable</a:t>
            </a:r>
          </a:p>
          <a:p>
            <a:r>
              <a:rPr lang="en-GB" sz="3500" dirty="0">
                <a:latin typeface="Times New Roman" pitchFamily="18" charset="0"/>
                <a:cs typeface="Times New Roman" pitchFamily="18" charset="0"/>
              </a:rPr>
              <a:t>Variance and Standard Deviation</a:t>
            </a:r>
          </a:p>
        </p:txBody>
      </p:sp>
      <p:sp>
        <p:nvSpPr>
          <p:cNvPr id="6" name="Slide Number Placeholder 5"/>
          <p:cNvSpPr>
            <a:spLocks noGrp="1"/>
          </p:cNvSpPr>
          <p:nvPr>
            <p:ph type="sldNum" sz="quarter" idx="12"/>
          </p:nvPr>
        </p:nvSpPr>
        <p:spPr/>
        <p:txBody>
          <a:bodyPr/>
          <a:lstStyle/>
          <a:p>
            <a:pPr>
              <a:defRPr/>
            </a:pPr>
            <a:fld id="{645ED874-4033-4CEE-AE69-D7CB222F48E6}" type="slidenum">
              <a:rPr lang="en-US" smtClean="0"/>
              <a:pPr>
                <a:defRPr/>
              </a:pPr>
              <a:t>2</a:t>
            </a:fld>
            <a:endParaRPr lang="en-US"/>
          </a:p>
        </p:txBody>
      </p:sp>
      <p:sp>
        <p:nvSpPr>
          <p:cNvPr id="4" name="Date Placeholder 3">
            <a:extLst>
              <a:ext uri="{FF2B5EF4-FFF2-40B4-BE49-F238E27FC236}">
                <a16:creationId xmlns:a16="http://schemas.microsoft.com/office/drawing/2014/main" id="{47AD59D6-1D92-4870-A39D-33F8D292406F}"/>
              </a:ext>
            </a:extLst>
          </p:cNvPr>
          <p:cNvSpPr>
            <a:spLocks noGrp="1"/>
          </p:cNvSpPr>
          <p:nvPr>
            <p:ph type="dt" sz="half" idx="10"/>
          </p:nvPr>
        </p:nvSpPr>
        <p:spPr/>
        <p:txBody>
          <a:bodyPr/>
          <a:lstStyle/>
          <a:p>
            <a:pPr>
              <a:defRPr/>
            </a:pPr>
            <a:fld id="{EE124259-3191-46DA-AA9A-852595855449}" type="datetime3">
              <a:rPr lang="en-US" smtClean="0"/>
              <a:t>16 December 2025</a:t>
            </a:fld>
            <a:endParaRPr lang="en-US"/>
          </a:p>
        </p:txBody>
      </p:sp>
      <p:sp>
        <p:nvSpPr>
          <p:cNvPr id="5" name="Footer Placeholder 4">
            <a:extLst>
              <a:ext uri="{FF2B5EF4-FFF2-40B4-BE49-F238E27FC236}">
                <a16:creationId xmlns:a16="http://schemas.microsoft.com/office/drawing/2014/main" id="{A83C9644-EDAD-44B2-B046-A37FD0432547}"/>
              </a:ext>
            </a:extLst>
          </p:cNvPr>
          <p:cNvSpPr>
            <a:spLocks noGrp="1"/>
          </p:cNvSpPr>
          <p:nvPr>
            <p:ph type="ftr" sz="quarter" idx="11"/>
          </p:nvPr>
        </p:nvSpPr>
        <p:spPr/>
        <p:txBody>
          <a:bodyPr/>
          <a:lstStyle/>
          <a:p>
            <a:pPr>
              <a:defRPr/>
            </a:pPr>
            <a:r>
              <a:rPr lang="en-US"/>
              <a:t>T. Mayooran</a:t>
            </a:r>
          </a:p>
        </p:txBody>
      </p:sp>
    </p:spTree>
    <p:extLst>
      <p:ext uri="{BB962C8B-B14F-4D97-AF65-F5344CB8AC3E}">
        <p14:creationId xmlns:p14="http://schemas.microsoft.com/office/powerpoint/2010/main" val="2825962357"/>
      </p:ext>
    </p:extLst>
  </p:cSld>
  <p:clrMapOvr>
    <a:masterClrMapping/>
  </p:clrMapOvr>
  <p:transition spd="slow">
    <p:wipe dir="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31867" y="76204"/>
            <a:ext cx="7158037" cy="1412875"/>
          </a:xfrm>
        </p:spPr>
        <p:txBody>
          <a:bodyPr/>
          <a:lstStyle/>
          <a:p>
            <a:r>
              <a:rPr lang="en-GB" sz="4500" dirty="0">
                <a:solidFill>
                  <a:srgbClr val="C00000"/>
                </a:solidFill>
                <a:effectLst>
                  <a:outerShdw blurRad="38100" dist="38100" dir="2700000" algn="tl">
                    <a:srgbClr val="000000">
                      <a:alpha val="43137"/>
                    </a:srgbClr>
                  </a:outerShdw>
                </a:effectLst>
                <a:latin typeface="Times New Roman" pitchFamily="18" charset="0"/>
                <a:cs typeface="Times New Roman" pitchFamily="18" charset="0"/>
              </a:rPr>
              <a:t>Definitions</a:t>
            </a:r>
          </a:p>
        </p:txBody>
      </p:sp>
      <p:sp>
        <p:nvSpPr>
          <p:cNvPr id="3" name="Content Placeholder 2"/>
          <p:cNvSpPr>
            <a:spLocks noGrp="1"/>
          </p:cNvSpPr>
          <p:nvPr>
            <p:ph idx="1"/>
          </p:nvPr>
        </p:nvSpPr>
        <p:spPr>
          <a:xfrm>
            <a:off x="685804" y="1676400"/>
            <a:ext cx="7661275" cy="2362200"/>
          </a:xfrm>
        </p:spPr>
        <p:txBody>
          <a:bodyPr/>
          <a:lstStyle/>
          <a:p>
            <a:pPr marL="0" indent="0" algn="just">
              <a:buNone/>
            </a:pPr>
            <a:r>
              <a:rPr lang="en-IN" sz="3500" dirty="0">
                <a:solidFill>
                  <a:srgbClr val="FF0000"/>
                </a:solidFill>
                <a:latin typeface="Times New Roman" pitchFamily="18" charset="0"/>
                <a:cs typeface="Times New Roman" pitchFamily="18" charset="0"/>
              </a:rPr>
              <a:t>Random Variable: </a:t>
            </a:r>
          </a:p>
          <a:p>
            <a:pPr marL="0" indent="0" algn="just">
              <a:buNone/>
            </a:pPr>
            <a:r>
              <a:rPr lang="en-IN" sz="3500" dirty="0">
                <a:latin typeface="Times New Roman" pitchFamily="18" charset="0"/>
                <a:cs typeface="Times New Roman" pitchFamily="18" charset="0"/>
              </a:rPr>
              <a:t>A random variable is a quantitative variable whose values are </a:t>
            </a:r>
            <a:r>
              <a:rPr lang="en-GB" sz="3500" dirty="0">
                <a:latin typeface="Times New Roman" pitchFamily="18" charset="0"/>
                <a:cs typeface="Times New Roman" pitchFamily="18" charset="0"/>
              </a:rPr>
              <a:t>determined by chance.</a:t>
            </a:r>
          </a:p>
          <a:p>
            <a:pPr marL="0" indent="0" algn="just">
              <a:buNone/>
            </a:pPr>
            <a:endParaRPr lang="en-GB" sz="3500" dirty="0">
              <a:latin typeface="Times New Roman" pitchFamily="18" charset="0"/>
              <a:cs typeface="Times New Roman" pitchFamily="18" charset="0"/>
            </a:endParaRPr>
          </a:p>
        </p:txBody>
      </p:sp>
      <p:sp>
        <p:nvSpPr>
          <p:cNvPr id="6" name="TextBox 5"/>
          <p:cNvSpPr txBox="1"/>
          <p:nvPr/>
        </p:nvSpPr>
        <p:spPr>
          <a:xfrm>
            <a:off x="762000" y="4001635"/>
            <a:ext cx="7696200" cy="2246769"/>
          </a:xfrm>
          <a:prstGeom prst="rect">
            <a:avLst/>
          </a:prstGeom>
          <a:noFill/>
        </p:spPr>
        <p:txBody>
          <a:bodyPr wrap="square" rtlCol="0">
            <a:spAutoFit/>
          </a:bodyPr>
          <a:lstStyle/>
          <a:p>
            <a:pPr algn="just"/>
            <a:r>
              <a:rPr lang="en-US" sz="3500" dirty="0">
                <a:latin typeface="Times New Roman" pitchFamily="18" charset="0"/>
                <a:cs typeface="Times New Roman" pitchFamily="18" charset="0"/>
              </a:rPr>
              <a:t>We use capital letter , like X, to denote the random variable and use small letter to list the possible values of the random variable.</a:t>
            </a:r>
          </a:p>
        </p:txBody>
      </p:sp>
      <p:sp>
        <p:nvSpPr>
          <p:cNvPr id="7" name="Slide Number Placeholder 6"/>
          <p:cNvSpPr>
            <a:spLocks noGrp="1"/>
          </p:cNvSpPr>
          <p:nvPr>
            <p:ph type="sldNum" sz="quarter" idx="12"/>
          </p:nvPr>
        </p:nvSpPr>
        <p:spPr/>
        <p:txBody>
          <a:bodyPr/>
          <a:lstStyle/>
          <a:p>
            <a:pPr>
              <a:defRPr/>
            </a:pPr>
            <a:fld id="{645ED874-4033-4CEE-AE69-D7CB222F48E6}" type="slidenum">
              <a:rPr lang="en-US" smtClean="0"/>
              <a:pPr>
                <a:defRPr/>
              </a:pPr>
              <a:t>3</a:t>
            </a:fld>
            <a:endParaRPr lang="en-US"/>
          </a:p>
        </p:txBody>
      </p:sp>
      <p:sp>
        <p:nvSpPr>
          <p:cNvPr id="4" name="Date Placeholder 3">
            <a:extLst>
              <a:ext uri="{FF2B5EF4-FFF2-40B4-BE49-F238E27FC236}">
                <a16:creationId xmlns:a16="http://schemas.microsoft.com/office/drawing/2014/main" id="{20F135C3-476A-4DA0-9E5D-343A300E9C7B}"/>
              </a:ext>
            </a:extLst>
          </p:cNvPr>
          <p:cNvSpPr>
            <a:spLocks noGrp="1"/>
          </p:cNvSpPr>
          <p:nvPr>
            <p:ph type="dt" sz="half" idx="10"/>
          </p:nvPr>
        </p:nvSpPr>
        <p:spPr/>
        <p:txBody>
          <a:bodyPr/>
          <a:lstStyle/>
          <a:p>
            <a:pPr>
              <a:defRPr/>
            </a:pPr>
            <a:fld id="{6A1592CA-4315-4238-AD66-2149C2A8E6FC}" type="datetime3">
              <a:rPr lang="en-US" smtClean="0"/>
              <a:t>16 December 2025</a:t>
            </a:fld>
            <a:endParaRPr lang="en-US"/>
          </a:p>
        </p:txBody>
      </p:sp>
      <p:sp>
        <p:nvSpPr>
          <p:cNvPr id="5" name="Footer Placeholder 4">
            <a:extLst>
              <a:ext uri="{FF2B5EF4-FFF2-40B4-BE49-F238E27FC236}">
                <a16:creationId xmlns:a16="http://schemas.microsoft.com/office/drawing/2014/main" id="{7A18848A-FD2B-4882-8882-772F9503355B}"/>
              </a:ext>
            </a:extLst>
          </p:cNvPr>
          <p:cNvSpPr>
            <a:spLocks noGrp="1"/>
          </p:cNvSpPr>
          <p:nvPr>
            <p:ph type="ftr" sz="quarter" idx="11"/>
          </p:nvPr>
        </p:nvSpPr>
        <p:spPr/>
        <p:txBody>
          <a:bodyPr/>
          <a:lstStyle/>
          <a:p>
            <a:pPr>
              <a:defRPr/>
            </a:pPr>
            <a:r>
              <a:rPr lang="en-US"/>
              <a:t>T. Mayooran</a:t>
            </a:r>
          </a:p>
        </p:txBody>
      </p:sp>
    </p:spTree>
    <p:extLst>
      <p:ext uri="{BB962C8B-B14F-4D97-AF65-F5344CB8AC3E}">
        <p14:creationId xmlns:p14="http://schemas.microsoft.com/office/powerpoint/2010/main" val="2794901907"/>
      </p:ext>
    </p:extLst>
  </p:cSld>
  <p:clrMapOvr>
    <a:masterClrMapping/>
  </p:clrMapOvr>
  <p:transition spd="slow">
    <p:wipe dir="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31867" y="76204"/>
            <a:ext cx="7158037" cy="1412875"/>
          </a:xfrm>
        </p:spPr>
        <p:txBody>
          <a:bodyPr/>
          <a:lstStyle/>
          <a:p>
            <a:r>
              <a:rPr lang="en-GB" sz="4500" dirty="0">
                <a:solidFill>
                  <a:srgbClr val="C00000"/>
                </a:solidFill>
                <a:effectLst>
                  <a:outerShdw blurRad="38100" dist="38100" dir="2700000" algn="tl">
                    <a:srgbClr val="000000">
                      <a:alpha val="43137"/>
                    </a:srgbClr>
                  </a:outerShdw>
                </a:effectLst>
                <a:latin typeface="Times New Roman" pitchFamily="18" charset="0"/>
                <a:cs typeface="Times New Roman" pitchFamily="18" charset="0"/>
              </a:rPr>
              <a:t>Example:</a:t>
            </a:r>
          </a:p>
        </p:txBody>
      </p:sp>
      <p:sp>
        <p:nvSpPr>
          <p:cNvPr id="3" name="Content Placeholder 2"/>
          <p:cNvSpPr>
            <a:spLocks noGrp="1"/>
          </p:cNvSpPr>
          <p:nvPr>
            <p:ph idx="1"/>
          </p:nvPr>
        </p:nvSpPr>
        <p:spPr>
          <a:xfrm>
            <a:off x="762004" y="1600200"/>
            <a:ext cx="7661275" cy="1143000"/>
          </a:xfrm>
        </p:spPr>
        <p:txBody>
          <a:bodyPr/>
          <a:lstStyle/>
          <a:p>
            <a:pPr marL="0" indent="0" algn="just">
              <a:buNone/>
            </a:pPr>
            <a:r>
              <a:rPr lang="en-AU" dirty="0">
                <a:latin typeface="Times New Roman" pitchFamily="18" charset="0"/>
                <a:cs typeface="Times New Roman" pitchFamily="18" charset="0"/>
                <a:sym typeface="Wingdings" pitchFamily="2" charset="2"/>
              </a:rPr>
              <a:t>Suppose we toss a coin twice. </a:t>
            </a:r>
            <a:r>
              <a:rPr lang="en-AU" b="1" dirty="0">
                <a:latin typeface="Times New Roman" pitchFamily="18" charset="0"/>
                <a:cs typeface="Times New Roman" pitchFamily="18" charset="0"/>
                <a:sym typeface="Wingdings" pitchFamily="2" charset="2"/>
              </a:rPr>
              <a:t>Let X be the </a:t>
            </a:r>
            <a:r>
              <a:rPr lang="en-AU" dirty="0">
                <a:latin typeface="Times New Roman" pitchFamily="18" charset="0"/>
                <a:cs typeface="Times New Roman" pitchFamily="18" charset="0"/>
                <a:sym typeface="Wingdings" pitchFamily="2" charset="2"/>
              </a:rPr>
              <a:t>(random variable) </a:t>
            </a:r>
            <a:r>
              <a:rPr lang="en-AU" b="1" dirty="0">
                <a:latin typeface="Times New Roman" pitchFamily="18" charset="0"/>
                <a:cs typeface="Times New Roman" pitchFamily="18" charset="0"/>
                <a:sym typeface="Wingdings" pitchFamily="2" charset="2"/>
              </a:rPr>
              <a:t>number of heads</a:t>
            </a:r>
          </a:p>
        </p:txBody>
      </p:sp>
      <p:graphicFrame>
        <p:nvGraphicFramePr>
          <p:cNvPr id="6" name="Group 27"/>
          <p:cNvGraphicFramePr>
            <a:graphicFrameLocks/>
          </p:cNvGraphicFramePr>
          <p:nvPr>
            <p:extLst>
              <p:ext uri="{D42A27DB-BD31-4B8C-83A1-F6EECF244321}">
                <p14:modId xmlns:p14="http://schemas.microsoft.com/office/powerpoint/2010/main" val="1007632632"/>
              </p:ext>
            </p:extLst>
          </p:nvPr>
        </p:nvGraphicFramePr>
        <p:xfrm>
          <a:off x="5610218" y="2743201"/>
          <a:ext cx="2085982" cy="2743200"/>
        </p:xfrm>
        <a:graphic>
          <a:graphicData uri="http://schemas.openxmlformats.org/drawingml/2006/table">
            <a:tbl>
              <a:tblPr/>
              <a:tblGrid>
                <a:gridCol w="1043564">
                  <a:extLst>
                    <a:ext uri="{9D8B030D-6E8A-4147-A177-3AD203B41FA5}">
                      <a16:colId xmlns:a16="http://schemas.microsoft.com/office/drawing/2014/main" val="20000"/>
                    </a:ext>
                  </a:extLst>
                </a:gridCol>
                <a:gridCol w="1042418">
                  <a:extLst>
                    <a:ext uri="{9D8B030D-6E8A-4147-A177-3AD203B41FA5}">
                      <a16:colId xmlns:a16="http://schemas.microsoft.com/office/drawing/2014/main" val="20001"/>
                    </a:ext>
                  </a:extLst>
                </a:gridCol>
              </a:tblGrid>
              <a:tr h="502920">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AU" sz="3000" b="1" i="0" u="none" strike="noStrike" cap="none" normalizeH="0" baseline="0" dirty="0">
                          <a:ln>
                            <a:noFill/>
                          </a:ln>
                          <a:solidFill>
                            <a:schemeClr val="tx1"/>
                          </a:solidFill>
                          <a:effectLst/>
                          <a:latin typeface="Times New Roman" pitchFamily="18" charset="0"/>
                          <a:cs typeface="Times New Roman" pitchFamily="18" charset="0"/>
                        </a:rPr>
                        <a:t>S</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AU" sz="3000" b="1" i="0" u="none" strike="noStrike" cap="none" normalizeH="0" baseline="0" dirty="0">
                          <a:ln>
                            <a:noFill/>
                          </a:ln>
                          <a:solidFill>
                            <a:schemeClr val="tx1"/>
                          </a:solidFill>
                          <a:effectLst/>
                          <a:latin typeface="Times New Roman" pitchFamily="18" charset="0"/>
                          <a:cs typeface="Times New Roman" pitchFamily="18" charset="0"/>
                        </a:rPr>
                        <a:t>X</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502920">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AU" sz="3000" b="0" i="0" u="none" strike="noStrike" cap="none" normalizeH="0" baseline="0" dirty="0">
                          <a:ln>
                            <a:noFill/>
                          </a:ln>
                          <a:solidFill>
                            <a:schemeClr val="tx1"/>
                          </a:solidFill>
                          <a:effectLst/>
                          <a:latin typeface="Times New Roman" pitchFamily="18" charset="0"/>
                          <a:cs typeface="Times New Roman" pitchFamily="18" charset="0"/>
                        </a:rPr>
                        <a:t>TT</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AU" sz="3000" b="0" i="0" u="none" strike="noStrike" cap="none" normalizeH="0" baseline="0" dirty="0">
                          <a:ln>
                            <a:noFill/>
                          </a:ln>
                          <a:solidFill>
                            <a:schemeClr val="tx1"/>
                          </a:solidFill>
                          <a:effectLst/>
                          <a:latin typeface="Times New Roman" pitchFamily="18" charset="0"/>
                          <a:cs typeface="Times New Roman" pitchFamily="18" charset="0"/>
                        </a:rPr>
                        <a:t>0</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502920">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AU" sz="3000" b="0" i="0" u="none" strike="noStrike" cap="none" normalizeH="0" baseline="0">
                          <a:ln>
                            <a:noFill/>
                          </a:ln>
                          <a:solidFill>
                            <a:schemeClr val="tx1"/>
                          </a:solidFill>
                          <a:effectLst/>
                          <a:latin typeface="Times New Roman" pitchFamily="18" charset="0"/>
                          <a:cs typeface="Times New Roman" pitchFamily="18" charset="0"/>
                        </a:rPr>
                        <a:t>TH</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AU" sz="3000" b="0" i="0" u="none" strike="noStrike" cap="none" normalizeH="0" baseline="0" dirty="0">
                          <a:ln>
                            <a:noFill/>
                          </a:ln>
                          <a:solidFill>
                            <a:schemeClr val="tx1"/>
                          </a:solidFill>
                          <a:effectLst/>
                          <a:latin typeface="Times New Roman" pitchFamily="18" charset="0"/>
                          <a:cs typeface="Times New Roman" pitchFamily="18" charset="0"/>
                        </a:rPr>
                        <a:t>1</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502920">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AU" sz="3000" b="0" i="0" u="none" strike="noStrike" cap="none" normalizeH="0" baseline="0" dirty="0">
                          <a:ln>
                            <a:noFill/>
                          </a:ln>
                          <a:solidFill>
                            <a:schemeClr val="tx1"/>
                          </a:solidFill>
                          <a:effectLst/>
                          <a:latin typeface="Times New Roman" pitchFamily="18" charset="0"/>
                          <a:cs typeface="Times New Roman" pitchFamily="18" charset="0"/>
                        </a:rPr>
                        <a:t>HT</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AU" sz="3000" b="0" i="0" u="none" strike="noStrike" cap="none" normalizeH="0" baseline="0" dirty="0">
                          <a:ln>
                            <a:noFill/>
                          </a:ln>
                          <a:solidFill>
                            <a:schemeClr val="tx1"/>
                          </a:solidFill>
                          <a:effectLst/>
                          <a:latin typeface="Times New Roman" pitchFamily="18" charset="0"/>
                          <a:cs typeface="Times New Roman" pitchFamily="18" charset="0"/>
                        </a:rPr>
                        <a:t>1</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502920">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AU" sz="3000" b="0" i="0" u="none" strike="noStrike" cap="none" normalizeH="0" baseline="0">
                          <a:ln>
                            <a:noFill/>
                          </a:ln>
                          <a:solidFill>
                            <a:schemeClr val="tx1"/>
                          </a:solidFill>
                          <a:effectLst/>
                          <a:latin typeface="Times New Roman" pitchFamily="18" charset="0"/>
                          <a:cs typeface="Times New Roman" pitchFamily="18" charset="0"/>
                        </a:rPr>
                        <a:t>HH</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AU" sz="3000" b="0" i="0" u="none" strike="noStrike" cap="none" normalizeH="0" baseline="0" dirty="0">
                          <a:ln>
                            <a:noFill/>
                          </a:ln>
                          <a:solidFill>
                            <a:schemeClr val="tx1"/>
                          </a:solidFill>
                          <a:effectLst/>
                          <a:latin typeface="Times New Roman" pitchFamily="18" charset="0"/>
                          <a:cs typeface="Times New Roman" pitchFamily="18" charset="0"/>
                        </a:rPr>
                        <a:t>2</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bl>
          </a:graphicData>
        </a:graphic>
      </p:graphicFrame>
      <p:sp>
        <p:nvSpPr>
          <p:cNvPr id="7" name="Rectangle 6"/>
          <p:cNvSpPr/>
          <p:nvPr/>
        </p:nvSpPr>
        <p:spPr>
          <a:xfrm>
            <a:off x="762000" y="2743204"/>
            <a:ext cx="4572000" cy="1015663"/>
          </a:xfrm>
          <a:prstGeom prst="rect">
            <a:avLst/>
          </a:prstGeom>
        </p:spPr>
        <p:txBody>
          <a:bodyPr>
            <a:spAutoFit/>
          </a:bodyPr>
          <a:lstStyle/>
          <a:p>
            <a:pPr marL="457200" indent="-457200" algn="just">
              <a:buFont typeface="Wingdings" pitchFamily="2" charset="2"/>
              <a:buChar char="q"/>
            </a:pPr>
            <a:r>
              <a:rPr lang="en-IN" sz="3000" dirty="0">
                <a:latin typeface="Times New Roman" pitchFamily="18" charset="0"/>
                <a:cs typeface="Times New Roman" pitchFamily="18" charset="0"/>
              </a:rPr>
              <a:t>Sample space </a:t>
            </a:r>
          </a:p>
          <a:p>
            <a:pPr algn="ctr"/>
            <a:r>
              <a:rPr lang="en-IN" sz="3000" dirty="0">
                <a:latin typeface="Times New Roman" pitchFamily="18" charset="0"/>
                <a:cs typeface="Times New Roman" pitchFamily="18" charset="0"/>
              </a:rPr>
              <a:t>S={TT, TH, HT, HH}.</a:t>
            </a:r>
            <a:endParaRPr lang="en-US" sz="3000" dirty="0">
              <a:latin typeface="Times New Roman" pitchFamily="18" charset="0"/>
              <a:cs typeface="Times New Roman" pitchFamily="18" charset="0"/>
            </a:endParaRPr>
          </a:p>
        </p:txBody>
      </p:sp>
      <p:sp>
        <p:nvSpPr>
          <p:cNvPr id="8" name="Text Box 28"/>
          <p:cNvSpPr txBox="1">
            <a:spLocks noChangeArrowheads="1"/>
          </p:cNvSpPr>
          <p:nvPr/>
        </p:nvSpPr>
        <p:spPr bwMode="auto">
          <a:xfrm>
            <a:off x="762000" y="5385141"/>
            <a:ext cx="7772400"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just"/>
            <a:r>
              <a:rPr lang="en-AU" sz="3000" dirty="0">
                <a:latin typeface="Times New Roman" pitchFamily="18" charset="0"/>
                <a:cs typeface="Times New Roman" pitchFamily="18" charset="0"/>
              </a:rPr>
              <a:t>We also associate a probability with X attaining that value.</a:t>
            </a:r>
          </a:p>
        </p:txBody>
      </p:sp>
      <p:sp>
        <p:nvSpPr>
          <p:cNvPr id="9" name="Slide Number Placeholder 8"/>
          <p:cNvSpPr>
            <a:spLocks noGrp="1"/>
          </p:cNvSpPr>
          <p:nvPr>
            <p:ph type="sldNum" sz="quarter" idx="12"/>
          </p:nvPr>
        </p:nvSpPr>
        <p:spPr/>
        <p:txBody>
          <a:bodyPr/>
          <a:lstStyle/>
          <a:p>
            <a:pPr>
              <a:defRPr/>
            </a:pPr>
            <a:fld id="{645ED874-4033-4CEE-AE69-D7CB222F48E6}" type="slidenum">
              <a:rPr lang="en-US" smtClean="0"/>
              <a:pPr>
                <a:defRPr/>
              </a:pPr>
              <a:t>4</a:t>
            </a:fld>
            <a:endParaRPr lang="en-US"/>
          </a:p>
        </p:txBody>
      </p:sp>
      <p:sp>
        <p:nvSpPr>
          <p:cNvPr id="4" name="Date Placeholder 3">
            <a:extLst>
              <a:ext uri="{FF2B5EF4-FFF2-40B4-BE49-F238E27FC236}">
                <a16:creationId xmlns:a16="http://schemas.microsoft.com/office/drawing/2014/main" id="{F5159ACE-C30E-4C50-B37F-BB9EE387A757}"/>
              </a:ext>
            </a:extLst>
          </p:cNvPr>
          <p:cNvSpPr>
            <a:spLocks noGrp="1"/>
          </p:cNvSpPr>
          <p:nvPr>
            <p:ph type="dt" sz="half" idx="10"/>
          </p:nvPr>
        </p:nvSpPr>
        <p:spPr/>
        <p:txBody>
          <a:bodyPr/>
          <a:lstStyle/>
          <a:p>
            <a:pPr>
              <a:defRPr/>
            </a:pPr>
            <a:fld id="{B8962B9F-E6B6-432A-AA4C-8551F038804E}" type="datetime3">
              <a:rPr lang="en-US" smtClean="0"/>
              <a:t>16 December 2025</a:t>
            </a:fld>
            <a:endParaRPr lang="en-US"/>
          </a:p>
        </p:txBody>
      </p:sp>
      <p:sp>
        <p:nvSpPr>
          <p:cNvPr id="5" name="Footer Placeholder 4">
            <a:extLst>
              <a:ext uri="{FF2B5EF4-FFF2-40B4-BE49-F238E27FC236}">
                <a16:creationId xmlns:a16="http://schemas.microsoft.com/office/drawing/2014/main" id="{F1AAAACD-237D-47BD-AFFE-C334D839A764}"/>
              </a:ext>
            </a:extLst>
          </p:cNvPr>
          <p:cNvSpPr>
            <a:spLocks noGrp="1"/>
          </p:cNvSpPr>
          <p:nvPr>
            <p:ph type="ftr" sz="quarter" idx="11"/>
          </p:nvPr>
        </p:nvSpPr>
        <p:spPr/>
        <p:txBody>
          <a:bodyPr/>
          <a:lstStyle/>
          <a:p>
            <a:pPr>
              <a:defRPr/>
            </a:pPr>
            <a:r>
              <a:rPr lang="en-US"/>
              <a:t>T. Mayooran</a:t>
            </a:r>
          </a:p>
        </p:txBody>
      </p:sp>
    </p:spTree>
    <p:extLst>
      <p:ext uri="{BB962C8B-B14F-4D97-AF65-F5344CB8AC3E}">
        <p14:creationId xmlns:p14="http://schemas.microsoft.com/office/powerpoint/2010/main" val="3168042639"/>
      </p:ext>
    </p:extLst>
  </p:cSld>
  <p:clrMapOvr>
    <a:masterClrMapping/>
  </p:clrMapOvr>
  <p:transition spd="slow">
    <p:wipe dir="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6418" name="Group 34"/>
          <p:cNvGraphicFramePr>
            <a:graphicFrameLocks noGrp="1"/>
          </p:cNvGraphicFramePr>
          <p:nvPr>
            <p:ph sz="half" idx="1"/>
            <p:extLst>
              <p:ext uri="{D42A27DB-BD31-4B8C-83A1-F6EECF244321}">
                <p14:modId xmlns:p14="http://schemas.microsoft.com/office/powerpoint/2010/main" val="1745202869"/>
              </p:ext>
            </p:extLst>
          </p:nvPr>
        </p:nvGraphicFramePr>
        <p:xfrm>
          <a:off x="1143000" y="2209804"/>
          <a:ext cx="2667000" cy="3336927"/>
        </p:xfrm>
        <a:graphic>
          <a:graphicData uri="http://schemas.openxmlformats.org/drawingml/2006/table">
            <a:tbl>
              <a:tblPr/>
              <a:tblGrid>
                <a:gridCol w="889000">
                  <a:extLst>
                    <a:ext uri="{9D8B030D-6E8A-4147-A177-3AD203B41FA5}">
                      <a16:colId xmlns:a16="http://schemas.microsoft.com/office/drawing/2014/main" val="20000"/>
                    </a:ext>
                  </a:extLst>
                </a:gridCol>
                <a:gridCol w="1092200">
                  <a:extLst>
                    <a:ext uri="{9D8B030D-6E8A-4147-A177-3AD203B41FA5}">
                      <a16:colId xmlns:a16="http://schemas.microsoft.com/office/drawing/2014/main" val="20001"/>
                    </a:ext>
                  </a:extLst>
                </a:gridCol>
                <a:gridCol w="685800">
                  <a:extLst>
                    <a:ext uri="{9D8B030D-6E8A-4147-A177-3AD203B41FA5}">
                      <a16:colId xmlns:a16="http://schemas.microsoft.com/office/drawing/2014/main" val="20002"/>
                    </a:ext>
                  </a:extLst>
                </a:gridCol>
              </a:tblGrid>
              <a:tr h="668938">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AU" sz="3000" b="1" i="0" u="none" strike="noStrike" cap="none" normalizeH="0" baseline="0" dirty="0">
                          <a:ln>
                            <a:noFill/>
                          </a:ln>
                          <a:solidFill>
                            <a:schemeClr val="tx1"/>
                          </a:solidFill>
                          <a:effectLst/>
                          <a:latin typeface="Times New Roman" pitchFamily="18" charset="0"/>
                          <a:cs typeface="Times New Roman" pitchFamily="18" charset="0"/>
                        </a:rPr>
                        <a:t>S</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AU" sz="3000" b="1" i="0" u="none" strike="noStrike" cap="none" normalizeH="0" baseline="0">
                          <a:ln>
                            <a:noFill/>
                          </a:ln>
                          <a:solidFill>
                            <a:schemeClr val="tx1"/>
                          </a:solidFill>
                          <a:effectLst/>
                          <a:latin typeface="Times New Roman" pitchFamily="18" charset="0"/>
                          <a:cs typeface="Times New Roman" pitchFamily="18" charset="0"/>
                        </a:rPr>
                        <a:t>Prob</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AU" sz="3000" b="1" i="0" u="none" strike="noStrike" cap="none" normalizeH="0" baseline="0" dirty="0">
                          <a:ln>
                            <a:noFill/>
                          </a:ln>
                          <a:solidFill>
                            <a:schemeClr val="tx1"/>
                          </a:solidFill>
                          <a:effectLst/>
                          <a:latin typeface="Times New Roman" pitchFamily="18" charset="0"/>
                          <a:cs typeface="Times New Roman" pitchFamily="18" charset="0"/>
                        </a:rPr>
                        <a:t>X</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665833">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AU" sz="3000" b="0" i="0" u="none" strike="noStrike" cap="none" normalizeH="0" baseline="0">
                          <a:ln>
                            <a:noFill/>
                          </a:ln>
                          <a:solidFill>
                            <a:schemeClr val="tx1"/>
                          </a:solidFill>
                          <a:effectLst/>
                          <a:latin typeface="Times New Roman" pitchFamily="18" charset="0"/>
                          <a:cs typeface="Times New Roman" pitchFamily="18" charset="0"/>
                        </a:rPr>
                        <a:t>TT</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AU" sz="3000" b="0" i="0" u="none" strike="noStrike" cap="none" normalizeH="0" baseline="0" dirty="0">
                          <a:ln>
                            <a:noFill/>
                          </a:ln>
                          <a:solidFill>
                            <a:schemeClr val="tx1"/>
                          </a:solidFill>
                          <a:effectLst/>
                          <a:latin typeface="Times New Roman" pitchFamily="18" charset="0"/>
                          <a:cs typeface="Times New Roman" pitchFamily="18" charset="0"/>
                        </a:rPr>
                        <a:t>1/4</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AU" sz="3000" b="0" i="0" u="none" strike="noStrike" cap="none" normalizeH="0" baseline="0">
                          <a:ln>
                            <a:noFill/>
                          </a:ln>
                          <a:solidFill>
                            <a:schemeClr val="tx1"/>
                          </a:solidFill>
                          <a:effectLst/>
                          <a:latin typeface="Times New Roman" pitchFamily="18" charset="0"/>
                          <a:cs typeface="Times New Roman" pitchFamily="18" charset="0"/>
                        </a:rPr>
                        <a:t>0</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668938">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AU" sz="3000" b="0" i="0" u="none" strike="noStrike" cap="none" normalizeH="0" baseline="0">
                          <a:ln>
                            <a:noFill/>
                          </a:ln>
                          <a:solidFill>
                            <a:schemeClr val="tx1"/>
                          </a:solidFill>
                          <a:effectLst/>
                          <a:latin typeface="Times New Roman" pitchFamily="18" charset="0"/>
                          <a:cs typeface="Times New Roman" pitchFamily="18" charset="0"/>
                        </a:rPr>
                        <a:t>TH</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AU" sz="3000" b="0" i="0" u="none" strike="noStrike" cap="none" normalizeH="0" baseline="0">
                          <a:ln>
                            <a:noFill/>
                          </a:ln>
                          <a:solidFill>
                            <a:schemeClr val="tx1"/>
                          </a:solidFill>
                          <a:effectLst/>
                          <a:latin typeface="Times New Roman" pitchFamily="18" charset="0"/>
                          <a:cs typeface="Times New Roman" pitchFamily="18" charset="0"/>
                        </a:rPr>
                        <a:t>1/4</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AU" sz="3000" b="0" i="0" u="none" strike="noStrike" cap="none" normalizeH="0" baseline="0">
                          <a:ln>
                            <a:noFill/>
                          </a:ln>
                          <a:solidFill>
                            <a:schemeClr val="tx1"/>
                          </a:solidFill>
                          <a:effectLst/>
                          <a:latin typeface="Times New Roman" pitchFamily="18" charset="0"/>
                          <a:cs typeface="Times New Roman" pitchFamily="18" charset="0"/>
                        </a:rPr>
                        <a:t>1</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665833">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AU" sz="3000" b="0" i="0" u="none" strike="noStrike" cap="none" normalizeH="0" baseline="0">
                          <a:ln>
                            <a:noFill/>
                          </a:ln>
                          <a:solidFill>
                            <a:schemeClr val="tx1"/>
                          </a:solidFill>
                          <a:effectLst/>
                          <a:latin typeface="Times New Roman" pitchFamily="18" charset="0"/>
                          <a:cs typeface="Times New Roman" pitchFamily="18" charset="0"/>
                        </a:rPr>
                        <a:t>HT</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AU" sz="3000" b="0" i="0" u="none" strike="noStrike" cap="none" normalizeH="0" baseline="0">
                          <a:ln>
                            <a:noFill/>
                          </a:ln>
                          <a:solidFill>
                            <a:schemeClr val="tx1"/>
                          </a:solidFill>
                          <a:effectLst/>
                          <a:latin typeface="Times New Roman" pitchFamily="18" charset="0"/>
                          <a:cs typeface="Times New Roman" pitchFamily="18" charset="0"/>
                        </a:rPr>
                        <a:t>1/4</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AU" sz="3000" b="0" i="0" u="none" strike="noStrike" cap="none" normalizeH="0" baseline="0">
                          <a:ln>
                            <a:noFill/>
                          </a:ln>
                          <a:solidFill>
                            <a:schemeClr val="tx1"/>
                          </a:solidFill>
                          <a:effectLst/>
                          <a:latin typeface="Times New Roman" pitchFamily="18" charset="0"/>
                          <a:cs typeface="Times New Roman" pitchFamily="18" charset="0"/>
                        </a:rPr>
                        <a:t>1</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r h="667385">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AU" sz="3000" b="0" i="0" u="none" strike="noStrike" cap="none" normalizeH="0" baseline="0">
                          <a:ln>
                            <a:noFill/>
                          </a:ln>
                          <a:solidFill>
                            <a:schemeClr val="tx1"/>
                          </a:solidFill>
                          <a:effectLst/>
                          <a:latin typeface="Times New Roman" pitchFamily="18" charset="0"/>
                          <a:cs typeface="Times New Roman" pitchFamily="18" charset="0"/>
                        </a:rPr>
                        <a:t>HH</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AU" sz="3000" b="0" i="0" u="none" strike="noStrike" cap="none" normalizeH="0" baseline="0" dirty="0">
                          <a:ln>
                            <a:noFill/>
                          </a:ln>
                          <a:solidFill>
                            <a:schemeClr val="tx1"/>
                          </a:solidFill>
                          <a:effectLst/>
                          <a:latin typeface="Times New Roman" pitchFamily="18" charset="0"/>
                          <a:cs typeface="Times New Roman" pitchFamily="18" charset="0"/>
                        </a:rPr>
                        <a:t>1/4</a:t>
                      </a:r>
                    </a:p>
                  </a:txBody>
                  <a:tcP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AU" sz="3000" b="0" i="0" u="none" strike="noStrike" cap="none" normalizeH="0" baseline="0" dirty="0">
                          <a:ln>
                            <a:noFill/>
                          </a:ln>
                          <a:solidFill>
                            <a:schemeClr val="tx1"/>
                          </a:solidFill>
                          <a:effectLst/>
                          <a:latin typeface="Times New Roman" pitchFamily="18" charset="0"/>
                          <a:cs typeface="Times New Roman" pitchFamily="18" charset="0"/>
                        </a:rPr>
                        <a:t>2</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4"/>
                  </a:ext>
                </a:extLst>
              </a:tr>
            </a:tbl>
          </a:graphicData>
        </a:graphic>
      </p:graphicFrame>
      <p:graphicFrame>
        <p:nvGraphicFramePr>
          <p:cNvPr id="16439" name="Group 55"/>
          <p:cNvGraphicFramePr>
            <a:graphicFrameLocks noGrp="1"/>
          </p:cNvGraphicFramePr>
          <p:nvPr>
            <p:ph sz="half" idx="2"/>
            <p:extLst>
              <p:ext uri="{D42A27DB-BD31-4B8C-83A1-F6EECF244321}">
                <p14:modId xmlns:p14="http://schemas.microsoft.com/office/powerpoint/2010/main" val="719549710"/>
              </p:ext>
            </p:extLst>
          </p:nvPr>
        </p:nvGraphicFramePr>
        <p:xfrm>
          <a:off x="5410204" y="2258221"/>
          <a:ext cx="2720975" cy="3380583"/>
        </p:xfrm>
        <a:graphic>
          <a:graphicData uri="http://schemas.openxmlformats.org/drawingml/2006/table">
            <a:tbl>
              <a:tblPr/>
              <a:tblGrid>
                <a:gridCol w="1361321">
                  <a:extLst>
                    <a:ext uri="{9D8B030D-6E8A-4147-A177-3AD203B41FA5}">
                      <a16:colId xmlns:a16="http://schemas.microsoft.com/office/drawing/2014/main" val="20000"/>
                    </a:ext>
                  </a:extLst>
                </a:gridCol>
                <a:gridCol w="1359654">
                  <a:extLst>
                    <a:ext uri="{9D8B030D-6E8A-4147-A177-3AD203B41FA5}">
                      <a16:colId xmlns:a16="http://schemas.microsoft.com/office/drawing/2014/main" val="20001"/>
                    </a:ext>
                  </a:extLst>
                </a:gridCol>
              </a:tblGrid>
              <a:tr h="934238">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AU" sz="3000" b="1" i="0" u="none" strike="noStrike" cap="none" normalizeH="0" baseline="0" dirty="0">
                          <a:ln>
                            <a:noFill/>
                          </a:ln>
                          <a:solidFill>
                            <a:schemeClr val="tx1"/>
                          </a:solidFill>
                          <a:effectLst/>
                          <a:latin typeface="Times New Roman" pitchFamily="18" charset="0"/>
                          <a:cs typeface="Times New Roman" pitchFamily="18" charset="0"/>
                        </a:rPr>
                        <a:t>X</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AU" sz="3000" b="1" i="0" u="none" strike="noStrike" cap="none" normalizeH="0" baseline="0" dirty="0">
                          <a:ln>
                            <a:noFill/>
                          </a:ln>
                          <a:solidFill>
                            <a:schemeClr val="tx1"/>
                          </a:solidFill>
                          <a:effectLst/>
                          <a:latin typeface="Times New Roman" pitchFamily="18" charset="0"/>
                          <a:cs typeface="Times New Roman" pitchFamily="18" charset="0"/>
                        </a:rPr>
                        <a:t>P(X=x)</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789537">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AU" sz="3000" b="0" i="0" u="none" strike="noStrike" cap="none" normalizeH="0" baseline="0" dirty="0">
                          <a:ln>
                            <a:noFill/>
                          </a:ln>
                          <a:solidFill>
                            <a:schemeClr val="tx1"/>
                          </a:solidFill>
                          <a:effectLst/>
                          <a:latin typeface="Times New Roman" pitchFamily="18" charset="0"/>
                          <a:cs typeface="Times New Roman" pitchFamily="18" charset="0"/>
                        </a:rPr>
                        <a:t>0</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AU" sz="3000" b="0" i="0" u="none" strike="noStrike" cap="none" normalizeH="0" baseline="0">
                          <a:ln>
                            <a:noFill/>
                          </a:ln>
                          <a:solidFill>
                            <a:schemeClr val="tx1"/>
                          </a:solidFill>
                          <a:effectLst/>
                          <a:latin typeface="Times New Roman" pitchFamily="18" charset="0"/>
                          <a:cs typeface="Times New Roman" pitchFamily="18" charset="0"/>
                        </a:rPr>
                        <a:t>1/4</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791071">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AU" sz="3000" b="0" i="0" u="none" strike="noStrike" cap="none" normalizeH="0" baseline="0">
                          <a:ln>
                            <a:noFill/>
                          </a:ln>
                          <a:solidFill>
                            <a:schemeClr val="tx1"/>
                          </a:solidFill>
                          <a:effectLst/>
                          <a:latin typeface="Times New Roman" pitchFamily="18" charset="0"/>
                          <a:cs typeface="Times New Roman" pitchFamily="18" charset="0"/>
                        </a:rPr>
                        <a:t>1</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AU" sz="3000" b="0" i="0" u="none" strike="noStrike" cap="none" normalizeH="0" baseline="0">
                          <a:ln>
                            <a:noFill/>
                          </a:ln>
                          <a:solidFill>
                            <a:schemeClr val="tx1"/>
                          </a:solidFill>
                          <a:effectLst/>
                          <a:latin typeface="Times New Roman" pitchFamily="18" charset="0"/>
                          <a:cs typeface="Times New Roman" pitchFamily="18" charset="0"/>
                        </a:rPr>
                        <a:t>1/2</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865737">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AU" sz="3000" b="0" i="0" u="none" strike="noStrike" cap="none" normalizeH="0" baseline="0">
                          <a:ln>
                            <a:noFill/>
                          </a:ln>
                          <a:solidFill>
                            <a:schemeClr val="tx1"/>
                          </a:solidFill>
                          <a:effectLst/>
                          <a:latin typeface="Times New Roman" pitchFamily="18" charset="0"/>
                          <a:cs typeface="Times New Roman" pitchFamily="18" charset="0"/>
                        </a:rPr>
                        <a:t>2</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Tx/>
                        <a:buFontTx/>
                        <a:buNone/>
                        <a:tabLst/>
                      </a:pPr>
                      <a:r>
                        <a:rPr kumimoji="0" lang="en-AU" sz="3000" b="0" i="0" u="none" strike="noStrike" cap="none" normalizeH="0" baseline="0" dirty="0">
                          <a:ln>
                            <a:noFill/>
                          </a:ln>
                          <a:solidFill>
                            <a:schemeClr val="tx1"/>
                          </a:solidFill>
                          <a:effectLst/>
                          <a:latin typeface="Times New Roman" pitchFamily="18" charset="0"/>
                          <a:cs typeface="Times New Roman" pitchFamily="18" charset="0"/>
                        </a:rPr>
                        <a:t>1/4</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3"/>
                  </a:ext>
                </a:extLst>
              </a:tr>
            </a:tbl>
          </a:graphicData>
        </a:graphic>
      </p:graphicFrame>
      <p:sp>
        <p:nvSpPr>
          <p:cNvPr id="16440" name="AutoShape 56"/>
          <p:cNvSpPr>
            <a:spLocks noChangeArrowheads="1"/>
          </p:cNvSpPr>
          <p:nvPr/>
        </p:nvSpPr>
        <p:spPr bwMode="auto">
          <a:xfrm>
            <a:off x="4267204" y="3644903"/>
            <a:ext cx="720725" cy="576263"/>
          </a:xfrm>
          <a:prstGeom prst="rightArrow">
            <a:avLst>
              <a:gd name="adj1" fmla="val 50000"/>
              <a:gd name="adj2" fmla="val 31267"/>
            </a:avLst>
          </a:prstGeom>
          <a:solidFill>
            <a:srgbClr val="003399"/>
          </a:solidFill>
          <a:ln w="9525">
            <a:solidFill>
              <a:schemeClr val="tx1"/>
            </a:solidFill>
            <a:miter lim="800000"/>
            <a:headEnd/>
            <a:tailEnd/>
          </a:ln>
          <a:effectLst/>
        </p:spPr>
        <p:txBody>
          <a:bodyPr wrap="none" anchor="ctr"/>
          <a:lstStyle/>
          <a:p>
            <a:endParaRPr lang="en-GB"/>
          </a:p>
        </p:txBody>
      </p:sp>
      <p:sp>
        <p:nvSpPr>
          <p:cNvPr id="7" name="Title 1"/>
          <p:cNvSpPr>
            <a:spLocks noGrp="1"/>
          </p:cNvSpPr>
          <p:nvPr>
            <p:ph type="title"/>
          </p:nvPr>
        </p:nvSpPr>
        <p:spPr>
          <a:xfrm>
            <a:off x="931867" y="76204"/>
            <a:ext cx="7158037" cy="1412875"/>
          </a:xfrm>
        </p:spPr>
        <p:txBody>
          <a:bodyPr/>
          <a:lstStyle/>
          <a:p>
            <a:r>
              <a:rPr lang="en-GB" sz="4500" dirty="0">
                <a:solidFill>
                  <a:srgbClr val="C00000"/>
                </a:solidFill>
                <a:effectLst>
                  <a:outerShdw blurRad="38100" dist="38100" dir="2700000" algn="tl">
                    <a:srgbClr val="000000">
                      <a:alpha val="43137"/>
                    </a:srgbClr>
                  </a:outerShdw>
                </a:effectLst>
                <a:latin typeface="Times New Roman" pitchFamily="18" charset="0"/>
                <a:cs typeface="Times New Roman" pitchFamily="18" charset="0"/>
              </a:rPr>
              <a:t>Example continue….</a:t>
            </a:r>
          </a:p>
        </p:txBody>
      </p:sp>
      <p:sp>
        <p:nvSpPr>
          <p:cNvPr id="4" name="Slide Number Placeholder 3"/>
          <p:cNvSpPr>
            <a:spLocks noGrp="1"/>
          </p:cNvSpPr>
          <p:nvPr>
            <p:ph type="sldNum" sz="quarter" idx="12"/>
          </p:nvPr>
        </p:nvSpPr>
        <p:spPr/>
        <p:txBody>
          <a:bodyPr/>
          <a:lstStyle/>
          <a:p>
            <a:pPr>
              <a:defRPr/>
            </a:pPr>
            <a:fld id="{605A68BB-D301-4C84-8D5A-68B072225578}" type="slidenum">
              <a:rPr lang="en-US" smtClean="0"/>
              <a:pPr>
                <a:defRPr/>
              </a:pPr>
              <a:t>5</a:t>
            </a:fld>
            <a:endParaRPr lang="en-US"/>
          </a:p>
        </p:txBody>
      </p:sp>
      <p:sp>
        <p:nvSpPr>
          <p:cNvPr id="2" name="Date Placeholder 1">
            <a:extLst>
              <a:ext uri="{FF2B5EF4-FFF2-40B4-BE49-F238E27FC236}">
                <a16:creationId xmlns:a16="http://schemas.microsoft.com/office/drawing/2014/main" id="{F3197730-16B4-4EA3-9BC0-32F5183845A5}"/>
              </a:ext>
            </a:extLst>
          </p:cNvPr>
          <p:cNvSpPr>
            <a:spLocks noGrp="1"/>
          </p:cNvSpPr>
          <p:nvPr>
            <p:ph type="dt" sz="half" idx="10"/>
          </p:nvPr>
        </p:nvSpPr>
        <p:spPr/>
        <p:txBody>
          <a:bodyPr/>
          <a:lstStyle/>
          <a:p>
            <a:pPr>
              <a:defRPr/>
            </a:pPr>
            <a:fld id="{681C6843-FF4B-4CC3-9D83-019110DBFF94}" type="datetime3">
              <a:rPr lang="en-US" smtClean="0"/>
              <a:t>16 December 2025</a:t>
            </a:fld>
            <a:endParaRPr lang="en-US"/>
          </a:p>
        </p:txBody>
      </p:sp>
      <p:sp>
        <p:nvSpPr>
          <p:cNvPr id="3" name="Footer Placeholder 2">
            <a:extLst>
              <a:ext uri="{FF2B5EF4-FFF2-40B4-BE49-F238E27FC236}">
                <a16:creationId xmlns:a16="http://schemas.microsoft.com/office/drawing/2014/main" id="{BD3345F1-5DED-4762-A43D-3713065A4E36}"/>
              </a:ext>
            </a:extLst>
          </p:cNvPr>
          <p:cNvSpPr>
            <a:spLocks noGrp="1"/>
          </p:cNvSpPr>
          <p:nvPr>
            <p:ph type="ftr" sz="quarter" idx="11"/>
          </p:nvPr>
        </p:nvSpPr>
        <p:spPr/>
        <p:txBody>
          <a:bodyPr/>
          <a:lstStyle/>
          <a:p>
            <a:pPr>
              <a:defRPr/>
            </a:pPr>
            <a:r>
              <a:rPr lang="en-US"/>
              <a:t>T. Mayooran</a:t>
            </a:r>
          </a:p>
        </p:txBody>
      </p:sp>
    </p:spTree>
    <p:extLst>
      <p:ext uri="{BB962C8B-B14F-4D97-AF65-F5344CB8AC3E}">
        <p14:creationId xmlns:p14="http://schemas.microsoft.com/office/powerpoint/2010/main" val="3649792387"/>
      </p:ext>
    </p:extLst>
  </p:cSld>
  <p:clrMapOvr>
    <a:masterClrMapping/>
  </p:clrMapOvr>
  <p:transition spd="slow">
    <p:wipe dir="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a:xfrm>
            <a:off x="931867" y="34929"/>
            <a:ext cx="7526337" cy="1412875"/>
          </a:xfrm>
        </p:spPr>
        <p:txBody>
          <a:bodyPr/>
          <a:lstStyle/>
          <a:p>
            <a:pPr eaLnBrk="1" hangingPunct="1"/>
            <a:r>
              <a:rPr lang="en-US" sz="3500" dirty="0">
                <a:solidFill>
                  <a:srgbClr val="C00000"/>
                </a:solidFill>
                <a:effectLst>
                  <a:outerShdw blurRad="38100" dist="38100" dir="2700000" algn="tl">
                    <a:srgbClr val="000000">
                      <a:alpha val="43137"/>
                    </a:srgbClr>
                  </a:outerShdw>
                </a:effectLst>
                <a:latin typeface="Times New Roman" pitchFamily="18" charset="0"/>
                <a:cs typeface="Times New Roman" pitchFamily="18" charset="0"/>
              </a:rPr>
              <a:t>Types of Random Variables Examples:</a:t>
            </a:r>
          </a:p>
        </p:txBody>
      </p:sp>
      <p:sp>
        <p:nvSpPr>
          <p:cNvPr id="23555" name="Rectangle 3"/>
          <p:cNvSpPr>
            <a:spLocks noGrp="1" noChangeArrowheads="1"/>
          </p:cNvSpPr>
          <p:nvPr>
            <p:ph type="body" sz="half" idx="1"/>
          </p:nvPr>
        </p:nvSpPr>
        <p:spPr>
          <a:xfrm>
            <a:off x="949329" y="1752600"/>
            <a:ext cx="7204075" cy="1752600"/>
          </a:xfrm>
        </p:spPr>
        <p:txBody>
          <a:bodyPr/>
          <a:lstStyle/>
          <a:p>
            <a:pPr marL="0" indent="0" eaLnBrk="1" hangingPunct="1">
              <a:lnSpc>
                <a:spcPct val="80000"/>
              </a:lnSpc>
              <a:buNone/>
            </a:pPr>
            <a:r>
              <a:rPr lang="en-US" sz="2400" dirty="0">
                <a:latin typeface="Times New Roman" pitchFamily="18" charset="0"/>
                <a:cs typeface="Times New Roman" pitchFamily="18" charset="0"/>
              </a:rPr>
              <a:t>D</a:t>
            </a:r>
            <a:r>
              <a:rPr lang="en-US" sz="2400" b="1" dirty="0">
                <a:latin typeface="Times New Roman" pitchFamily="18" charset="0"/>
                <a:cs typeface="Times New Roman" pitchFamily="18" charset="0"/>
              </a:rPr>
              <a:t>iscrete</a:t>
            </a:r>
            <a:r>
              <a:rPr lang="en-US" sz="2400" dirty="0">
                <a:latin typeface="Times New Roman" pitchFamily="18" charset="0"/>
                <a:cs typeface="Times New Roman" pitchFamily="18" charset="0"/>
              </a:rPr>
              <a:t> </a:t>
            </a:r>
            <a:r>
              <a:rPr lang="en-US" sz="2400" b="1" dirty="0">
                <a:latin typeface="Times New Roman" pitchFamily="18" charset="0"/>
                <a:cs typeface="Times New Roman" pitchFamily="18" charset="0"/>
              </a:rPr>
              <a:t>random variables</a:t>
            </a:r>
          </a:p>
          <a:p>
            <a:pPr lvl="1" eaLnBrk="1" hangingPunct="1">
              <a:lnSpc>
                <a:spcPct val="80000"/>
              </a:lnSpc>
            </a:pPr>
            <a:r>
              <a:rPr lang="en-US" dirty="0">
                <a:latin typeface="Times New Roman" pitchFamily="18" charset="0"/>
                <a:cs typeface="Times New Roman" pitchFamily="18" charset="0"/>
              </a:rPr>
              <a:t>Number of sales</a:t>
            </a:r>
          </a:p>
          <a:p>
            <a:pPr lvl="1" eaLnBrk="1" hangingPunct="1">
              <a:lnSpc>
                <a:spcPct val="80000"/>
              </a:lnSpc>
            </a:pPr>
            <a:r>
              <a:rPr lang="en-US" dirty="0">
                <a:latin typeface="Times New Roman" pitchFamily="18" charset="0"/>
                <a:cs typeface="Times New Roman" pitchFamily="18" charset="0"/>
              </a:rPr>
              <a:t>Number of calls</a:t>
            </a:r>
          </a:p>
          <a:p>
            <a:pPr lvl="1" eaLnBrk="1" hangingPunct="1">
              <a:lnSpc>
                <a:spcPct val="80000"/>
              </a:lnSpc>
            </a:pPr>
            <a:r>
              <a:rPr lang="en-US" dirty="0">
                <a:latin typeface="Times New Roman" pitchFamily="18" charset="0"/>
                <a:cs typeface="Times New Roman" pitchFamily="18" charset="0"/>
              </a:rPr>
              <a:t>Shares of stock</a:t>
            </a:r>
          </a:p>
          <a:p>
            <a:pPr lvl="1" eaLnBrk="1" hangingPunct="1">
              <a:lnSpc>
                <a:spcPct val="80000"/>
              </a:lnSpc>
            </a:pPr>
            <a:r>
              <a:rPr lang="en-US" dirty="0">
                <a:latin typeface="Times New Roman" pitchFamily="18" charset="0"/>
                <a:cs typeface="Times New Roman" pitchFamily="18" charset="0"/>
              </a:rPr>
              <a:t>People in line</a:t>
            </a:r>
          </a:p>
          <a:p>
            <a:pPr lvl="1" eaLnBrk="1" hangingPunct="1">
              <a:lnSpc>
                <a:spcPct val="80000"/>
              </a:lnSpc>
            </a:pPr>
            <a:r>
              <a:rPr lang="en-US" dirty="0">
                <a:latin typeface="Times New Roman" pitchFamily="18" charset="0"/>
                <a:cs typeface="Times New Roman" pitchFamily="18" charset="0"/>
              </a:rPr>
              <a:t>Mistakes per page</a:t>
            </a:r>
          </a:p>
          <a:p>
            <a:pPr lvl="1" eaLnBrk="1" hangingPunct="1">
              <a:lnSpc>
                <a:spcPct val="80000"/>
              </a:lnSpc>
            </a:pPr>
            <a:endParaRPr lang="en-US" dirty="0">
              <a:latin typeface="Times New Roman" pitchFamily="18" charset="0"/>
              <a:cs typeface="Times New Roman" pitchFamily="18" charset="0"/>
            </a:endParaRPr>
          </a:p>
        </p:txBody>
      </p:sp>
      <p:sp>
        <p:nvSpPr>
          <p:cNvPr id="23556" name="Rectangle 5"/>
          <p:cNvSpPr>
            <a:spLocks noGrp="1" noChangeArrowheads="1"/>
          </p:cNvSpPr>
          <p:nvPr>
            <p:ph type="body" sz="half" idx="2"/>
          </p:nvPr>
        </p:nvSpPr>
        <p:spPr>
          <a:xfrm>
            <a:off x="4191000" y="3962400"/>
            <a:ext cx="4572000" cy="2133600"/>
          </a:xfrm>
        </p:spPr>
        <p:txBody>
          <a:bodyPr/>
          <a:lstStyle/>
          <a:p>
            <a:pPr eaLnBrk="1" hangingPunct="1">
              <a:lnSpc>
                <a:spcPct val="80000"/>
              </a:lnSpc>
              <a:buFont typeface="Wingdings" pitchFamily="2" charset="2"/>
              <a:buChar char="q"/>
            </a:pPr>
            <a:r>
              <a:rPr lang="en-US" sz="2400" b="1" dirty="0">
                <a:latin typeface="Times New Roman" pitchFamily="18" charset="0"/>
                <a:cs typeface="Times New Roman" pitchFamily="18" charset="0"/>
              </a:rPr>
              <a:t>Continuous</a:t>
            </a:r>
            <a:r>
              <a:rPr lang="en-US" sz="2400" dirty="0">
                <a:latin typeface="Times New Roman" pitchFamily="18" charset="0"/>
                <a:cs typeface="Times New Roman" pitchFamily="18" charset="0"/>
              </a:rPr>
              <a:t> </a:t>
            </a:r>
            <a:r>
              <a:rPr lang="en-US" sz="2400" b="1" dirty="0">
                <a:latin typeface="Times New Roman" pitchFamily="18" charset="0"/>
                <a:cs typeface="Times New Roman" pitchFamily="18" charset="0"/>
              </a:rPr>
              <a:t>random variables</a:t>
            </a:r>
          </a:p>
          <a:p>
            <a:pPr lvl="1" eaLnBrk="1" hangingPunct="1">
              <a:lnSpc>
                <a:spcPct val="80000"/>
              </a:lnSpc>
            </a:pPr>
            <a:r>
              <a:rPr lang="en-US" dirty="0">
                <a:latin typeface="Times New Roman" pitchFamily="18" charset="0"/>
                <a:cs typeface="Times New Roman" pitchFamily="18" charset="0"/>
              </a:rPr>
              <a:t>Length</a:t>
            </a:r>
          </a:p>
          <a:p>
            <a:pPr lvl="1" eaLnBrk="1" hangingPunct="1">
              <a:lnSpc>
                <a:spcPct val="80000"/>
              </a:lnSpc>
            </a:pPr>
            <a:r>
              <a:rPr lang="en-US" dirty="0">
                <a:latin typeface="Times New Roman" pitchFamily="18" charset="0"/>
                <a:cs typeface="Times New Roman" pitchFamily="18" charset="0"/>
              </a:rPr>
              <a:t>Depth</a:t>
            </a:r>
          </a:p>
          <a:p>
            <a:pPr lvl="1" eaLnBrk="1" hangingPunct="1">
              <a:lnSpc>
                <a:spcPct val="80000"/>
              </a:lnSpc>
            </a:pPr>
            <a:r>
              <a:rPr lang="en-US" dirty="0">
                <a:latin typeface="Times New Roman" pitchFamily="18" charset="0"/>
                <a:cs typeface="Times New Roman" pitchFamily="18" charset="0"/>
              </a:rPr>
              <a:t>Volume</a:t>
            </a:r>
          </a:p>
          <a:p>
            <a:pPr lvl="1" eaLnBrk="1" hangingPunct="1">
              <a:lnSpc>
                <a:spcPct val="80000"/>
              </a:lnSpc>
            </a:pPr>
            <a:r>
              <a:rPr lang="en-US" dirty="0">
                <a:latin typeface="Times New Roman" pitchFamily="18" charset="0"/>
                <a:cs typeface="Times New Roman" pitchFamily="18" charset="0"/>
              </a:rPr>
              <a:t>Time</a:t>
            </a:r>
          </a:p>
          <a:p>
            <a:pPr lvl="1" eaLnBrk="1" hangingPunct="1">
              <a:lnSpc>
                <a:spcPct val="80000"/>
              </a:lnSpc>
            </a:pPr>
            <a:r>
              <a:rPr lang="en-US" dirty="0">
                <a:latin typeface="Times New Roman" pitchFamily="18" charset="0"/>
                <a:cs typeface="Times New Roman" pitchFamily="18" charset="0"/>
              </a:rPr>
              <a:t>Weight</a:t>
            </a:r>
          </a:p>
        </p:txBody>
      </p:sp>
      <p:pic>
        <p:nvPicPr>
          <p:cNvPr id="23557" name="Picture 9" descr="C:\WINNT\Temporary Internet Files\Content.IE5\0SG27ZK7\MPj04117300000[1].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562604" y="1600200"/>
            <a:ext cx="2613025" cy="2133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23558" name="Picture 10" descr="C:\WINNT\Temporary Internet Files\Content.IE5\4NUK43N9\MPj04054340000[1].jpg"/>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19200" y="4038600"/>
            <a:ext cx="3352800" cy="23955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Slide Number Placeholder 2"/>
          <p:cNvSpPr>
            <a:spLocks noGrp="1"/>
          </p:cNvSpPr>
          <p:nvPr>
            <p:ph type="sldNum" sz="quarter" idx="12"/>
          </p:nvPr>
        </p:nvSpPr>
        <p:spPr/>
        <p:txBody>
          <a:bodyPr/>
          <a:lstStyle/>
          <a:p>
            <a:pPr>
              <a:defRPr/>
            </a:pPr>
            <a:fld id="{605A68BB-D301-4C84-8D5A-68B072225578}" type="slidenum">
              <a:rPr lang="en-US" smtClean="0"/>
              <a:pPr>
                <a:defRPr/>
              </a:pPr>
              <a:t>6</a:t>
            </a:fld>
            <a:endParaRPr lang="en-US"/>
          </a:p>
        </p:txBody>
      </p:sp>
      <p:sp>
        <p:nvSpPr>
          <p:cNvPr id="2" name="Date Placeholder 1">
            <a:extLst>
              <a:ext uri="{FF2B5EF4-FFF2-40B4-BE49-F238E27FC236}">
                <a16:creationId xmlns:a16="http://schemas.microsoft.com/office/drawing/2014/main" id="{E9CE3E0D-E8DD-409A-A434-2A177706C019}"/>
              </a:ext>
            </a:extLst>
          </p:cNvPr>
          <p:cNvSpPr>
            <a:spLocks noGrp="1"/>
          </p:cNvSpPr>
          <p:nvPr>
            <p:ph type="dt" sz="half" idx="10"/>
          </p:nvPr>
        </p:nvSpPr>
        <p:spPr/>
        <p:txBody>
          <a:bodyPr/>
          <a:lstStyle/>
          <a:p>
            <a:pPr>
              <a:defRPr/>
            </a:pPr>
            <a:fld id="{754A58C3-D815-42FE-8A0E-BF28211EFBE3}" type="datetime3">
              <a:rPr lang="en-US" smtClean="0"/>
              <a:t>16 December 2025</a:t>
            </a:fld>
            <a:endParaRPr lang="en-US"/>
          </a:p>
        </p:txBody>
      </p:sp>
      <p:sp>
        <p:nvSpPr>
          <p:cNvPr id="4" name="Footer Placeholder 3">
            <a:extLst>
              <a:ext uri="{FF2B5EF4-FFF2-40B4-BE49-F238E27FC236}">
                <a16:creationId xmlns:a16="http://schemas.microsoft.com/office/drawing/2014/main" id="{1E596E3B-736F-4468-B239-5DBA9AC5F3A1}"/>
              </a:ext>
            </a:extLst>
          </p:cNvPr>
          <p:cNvSpPr>
            <a:spLocks noGrp="1"/>
          </p:cNvSpPr>
          <p:nvPr>
            <p:ph type="ftr" sz="quarter" idx="11"/>
          </p:nvPr>
        </p:nvSpPr>
        <p:spPr/>
        <p:txBody>
          <a:bodyPr/>
          <a:lstStyle/>
          <a:p>
            <a:pPr>
              <a:defRPr/>
            </a:pPr>
            <a:r>
              <a:rPr lang="en-US"/>
              <a:t>T. Mayooran</a:t>
            </a:r>
          </a:p>
        </p:txBody>
      </p:sp>
    </p:spTree>
    <p:extLst>
      <p:ext uri="{BB962C8B-B14F-4D97-AF65-F5344CB8AC3E}">
        <p14:creationId xmlns:p14="http://schemas.microsoft.com/office/powerpoint/2010/main" val="4153478860"/>
      </p:ext>
    </p:extLst>
  </p:cSld>
  <p:clrMapOvr>
    <a:masterClrMapping/>
  </p:clrMapOvr>
  <p:transition spd="slow">
    <p:wipe dir="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2"/>
          <p:cNvSpPr>
            <a:spLocks noGrp="1" noChangeArrowheads="1"/>
          </p:cNvSpPr>
          <p:nvPr>
            <p:ph type="title"/>
          </p:nvPr>
        </p:nvSpPr>
        <p:spPr>
          <a:xfrm>
            <a:off x="911225" y="228600"/>
            <a:ext cx="8388350" cy="1143000"/>
          </a:xfrm>
        </p:spPr>
        <p:txBody>
          <a:bodyPr/>
          <a:lstStyle/>
          <a:p>
            <a:r>
              <a:rPr lang="en-US" sz="3500" dirty="0">
                <a:solidFill>
                  <a:srgbClr val="C00000"/>
                </a:solidFill>
                <a:effectLst>
                  <a:outerShdw blurRad="38100" dist="38100" dir="2700000" algn="tl">
                    <a:srgbClr val="000000">
                      <a:alpha val="43137"/>
                    </a:srgbClr>
                  </a:outerShdw>
                </a:effectLst>
                <a:latin typeface="Times New Roman" pitchFamily="18" charset="0"/>
                <a:cs typeface="Times New Roman" pitchFamily="18" charset="0"/>
              </a:rPr>
              <a:t>Introduction to Probability Distributions</a:t>
            </a:r>
          </a:p>
        </p:txBody>
      </p:sp>
      <p:sp>
        <p:nvSpPr>
          <p:cNvPr id="23556" name="Rectangle 4"/>
          <p:cNvSpPr>
            <a:spLocks noChangeArrowheads="1"/>
          </p:cNvSpPr>
          <p:nvPr/>
        </p:nvSpPr>
        <p:spPr bwMode="auto">
          <a:xfrm>
            <a:off x="3648364" y="1815524"/>
            <a:ext cx="2332038" cy="874712"/>
          </a:xfrm>
          <a:prstGeom prst="rect">
            <a:avLst/>
          </a:prstGeom>
          <a:solidFill>
            <a:srgbClr val="FDE0BD"/>
          </a:solidFill>
          <a:ln w="19050" algn="ctr">
            <a:solidFill>
              <a:schemeClr val="tx1"/>
            </a:solidFill>
            <a:miter lim="800000"/>
            <a:headEnd/>
            <a:tailEnd/>
          </a:ln>
        </p:spPr>
        <p:txBody>
          <a:bodyPr lIns="90488" tIns="44450" rIns="90488" bIns="44450" anchor="ctr">
            <a:spAutoFit/>
          </a:bodyPr>
          <a:lstStyle/>
          <a:p>
            <a:pPr algn="ctr" eaLnBrk="0" fontAlgn="base" hangingPunct="0">
              <a:spcBef>
                <a:spcPct val="50000"/>
              </a:spcBef>
              <a:spcAft>
                <a:spcPct val="0"/>
              </a:spcAft>
            </a:pPr>
            <a:r>
              <a:rPr lang="en-US" sz="2400" b="1" dirty="0">
                <a:solidFill>
                  <a:srgbClr val="336699"/>
                </a:solidFill>
                <a:latin typeface="Times New Roman" panose="02020603050405020304" pitchFamily="18" charset="0"/>
                <a:cs typeface="Times New Roman" panose="02020603050405020304" pitchFamily="18" charset="0"/>
              </a:rPr>
              <a:t>Random </a:t>
            </a:r>
          </a:p>
          <a:p>
            <a:pPr algn="ctr" eaLnBrk="0" fontAlgn="base" hangingPunct="0">
              <a:lnSpc>
                <a:spcPct val="60000"/>
              </a:lnSpc>
              <a:spcBef>
                <a:spcPct val="50000"/>
              </a:spcBef>
              <a:spcAft>
                <a:spcPct val="0"/>
              </a:spcAft>
            </a:pPr>
            <a:r>
              <a:rPr lang="en-US" sz="2400" b="1" dirty="0">
                <a:solidFill>
                  <a:srgbClr val="336699"/>
                </a:solidFill>
                <a:latin typeface="Times New Roman" panose="02020603050405020304" pitchFamily="18" charset="0"/>
                <a:cs typeface="Times New Roman" panose="02020603050405020304" pitchFamily="18" charset="0"/>
              </a:rPr>
              <a:t>Variables</a:t>
            </a:r>
          </a:p>
        </p:txBody>
      </p:sp>
      <p:sp>
        <p:nvSpPr>
          <p:cNvPr id="23557" name="Rectangle 5"/>
          <p:cNvSpPr>
            <a:spLocks noChangeArrowheads="1"/>
          </p:cNvSpPr>
          <p:nvPr/>
        </p:nvSpPr>
        <p:spPr bwMode="auto">
          <a:xfrm>
            <a:off x="1600200" y="4171157"/>
            <a:ext cx="2514600" cy="687388"/>
          </a:xfrm>
          <a:prstGeom prst="rect">
            <a:avLst/>
          </a:prstGeom>
          <a:solidFill>
            <a:srgbClr val="FDE0BD"/>
          </a:solidFill>
          <a:ln w="19050" algn="ctr">
            <a:solidFill>
              <a:schemeClr val="tx1"/>
            </a:solidFill>
            <a:miter lim="800000"/>
            <a:headEnd/>
            <a:tailEnd/>
          </a:ln>
        </p:spPr>
        <p:txBody>
          <a:bodyPr lIns="90488" tIns="44450" rIns="90488" bIns="44450" anchor="ctr">
            <a:spAutoFit/>
          </a:bodyPr>
          <a:lstStyle/>
          <a:p>
            <a:pPr algn="ctr" eaLnBrk="0" fontAlgn="base" hangingPunct="0">
              <a:lnSpc>
                <a:spcPct val="80000"/>
              </a:lnSpc>
              <a:spcBef>
                <a:spcPct val="50000"/>
              </a:spcBef>
              <a:spcAft>
                <a:spcPct val="0"/>
              </a:spcAft>
            </a:pPr>
            <a:r>
              <a:rPr lang="en-US" sz="2000" b="1" dirty="0">
                <a:solidFill>
                  <a:srgbClr val="336699"/>
                </a:solidFill>
                <a:latin typeface="Times New Roman" panose="02020603050405020304" pitchFamily="18" charset="0"/>
                <a:cs typeface="Times New Roman" panose="02020603050405020304" pitchFamily="18" charset="0"/>
              </a:rPr>
              <a:t>Discrete </a:t>
            </a:r>
          </a:p>
          <a:p>
            <a:pPr algn="ctr" eaLnBrk="0" fontAlgn="base" hangingPunct="0">
              <a:lnSpc>
                <a:spcPct val="60000"/>
              </a:lnSpc>
              <a:spcBef>
                <a:spcPct val="50000"/>
              </a:spcBef>
              <a:spcAft>
                <a:spcPct val="0"/>
              </a:spcAft>
            </a:pPr>
            <a:r>
              <a:rPr lang="en-US" sz="2000" b="1" dirty="0">
                <a:solidFill>
                  <a:srgbClr val="336699"/>
                </a:solidFill>
                <a:latin typeface="Times New Roman" panose="02020603050405020304" pitchFamily="18" charset="0"/>
                <a:cs typeface="Times New Roman" panose="02020603050405020304" pitchFamily="18" charset="0"/>
              </a:rPr>
              <a:t>Random Variable</a:t>
            </a:r>
          </a:p>
        </p:txBody>
      </p:sp>
      <p:sp>
        <p:nvSpPr>
          <p:cNvPr id="23558" name="Rectangle 6"/>
          <p:cNvSpPr>
            <a:spLocks noChangeArrowheads="1"/>
          </p:cNvSpPr>
          <p:nvPr/>
        </p:nvSpPr>
        <p:spPr bwMode="auto">
          <a:xfrm>
            <a:off x="5462732" y="4164446"/>
            <a:ext cx="2374900" cy="687388"/>
          </a:xfrm>
          <a:prstGeom prst="rect">
            <a:avLst/>
          </a:prstGeom>
          <a:solidFill>
            <a:srgbClr val="FDE0BD"/>
          </a:solidFill>
          <a:ln w="19050" algn="ctr">
            <a:solidFill>
              <a:schemeClr val="tx1"/>
            </a:solidFill>
            <a:miter lim="800000"/>
            <a:headEnd/>
            <a:tailEnd/>
          </a:ln>
        </p:spPr>
        <p:txBody>
          <a:bodyPr lIns="90488" tIns="44450" rIns="90488" bIns="44450" anchor="ctr">
            <a:spAutoFit/>
          </a:bodyPr>
          <a:lstStyle/>
          <a:p>
            <a:pPr algn="ctr" eaLnBrk="0" fontAlgn="base" hangingPunct="0">
              <a:lnSpc>
                <a:spcPct val="80000"/>
              </a:lnSpc>
              <a:spcBef>
                <a:spcPct val="50000"/>
              </a:spcBef>
              <a:spcAft>
                <a:spcPct val="0"/>
              </a:spcAft>
            </a:pPr>
            <a:r>
              <a:rPr lang="en-US" sz="2000" b="1" dirty="0">
                <a:solidFill>
                  <a:srgbClr val="336699"/>
                </a:solidFill>
                <a:latin typeface="Times New Roman" panose="02020603050405020304" pitchFamily="18" charset="0"/>
                <a:cs typeface="Times New Roman" panose="02020603050405020304" pitchFamily="18" charset="0"/>
              </a:rPr>
              <a:t>Continuous</a:t>
            </a:r>
          </a:p>
          <a:p>
            <a:pPr algn="ctr" eaLnBrk="0" fontAlgn="base" hangingPunct="0">
              <a:lnSpc>
                <a:spcPct val="60000"/>
              </a:lnSpc>
              <a:spcBef>
                <a:spcPct val="50000"/>
              </a:spcBef>
              <a:spcAft>
                <a:spcPct val="0"/>
              </a:spcAft>
            </a:pPr>
            <a:r>
              <a:rPr lang="en-US" sz="2000" b="1" dirty="0">
                <a:solidFill>
                  <a:srgbClr val="336699"/>
                </a:solidFill>
                <a:latin typeface="Times New Roman" panose="02020603050405020304" pitchFamily="18" charset="0"/>
                <a:cs typeface="Times New Roman" panose="02020603050405020304" pitchFamily="18" charset="0"/>
              </a:rPr>
              <a:t>Random Variable</a:t>
            </a:r>
          </a:p>
        </p:txBody>
      </p:sp>
      <p:cxnSp>
        <p:nvCxnSpPr>
          <p:cNvPr id="23559" name="AutoShape 7"/>
          <p:cNvCxnSpPr>
            <a:cxnSpLocks noChangeShapeType="1"/>
            <a:stCxn id="23556" idx="2"/>
            <a:endCxn id="23557" idx="0"/>
          </p:cNvCxnSpPr>
          <p:nvPr/>
        </p:nvCxnSpPr>
        <p:spPr bwMode="auto">
          <a:xfrm rot="5400000">
            <a:off x="3095484" y="2452257"/>
            <a:ext cx="1480921" cy="1956883"/>
          </a:xfrm>
          <a:prstGeom prst="bentConnector3">
            <a:avLst>
              <a:gd name="adj1" fmla="val 50000"/>
            </a:avLst>
          </a:prstGeom>
          <a:noFill/>
          <a:ln w="19050">
            <a:solidFill>
              <a:schemeClr val="tx1"/>
            </a:solidFill>
            <a:miter lim="800000"/>
            <a:headEnd/>
            <a:tailEnd/>
          </a:ln>
        </p:spPr>
      </p:cxnSp>
      <p:cxnSp>
        <p:nvCxnSpPr>
          <p:cNvPr id="23560" name="AutoShape 8"/>
          <p:cNvCxnSpPr>
            <a:cxnSpLocks noChangeShapeType="1"/>
            <a:stCxn id="23556" idx="2"/>
            <a:endCxn id="23558" idx="0"/>
          </p:cNvCxnSpPr>
          <p:nvPr/>
        </p:nvCxnSpPr>
        <p:spPr bwMode="auto">
          <a:xfrm rot="16200000" flipH="1">
            <a:off x="4995177" y="2509443"/>
            <a:ext cx="1474210" cy="1835799"/>
          </a:xfrm>
          <a:prstGeom prst="bentConnector3">
            <a:avLst>
              <a:gd name="adj1" fmla="val 50000"/>
            </a:avLst>
          </a:prstGeom>
          <a:noFill/>
          <a:ln w="19050">
            <a:solidFill>
              <a:schemeClr val="tx1"/>
            </a:solidFill>
            <a:miter lim="800000"/>
            <a:headEnd/>
            <a:tailEnd/>
          </a:ln>
        </p:spPr>
      </p:cxnSp>
      <p:sp>
        <p:nvSpPr>
          <p:cNvPr id="23561" name="Line 9"/>
          <p:cNvSpPr>
            <a:spLocks noChangeShapeType="1"/>
          </p:cNvSpPr>
          <p:nvPr/>
        </p:nvSpPr>
        <p:spPr bwMode="auto">
          <a:xfrm>
            <a:off x="3870325" y="4349750"/>
            <a:ext cx="1588" cy="1588"/>
          </a:xfrm>
          <a:prstGeom prst="line">
            <a:avLst/>
          </a:prstGeom>
          <a:noFill/>
          <a:ln w="25400">
            <a:solidFill>
              <a:srgbClr val="CDCDCD"/>
            </a:solidFill>
            <a:round/>
            <a:headEnd/>
            <a:tailEnd/>
          </a:ln>
        </p:spPr>
        <p:txBody>
          <a:bodyPr wrap="none" anchor="ctr"/>
          <a:lstStyle/>
          <a:p>
            <a:pPr fontAlgn="base">
              <a:spcBef>
                <a:spcPct val="0"/>
              </a:spcBef>
              <a:spcAft>
                <a:spcPct val="0"/>
              </a:spcAft>
            </a:pPr>
            <a:endParaRPr lang="en-NZ">
              <a:solidFill>
                <a:srgbClr val="336699"/>
              </a:solidFill>
            </a:endParaRPr>
          </a:p>
        </p:txBody>
      </p:sp>
      <p:sp>
        <p:nvSpPr>
          <p:cNvPr id="23562" name="Line 10"/>
          <p:cNvSpPr>
            <a:spLocks noChangeShapeType="1"/>
          </p:cNvSpPr>
          <p:nvPr/>
        </p:nvSpPr>
        <p:spPr bwMode="auto">
          <a:xfrm>
            <a:off x="5029200" y="6246815"/>
            <a:ext cx="2901950" cy="1587"/>
          </a:xfrm>
          <a:prstGeom prst="line">
            <a:avLst/>
          </a:prstGeom>
          <a:noFill/>
          <a:ln w="38100">
            <a:solidFill>
              <a:schemeClr val="tx1"/>
            </a:solidFill>
            <a:miter lim="800000"/>
            <a:headEnd/>
            <a:tailEnd/>
          </a:ln>
        </p:spPr>
        <p:txBody>
          <a:bodyPr wrap="none"/>
          <a:lstStyle/>
          <a:p>
            <a:pPr fontAlgn="base">
              <a:spcBef>
                <a:spcPct val="0"/>
              </a:spcBef>
              <a:spcAft>
                <a:spcPct val="0"/>
              </a:spcAft>
            </a:pPr>
            <a:endParaRPr lang="en-NZ">
              <a:solidFill>
                <a:srgbClr val="336699"/>
              </a:solidFill>
            </a:endParaRPr>
          </a:p>
        </p:txBody>
      </p:sp>
      <p:sp>
        <p:nvSpPr>
          <p:cNvPr id="23563" name="Freeform 11"/>
          <p:cNvSpPr>
            <a:spLocks/>
          </p:cNvSpPr>
          <p:nvPr/>
        </p:nvSpPr>
        <p:spPr bwMode="auto">
          <a:xfrm>
            <a:off x="6477000" y="5408613"/>
            <a:ext cx="1390650" cy="766762"/>
          </a:xfrm>
          <a:custGeom>
            <a:avLst/>
            <a:gdLst>
              <a:gd name="T0" fmla="*/ 1875757111 w 1030"/>
              <a:gd name="T1" fmla="*/ 592664519 h 991"/>
              <a:gd name="T2" fmla="*/ 1678884369 w 1030"/>
              <a:gd name="T3" fmla="*/ 586678206 h 991"/>
              <a:gd name="T4" fmla="*/ 1578625302 w 1030"/>
              <a:gd name="T5" fmla="*/ 578896076 h 991"/>
              <a:gd name="T6" fmla="*/ 1482011627 w 1030"/>
              <a:gd name="T7" fmla="*/ 569916220 h 991"/>
              <a:gd name="T8" fmla="*/ 1381752223 w 1030"/>
              <a:gd name="T9" fmla="*/ 556147004 h 991"/>
              <a:gd name="T10" fmla="*/ 1281493156 w 1030"/>
              <a:gd name="T11" fmla="*/ 536990338 h 991"/>
              <a:gd name="T12" fmla="*/ 1186703527 w 1030"/>
              <a:gd name="T13" fmla="*/ 513044312 h 991"/>
              <a:gd name="T14" fmla="*/ 986185393 w 1030"/>
              <a:gd name="T15" fmla="*/ 444797869 h 991"/>
              <a:gd name="T16" fmla="*/ 789312651 w 1030"/>
              <a:gd name="T17" fmla="*/ 347816717 h 991"/>
              <a:gd name="T18" fmla="*/ 592439740 w 1030"/>
              <a:gd name="T19" fmla="*/ 231079359 h 991"/>
              <a:gd name="T20" fmla="*/ 492180674 w 1030"/>
              <a:gd name="T21" fmla="*/ 171812723 h 991"/>
              <a:gd name="T22" fmla="*/ 391921607 w 1030"/>
              <a:gd name="T23" fmla="*/ 117335496 h 991"/>
              <a:gd name="T24" fmla="*/ 297131893 w 1030"/>
              <a:gd name="T25" fmla="*/ 69443421 h 991"/>
              <a:gd name="T26" fmla="*/ 196872826 w 1030"/>
              <a:gd name="T27" fmla="*/ 31728167 h 991"/>
              <a:gd name="T28" fmla="*/ 96613717 w 1030"/>
              <a:gd name="T29" fmla="*/ 7782132 h 991"/>
              <a:gd name="T30" fmla="*/ 0 w 1030"/>
              <a:gd name="T31" fmla="*/ 0 h 99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030"/>
              <a:gd name="T49" fmla="*/ 0 h 991"/>
              <a:gd name="T50" fmla="*/ 1030 w 1030"/>
              <a:gd name="T51" fmla="*/ 991 h 99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030" h="991">
                <a:moveTo>
                  <a:pt x="1029" y="990"/>
                </a:moveTo>
                <a:lnTo>
                  <a:pt x="921" y="980"/>
                </a:lnTo>
                <a:lnTo>
                  <a:pt x="866" y="967"/>
                </a:lnTo>
                <a:lnTo>
                  <a:pt x="813" y="952"/>
                </a:lnTo>
                <a:lnTo>
                  <a:pt x="758" y="929"/>
                </a:lnTo>
                <a:lnTo>
                  <a:pt x="703" y="897"/>
                </a:lnTo>
                <a:lnTo>
                  <a:pt x="651" y="857"/>
                </a:lnTo>
                <a:lnTo>
                  <a:pt x="541" y="743"/>
                </a:lnTo>
                <a:lnTo>
                  <a:pt x="433" y="581"/>
                </a:lnTo>
                <a:lnTo>
                  <a:pt x="325" y="386"/>
                </a:lnTo>
                <a:lnTo>
                  <a:pt x="270" y="287"/>
                </a:lnTo>
                <a:lnTo>
                  <a:pt x="215" y="196"/>
                </a:lnTo>
                <a:lnTo>
                  <a:pt x="163" y="116"/>
                </a:lnTo>
                <a:lnTo>
                  <a:pt x="108" y="53"/>
                </a:lnTo>
                <a:lnTo>
                  <a:pt x="53" y="13"/>
                </a:lnTo>
                <a:lnTo>
                  <a:pt x="0" y="0"/>
                </a:lnTo>
              </a:path>
            </a:pathLst>
          </a:custGeom>
          <a:noFill/>
          <a:ln w="50800" cap="rnd" cmpd="sng">
            <a:solidFill>
              <a:srgbClr val="008000"/>
            </a:solidFill>
            <a:prstDash val="solid"/>
            <a:round/>
            <a:headEnd type="none" w="med" len="med"/>
            <a:tailEnd type="none" w="med" len="med"/>
          </a:ln>
        </p:spPr>
        <p:txBody>
          <a:bodyPr/>
          <a:lstStyle/>
          <a:p>
            <a:pPr fontAlgn="base">
              <a:spcBef>
                <a:spcPct val="0"/>
              </a:spcBef>
              <a:spcAft>
                <a:spcPct val="0"/>
              </a:spcAft>
            </a:pPr>
            <a:endParaRPr lang="en-NZ">
              <a:solidFill>
                <a:srgbClr val="336699"/>
              </a:solidFill>
            </a:endParaRPr>
          </a:p>
        </p:txBody>
      </p:sp>
      <p:sp>
        <p:nvSpPr>
          <p:cNvPr id="23564" name="Freeform 12"/>
          <p:cNvSpPr>
            <a:spLocks/>
          </p:cNvSpPr>
          <p:nvPr/>
        </p:nvSpPr>
        <p:spPr bwMode="auto">
          <a:xfrm>
            <a:off x="5105402" y="5408613"/>
            <a:ext cx="1393825" cy="766762"/>
          </a:xfrm>
          <a:custGeom>
            <a:avLst/>
            <a:gdLst>
              <a:gd name="T0" fmla="*/ 0 w 1032"/>
              <a:gd name="T1" fmla="*/ 592664519 h 991"/>
              <a:gd name="T2" fmla="*/ 197006080 w 1032"/>
              <a:gd name="T3" fmla="*/ 586678206 h 991"/>
              <a:gd name="T4" fmla="*/ 297334420 w 1032"/>
              <a:gd name="T5" fmla="*/ 578896076 h 991"/>
              <a:gd name="T6" fmla="*/ 397661495 w 1032"/>
              <a:gd name="T7" fmla="*/ 569916220 h 991"/>
              <a:gd name="T8" fmla="*/ 494340500 w 1032"/>
              <a:gd name="T9" fmla="*/ 556147004 h 991"/>
              <a:gd name="T10" fmla="*/ 594667490 w 1032"/>
              <a:gd name="T11" fmla="*/ 536990338 h 991"/>
              <a:gd name="T12" fmla="*/ 694995831 w 1032"/>
              <a:gd name="T13" fmla="*/ 513044312 h 991"/>
              <a:gd name="T14" fmla="*/ 890177328 w 1032"/>
              <a:gd name="T15" fmla="*/ 444797869 h 991"/>
              <a:gd name="T16" fmla="*/ 1087184674 w 1032"/>
              <a:gd name="T17" fmla="*/ 347816717 h 991"/>
              <a:gd name="T18" fmla="*/ 1287838653 w 1032"/>
              <a:gd name="T19" fmla="*/ 231079359 h 991"/>
              <a:gd name="T20" fmla="*/ 1384519010 w 1032"/>
              <a:gd name="T21" fmla="*/ 171812723 h 991"/>
              <a:gd name="T22" fmla="*/ 1484846337 w 1032"/>
              <a:gd name="T23" fmla="*/ 117335496 h 991"/>
              <a:gd name="T24" fmla="*/ 1583348660 w 1032"/>
              <a:gd name="T25" fmla="*/ 69443421 h 991"/>
              <a:gd name="T26" fmla="*/ 1680029016 w 1032"/>
              <a:gd name="T27" fmla="*/ 31728167 h 991"/>
              <a:gd name="T28" fmla="*/ 1780356006 w 1032"/>
              <a:gd name="T29" fmla="*/ 7782132 h 991"/>
              <a:gd name="T30" fmla="*/ 1880682996 w 1032"/>
              <a:gd name="T31" fmla="*/ 0 h 991"/>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 name="T48" fmla="*/ 0 w 1032"/>
              <a:gd name="T49" fmla="*/ 0 h 991"/>
              <a:gd name="T50" fmla="*/ 1032 w 1032"/>
              <a:gd name="T51" fmla="*/ 991 h 991"/>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T48" t="T49" r="T50" b="T51"/>
            <a:pathLst>
              <a:path w="1032" h="991">
                <a:moveTo>
                  <a:pt x="0" y="990"/>
                </a:moveTo>
                <a:lnTo>
                  <a:pt x="108" y="980"/>
                </a:lnTo>
                <a:lnTo>
                  <a:pt x="163" y="967"/>
                </a:lnTo>
                <a:lnTo>
                  <a:pt x="218" y="952"/>
                </a:lnTo>
                <a:lnTo>
                  <a:pt x="271" y="929"/>
                </a:lnTo>
                <a:lnTo>
                  <a:pt x="326" y="897"/>
                </a:lnTo>
                <a:lnTo>
                  <a:pt x="381" y="857"/>
                </a:lnTo>
                <a:lnTo>
                  <a:pt x="488" y="743"/>
                </a:lnTo>
                <a:lnTo>
                  <a:pt x="596" y="581"/>
                </a:lnTo>
                <a:lnTo>
                  <a:pt x="706" y="386"/>
                </a:lnTo>
                <a:lnTo>
                  <a:pt x="759" y="287"/>
                </a:lnTo>
                <a:lnTo>
                  <a:pt x="814" y="196"/>
                </a:lnTo>
                <a:lnTo>
                  <a:pt x="868" y="116"/>
                </a:lnTo>
                <a:lnTo>
                  <a:pt x="921" y="53"/>
                </a:lnTo>
                <a:lnTo>
                  <a:pt x="976" y="13"/>
                </a:lnTo>
                <a:lnTo>
                  <a:pt x="1031" y="0"/>
                </a:lnTo>
              </a:path>
            </a:pathLst>
          </a:custGeom>
          <a:noFill/>
          <a:ln w="50800" cap="rnd" cmpd="sng">
            <a:solidFill>
              <a:srgbClr val="008000"/>
            </a:solidFill>
            <a:prstDash val="solid"/>
            <a:round/>
            <a:headEnd type="none" w="med" len="med"/>
            <a:tailEnd type="none" w="med" len="med"/>
          </a:ln>
        </p:spPr>
        <p:txBody>
          <a:bodyPr/>
          <a:lstStyle/>
          <a:p>
            <a:pPr fontAlgn="base">
              <a:spcBef>
                <a:spcPct val="0"/>
              </a:spcBef>
              <a:spcAft>
                <a:spcPct val="0"/>
              </a:spcAft>
            </a:pPr>
            <a:endParaRPr lang="en-NZ">
              <a:solidFill>
                <a:srgbClr val="336699"/>
              </a:solidFill>
            </a:endParaRPr>
          </a:p>
        </p:txBody>
      </p:sp>
      <p:sp>
        <p:nvSpPr>
          <p:cNvPr id="23565" name="Line 13"/>
          <p:cNvSpPr>
            <a:spLocks noChangeShapeType="1"/>
          </p:cNvSpPr>
          <p:nvPr/>
        </p:nvSpPr>
        <p:spPr bwMode="auto">
          <a:xfrm>
            <a:off x="1295400" y="6246815"/>
            <a:ext cx="2901950" cy="1587"/>
          </a:xfrm>
          <a:prstGeom prst="line">
            <a:avLst/>
          </a:prstGeom>
          <a:noFill/>
          <a:ln w="38100">
            <a:solidFill>
              <a:schemeClr val="tx1"/>
            </a:solidFill>
            <a:miter lim="800000"/>
            <a:headEnd/>
            <a:tailEnd/>
          </a:ln>
        </p:spPr>
        <p:txBody>
          <a:bodyPr wrap="none"/>
          <a:lstStyle/>
          <a:p>
            <a:pPr fontAlgn="base">
              <a:spcBef>
                <a:spcPct val="0"/>
              </a:spcBef>
              <a:spcAft>
                <a:spcPct val="0"/>
              </a:spcAft>
            </a:pPr>
            <a:endParaRPr lang="en-NZ">
              <a:solidFill>
                <a:srgbClr val="336699"/>
              </a:solidFill>
            </a:endParaRPr>
          </a:p>
        </p:txBody>
      </p:sp>
      <p:sp>
        <p:nvSpPr>
          <p:cNvPr id="23566" name="Line 14"/>
          <p:cNvSpPr>
            <a:spLocks noChangeShapeType="1"/>
          </p:cNvSpPr>
          <p:nvPr/>
        </p:nvSpPr>
        <p:spPr bwMode="auto">
          <a:xfrm>
            <a:off x="1600200" y="5942013"/>
            <a:ext cx="0" cy="304800"/>
          </a:xfrm>
          <a:prstGeom prst="line">
            <a:avLst/>
          </a:prstGeom>
          <a:noFill/>
          <a:ln w="38100">
            <a:solidFill>
              <a:srgbClr val="008000"/>
            </a:solidFill>
            <a:round/>
            <a:headEnd/>
            <a:tailEnd/>
          </a:ln>
        </p:spPr>
        <p:txBody>
          <a:bodyPr lIns="90488" tIns="44450" rIns="90488" bIns="44450">
            <a:spAutoFit/>
          </a:bodyPr>
          <a:lstStyle/>
          <a:p>
            <a:pPr fontAlgn="base">
              <a:spcBef>
                <a:spcPct val="0"/>
              </a:spcBef>
              <a:spcAft>
                <a:spcPct val="0"/>
              </a:spcAft>
            </a:pPr>
            <a:endParaRPr lang="en-NZ">
              <a:solidFill>
                <a:srgbClr val="336699"/>
              </a:solidFill>
            </a:endParaRPr>
          </a:p>
        </p:txBody>
      </p:sp>
      <p:sp>
        <p:nvSpPr>
          <p:cNvPr id="23567" name="Line 15"/>
          <p:cNvSpPr>
            <a:spLocks noChangeShapeType="1"/>
          </p:cNvSpPr>
          <p:nvPr/>
        </p:nvSpPr>
        <p:spPr bwMode="auto">
          <a:xfrm>
            <a:off x="1752600" y="5789613"/>
            <a:ext cx="0" cy="457200"/>
          </a:xfrm>
          <a:prstGeom prst="line">
            <a:avLst/>
          </a:prstGeom>
          <a:noFill/>
          <a:ln w="38100">
            <a:solidFill>
              <a:srgbClr val="008000"/>
            </a:solidFill>
            <a:round/>
            <a:headEnd/>
            <a:tailEnd/>
          </a:ln>
        </p:spPr>
        <p:txBody>
          <a:bodyPr lIns="90488" tIns="44450" rIns="90488" bIns="44450">
            <a:spAutoFit/>
          </a:bodyPr>
          <a:lstStyle/>
          <a:p>
            <a:pPr fontAlgn="base">
              <a:spcBef>
                <a:spcPct val="0"/>
              </a:spcBef>
              <a:spcAft>
                <a:spcPct val="0"/>
              </a:spcAft>
            </a:pPr>
            <a:endParaRPr lang="en-NZ">
              <a:solidFill>
                <a:srgbClr val="336699"/>
              </a:solidFill>
            </a:endParaRPr>
          </a:p>
        </p:txBody>
      </p:sp>
      <p:sp>
        <p:nvSpPr>
          <p:cNvPr id="23568" name="Line 16"/>
          <p:cNvSpPr>
            <a:spLocks noChangeShapeType="1"/>
          </p:cNvSpPr>
          <p:nvPr/>
        </p:nvSpPr>
        <p:spPr bwMode="auto">
          <a:xfrm>
            <a:off x="1905000" y="5332413"/>
            <a:ext cx="0" cy="914400"/>
          </a:xfrm>
          <a:prstGeom prst="line">
            <a:avLst/>
          </a:prstGeom>
          <a:noFill/>
          <a:ln w="38100">
            <a:solidFill>
              <a:srgbClr val="008000"/>
            </a:solidFill>
            <a:round/>
            <a:headEnd/>
            <a:tailEnd/>
          </a:ln>
        </p:spPr>
        <p:txBody>
          <a:bodyPr lIns="90488" tIns="44450" rIns="90488" bIns="44450">
            <a:spAutoFit/>
          </a:bodyPr>
          <a:lstStyle/>
          <a:p>
            <a:pPr fontAlgn="base">
              <a:spcBef>
                <a:spcPct val="0"/>
              </a:spcBef>
              <a:spcAft>
                <a:spcPct val="0"/>
              </a:spcAft>
            </a:pPr>
            <a:endParaRPr lang="en-NZ">
              <a:solidFill>
                <a:srgbClr val="336699"/>
              </a:solidFill>
            </a:endParaRPr>
          </a:p>
        </p:txBody>
      </p:sp>
      <p:sp>
        <p:nvSpPr>
          <p:cNvPr id="23569" name="Line 17"/>
          <p:cNvSpPr>
            <a:spLocks noChangeShapeType="1"/>
          </p:cNvSpPr>
          <p:nvPr/>
        </p:nvSpPr>
        <p:spPr bwMode="auto">
          <a:xfrm>
            <a:off x="2057400" y="5561013"/>
            <a:ext cx="0" cy="685800"/>
          </a:xfrm>
          <a:prstGeom prst="line">
            <a:avLst/>
          </a:prstGeom>
          <a:noFill/>
          <a:ln w="38100">
            <a:solidFill>
              <a:srgbClr val="008000"/>
            </a:solidFill>
            <a:round/>
            <a:headEnd/>
            <a:tailEnd/>
          </a:ln>
        </p:spPr>
        <p:txBody>
          <a:bodyPr lIns="90488" tIns="44450" rIns="90488" bIns="44450">
            <a:spAutoFit/>
          </a:bodyPr>
          <a:lstStyle/>
          <a:p>
            <a:pPr fontAlgn="base">
              <a:spcBef>
                <a:spcPct val="0"/>
              </a:spcBef>
              <a:spcAft>
                <a:spcPct val="0"/>
              </a:spcAft>
            </a:pPr>
            <a:endParaRPr lang="en-NZ">
              <a:solidFill>
                <a:srgbClr val="336699"/>
              </a:solidFill>
            </a:endParaRPr>
          </a:p>
        </p:txBody>
      </p:sp>
      <p:sp>
        <p:nvSpPr>
          <p:cNvPr id="23570" name="Line 18"/>
          <p:cNvSpPr>
            <a:spLocks noChangeShapeType="1"/>
          </p:cNvSpPr>
          <p:nvPr/>
        </p:nvSpPr>
        <p:spPr bwMode="auto">
          <a:xfrm>
            <a:off x="2209800" y="5408613"/>
            <a:ext cx="0" cy="838200"/>
          </a:xfrm>
          <a:prstGeom prst="line">
            <a:avLst/>
          </a:prstGeom>
          <a:noFill/>
          <a:ln w="38100">
            <a:solidFill>
              <a:srgbClr val="008000"/>
            </a:solidFill>
            <a:round/>
            <a:headEnd/>
            <a:tailEnd/>
          </a:ln>
        </p:spPr>
        <p:txBody>
          <a:bodyPr lIns="90488" tIns="44450" rIns="90488" bIns="44450">
            <a:spAutoFit/>
          </a:bodyPr>
          <a:lstStyle/>
          <a:p>
            <a:pPr fontAlgn="base">
              <a:spcBef>
                <a:spcPct val="0"/>
              </a:spcBef>
              <a:spcAft>
                <a:spcPct val="0"/>
              </a:spcAft>
            </a:pPr>
            <a:endParaRPr lang="en-NZ">
              <a:solidFill>
                <a:srgbClr val="336699"/>
              </a:solidFill>
            </a:endParaRPr>
          </a:p>
        </p:txBody>
      </p:sp>
      <p:sp>
        <p:nvSpPr>
          <p:cNvPr id="23571" name="Line 19"/>
          <p:cNvSpPr>
            <a:spLocks noChangeShapeType="1"/>
          </p:cNvSpPr>
          <p:nvPr/>
        </p:nvSpPr>
        <p:spPr bwMode="auto">
          <a:xfrm>
            <a:off x="2362200" y="5637213"/>
            <a:ext cx="0" cy="609600"/>
          </a:xfrm>
          <a:prstGeom prst="line">
            <a:avLst/>
          </a:prstGeom>
          <a:noFill/>
          <a:ln w="38100">
            <a:solidFill>
              <a:srgbClr val="008000"/>
            </a:solidFill>
            <a:round/>
            <a:headEnd/>
            <a:tailEnd/>
          </a:ln>
        </p:spPr>
        <p:txBody>
          <a:bodyPr lIns="90488" tIns="44450" rIns="90488" bIns="44450">
            <a:spAutoFit/>
          </a:bodyPr>
          <a:lstStyle/>
          <a:p>
            <a:pPr fontAlgn="base">
              <a:spcBef>
                <a:spcPct val="0"/>
              </a:spcBef>
              <a:spcAft>
                <a:spcPct val="0"/>
              </a:spcAft>
            </a:pPr>
            <a:endParaRPr lang="en-NZ">
              <a:solidFill>
                <a:srgbClr val="336699"/>
              </a:solidFill>
            </a:endParaRPr>
          </a:p>
        </p:txBody>
      </p:sp>
      <p:sp>
        <p:nvSpPr>
          <p:cNvPr id="23572" name="Line 20"/>
          <p:cNvSpPr>
            <a:spLocks noChangeShapeType="1"/>
          </p:cNvSpPr>
          <p:nvPr/>
        </p:nvSpPr>
        <p:spPr bwMode="auto">
          <a:xfrm>
            <a:off x="2514600" y="5789613"/>
            <a:ext cx="0" cy="457200"/>
          </a:xfrm>
          <a:prstGeom prst="line">
            <a:avLst/>
          </a:prstGeom>
          <a:noFill/>
          <a:ln w="38100">
            <a:solidFill>
              <a:srgbClr val="008000"/>
            </a:solidFill>
            <a:round/>
            <a:headEnd/>
            <a:tailEnd/>
          </a:ln>
        </p:spPr>
        <p:txBody>
          <a:bodyPr lIns="90488" tIns="44450" rIns="90488" bIns="44450">
            <a:spAutoFit/>
          </a:bodyPr>
          <a:lstStyle/>
          <a:p>
            <a:pPr fontAlgn="base">
              <a:spcBef>
                <a:spcPct val="0"/>
              </a:spcBef>
              <a:spcAft>
                <a:spcPct val="0"/>
              </a:spcAft>
            </a:pPr>
            <a:endParaRPr lang="en-NZ">
              <a:solidFill>
                <a:srgbClr val="336699"/>
              </a:solidFill>
            </a:endParaRPr>
          </a:p>
        </p:txBody>
      </p:sp>
      <p:sp>
        <p:nvSpPr>
          <p:cNvPr id="23573" name="Line 21"/>
          <p:cNvSpPr>
            <a:spLocks noChangeShapeType="1"/>
          </p:cNvSpPr>
          <p:nvPr/>
        </p:nvSpPr>
        <p:spPr bwMode="auto">
          <a:xfrm>
            <a:off x="2667000" y="5865813"/>
            <a:ext cx="0" cy="381000"/>
          </a:xfrm>
          <a:prstGeom prst="line">
            <a:avLst/>
          </a:prstGeom>
          <a:noFill/>
          <a:ln w="38100">
            <a:solidFill>
              <a:srgbClr val="008000"/>
            </a:solidFill>
            <a:round/>
            <a:headEnd/>
            <a:tailEnd/>
          </a:ln>
        </p:spPr>
        <p:txBody>
          <a:bodyPr lIns="90488" tIns="44450" rIns="90488" bIns="44450">
            <a:spAutoFit/>
          </a:bodyPr>
          <a:lstStyle/>
          <a:p>
            <a:pPr fontAlgn="base">
              <a:spcBef>
                <a:spcPct val="0"/>
              </a:spcBef>
              <a:spcAft>
                <a:spcPct val="0"/>
              </a:spcAft>
            </a:pPr>
            <a:endParaRPr lang="en-NZ">
              <a:solidFill>
                <a:srgbClr val="336699"/>
              </a:solidFill>
            </a:endParaRPr>
          </a:p>
        </p:txBody>
      </p:sp>
      <p:sp>
        <p:nvSpPr>
          <p:cNvPr id="23574" name="Line 22"/>
          <p:cNvSpPr>
            <a:spLocks noChangeShapeType="1"/>
          </p:cNvSpPr>
          <p:nvPr/>
        </p:nvSpPr>
        <p:spPr bwMode="auto">
          <a:xfrm>
            <a:off x="3429000" y="6018213"/>
            <a:ext cx="0" cy="228600"/>
          </a:xfrm>
          <a:prstGeom prst="line">
            <a:avLst/>
          </a:prstGeom>
          <a:noFill/>
          <a:ln w="38100">
            <a:solidFill>
              <a:srgbClr val="008000"/>
            </a:solidFill>
            <a:round/>
            <a:headEnd/>
            <a:tailEnd/>
          </a:ln>
        </p:spPr>
        <p:txBody>
          <a:bodyPr lIns="90488" tIns="44450" rIns="90488" bIns="44450">
            <a:spAutoFit/>
          </a:bodyPr>
          <a:lstStyle/>
          <a:p>
            <a:pPr fontAlgn="base">
              <a:spcBef>
                <a:spcPct val="0"/>
              </a:spcBef>
              <a:spcAft>
                <a:spcPct val="0"/>
              </a:spcAft>
            </a:pPr>
            <a:endParaRPr lang="en-NZ">
              <a:solidFill>
                <a:srgbClr val="336699"/>
              </a:solidFill>
            </a:endParaRPr>
          </a:p>
        </p:txBody>
      </p:sp>
      <p:sp>
        <p:nvSpPr>
          <p:cNvPr id="23575" name="Line 23"/>
          <p:cNvSpPr>
            <a:spLocks noChangeShapeType="1"/>
          </p:cNvSpPr>
          <p:nvPr/>
        </p:nvSpPr>
        <p:spPr bwMode="auto">
          <a:xfrm>
            <a:off x="3657600" y="6094413"/>
            <a:ext cx="0" cy="152400"/>
          </a:xfrm>
          <a:prstGeom prst="line">
            <a:avLst/>
          </a:prstGeom>
          <a:noFill/>
          <a:ln w="38100">
            <a:solidFill>
              <a:srgbClr val="008000"/>
            </a:solidFill>
            <a:round/>
            <a:headEnd/>
            <a:tailEnd/>
          </a:ln>
        </p:spPr>
        <p:txBody>
          <a:bodyPr lIns="90488" tIns="44450" rIns="90488" bIns="44450">
            <a:spAutoFit/>
          </a:bodyPr>
          <a:lstStyle/>
          <a:p>
            <a:pPr fontAlgn="base">
              <a:spcBef>
                <a:spcPct val="0"/>
              </a:spcBef>
              <a:spcAft>
                <a:spcPct val="0"/>
              </a:spcAft>
            </a:pPr>
            <a:endParaRPr lang="en-NZ">
              <a:solidFill>
                <a:srgbClr val="336699"/>
              </a:solidFill>
            </a:endParaRPr>
          </a:p>
        </p:txBody>
      </p:sp>
      <p:sp>
        <p:nvSpPr>
          <p:cNvPr id="23576" name="Line 24"/>
          <p:cNvSpPr>
            <a:spLocks noChangeShapeType="1"/>
          </p:cNvSpPr>
          <p:nvPr/>
        </p:nvSpPr>
        <p:spPr bwMode="auto">
          <a:xfrm>
            <a:off x="3124200" y="6018213"/>
            <a:ext cx="0" cy="228600"/>
          </a:xfrm>
          <a:prstGeom prst="line">
            <a:avLst/>
          </a:prstGeom>
          <a:noFill/>
          <a:ln w="38100">
            <a:solidFill>
              <a:srgbClr val="008000"/>
            </a:solidFill>
            <a:round/>
            <a:headEnd/>
            <a:tailEnd/>
          </a:ln>
        </p:spPr>
        <p:txBody>
          <a:bodyPr lIns="90488" tIns="44450" rIns="90488" bIns="44450">
            <a:spAutoFit/>
          </a:bodyPr>
          <a:lstStyle/>
          <a:p>
            <a:pPr fontAlgn="base">
              <a:spcBef>
                <a:spcPct val="0"/>
              </a:spcBef>
              <a:spcAft>
                <a:spcPct val="0"/>
              </a:spcAft>
            </a:pPr>
            <a:endParaRPr lang="en-NZ">
              <a:solidFill>
                <a:srgbClr val="336699"/>
              </a:solidFill>
            </a:endParaRPr>
          </a:p>
        </p:txBody>
      </p:sp>
      <p:sp>
        <p:nvSpPr>
          <p:cNvPr id="23577" name="Line 25"/>
          <p:cNvSpPr>
            <a:spLocks noChangeShapeType="1"/>
          </p:cNvSpPr>
          <p:nvPr/>
        </p:nvSpPr>
        <p:spPr bwMode="auto">
          <a:xfrm>
            <a:off x="2819400" y="5865813"/>
            <a:ext cx="0" cy="381000"/>
          </a:xfrm>
          <a:prstGeom prst="line">
            <a:avLst/>
          </a:prstGeom>
          <a:noFill/>
          <a:ln w="38100">
            <a:solidFill>
              <a:srgbClr val="008000"/>
            </a:solidFill>
            <a:round/>
            <a:headEnd/>
            <a:tailEnd/>
          </a:ln>
        </p:spPr>
        <p:txBody>
          <a:bodyPr lIns="90488" tIns="44450" rIns="90488" bIns="44450">
            <a:spAutoFit/>
          </a:bodyPr>
          <a:lstStyle/>
          <a:p>
            <a:pPr fontAlgn="base">
              <a:spcBef>
                <a:spcPct val="0"/>
              </a:spcBef>
              <a:spcAft>
                <a:spcPct val="0"/>
              </a:spcAft>
            </a:pPr>
            <a:endParaRPr lang="en-NZ">
              <a:solidFill>
                <a:srgbClr val="336699"/>
              </a:solidFill>
            </a:endParaRPr>
          </a:p>
        </p:txBody>
      </p:sp>
    </p:spTree>
    <p:extLst>
      <p:ext uri="{BB962C8B-B14F-4D97-AF65-F5344CB8AC3E}">
        <p14:creationId xmlns:p14="http://schemas.microsoft.com/office/powerpoint/2010/main" val="870610377"/>
      </p:ext>
    </p:extLst>
  </p:cSld>
  <p:clrMapOvr>
    <a:masterClrMapping/>
  </p:clrMapOvr>
  <p:transition spd="slow">
    <p:wipe dir="r"/>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31867" y="34929"/>
            <a:ext cx="7158037" cy="1412875"/>
          </a:xfrm>
        </p:spPr>
        <p:txBody>
          <a:bodyPr/>
          <a:lstStyle/>
          <a:p>
            <a:r>
              <a:rPr lang="en-GB" dirty="0">
                <a:solidFill>
                  <a:srgbClr val="C00000"/>
                </a:solidFill>
                <a:effectLst>
                  <a:outerShdw blurRad="38100" dist="38100" dir="2700000" algn="tl">
                    <a:srgbClr val="000000">
                      <a:alpha val="43137"/>
                    </a:srgbClr>
                  </a:outerShdw>
                </a:effectLst>
                <a:latin typeface="Times New Roman" pitchFamily="18" charset="0"/>
                <a:cs typeface="Times New Roman" pitchFamily="18" charset="0"/>
              </a:rPr>
              <a:t>Discrete Probability Distribution:</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796929" y="1600200"/>
                <a:ext cx="7661275" cy="4114800"/>
              </a:xfrm>
            </p:spPr>
            <p:txBody>
              <a:bodyPr/>
              <a:lstStyle/>
              <a:p>
                <a:pPr marL="0" indent="0" algn="just">
                  <a:buNone/>
                </a:pPr>
                <a:r>
                  <a:rPr lang="en-GB" sz="3000" dirty="0">
                    <a:latin typeface="Times New Roman" pitchFamily="18" charset="0"/>
                    <a:cs typeface="Times New Roman" pitchFamily="18" charset="0"/>
                  </a:rPr>
                  <a:t>A discrete probability distribution satisfies three conditions:</a:t>
                </a:r>
              </a:p>
              <a:p>
                <a:pPr marL="357188" indent="-357188" algn="just">
                  <a:buClrTx/>
                  <a:buFont typeface="+mj-lt"/>
                  <a:buAutoNum type="arabicPeriod"/>
                </a:pPr>
                <a:r>
                  <a:rPr lang="en-IN" sz="3000" dirty="0">
                    <a:latin typeface="Times New Roman" pitchFamily="18" charset="0"/>
                    <a:cs typeface="Times New Roman" pitchFamily="18" charset="0"/>
                  </a:rPr>
                  <a:t>The random variable is discrete which can have only </a:t>
                </a:r>
                <a:r>
                  <a:rPr lang="en-GB" sz="3000" dirty="0">
                    <a:latin typeface="Times New Roman" pitchFamily="18" charset="0"/>
                    <a:cs typeface="Times New Roman" pitchFamily="18" charset="0"/>
                  </a:rPr>
                  <a:t>distinct or discrete values.</a:t>
                </a:r>
              </a:p>
              <a:p>
                <a:pPr marL="357188" indent="-357188" algn="just">
                  <a:buClrTx/>
                  <a:buFont typeface="+mj-lt"/>
                  <a:buAutoNum type="arabicPeriod"/>
                </a:pPr>
                <a:r>
                  <a:rPr lang="en-GB" sz="3000" dirty="0">
                    <a:latin typeface="Times New Roman" pitchFamily="18" charset="0"/>
                    <a:cs typeface="Times New Roman" pitchFamily="18" charset="0"/>
                  </a:rPr>
                  <a:t>The probability mass function (</a:t>
                </a:r>
                <a:r>
                  <a:rPr lang="en-GB" sz="3000" dirty="0" err="1">
                    <a:latin typeface="Times New Roman" pitchFamily="18" charset="0"/>
                    <a:cs typeface="Times New Roman" pitchFamily="18" charset="0"/>
                  </a:rPr>
                  <a:t>pmf</a:t>
                </a:r>
                <a:r>
                  <a:rPr lang="en-GB" sz="3000" dirty="0">
                    <a:latin typeface="Times New Roman" pitchFamily="18" charset="0"/>
                    <a:cs typeface="Times New Roman" pitchFamily="18" charset="0"/>
                  </a:rPr>
                  <a:t>) </a:t>
                </a:r>
                <a14:m>
                  <m:oMath xmlns:m="http://schemas.openxmlformats.org/officeDocument/2006/math">
                    <m:r>
                      <a:rPr lang="en-GB" sz="3000" i="1">
                        <a:latin typeface="Cambria Math"/>
                        <a:cs typeface="Times New Roman" pitchFamily="18" charset="0"/>
                      </a:rPr>
                      <m:t>0 </m:t>
                    </m:r>
                    <m:r>
                      <a:rPr lang="en-GB" sz="3000" i="1">
                        <a:latin typeface="Cambria Math"/>
                        <a:ea typeface="Cambria Math"/>
                        <a:cs typeface="Times New Roman" pitchFamily="18" charset="0"/>
                      </a:rPr>
                      <m:t>≤</m:t>
                    </m:r>
                    <m:r>
                      <a:rPr lang="en-GB" sz="3000" i="1">
                        <a:latin typeface="Cambria Math"/>
                        <a:ea typeface="Cambria Math"/>
                        <a:cs typeface="Times New Roman" pitchFamily="18" charset="0"/>
                      </a:rPr>
                      <m:t>𝑃</m:t>
                    </m:r>
                    <m:d>
                      <m:dPr>
                        <m:ctrlPr>
                          <a:rPr lang="en-GB" sz="3000" i="1">
                            <a:latin typeface="Cambria Math" panose="02040503050406030204" pitchFamily="18" charset="0"/>
                            <a:ea typeface="Cambria Math"/>
                            <a:cs typeface="Times New Roman" pitchFamily="18" charset="0"/>
                          </a:rPr>
                        </m:ctrlPr>
                      </m:dPr>
                      <m:e>
                        <m:r>
                          <a:rPr lang="en-GB" sz="3000" i="1">
                            <a:latin typeface="Cambria Math"/>
                            <a:ea typeface="Cambria Math"/>
                            <a:cs typeface="Times New Roman" pitchFamily="18" charset="0"/>
                          </a:rPr>
                          <m:t>𝑋</m:t>
                        </m:r>
                        <m:r>
                          <a:rPr lang="en-GB" sz="3000" i="1">
                            <a:latin typeface="Cambria Math"/>
                            <a:ea typeface="Cambria Math"/>
                            <a:cs typeface="Times New Roman" pitchFamily="18" charset="0"/>
                          </a:rPr>
                          <m:t>=</m:t>
                        </m:r>
                        <m:r>
                          <a:rPr lang="en-GB" sz="3000" i="1">
                            <a:latin typeface="Cambria Math"/>
                            <a:ea typeface="Cambria Math"/>
                            <a:cs typeface="Times New Roman" pitchFamily="18" charset="0"/>
                          </a:rPr>
                          <m:t>𝑥</m:t>
                        </m:r>
                      </m:e>
                    </m:d>
                    <m:r>
                      <a:rPr lang="en-GB" sz="3000" i="1">
                        <a:latin typeface="Cambria Math"/>
                        <a:ea typeface="Cambria Math"/>
                        <a:cs typeface="Times New Roman" pitchFamily="18" charset="0"/>
                      </a:rPr>
                      <m:t>=</m:t>
                    </m:r>
                    <m:r>
                      <a:rPr lang="en-GB" sz="3000" i="1">
                        <a:latin typeface="Cambria Math"/>
                        <a:ea typeface="Cambria Math"/>
                        <a:cs typeface="Times New Roman" pitchFamily="18" charset="0"/>
                      </a:rPr>
                      <m:t>𝑃</m:t>
                    </m:r>
                    <m:d>
                      <m:dPr>
                        <m:ctrlPr>
                          <a:rPr lang="en-GB" sz="3000" i="1">
                            <a:latin typeface="Cambria Math" panose="02040503050406030204" pitchFamily="18" charset="0"/>
                            <a:ea typeface="Cambria Math"/>
                            <a:cs typeface="Times New Roman" pitchFamily="18" charset="0"/>
                          </a:rPr>
                        </m:ctrlPr>
                      </m:dPr>
                      <m:e>
                        <m:r>
                          <a:rPr lang="en-GB" sz="3000" i="1">
                            <a:latin typeface="Cambria Math"/>
                            <a:ea typeface="Cambria Math"/>
                            <a:cs typeface="Times New Roman" pitchFamily="18" charset="0"/>
                          </a:rPr>
                          <m:t>𝑥</m:t>
                        </m:r>
                      </m:e>
                    </m:d>
                    <m:r>
                      <a:rPr lang="en-GB" sz="3000" i="1">
                        <a:latin typeface="Cambria Math"/>
                        <a:ea typeface="Cambria Math"/>
                        <a:cs typeface="Times New Roman" pitchFamily="18" charset="0"/>
                      </a:rPr>
                      <m:t>≤1</m:t>
                    </m:r>
                  </m:oMath>
                </a14:m>
                <a:endParaRPr lang="en-GB" sz="3000" i="1" dirty="0">
                  <a:latin typeface="Cambria Math"/>
                  <a:ea typeface="Cambria Math"/>
                  <a:cs typeface="Times New Roman" pitchFamily="18" charset="0"/>
                </a:endParaRPr>
              </a:p>
              <a:p>
                <a:pPr marL="357188" indent="-357188" algn="just">
                  <a:buClrTx/>
                  <a:buFont typeface="+mj-lt"/>
                  <a:buAutoNum type="arabicPeriod"/>
                </a:pPr>
                <a14:m>
                  <m:oMath xmlns:m="http://schemas.openxmlformats.org/officeDocument/2006/math">
                    <m:nary>
                      <m:naryPr>
                        <m:chr m:val="∑"/>
                        <m:supHide m:val="on"/>
                        <m:ctrlPr>
                          <a:rPr lang="en-IN" sz="3000" i="1">
                            <a:latin typeface="Cambria Math" panose="02040503050406030204" pitchFamily="18" charset="0"/>
                            <a:cs typeface="Times New Roman" pitchFamily="18" charset="0"/>
                          </a:rPr>
                        </m:ctrlPr>
                      </m:naryPr>
                      <m:sub>
                        <m:r>
                          <m:rPr>
                            <m:sty m:val="p"/>
                            <m:brk m:alnAt="7"/>
                          </m:rPr>
                          <a:rPr lang="en-GB" sz="3000">
                            <a:latin typeface="Cambria Math"/>
                            <a:cs typeface="Times New Roman" pitchFamily="18" charset="0"/>
                          </a:rPr>
                          <m:t>f</m:t>
                        </m:r>
                        <m:r>
                          <m:rPr>
                            <m:sty m:val="p"/>
                          </m:rPr>
                          <a:rPr lang="en-GB" sz="3000">
                            <a:latin typeface="Cambria Math"/>
                            <a:cs typeface="Times New Roman" pitchFamily="18" charset="0"/>
                          </a:rPr>
                          <m:t>or</m:t>
                        </m:r>
                        <m:r>
                          <a:rPr lang="en-GB" sz="3000">
                            <a:latin typeface="Cambria Math"/>
                            <a:cs typeface="Times New Roman" pitchFamily="18" charset="0"/>
                          </a:rPr>
                          <m:t> </m:t>
                        </m:r>
                        <m:r>
                          <m:rPr>
                            <m:sty m:val="p"/>
                          </m:rPr>
                          <a:rPr lang="en-GB" sz="3000">
                            <a:latin typeface="Cambria Math"/>
                            <a:cs typeface="Times New Roman" pitchFamily="18" charset="0"/>
                          </a:rPr>
                          <m:t>all</m:t>
                        </m:r>
                        <m:r>
                          <a:rPr lang="en-GB" sz="3000">
                            <a:latin typeface="Cambria Math"/>
                            <a:cs typeface="Times New Roman" pitchFamily="18" charset="0"/>
                          </a:rPr>
                          <m:t> </m:t>
                        </m:r>
                        <m:r>
                          <m:rPr>
                            <m:sty m:val="p"/>
                          </m:rPr>
                          <a:rPr lang="en-GB" sz="3000">
                            <a:latin typeface="Cambria Math"/>
                            <a:cs typeface="Times New Roman" pitchFamily="18" charset="0"/>
                          </a:rPr>
                          <m:t>x</m:t>
                        </m:r>
                      </m:sub>
                      <m:sup/>
                      <m:e>
                        <m:r>
                          <a:rPr lang="en-GB" sz="3000" i="1">
                            <a:latin typeface="Cambria Math"/>
                            <a:ea typeface="Cambria Math"/>
                            <a:cs typeface="Times New Roman" pitchFamily="18" charset="0"/>
                          </a:rPr>
                          <m:t>𝑃</m:t>
                        </m:r>
                        <m:d>
                          <m:dPr>
                            <m:ctrlPr>
                              <a:rPr lang="en-GB" sz="3000" i="1">
                                <a:latin typeface="Cambria Math" panose="02040503050406030204" pitchFamily="18" charset="0"/>
                                <a:ea typeface="Cambria Math"/>
                                <a:cs typeface="Times New Roman" pitchFamily="18" charset="0"/>
                              </a:rPr>
                            </m:ctrlPr>
                          </m:dPr>
                          <m:e>
                            <m:r>
                              <a:rPr lang="en-GB" sz="3000" i="1">
                                <a:latin typeface="Cambria Math"/>
                                <a:ea typeface="Cambria Math"/>
                                <a:cs typeface="Times New Roman" pitchFamily="18" charset="0"/>
                              </a:rPr>
                              <m:t>𝑋</m:t>
                            </m:r>
                            <m:r>
                              <a:rPr lang="en-GB" sz="3000" i="1">
                                <a:latin typeface="Cambria Math"/>
                                <a:ea typeface="Cambria Math"/>
                                <a:cs typeface="Times New Roman" pitchFamily="18" charset="0"/>
                              </a:rPr>
                              <m:t>=</m:t>
                            </m:r>
                            <m:r>
                              <a:rPr lang="en-GB" sz="3000" i="1">
                                <a:latin typeface="Cambria Math"/>
                                <a:ea typeface="Cambria Math"/>
                                <a:cs typeface="Times New Roman" pitchFamily="18" charset="0"/>
                              </a:rPr>
                              <m:t>𝑥</m:t>
                            </m:r>
                          </m:e>
                        </m:d>
                        <m:r>
                          <a:rPr lang="en-GB" sz="3000" i="1">
                            <a:latin typeface="Cambria Math"/>
                            <a:cs typeface="Times New Roman" pitchFamily="18" charset="0"/>
                          </a:rPr>
                          <m:t>=1</m:t>
                        </m:r>
                      </m:e>
                    </m:nary>
                  </m:oMath>
                </a14:m>
                <a:r>
                  <a:rPr lang="en-IN" sz="3000" dirty="0">
                    <a:latin typeface="Times New Roman" pitchFamily="18" charset="0"/>
                    <a:cs typeface="Times New Roman" pitchFamily="18" charset="0"/>
                  </a:rPr>
                  <a:t>sum of all individual probabilities is one.</a:t>
                </a:r>
                <a:endParaRPr lang="en-GB" sz="3000" dirty="0">
                  <a:latin typeface="Times New Roman" pitchFamily="18" charset="0"/>
                  <a:cs typeface="Times New Roman"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796929" y="1600200"/>
                <a:ext cx="7661275" cy="4114800"/>
              </a:xfrm>
              <a:blipFill>
                <a:blip r:embed="rId2"/>
                <a:stretch>
                  <a:fillRect l="-1909" t="-1926" r="-1830" b="-2370"/>
                </a:stretch>
              </a:blipFill>
            </p:spPr>
            <p:txBody>
              <a:bodyPr/>
              <a:lstStyle/>
              <a:p>
                <a:r>
                  <a:rPr lang="en-NZ">
                    <a:noFill/>
                  </a:rPr>
                  <a:t> </a:t>
                </a:r>
              </a:p>
            </p:txBody>
          </p:sp>
        </mc:Fallback>
      </mc:AlternateContent>
      <p:sp>
        <p:nvSpPr>
          <p:cNvPr id="6" name="Slide Number Placeholder 5"/>
          <p:cNvSpPr>
            <a:spLocks noGrp="1"/>
          </p:cNvSpPr>
          <p:nvPr>
            <p:ph type="sldNum" sz="quarter" idx="12"/>
          </p:nvPr>
        </p:nvSpPr>
        <p:spPr/>
        <p:txBody>
          <a:bodyPr/>
          <a:lstStyle/>
          <a:p>
            <a:pPr>
              <a:defRPr/>
            </a:pPr>
            <a:fld id="{645ED874-4033-4CEE-AE69-D7CB222F48E6}" type="slidenum">
              <a:rPr lang="en-US" smtClean="0"/>
              <a:pPr>
                <a:defRPr/>
              </a:pPr>
              <a:t>8</a:t>
            </a:fld>
            <a:endParaRPr lang="en-US"/>
          </a:p>
        </p:txBody>
      </p:sp>
      <p:sp>
        <p:nvSpPr>
          <p:cNvPr id="4" name="Date Placeholder 3">
            <a:extLst>
              <a:ext uri="{FF2B5EF4-FFF2-40B4-BE49-F238E27FC236}">
                <a16:creationId xmlns:a16="http://schemas.microsoft.com/office/drawing/2014/main" id="{C25C1336-739A-437A-9405-B7A3A1A7623E}"/>
              </a:ext>
            </a:extLst>
          </p:cNvPr>
          <p:cNvSpPr>
            <a:spLocks noGrp="1"/>
          </p:cNvSpPr>
          <p:nvPr>
            <p:ph type="dt" sz="half" idx="10"/>
          </p:nvPr>
        </p:nvSpPr>
        <p:spPr/>
        <p:txBody>
          <a:bodyPr/>
          <a:lstStyle/>
          <a:p>
            <a:pPr>
              <a:defRPr/>
            </a:pPr>
            <a:fld id="{C93ED6A8-3DFA-4452-A8D0-7232426E2736}" type="datetime3">
              <a:rPr lang="en-US" smtClean="0"/>
              <a:t>16 December 2025</a:t>
            </a:fld>
            <a:endParaRPr lang="en-US"/>
          </a:p>
        </p:txBody>
      </p:sp>
      <p:sp>
        <p:nvSpPr>
          <p:cNvPr id="5" name="Footer Placeholder 4">
            <a:extLst>
              <a:ext uri="{FF2B5EF4-FFF2-40B4-BE49-F238E27FC236}">
                <a16:creationId xmlns:a16="http://schemas.microsoft.com/office/drawing/2014/main" id="{59684570-2A9F-4896-BD3B-7A06596A25F7}"/>
              </a:ext>
            </a:extLst>
          </p:cNvPr>
          <p:cNvSpPr>
            <a:spLocks noGrp="1"/>
          </p:cNvSpPr>
          <p:nvPr>
            <p:ph type="ftr" sz="quarter" idx="11"/>
          </p:nvPr>
        </p:nvSpPr>
        <p:spPr/>
        <p:txBody>
          <a:bodyPr/>
          <a:lstStyle/>
          <a:p>
            <a:pPr>
              <a:defRPr/>
            </a:pPr>
            <a:r>
              <a:rPr lang="en-US"/>
              <a:t>T. Mayooran</a:t>
            </a:r>
          </a:p>
        </p:txBody>
      </p:sp>
    </p:spTree>
    <p:extLst>
      <p:ext uri="{BB962C8B-B14F-4D97-AF65-F5344CB8AC3E}">
        <p14:creationId xmlns:p14="http://schemas.microsoft.com/office/powerpoint/2010/main" val="1171246818"/>
      </p:ext>
    </p:extLst>
  </p:cSld>
  <p:clrMapOvr>
    <a:masterClrMapping/>
  </p:clrMapOvr>
  <p:transition spd="slow">
    <p:wipe dir="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31867" y="76204"/>
            <a:ext cx="7158037" cy="1412875"/>
          </a:xfrm>
        </p:spPr>
        <p:txBody>
          <a:bodyPr/>
          <a:lstStyle/>
          <a:p>
            <a:r>
              <a:rPr lang="en-GB" dirty="0">
                <a:solidFill>
                  <a:srgbClr val="C00000"/>
                </a:solidFill>
                <a:effectLst>
                  <a:outerShdw blurRad="38100" dist="38100" dir="2700000" algn="tl">
                    <a:srgbClr val="000000">
                      <a:alpha val="43137"/>
                    </a:srgbClr>
                  </a:outerShdw>
                </a:effectLst>
                <a:latin typeface="Times New Roman" pitchFamily="18" charset="0"/>
                <a:cs typeface="Times New Roman" pitchFamily="18" charset="0"/>
              </a:rPr>
              <a:t>Example 1:</a:t>
            </a:r>
          </a:p>
        </p:txBody>
      </p:sp>
      <p:sp>
        <p:nvSpPr>
          <p:cNvPr id="3" name="Content Placeholder 2"/>
          <p:cNvSpPr>
            <a:spLocks noGrp="1"/>
          </p:cNvSpPr>
          <p:nvPr>
            <p:ph idx="1"/>
          </p:nvPr>
        </p:nvSpPr>
        <p:spPr>
          <a:xfrm>
            <a:off x="720729" y="1600200"/>
            <a:ext cx="7661275" cy="4114800"/>
          </a:xfrm>
        </p:spPr>
        <p:txBody>
          <a:bodyPr/>
          <a:lstStyle/>
          <a:p>
            <a:pPr marL="0" indent="0" algn="just">
              <a:buNone/>
            </a:pPr>
            <a:r>
              <a:rPr lang="en-IN" dirty="0">
                <a:latin typeface="Times New Roman" pitchFamily="18" charset="0"/>
                <a:cs typeface="Times New Roman" pitchFamily="18" charset="0"/>
              </a:rPr>
              <a:t>In a typical elementary statistics course the </a:t>
            </a:r>
            <a:r>
              <a:rPr lang="en-IN" dirty="0">
                <a:solidFill>
                  <a:srgbClr val="FF0000"/>
                </a:solidFill>
                <a:latin typeface="Times New Roman" pitchFamily="18" charset="0"/>
                <a:cs typeface="Times New Roman" pitchFamily="18" charset="0"/>
              </a:rPr>
              <a:t>grade distribution</a:t>
            </a:r>
            <a:r>
              <a:rPr lang="en-IN" dirty="0">
                <a:latin typeface="Times New Roman" pitchFamily="18" charset="0"/>
                <a:cs typeface="Times New Roman" pitchFamily="18" charset="0"/>
              </a:rPr>
              <a:t> (after drops and </a:t>
            </a:r>
            <a:r>
              <a:rPr lang="en-GB" dirty="0">
                <a:latin typeface="Times New Roman" pitchFamily="18" charset="0"/>
                <a:cs typeface="Times New Roman" pitchFamily="18" charset="0"/>
              </a:rPr>
              <a:t>withdrawals) is as follows:</a:t>
            </a:r>
          </a:p>
        </p:txBody>
      </p:sp>
      <mc:AlternateContent xmlns:mc="http://schemas.openxmlformats.org/markup-compatibility/2006" xmlns:a14="http://schemas.microsoft.com/office/drawing/2010/main">
        <mc:Choice Requires="a14">
          <p:graphicFrame>
            <p:nvGraphicFramePr>
              <p:cNvPr id="4" name="Table 3"/>
              <p:cNvGraphicFramePr>
                <a:graphicFrameLocks noGrp="1"/>
              </p:cNvGraphicFramePr>
              <p:nvPr>
                <p:extLst>
                  <p:ext uri="{D42A27DB-BD31-4B8C-83A1-F6EECF244321}">
                    <p14:modId xmlns:p14="http://schemas.microsoft.com/office/powerpoint/2010/main" val="3527273825"/>
                  </p:ext>
                </p:extLst>
              </p:nvPr>
            </p:nvGraphicFramePr>
            <p:xfrm>
              <a:off x="2286000" y="3352800"/>
              <a:ext cx="5181600" cy="2743200"/>
            </p:xfrm>
            <a:graphic>
              <a:graphicData uri="http://schemas.openxmlformats.org/drawingml/2006/table">
                <a:tbl>
                  <a:tblPr firstRow="1" bandRow="1">
                    <a:tableStyleId>{5C22544A-7EE6-4342-B048-85BDC9FD1C3A}</a:tableStyleId>
                  </a:tblPr>
                  <a:tblGrid>
                    <a:gridCol w="15240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tblGrid>
                  <a:tr h="370840">
                    <a:tc>
                      <a:txBody>
                        <a:bodyPr/>
                        <a:lstStyle/>
                        <a:p>
                          <a:pPr/>
                          <a14:m>
                            <m:oMathPara xmlns:m="http://schemas.openxmlformats.org/officeDocument/2006/math">
                              <m:oMathParaPr>
                                <m:jc m:val="centerGroup"/>
                              </m:oMathParaPr>
                              <m:oMath xmlns:m="http://schemas.openxmlformats.org/officeDocument/2006/math">
                                <m:r>
                                  <m:rPr>
                                    <m:sty m:val="p"/>
                                  </m:rPr>
                                  <a:rPr lang="en-GB" sz="2400" b="0" i="0" u="none" strike="noStrike" kern="1200" baseline="0" dirty="0" smtClean="0">
                                    <a:solidFill>
                                      <a:schemeClr val="lt1"/>
                                    </a:solidFill>
                                    <a:latin typeface="Cambria Math"/>
                                    <a:ea typeface="+mn-ea"/>
                                    <a:cs typeface="+mn-cs"/>
                                  </a:rPr>
                                  <m:t>grade</m:t>
                                </m:r>
                                <m:r>
                                  <a:rPr lang="en-US" sz="2400" b="0" i="1" u="none" strike="noStrike" kern="1200" baseline="0" dirty="0" smtClean="0">
                                    <a:solidFill>
                                      <a:schemeClr val="lt1"/>
                                    </a:solidFill>
                                    <a:latin typeface="Cambria Math" panose="02040503050406030204" pitchFamily="18" charset="0"/>
                                    <a:ea typeface="+mn-ea"/>
                                    <a:cs typeface="+mn-cs"/>
                                  </a:rPr>
                                  <m:t>,</m:t>
                                </m:r>
                                <m:r>
                                  <a:rPr lang="en-GB" sz="2400" b="0" i="1" u="none" strike="noStrike" kern="1200" baseline="0" dirty="0" smtClean="0">
                                    <a:solidFill>
                                      <a:schemeClr val="lt1"/>
                                    </a:solidFill>
                                    <a:latin typeface="Cambria Math"/>
                                    <a:ea typeface="+mn-ea"/>
                                    <a:cs typeface="+mn-cs"/>
                                  </a:rPr>
                                  <m:t>𝑥</m:t>
                                </m:r>
                                <m:r>
                                  <a:rPr lang="en-GB" sz="2400" b="0" i="1" u="none" strike="noStrike" kern="1200" baseline="0" dirty="0" smtClean="0">
                                    <a:solidFill>
                                      <a:schemeClr val="lt1"/>
                                    </a:solidFill>
                                    <a:latin typeface="Cambria Math"/>
                                    <a:ea typeface="+mn-ea"/>
                                    <a:cs typeface="+mn-cs"/>
                                  </a:rPr>
                                  <m:t> </m:t>
                                </m:r>
                              </m:oMath>
                            </m:oMathPara>
                          </a14:m>
                          <a:endParaRPr lang="en-GB" sz="2400" i="0" dirty="0"/>
                        </a:p>
                      </a:txBody>
                      <a:tcPr/>
                    </a:tc>
                    <a:tc>
                      <a:txBody>
                        <a:bodyPr/>
                        <a:lstStyle/>
                        <a:p>
                          <a:pPr/>
                          <a14:m>
                            <m:oMathPara xmlns:m="http://schemas.openxmlformats.org/officeDocument/2006/math">
                              <m:oMathParaPr>
                                <m:jc m:val="centerGroup"/>
                              </m:oMathParaPr>
                              <m:oMath xmlns:m="http://schemas.openxmlformats.org/officeDocument/2006/math">
                                <m:r>
                                  <a:rPr lang="en-GB" sz="2400" b="0" i="1" smtClean="0">
                                    <a:latin typeface="Cambria Math"/>
                                    <a:ea typeface="Cambria Math"/>
                                    <a:cs typeface="Times New Roman" pitchFamily="18" charset="0"/>
                                  </a:rPr>
                                  <m:t>𝑃</m:t>
                                </m:r>
                                <m:d>
                                  <m:dPr>
                                    <m:ctrlPr>
                                      <a:rPr lang="en-GB" sz="2400" b="0" i="1" smtClean="0">
                                        <a:latin typeface="Cambria Math" panose="02040503050406030204" pitchFamily="18" charset="0"/>
                                        <a:ea typeface="Cambria Math"/>
                                        <a:cs typeface="Times New Roman" pitchFamily="18" charset="0"/>
                                      </a:rPr>
                                    </m:ctrlPr>
                                  </m:dPr>
                                  <m:e>
                                    <m:r>
                                      <a:rPr lang="en-GB" sz="2400" b="0" i="1" smtClean="0">
                                        <a:latin typeface="Cambria Math"/>
                                        <a:ea typeface="Cambria Math"/>
                                        <a:cs typeface="Times New Roman" pitchFamily="18" charset="0"/>
                                      </a:rPr>
                                      <m:t>𝑋</m:t>
                                    </m:r>
                                    <m:r>
                                      <a:rPr lang="en-GB" sz="2400" b="0" i="1" smtClean="0">
                                        <a:latin typeface="Cambria Math"/>
                                        <a:ea typeface="Cambria Math"/>
                                        <a:cs typeface="Times New Roman" pitchFamily="18" charset="0"/>
                                      </a:rPr>
                                      <m:t>=</m:t>
                                    </m:r>
                                    <m:r>
                                      <a:rPr lang="en-GB" sz="2400" b="0" i="1" smtClean="0">
                                        <a:latin typeface="Cambria Math"/>
                                        <a:ea typeface="Cambria Math"/>
                                        <a:cs typeface="Times New Roman" pitchFamily="18" charset="0"/>
                                      </a:rPr>
                                      <m:t>𝑥</m:t>
                                    </m:r>
                                  </m:e>
                                </m:d>
                                <m:r>
                                  <a:rPr lang="en-GB" sz="2400" b="0" i="1" u="none" strike="noStrike" kern="1200" baseline="0" dirty="0" smtClean="0">
                                    <a:solidFill>
                                      <a:schemeClr val="lt1"/>
                                    </a:solidFill>
                                    <a:latin typeface="Cambria Math"/>
                                    <a:ea typeface="+mn-ea"/>
                                    <a:cs typeface="+mn-cs"/>
                                  </a:rPr>
                                  <m:t>, </m:t>
                                </m:r>
                                <m:r>
                                  <m:rPr>
                                    <m:sty m:val="p"/>
                                  </m:rPr>
                                  <a:rPr lang="en-GB" sz="2400" b="0" i="0" u="none" strike="noStrike" kern="1200" baseline="0" dirty="0" smtClean="0">
                                    <a:solidFill>
                                      <a:schemeClr val="lt1"/>
                                    </a:solidFill>
                                    <a:latin typeface="Cambria Math"/>
                                    <a:ea typeface="+mn-ea"/>
                                    <a:cs typeface="+mn-cs"/>
                                  </a:rPr>
                                  <m:t>probability</m:t>
                                </m:r>
                              </m:oMath>
                            </m:oMathPara>
                          </a14:m>
                          <a:endParaRPr lang="en-GB" sz="2400" i="0" dirty="0"/>
                        </a:p>
                      </a:txBody>
                      <a:tcPr/>
                    </a:tc>
                    <a:extLst>
                      <a:ext uri="{0D108BD9-81ED-4DB2-BD59-A6C34878D82A}">
                        <a16:rowId xmlns:a16="http://schemas.microsoft.com/office/drawing/2014/main" val="10000"/>
                      </a:ext>
                    </a:extLst>
                  </a:tr>
                  <a:tr h="370840">
                    <a:tc>
                      <a:txBody>
                        <a:bodyPr/>
                        <a:lstStyle/>
                        <a:p>
                          <a:pPr algn="ctr"/>
                          <a:r>
                            <a:rPr lang="en-GB" sz="2400" dirty="0">
                              <a:latin typeface="Times New Roman" pitchFamily="18" charset="0"/>
                              <a:cs typeface="Times New Roman" pitchFamily="18" charset="0"/>
                            </a:rPr>
                            <a:t>A = 4</a:t>
                          </a:r>
                        </a:p>
                      </a:txBody>
                      <a:tcPr/>
                    </a:tc>
                    <a:tc>
                      <a:txBody>
                        <a:bodyPr/>
                        <a:lstStyle/>
                        <a:p>
                          <a:pPr algn="ctr"/>
                          <a:r>
                            <a:rPr lang="en-GB" sz="2400" dirty="0">
                              <a:latin typeface="Times New Roman" pitchFamily="18" charset="0"/>
                              <a:cs typeface="Times New Roman" pitchFamily="18" charset="0"/>
                            </a:rPr>
                            <a:t>0.1253</a:t>
                          </a:r>
                        </a:p>
                      </a:txBody>
                      <a:tcPr/>
                    </a:tc>
                    <a:extLst>
                      <a:ext uri="{0D108BD9-81ED-4DB2-BD59-A6C34878D82A}">
                        <a16:rowId xmlns:a16="http://schemas.microsoft.com/office/drawing/2014/main" val="10001"/>
                      </a:ext>
                    </a:extLst>
                  </a:tr>
                  <a:tr h="370840">
                    <a:tc>
                      <a:txBody>
                        <a:bodyPr/>
                        <a:lstStyle/>
                        <a:p>
                          <a:pPr algn="ctr"/>
                          <a:r>
                            <a:rPr lang="en-GB" sz="2400" dirty="0">
                              <a:latin typeface="Times New Roman" pitchFamily="18" charset="0"/>
                              <a:cs typeface="Times New Roman" pitchFamily="18" charset="0"/>
                            </a:rPr>
                            <a:t>B = 3</a:t>
                          </a:r>
                        </a:p>
                      </a:txBody>
                      <a:tcPr/>
                    </a:tc>
                    <a:tc>
                      <a:txBody>
                        <a:bodyPr/>
                        <a:lstStyle/>
                        <a:p>
                          <a:pPr algn="ctr"/>
                          <a:r>
                            <a:rPr lang="en-GB" sz="2400" dirty="0">
                              <a:latin typeface="Times New Roman" pitchFamily="18" charset="0"/>
                              <a:cs typeface="Times New Roman" pitchFamily="18" charset="0"/>
                            </a:rPr>
                            <a:t>0.3419</a:t>
                          </a:r>
                        </a:p>
                      </a:txBody>
                      <a:tcPr/>
                    </a:tc>
                    <a:extLst>
                      <a:ext uri="{0D108BD9-81ED-4DB2-BD59-A6C34878D82A}">
                        <a16:rowId xmlns:a16="http://schemas.microsoft.com/office/drawing/2014/main" val="10002"/>
                      </a:ext>
                    </a:extLst>
                  </a:tr>
                  <a:tr h="370840">
                    <a:tc>
                      <a:txBody>
                        <a:bodyPr/>
                        <a:lstStyle/>
                        <a:p>
                          <a:pPr algn="ctr"/>
                          <a:r>
                            <a:rPr lang="en-GB" sz="2400" dirty="0">
                              <a:latin typeface="Times New Roman" pitchFamily="18" charset="0"/>
                              <a:cs typeface="Times New Roman" pitchFamily="18" charset="0"/>
                            </a:rPr>
                            <a:t>C = 2</a:t>
                          </a:r>
                        </a:p>
                      </a:txBody>
                      <a:tcPr/>
                    </a:tc>
                    <a:tc>
                      <a:txBody>
                        <a:bodyPr/>
                        <a:lstStyle/>
                        <a:p>
                          <a:pPr algn="ctr"/>
                          <a:r>
                            <a:rPr lang="en-GB" sz="2400" dirty="0">
                              <a:latin typeface="Times New Roman" pitchFamily="18" charset="0"/>
                              <a:cs typeface="Times New Roman" pitchFamily="18" charset="0"/>
                            </a:rPr>
                            <a:t>0.4218</a:t>
                          </a:r>
                        </a:p>
                      </a:txBody>
                      <a:tcPr/>
                    </a:tc>
                    <a:extLst>
                      <a:ext uri="{0D108BD9-81ED-4DB2-BD59-A6C34878D82A}">
                        <a16:rowId xmlns:a16="http://schemas.microsoft.com/office/drawing/2014/main" val="10003"/>
                      </a:ext>
                    </a:extLst>
                  </a:tr>
                  <a:tr h="370840">
                    <a:tc>
                      <a:txBody>
                        <a:bodyPr/>
                        <a:lstStyle/>
                        <a:p>
                          <a:pPr algn="ctr"/>
                          <a:r>
                            <a:rPr lang="en-GB" sz="2400" dirty="0">
                              <a:latin typeface="Times New Roman" pitchFamily="18" charset="0"/>
                              <a:cs typeface="Times New Roman" pitchFamily="18" charset="0"/>
                            </a:rPr>
                            <a:t>D = 1</a:t>
                          </a:r>
                        </a:p>
                      </a:txBody>
                      <a:tcPr/>
                    </a:tc>
                    <a:tc>
                      <a:txBody>
                        <a:bodyPr/>
                        <a:lstStyle/>
                        <a:p>
                          <a:pPr algn="ctr"/>
                          <a:r>
                            <a:rPr lang="en-GB" sz="2400" dirty="0">
                              <a:latin typeface="Times New Roman" pitchFamily="18" charset="0"/>
                              <a:cs typeface="Times New Roman" pitchFamily="18" charset="0"/>
                            </a:rPr>
                            <a:t>0.0812</a:t>
                          </a:r>
                        </a:p>
                      </a:txBody>
                      <a:tcPr/>
                    </a:tc>
                    <a:extLst>
                      <a:ext uri="{0D108BD9-81ED-4DB2-BD59-A6C34878D82A}">
                        <a16:rowId xmlns:a16="http://schemas.microsoft.com/office/drawing/2014/main" val="10004"/>
                      </a:ext>
                    </a:extLst>
                  </a:tr>
                  <a:tr h="370840">
                    <a:tc>
                      <a:txBody>
                        <a:bodyPr/>
                        <a:lstStyle/>
                        <a:p>
                          <a:pPr algn="ctr"/>
                          <a:r>
                            <a:rPr lang="en-GB" sz="2400" dirty="0">
                              <a:latin typeface="Times New Roman" pitchFamily="18" charset="0"/>
                              <a:cs typeface="Times New Roman" pitchFamily="18" charset="0"/>
                            </a:rPr>
                            <a:t>E = 0</a:t>
                          </a:r>
                        </a:p>
                      </a:txBody>
                      <a:tcPr/>
                    </a:tc>
                    <a:tc>
                      <a:txBody>
                        <a:bodyPr/>
                        <a:lstStyle/>
                        <a:p>
                          <a:pPr algn="ctr"/>
                          <a:r>
                            <a:rPr lang="en-GB" sz="2400" dirty="0">
                              <a:latin typeface="Times New Roman" pitchFamily="18" charset="0"/>
                              <a:cs typeface="Times New Roman" pitchFamily="18" charset="0"/>
                            </a:rPr>
                            <a:t>0.0298</a:t>
                          </a:r>
                        </a:p>
                      </a:txBody>
                      <a:tcPr/>
                    </a:tc>
                    <a:extLst>
                      <a:ext uri="{0D108BD9-81ED-4DB2-BD59-A6C34878D82A}">
                        <a16:rowId xmlns:a16="http://schemas.microsoft.com/office/drawing/2014/main" val="10005"/>
                      </a:ext>
                    </a:extLst>
                  </a:tr>
                </a:tbl>
              </a:graphicData>
            </a:graphic>
          </p:graphicFrame>
        </mc:Choice>
        <mc:Fallback xmlns="">
          <p:graphicFrame>
            <p:nvGraphicFramePr>
              <p:cNvPr id="4" name="Table 3"/>
              <p:cNvGraphicFramePr>
                <a:graphicFrameLocks noGrp="1"/>
              </p:cNvGraphicFramePr>
              <p:nvPr>
                <p:extLst>
                  <p:ext uri="{D42A27DB-BD31-4B8C-83A1-F6EECF244321}">
                    <p14:modId xmlns:p14="http://schemas.microsoft.com/office/powerpoint/2010/main" val="3527273825"/>
                  </p:ext>
                </p:extLst>
              </p:nvPr>
            </p:nvGraphicFramePr>
            <p:xfrm>
              <a:off x="2286000" y="3352800"/>
              <a:ext cx="5181600" cy="2743200"/>
            </p:xfrm>
            <a:graphic>
              <a:graphicData uri="http://schemas.openxmlformats.org/drawingml/2006/table">
                <a:tbl>
                  <a:tblPr firstRow="1" bandRow="1">
                    <a:tableStyleId>{5C22544A-7EE6-4342-B048-85BDC9FD1C3A}</a:tableStyleId>
                  </a:tblPr>
                  <a:tblGrid>
                    <a:gridCol w="15240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tblGrid>
                  <a:tr h="457200">
                    <a:tc>
                      <a:txBody>
                        <a:bodyPr/>
                        <a:lstStyle/>
                        <a:p>
                          <a:endParaRPr lang="en-US"/>
                        </a:p>
                      </a:txBody>
                      <a:tcPr>
                        <a:blipFill>
                          <a:blip r:embed="rId2"/>
                          <a:stretch>
                            <a:fillRect l="-800" t="-2667" r="-242000" b="-530667"/>
                          </a:stretch>
                        </a:blipFill>
                      </a:tcPr>
                    </a:tc>
                    <a:tc>
                      <a:txBody>
                        <a:bodyPr/>
                        <a:lstStyle/>
                        <a:p>
                          <a:endParaRPr lang="en-US"/>
                        </a:p>
                      </a:txBody>
                      <a:tcPr>
                        <a:blipFill>
                          <a:blip r:embed="rId2"/>
                          <a:stretch>
                            <a:fillRect l="-42000" t="-2667" r="-833" b="-530667"/>
                          </a:stretch>
                        </a:blipFill>
                      </a:tcPr>
                    </a:tc>
                    <a:extLst>
                      <a:ext uri="{0D108BD9-81ED-4DB2-BD59-A6C34878D82A}">
                        <a16:rowId xmlns:a16="http://schemas.microsoft.com/office/drawing/2014/main" val="10000"/>
                      </a:ext>
                    </a:extLst>
                  </a:tr>
                  <a:tr h="457200">
                    <a:tc>
                      <a:txBody>
                        <a:bodyPr/>
                        <a:lstStyle/>
                        <a:p>
                          <a:pPr algn="ctr"/>
                          <a:r>
                            <a:rPr lang="en-GB" sz="2400" dirty="0">
                              <a:latin typeface="Times New Roman" pitchFamily="18" charset="0"/>
                              <a:cs typeface="Times New Roman" pitchFamily="18" charset="0"/>
                            </a:rPr>
                            <a:t>A = 4</a:t>
                          </a:r>
                        </a:p>
                      </a:txBody>
                      <a:tcPr/>
                    </a:tc>
                    <a:tc>
                      <a:txBody>
                        <a:bodyPr/>
                        <a:lstStyle/>
                        <a:p>
                          <a:pPr algn="ctr"/>
                          <a:r>
                            <a:rPr lang="en-GB" sz="2400" dirty="0">
                              <a:latin typeface="Times New Roman" pitchFamily="18" charset="0"/>
                              <a:cs typeface="Times New Roman" pitchFamily="18" charset="0"/>
                            </a:rPr>
                            <a:t>0.1253</a:t>
                          </a:r>
                        </a:p>
                      </a:txBody>
                      <a:tcPr/>
                    </a:tc>
                    <a:extLst>
                      <a:ext uri="{0D108BD9-81ED-4DB2-BD59-A6C34878D82A}">
                        <a16:rowId xmlns:a16="http://schemas.microsoft.com/office/drawing/2014/main" val="10001"/>
                      </a:ext>
                    </a:extLst>
                  </a:tr>
                  <a:tr h="457200">
                    <a:tc>
                      <a:txBody>
                        <a:bodyPr/>
                        <a:lstStyle/>
                        <a:p>
                          <a:pPr algn="ctr"/>
                          <a:r>
                            <a:rPr lang="en-GB" sz="2400" dirty="0">
                              <a:latin typeface="Times New Roman" pitchFamily="18" charset="0"/>
                              <a:cs typeface="Times New Roman" pitchFamily="18" charset="0"/>
                            </a:rPr>
                            <a:t>B = 3</a:t>
                          </a:r>
                        </a:p>
                      </a:txBody>
                      <a:tcPr/>
                    </a:tc>
                    <a:tc>
                      <a:txBody>
                        <a:bodyPr/>
                        <a:lstStyle/>
                        <a:p>
                          <a:pPr algn="ctr"/>
                          <a:r>
                            <a:rPr lang="en-GB" sz="2400" dirty="0">
                              <a:latin typeface="Times New Roman" pitchFamily="18" charset="0"/>
                              <a:cs typeface="Times New Roman" pitchFamily="18" charset="0"/>
                            </a:rPr>
                            <a:t>0.3419</a:t>
                          </a:r>
                        </a:p>
                      </a:txBody>
                      <a:tcPr/>
                    </a:tc>
                    <a:extLst>
                      <a:ext uri="{0D108BD9-81ED-4DB2-BD59-A6C34878D82A}">
                        <a16:rowId xmlns:a16="http://schemas.microsoft.com/office/drawing/2014/main" val="10002"/>
                      </a:ext>
                    </a:extLst>
                  </a:tr>
                  <a:tr h="457200">
                    <a:tc>
                      <a:txBody>
                        <a:bodyPr/>
                        <a:lstStyle/>
                        <a:p>
                          <a:pPr algn="ctr"/>
                          <a:r>
                            <a:rPr lang="en-GB" sz="2400" dirty="0">
                              <a:latin typeface="Times New Roman" pitchFamily="18" charset="0"/>
                              <a:cs typeface="Times New Roman" pitchFamily="18" charset="0"/>
                            </a:rPr>
                            <a:t>C = 2</a:t>
                          </a:r>
                        </a:p>
                      </a:txBody>
                      <a:tcPr/>
                    </a:tc>
                    <a:tc>
                      <a:txBody>
                        <a:bodyPr/>
                        <a:lstStyle/>
                        <a:p>
                          <a:pPr algn="ctr"/>
                          <a:r>
                            <a:rPr lang="en-GB" sz="2400" dirty="0">
                              <a:latin typeface="Times New Roman" pitchFamily="18" charset="0"/>
                              <a:cs typeface="Times New Roman" pitchFamily="18" charset="0"/>
                            </a:rPr>
                            <a:t>0.4218</a:t>
                          </a:r>
                        </a:p>
                      </a:txBody>
                      <a:tcPr/>
                    </a:tc>
                    <a:extLst>
                      <a:ext uri="{0D108BD9-81ED-4DB2-BD59-A6C34878D82A}">
                        <a16:rowId xmlns:a16="http://schemas.microsoft.com/office/drawing/2014/main" val="10003"/>
                      </a:ext>
                    </a:extLst>
                  </a:tr>
                  <a:tr h="457200">
                    <a:tc>
                      <a:txBody>
                        <a:bodyPr/>
                        <a:lstStyle/>
                        <a:p>
                          <a:pPr algn="ctr"/>
                          <a:r>
                            <a:rPr lang="en-GB" sz="2400" dirty="0">
                              <a:latin typeface="Times New Roman" pitchFamily="18" charset="0"/>
                              <a:cs typeface="Times New Roman" pitchFamily="18" charset="0"/>
                            </a:rPr>
                            <a:t>D = 1</a:t>
                          </a:r>
                        </a:p>
                      </a:txBody>
                      <a:tcPr/>
                    </a:tc>
                    <a:tc>
                      <a:txBody>
                        <a:bodyPr/>
                        <a:lstStyle/>
                        <a:p>
                          <a:pPr algn="ctr"/>
                          <a:r>
                            <a:rPr lang="en-GB" sz="2400" dirty="0">
                              <a:latin typeface="Times New Roman" pitchFamily="18" charset="0"/>
                              <a:cs typeface="Times New Roman" pitchFamily="18" charset="0"/>
                            </a:rPr>
                            <a:t>0.0812</a:t>
                          </a:r>
                        </a:p>
                      </a:txBody>
                      <a:tcPr/>
                    </a:tc>
                    <a:extLst>
                      <a:ext uri="{0D108BD9-81ED-4DB2-BD59-A6C34878D82A}">
                        <a16:rowId xmlns:a16="http://schemas.microsoft.com/office/drawing/2014/main" val="10004"/>
                      </a:ext>
                    </a:extLst>
                  </a:tr>
                  <a:tr h="457200">
                    <a:tc>
                      <a:txBody>
                        <a:bodyPr/>
                        <a:lstStyle/>
                        <a:p>
                          <a:pPr algn="ctr"/>
                          <a:r>
                            <a:rPr lang="en-GB" sz="2400" dirty="0">
                              <a:latin typeface="Times New Roman" pitchFamily="18" charset="0"/>
                              <a:cs typeface="Times New Roman" pitchFamily="18" charset="0"/>
                            </a:rPr>
                            <a:t>E = 0</a:t>
                          </a:r>
                        </a:p>
                      </a:txBody>
                      <a:tcPr/>
                    </a:tc>
                    <a:tc>
                      <a:txBody>
                        <a:bodyPr/>
                        <a:lstStyle/>
                        <a:p>
                          <a:pPr algn="ctr"/>
                          <a:r>
                            <a:rPr lang="en-GB" sz="2400" dirty="0">
                              <a:latin typeface="Times New Roman" pitchFamily="18" charset="0"/>
                              <a:cs typeface="Times New Roman" pitchFamily="18" charset="0"/>
                            </a:rPr>
                            <a:t>0.0298</a:t>
                          </a:r>
                        </a:p>
                      </a:txBody>
                      <a:tcPr/>
                    </a:tc>
                    <a:extLst>
                      <a:ext uri="{0D108BD9-81ED-4DB2-BD59-A6C34878D82A}">
                        <a16:rowId xmlns:a16="http://schemas.microsoft.com/office/drawing/2014/main" val="10005"/>
                      </a:ext>
                    </a:extLst>
                  </a:tr>
                </a:tbl>
              </a:graphicData>
            </a:graphic>
          </p:graphicFrame>
        </mc:Fallback>
      </mc:AlternateContent>
      <p:sp>
        <p:nvSpPr>
          <p:cNvPr id="7" name="Slide Number Placeholder 6"/>
          <p:cNvSpPr>
            <a:spLocks noGrp="1"/>
          </p:cNvSpPr>
          <p:nvPr>
            <p:ph type="sldNum" sz="quarter" idx="12"/>
          </p:nvPr>
        </p:nvSpPr>
        <p:spPr/>
        <p:txBody>
          <a:bodyPr/>
          <a:lstStyle/>
          <a:p>
            <a:pPr>
              <a:defRPr/>
            </a:pPr>
            <a:fld id="{645ED874-4033-4CEE-AE69-D7CB222F48E6}" type="slidenum">
              <a:rPr lang="en-US" smtClean="0"/>
              <a:pPr>
                <a:defRPr/>
              </a:pPr>
              <a:t>9</a:t>
            </a:fld>
            <a:endParaRPr lang="en-US"/>
          </a:p>
        </p:txBody>
      </p:sp>
      <p:sp>
        <p:nvSpPr>
          <p:cNvPr id="5" name="Date Placeholder 4">
            <a:extLst>
              <a:ext uri="{FF2B5EF4-FFF2-40B4-BE49-F238E27FC236}">
                <a16:creationId xmlns:a16="http://schemas.microsoft.com/office/drawing/2014/main" id="{ECDA00AE-5170-4BC0-AAE7-9050B88B82FE}"/>
              </a:ext>
            </a:extLst>
          </p:cNvPr>
          <p:cNvSpPr>
            <a:spLocks noGrp="1"/>
          </p:cNvSpPr>
          <p:nvPr>
            <p:ph type="dt" sz="half" idx="10"/>
          </p:nvPr>
        </p:nvSpPr>
        <p:spPr/>
        <p:txBody>
          <a:bodyPr/>
          <a:lstStyle/>
          <a:p>
            <a:pPr>
              <a:defRPr/>
            </a:pPr>
            <a:fld id="{5DC17382-FDB2-4AB7-9274-D58CD3D00F77}" type="datetime3">
              <a:rPr lang="en-US" smtClean="0"/>
              <a:t>16 December 2025</a:t>
            </a:fld>
            <a:endParaRPr lang="en-US"/>
          </a:p>
        </p:txBody>
      </p:sp>
      <p:sp>
        <p:nvSpPr>
          <p:cNvPr id="6" name="Footer Placeholder 5">
            <a:extLst>
              <a:ext uri="{FF2B5EF4-FFF2-40B4-BE49-F238E27FC236}">
                <a16:creationId xmlns:a16="http://schemas.microsoft.com/office/drawing/2014/main" id="{58018D7D-4218-4EE6-A950-3D0E5EFF76A8}"/>
              </a:ext>
            </a:extLst>
          </p:cNvPr>
          <p:cNvSpPr>
            <a:spLocks noGrp="1"/>
          </p:cNvSpPr>
          <p:nvPr>
            <p:ph type="ftr" sz="quarter" idx="11"/>
          </p:nvPr>
        </p:nvSpPr>
        <p:spPr/>
        <p:txBody>
          <a:bodyPr/>
          <a:lstStyle/>
          <a:p>
            <a:pPr>
              <a:defRPr/>
            </a:pPr>
            <a:r>
              <a:rPr lang="en-US"/>
              <a:t>T. Mayooran</a:t>
            </a:r>
          </a:p>
        </p:txBody>
      </p:sp>
    </p:spTree>
    <p:extLst>
      <p:ext uri="{BB962C8B-B14F-4D97-AF65-F5344CB8AC3E}">
        <p14:creationId xmlns:p14="http://schemas.microsoft.com/office/powerpoint/2010/main" val="1171246818"/>
      </p:ext>
    </p:extLst>
  </p:cSld>
  <p:clrMapOvr>
    <a:masterClrMapping/>
  </p:clrMapOvr>
  <p:transition spd="slow">
    <p:wipe dir="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838204" y="685800"/>
            <a:ext cx="7661275" cy="990600"/>
          </a:xfrm>
        </p:spPr>
        <p:txBody>
          <a:bodyPr/>
          <a:lstStyle/>
          <a:p>
            <a:pPr marL="0" indent="0">
              <a:buNone/>
            </a:pPr>
            <a:r>
              <a:rPr lang="en-GB" sz="4000" b="1" dirty="0">
                <a:solidFill>
                  <a:srgbClr val="C00000"/>
                </a:solidFill>
                <a:effectLst>
                  <a:outerShdw blurRad="38100" dist="38100" dir="2700000" algn="tl">
                    <a:srgbClr val="000000">
                      <a:alpha val="43137"/>
                    </a:srgbClr>
                  </a:outerShdw>
                </a:effectLst>
                <a:latin typeface="Times New Roman" pitchFamily="18" charset="0"/>
                <a:cs typeface="Times New Roman" pitchFamily="18" charset="0"/>
              </a:rPr>
              <a:t>Discrete Probability Distributions</a:t>
            </a:r>
            <a:endParaRPr lang="en-GB" sz="4000" dirty="0">
              <a:solidFill>
                <a:srgbClr val="C00000"/>
              </a:solidFill>
              <a:effectLst>
                <a:outerShdw blurRad="38100" dist="38100" dir="2700000" algn="tl">
                  <a:srgbClr val="000000">
                    <a:alpha val="43137"/>
                  </a:srgbClr>
                </a:outerShdw>
              </a:effectLst>
              <a:latin typeface="Times New Roman" pitchFamily="18" charset="0"/>
              <a:cs typeface="Times New Roman" pitchFamily="18" charset="0"/>
            </a:endParaRPr>
          </a:p>
        </p:txBody>
      </p:sp>
      <p:sp>
        <p:nvSpPr>
          <p:cNvPr id="6" name="Content Placeholder 2"/>
          <p:cNvSpPr txBox="1">
            <a:spLocks/>
          </p:cNvSpPr>
          <p:nvPr/>
        </p:nvSpPr>
        <p:spPr bwMode="auto">
          <a:xfrm>
            <a:off x="685804" y="1524000"/>
            <a:ext cx="7661275" cy="411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lvl1pPr marL="447675" indent="-447675" algn="l" rtl="0" eaLnBrk="0" fontAlgn="base" hangingPunct="0">
              <a:spcBef>
                <a:spcPct val="20000"/>
              </a:spcBef>
              <a:spcAft>
                <a:spcPct val="0"/>
              </a:spcAft>
              <a:buClr>
                <a:schemeClr val="accent1"/>
              </a:buClr>
              <a:buSzPct val="70000"/>
              <a:buFont typeface="Wingdings" pitchFamily="2" charset="2"/>
              <a:buChar char="n"/>
              <a:defRPr sz="3200">
                <a:solidFill>
                  <a:schemeClr val="tx1"/>
                </a:solidFill>
                <a:latin typeface="+mn-lt"/>
                <a:ea typeface="+mn-ea"/>
                <a:cs typeface="+mn-cs"/>
              </a:defRPr>
            </a:lvl1pPr>
            <a:lvl2pPr marL="889000" indent="-439738" algn="l" rtl="0" eaLnBrk="0" fontAlgn="base" hangingPunct="0">
              <a:spcBef>
                <a:spcPct val="20000"/>
              </a:spcBef>
              <a:spcAft>
                <a:spcPct val="0"/>
              </a:spcAft>
              <a:buClr>
                <a:schemeClr val="hlink"/>
              </a:buClr>
              <a:buSzPct val="65000"/>
              <a:buFont typeface="Wingdings" pitchFamily="2" charset="2"/>
              <a:buChar char="¡"/>
              <a:defRPr sz="2800">
                <a:solidFill>
                  <a:schemeClr val="tx1"/>
                </a:solidFill>
                <a:latin typeface="+mn-lt"/>
              </a:defRPr>
            </a:lvl2pPr>
            <a:lvl3pPr marL="1293813" indent="-403225" algn="l" rtl="0" eaLnBrk="0" fontAlgn="base" hangingPunct="0">
              <a:spcBef>
                <a:spcPct val="20000"/>
              </a:spcBef>
              <a:spcAft>
                <a:spcPct val="0"/>
              </a:spcAft>
              <a:buClr>
                <a:schemeClr val="accent1"/>
              </a:buClr>
              <a:buSzPct val="70000"/>
              <a:buFont typeface="Wingdings" pitchFamily="2" charset="2"/>
              <a:buChar char="n"/>
              <a:defRPr sz="2400">
                <a:solidFill>
                  <a:schemeClr val="tx1"/>
                </a:solidFill>
                <a:latin typeface="+mn-lt"/>
              </a:defRPr>
            </a:lvl3pPr>
            <a:lvl4pPr marL="1681163" indent="-385763" algn="l" rtl="0" eaLnBrk="0" fontAlgn="base" hangingPunct="0">
              <a:spcBef>
                <a:spcPct val="20000"/>
              </a:spcBef>
              <a:spcAft>
                <a:spcPct val="0"/>
              </a:spcAft>
              <a:buClr>
                <a:schemeClr val="hlink"/>
              </a:buClr>
              <a:buSzPct val="75000"/>
              <a:buFont typeface="Wingdings" pitchFamily="2" charset="2"/>
              <a:buChar char="¡"/>
              <a:defRPr sz="2000">
                <a:solidFill>
                  <a:schemeClr val="tx1"/>
                </a:solidFill>
                <a:latin typeface="+mn-lt"/>
              </a:defRPr>
            </a:lvl4pPr>
            <a:lvl5pPr marL="2070100" indent="-387350" algn="l" rtl="0" eaLnBrk="0" fontAlgn="base" hangingPunct="0">
              <a:spcBef>
                <a:spcPct val="20000"/>
              </a:spcBef>
              <a:spcAft>
                <a:spcPct val="0"/>
              </a:spcAft>
              <a:buClr>
                <a:schemeClr val="accent1"/>
              </a:buClr>
              <a:buSzPct val="70000"/>
              <a:buFont typeface="Wingdings" pitchFamily="2" charset="2"/>
              <a:buChar char="n"/>
              <a:defRPr sz="2000">
                <a:solidFill>
                  <a:schemeClr val="tx1"/>
                </a:solidFill>
                <a:latin typeface="+mn-lt"/>
              </a:defRPr>
            </a:lvl5pPr>
            <a:lvl6pPr marL="2527300" indent="-387350" algn="l" rtl="0" fontAlgn="base">
              <a:spcBef>
                <a:spcPct val="20000"/>
              </a:spcBef>
              <a:spcAft>
                <a:spcPct val="0"/>
              </a:spcAft>
              <a:buClr>
                <a:schemeClr val="accent1"/>
              </a:buClr>
              <a:buSzPct val="70000"/>
              <a:buFont typeface="Wingdings" pitchFamily="2" charset="2"/>
              <a:buChar char="n"/>
              <a:defRPr sz="2000">
                <a:solidFill>
                  <a:schemeClr val="tx1"/>
                </a:solidFill>
                <a:latin typeface="+mn-lt"/>
              </a:defRPr>
            </a:lvl6pPr>
            <a:lvl7pPr marL="2984500" indent="-387350" algn="l" rtl="0" fontAlgn="base">
              <a:spcBef>
                <a:spcPct val="20000"/>
              </a:spcBef>
              <a:spcAft>
                <a:spcPct val="0"/>
              </a:spcAft>
              <a:buClr>
                <a:schemeClr val="accent1"/>
              </a:buClr>
              <a:buSzPct val="70000"/>
              <a:buFont typeface="Wingdings" pitchFamily="2" charset="2"/>
              <a:buChar char="n"/>
              <a:defRPr sz="2000">
                <a:solidFill>
                  <a:schemeClr val="tx1"/>
                </a:solidFill>
                <a:latin typeface="+mn-lt"/>
              </a:defRPr>
            </a:lvl7pPr>
            <a:lvl8pPr marL="3441700" indent="-387350" algn="l" rtl="0" fontAlgn="base">
              <a:spcBef>
                <a:spcPct val="20000"/>
              </a:spcBef>
              <a:spcAft>
                <a:spcPct val="0"/>
              </a:spcAft>
              <a:buClr>
                <a:schemeClr val="accent1"/>
              </a:buClr>
              <a:buSzPct val="70000"/>
              <a:buFont typeface="Wingdings" pitchFamily="2" charset="2"/>
              <a:buChar char="n"/>
              <a:defRPr sz="2000">
                <a:solidFill>
                  <a:schemeClr val="tx1"/>
                </a:solidFill>
                <a:latin typeface="+mn-lt"/>
              </a:defRPr>
            </a:lvl8pPr>
            <a:lvl9pPr marL="3898900" indent="-387350" algn="l" rtl="0" fontAlgn="base">
              <a:spcBef>
                <a:spcPct val="20000"/>
              </a:spcBef>
              <a:spcAft>
                <a:spcPct val="0"/>
              </a:spcAft>
              <a:buClr>
                <a:schemeClr val="accent1"/>
              </a:buClr>
              <a:buSzPct val="70000"/>
              <a:buFont typeface="Wingdings" pitchFamily="2" charset="2"/>
              <a:buChar char="n"/>
              <a:defRPr sz="2000">
                <a:solidFill>
                  <a:schemeClr val="tx1"/>
                </a:solidFill>
                <a:latin typeface="+mn-lt"/>
              </a:defRPr>
            </a:lvl9pPr>
          </a:lstStyle>
          <a:p>
            <a:pPr marL="0" indent="0" algn="just">
              <a:buClr>
                <a:srgbClr val="003399"/>
              </a:buClr>
              <a:buNone/>
            </a:pPr>
            <a:r>
              <a:rPr lang="en-GB" sz="3500" dirty="0">
                <a:latin typeface="Times New Roman" pitchFamily="18" charset="0"/>
                <a:cs typeface="Times New Roman" pitchFamily="18" charset="0"/>
              </a:rPr>
              <a:t>In this Section, we will discuss following four Discrete Distributions,</a:t>
            </a:r>
          </a:p>
          <a:p>
            <a:pPr marL="1350962" indent="-457200">
              <a:lnSpc>
                <a:spcPct val="150000"/>
              </a:lnSpc>
              <a:buClr>
                <a:srgbClr val="003399"/>
              </a:buClr>
              <a:buFont typeface="Wingdings" pitchFamily="2" charset="2"/>
              <a:buChar char="v"/>
            </a:pPr>
            <a:r>
              <a:rPr lang="en-GB" sz="3500" dirty="0">
                <a:solidFill>
                  <a:srgbClr val="003399"/>
                </a:solidFill>
                <a:latin typeface="Times New Roman" pitchFamily="18" charset="0"/>
                <a:cs typeface="Times New Roman" pitchFamily="18" charset="0"/>
              </a:rPr>
              <a:t>Bernoulli Distribution</a:t>
            </a:r>
          </a:p>
          <a:p>
            <a:pPr marL="1350962" indent="-457200">
              <a:lnSpc>
                <a:spcPct val="150000"/>
              </a:lnSpc>
              <a:buClr>
                <a:srgbClr val="003399"/>
              </a:buClr>
              <a:buFont typeface="Wingdings" pitchFamily="2" charset="2"/>
              <a:buChar char="v"/>
            </a:pPr>
            <a:r>
              <a:rPr lang="en-GB" sz="3500" dirty="0">
                <a:solidFill>
                  <a:srgbClr val="003399"/>
                </a:solidFill>
                <a:latin typeface="Times New Roman" pitchFamily="18" charset="0"/>
                <a:cs typeface="Times New Roman" pitchFamily="18" charset="0"/>
              </a:rPr>
              <a:t>Binomial Distribution</a:t>
            </a:r>
          </a:p>
          <a:p>
            <a:pPr marL="1350962" indent="-457200">
              <a:lnSpc>
                <a:spcPct val="150000"/>
              </a:lnSpc>
              <a:buClr>
                <a:srgbClr val="003399"/>
              </a:buClr>
              <a:buFont typeface="Wingdings" pitchFamily="2" charset="2"/>
              <a:buChar char="v"/>
            </a:pPr>
            <a:r>
              <a:rPr lang="en-GB" sz="3500" dirty="0">
                <a:solidFill>
                  <a:srgbClr val="003399"/>
                </a:solidFill>
                <a:latin typeface="Times New Roman" pitchFamily="18" charset="0"/>
                <a:cs typeface="Times New Roman" pitchFamily="18" charset="0"/>
              </a:rPr>
              <a:t>Poisson Distribution</a:t>
            </a:r>
          </a:p>
          <a:p>
            <a:pPr marL="1350962" indent="-457200">
              <a:lnSpc>
                <a:spcPct val="150000"/>
              </a:lnSpc>
              <a:buClr>
                <a:srgbClr val="003399"/>
              </a:buClr>
              <a:buFont typeface="Wingdings" pitchFamily="2" charset="2"/>
              <a:buChar char="v"/>
            </a:pPr>
            <a:r>
              <a:rPr lang="en-GB" sz="3500" dirty="0">
                <a:solidFill>
                  <a:srgbClr val="003399"/>
                </a:solidFill>
                <a:latin typeface="Times New Roman" pitchFamily="18" charset="0"/>
                <a:cs typeface="Times New Roman" pitchFamily="18" charset="0"/>
              </a:rPr>
              <a:t>Hypergeometric Distribution</a:t>
            </a:r>
          </a:p>
        </p:txBody>
      </p:sp>
      <p:sp>
        <p:nvSpPr>
          <p:cNvPr id="4" name="Slide Number Placeholder 3"/>
          <p:cNvSpPr>
            <a:spLocks noGrp="1"/>
          </p:cNvSpPr>
          <p:nvPr>
            <p:ph type="sldNum" sz="quarter" idx="12"/>
          </p:nvPr>
        </p:nvSpPr>
        <p:spPr/>
        <p:txBody>
          <a:bodyPr/>
          <a:lstStyle/>
          <a:p>
            <a:pPr>
              <a:defRPr/>
            </a:pPr>
            <a:fld id="{645ED874-4033-4CEE-AE69-D7CB222F48E6}" type="slidenum">
              <a:rPr lang="en-US" smtClean="0"/>
              <a:pPr>
                <a:defRPr/>
              </a:pPr>
              <a:t>10</a:t>
            </a:fld>
            <a:endParaRPr lang="en-US"/>
          </a:p>
        </p:txBody>
      </p:sp>
      <p:sp>
        <p:nvSpPr>
          <p:cNvPr id="2" name="Date Placeholder 1">
            <a:extLst>
              <a:ext uri="{FF2B5EF4-FFF2-40B4-BE49-F238E27FC236}">
                <a16:creationId xmlns:a16="http://schemas.microsoft.com/office/drawing/2014/main" id="{C2EC4FED-5869-4BE6-8594-203B368F6EA9}"/>
              </a:ext>
            </a:extLst>
          </p:cNvPr>
          <p:cNvSpPr>
            <a:spLocks noGrp="1"/>
          </p:cNvSpPr>
          <p:nvPr>
            <p:ph type="dt" sz="half" idx="10"/>
          </p:nvPr>
        </p:nvSpPr>
        <p:spPr/>
        <p:txBody>
          <a:bodyPr/>
          <a:lstStyle/>
          <a:p>
            <a:pPr>
              <a:defRPr/>
            </a:pPr>
            <a:fld id="{95048985-04BF-4E44-AD19-D0D3F0603289}" type="datetime3">
              <a:rPr lang="en-US" smtClean="0"/>
              <a:t>16 December 2025</a:t>
            </a:fld>
            <a:endParaRPr lang="en-US"/>
          </a:p>
        </p:txBody>
      </p:sp>
      <p:sp>
        <p:nvSpPr>
          <p:cNvPr id="5" name="Footer Placeholder 4">
            <a:extLst>
              <a:ext uri="{FF2B5EF4-FFF2-40B4-BE49-F238E27FC236}">
                <a16:creationId xmlns:a16="http://schemas.microsoft.com/office/drawing/2014/main" id="{9403347C-A962-4443-8AEA-4231444DA908}"/>
              </a:ext>
            </a:extLst>
          </p:cNvPr>
          <p:cNvSpPr>
            <a:spLocks noGrp="1"/>
          </p:cNvSpPr>
          <p:nvPr>
            <p:ph type="ftr" sz="quarter" idx="11"/>
          </p:nvPr>
        </p:nvSpPr>
        <p:spPr/>
        <p:txBody>
          <a:bodyPr/>
          <a:lstStyle/>
          <a:p>
            <a:pPr>
              <a:defRPr/>
            </a:pPr>
            <a:r>
              <a:rPr lang="en-US"/>
              <a:t>T. Mayooran</a:t>
            </a:r>
          </a:p>
        </p:txBody>
      </p:sp>
    </p:spTree>
    <p:extLst>
      <p:ext uri="{BB962C8B-B14F-4D97-AF65-F5344CB8AC3E}">
        <p14:creationId xmlns:p14="http://schemas.microsoft.com/office/powerpoint/2010/main" val="3440854598"/>
      </p:ext>
    </p:extLst>
  </p:cSld>
  <p:clrMapOvr>
    <a:masterClrMapping/>
  </p:clrMapOvr>
  <p:transition spd="slow">
    <p:wipe dir="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F1CB3ADA-A21D-4025-B305-AD9C28895047}"/>
              </a:ext>
            </a:extLst>
          </p:cNvPr>
          <p:cNvSpPr>
            <a:spLocks noGrp="1"/>
          </p:cNvSpPr>
          <p:nvPr>
            <p:ph type="dt" sz="half" idx="10"/>
          </p:nvPr>
        </p:nvSpPr>
        <p:spPr/>
        <p:txBody>
          <a:bodyPr/>
          <a:lstStyle/>
          <a:p>
            <a:pPr>
              <a:defRPr/>
            </a:pPr>
            <a:fld id="{E84513CC-386E-465A-BA6A-30F6981BE159}" type="datetime3">
              <a:rPr lang="en-US" smtClean="0"/>
              <a:t>16 December 2025</a:t>
            </a:fld>
            <a:endParaRPr lang="en-US"/>
          </a:p>
        </p:txBody>
      </p:sp>
      <p:sp>
        <p:nvSpPr>
          <p:cNvPr id="5" name="Footer Placeholder 4">
            <a:extLst>
              <a:ext uri="{FF2B5EF4-FFF2-40B4-BE49-F238E27FC236}">
                <a16:creationId xmlns:a16="http://schemas.microsoft.com/office/drawing/2014/main" id="{D447FDB3-7940-4E96-A96E-03404F918BC0}"/>
              </a:ext>
            </a:extLst>
          </p:cNvPr>
          <p:cNvSpPr>
            <a:spLocks noGrp="1"/>
          </p:cNvSpPr>
          <p:nvPr>
            <p:ph type="ftr" sz="quarter" idx="11"/>
          </p:nvPr>
        </p:nvSpPr>
        <p:spPr/>
        <p:txBody>
          <a:bodyPr/>
          <a:lstStyle/>
          <a:p>
            <a:pPr>
              <a:defRPr/>
            </a:pPr>
            <a:r>
              <a:rPr lang="en-US"/>
              <a:t>T. Mayooran</a:t>
            </a:r>
          </a:p>
        </p:txBody>
      </p:sp>
      <p:sp>
        <p:nvSpPr>
          <p:cNvPr id="6" name="Slide Number Placeholder 5">
            <a:extLst>
              <a:ext uri="{FF2B5EF4-FFF2-40B4-BE49-F238E27FC236}">
                <a16:creationId xmlns:a16="http://schemas.microsoft.com/office/drawing/2014/main" id="{7D7D8D37-4978-4DCE-99D1-7729AED548BF}"/>
              </a:ext>
            </a:extLst>
          </p:cNvPr>
          <p:cNvSpPr>
            <a:spLocks noGrp="1"/>
          </p:cNvSpPr>
          <p:nvPr>
            <p:ph type="sldNum" sz="quarter" idx="12"/>
          </p:nvPr>
        </p:nvSpPr>
        <p:spPr/>
        <p:txBody>
          <a:bodyPr/>
          <a:lstStyle/>
          <a:p>
            <a:pPr>
              <a:defRPr/>
            </a:pPr>
            <a:fld id="{645ED874-4033-4CEE-AE69-D7CB222F48E6}" type="slidenum">
              <a:rPr lang="en-US" smtClean="0"/>
              <a:pPr>
                <a:defRPr/>
              </a:pPr>
              <a:t>11</a:t>
            </a:fld>
            <a:endParaRPr lang="en-US"/>
          </a:p>
        </p:txBody>
      </p:sp>
      <p:sp>
        <p:nvSpPr>
          <p:cNvPr id="7" name="Title 1">
            <a:extLst>
              <a:ext uri="{FF2B5EF4-FFF2-40B4-BE49-F238E27FC236}">
                <a16:creationId xmlns:a16="http://schemas.microsoft.com/office/drawing/2014/main" id="{2A454F8C-B2A7-402B-926C-D897A92C53E1}"/>
              </a:ext>
            </a:extLst>
          </p:cNvPr>
          <p:cNvSpPr>
            <a:spLocks noGrp="1"/>
          </p:cNvSpPr>
          <p:nvPr>
            <p:ph type="title"/>
          </p:nvPr>
        </p:nvSpPr>
        <p:spPr>
          <a:xfrm>
            <a:off x="1723736" y="2438402"/>
            <a:ext cx="5943600" cy="1412875"/>
          </a:xfrm>
        </p:spPr>
        <p:txBody>
          <a:bodyPr/>
          <a:lstStyle/>
          <a:p>
            <a:pPr algn="ctr"/>
            <a:r>
              <a:rPr lang="en-GB" sz="4800" dirty="0">
                <a:solidFill>
                  <a:srgbClr val="C0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Bernoulli Distribution</a:t>
            </a:r>
          </a:p>
        </p:txBody>
      </p:sp>
    </p:spTree>
    <p:extLst>
      <p:ext uri="{BB962C8B-B14F-4D97-AF65-F5344CB8AC3E}">
        <p14:creationId xmlns:p14="http://schemas.microsoft.com/office/powerpoint/2010/main" val="3793380458"/>
      </p:ext>
    </p:extLst>
  </p:cSld>
  <p:clrMapOvr>
    <a:masterClrMapping/>
  </p:clrMapOvr>
  <p:transition spd="slow">
    <p:wipe dir="r"/>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31867" y="76204"/>
            <a:ext cx="7158037" cy="1412875"/>
          </a:xfrm>
        </p:spPr>
        <p:txBody>
          <a:bodyPr/>
          <a:lstStyle/>
          <a:p>
            <a:r>
              <a:rPr lang="en-GB" dirty="0">
                <a:solidFill>
                  <a:srgbClr val="C00000"/>
                </a:solidFill>
                <a:effectLst>
                  <a:outerShdw blurRad="38100" dist="38100" dir="2700000" algn="tl">
                    <a:srgbClr val="000000">
                      <a:alpha val="43137"/>
                    </a:srgbClr>
                  </a:outerShdw>
                </a:effectLst>
                <a:latin typeface="Times New Roman" pitchFamily="18" charset="0"/>
                <a:cs typeface="Times New Roman" pitchFamily="18" charset="0"/>
              </a:rPr>
              <a:t>Bernoulli Distribution:</a:t>
            </a:r>
          </a:p>
        </p:txBody>
      </p:sp>
      <p:sp>
        <p:nvSpPr>
          <p:cNvPr id="3" name="Content Placeholder 2"/>
          <p:cNvSpPr>
            <a:spLocks noGrp="1"/>
          </p:cNvSpPr>
          <p:nvPr>
            <p:ph idx="1"/>
          </p:nvPr>
        </p:nvSpPr>
        <p:spPr>
          <a:xfrm>
            <a:off x="685804" y="1752600"/>
            <a:ext cx="7661275" cy="4114800"/>
          </a:xfrm>
        </p:spPr>
        <p:txBody>
          <a:bodyPr/>
          <a:lstStyle/>
          <a:p>
            <a:pPr marL="0" indent="0" algn="just">
              <a:buNone/>
            </a:pPr>
            <a:r>
              <a:rPr lang="en-GB" dirty="0">
                <a:latin typeface="Times New Roman" pitchFamily="18" charset="0"/>
                <a:cs typeface="Times New Roman" pitchFamily="18" charset="0"/>
              </a:rPr>
              <a:t>When a procedure is </a:t>
            </a:r>
            <a:r>
              <a:rPr lang="en-IN" dirty="0">
                <a:latin typeface="Times New Roman" pitchFamily="18" charset="0"/>
                <a:cs typeface="Times New Roman" pitchFamily="18" charset="0"/>
              </a:rPr>
              <a:t>performed, if there are </a:t>
            </a:r>
            <a:r>
              <a:rPr lang="en-IN" u="sng" dirty="0">
                <a:latin typeface="Times New Roman" pitchFamily="18" charset="0"/>
                <a:cs typeface="Times New Roman" pitchFamily="18" charset="0"/>
              </a:rPr>
              <a:t>only two possible outcomes</a:t>
            </a:r>
            <a:r>
              <a:rPr lang="en-IN" dirty="0">
                <a:latin typeface="Times New Roman" pitchFamily="18" charset="0"/>
                <a:cs typeface="Times New Roman" pitchFamily="18" charset="0"/>
              </a:rPr>
              <a:t>, this procedure is called a </a:t>
            </a:r>
            <a:r>
              <a:rPr lang="en-IN" dirty="0">
                <a:solidFill>
                  <a:srgbClr val="FF0000"/>
                </a:solidFill>
                <a:latin typeface="Times New Roman" pitchFamily="18" charset="0"/>
                <a:cs typeface="Times New Roman" pitchFamily="18" charset="0"/>
              </a:rPr>
              <a:t>Bernoulli experiment</a:t>
            </a:r>
            <a:r>
              <a:rPr lang="en-IN" dirty="0">
                <a:latin typeface="Times New Roman" pitchFamily="18" charset="0"/>
                <a:cs typeface="Times New Roman" pitchFamily="18" charset="0"/>
              </a:rPr>
              <a:t> or </a:t>
            </a:r>
            <a:r>
              <a:rPr lang="en-IN" dirty="0">
                <a:solidFill>
                  <a:srgbClr val="FF0000"/>
                </a:solidFill>
                <a:latin typeface="Times New Roman" pitchFamily="18" charset="0"/>
                <a:cs typeface="Times New Roman" pitchFamily="18" charset="0"/>
              </a:rPr>
              <a:t>Bernoulli trial</a:t>
            </a:r>
            <a:r>
              <a:rPr lang="en-IN" dirty="0">
                <a:latin typeface="Times New Roman" pitchFamily="18" charset="0"/>
                <a:cs typeface="Times New Roman" pitchFamily="18" charset="0"/>
              </a:rPr>
              <a:t>. </a:t>
            </a:r>
          </a:p>
          <a:p>
            <a:pPr marL="0" indent="0" algn="just">
              <a:buNone/>
            </a:pPr>
            <a:endParaRPr lang="en-IN" dirty="0">
              <a:latin typeface="Times New Roman" pitchFamily="18" charset="0"/>
              <a:cs typeface="Times New Roman" pitchFamily="18" charset="0"/>
            </a:endParaRPr>
          </a:p>
          <a:p>
            <a:pPr marL="0" indent="0" algn="just">
              <a:buNone/>
            </a:pPr>
            <a:r>
              <a:rPr lang="en-IN" dirty="0">
                <a:latin typeface="Times New Roman" pitchFamily="18" charset="0"/>
                <a:cs typeface="Times New Roman" pitchFamily="18" charset="0"/>
              </a:rPr>
              <a:t>We choose one of the two outcomes as “success” and the other one as “failure”. X is defined as the number of the successes.</a:t>
            </a:r>
            <a:endParaRPr lang="en-GB" dirty="0">
              <a:latin typeface="Times New Roman" pitchFamily="18" charset="0"/>
              <a:cs typeface="Times New Roman" pitchFamily="18" charset="0"/>
            </a:endParaRPr>
          </a:p>
        </p:txBody>
      </p:sp>
      <p:sp>
        <p:nvSpPr>
          <p:cNvPr id="6" name="Slide Number Placeholder 5"/>
          <p:cNvSpPr>
            <a:spLocks noGrp="1"/>
          </p:cNvSpPr>
          <p:nvPr>
            <p:ph type="sldNum" sz="quarter" idx="12"/>
          </p:nvPr>
        </p:nvSpPr>
        <p:spPr/>
        <p:txBody>
          <a:bodyPr/>
          <a:lstStyle/>
          <a:p>
            <a:pPr>
              <a:defRPr/>
            </a:pPr>
            <a:fld id="{645ED874-4033-4CEE-AE69-D7CB222F48E6}" type="slidenum">
              <a:rPr lang="en-US" smtClean="0"/>
              <a:pPr>
                <a:defRPr/>
              </a:pPr>
              <a:t>12</a:t>
            </a:fld>
            <a:endParaRPr lang="en-US"/>
          </a:p>
        </p:txBody>
      </p:sp>
      <p:sp>
        <p:nvSpPr>
          <p:cNvPr id="4" name="Date Placeholder 3">
            <a:extLst>
              <a:ext uri="{FF2B5EF4-FFF2-40B4-BE49-F238E27FC236}">
                <a16:creationId xmlns:a16="http://schemas.microsoft.com/office/drawing/2014/main" id="{3EB825F9-5E82-443A-A78A-2517C9032A80}"/>
              </a:ext>
            </a:extLst>
          </p:cNvPr>
          <p:cNvSpPr>
            <a:spLocks noGrp="1"/>
          </p:cNvSpPr>
          <p:nvPr>
            <p:ph type="dt" sz="half" idx="10"/>
          </p:nvPr>
        </p:nvSpPr>
        <p:spPr/>
        <p:txBody>
          <a:bodyPr/>
          <a:lstStyle/>
          <a:p>
            <a:pPr>
              <a:defRPr/>
            </a:pPr>
            <a:fld id="{AD34042D-3D9D-4FC6-9B98-A2348A3B1F55}" type="datetime3">
              <a:rPr lang="en-US" smtClean="0"/>
              <a:t>16 December 2025</a:t>
            </a:fld>
            <a:endParaRPr lang="en-US"/>
          </a:p>
        </p:txBody>
      </p:sp>
      <p:sp>
        <p:nvSpPr>
          <p:cNvPr id="5" name="Footer Placeholder 4">
            <a:extLst>
              <a:ext uri="{FF2B5EF4-FFF2-40B4-BE49-F238E27FC236}">
                <a16:creationId xmlns:a16="http://schemas.microsoft.com/office/drawing/2014/main" id="{F2DBBCCE-2CC3-4FC1-999C-3FE81F84074B}"/>
              </a:ext>
            </a:extLst>
          </p:cNvPr>
          <p:cNvSpPr>
            <a:spLocks noGrp="1"/>
          </p:cNvSpPr>
          <p:nvPr>
            <p:ph type="ftr" sz="quarter" idx="11"/>
          </p:nvPr>
        </p:nvSpPr>
        <p:spPr/>
        <p:txBody>
          <a:bodyPr/>
          <a:lstStyle/>
          <a:p>
            <a:pPr>
              <a:defRPr/>
            </a:pPr>
            <a:r>
              <a:rPr lang="en-US"/>
              <a:t>T. Mayooran</a:t>
            </a:r>
          </a:p>
        </p:txBody>
      </p:sp>
    </p:spTree>
    <p:extLst>
      <p:ext uri="{BB962C8B-B14F-4D97-AF65-F5344CB8AC3E}">
        <p14:creationId xmlns:p14="http://schemas.microsoft.com/office/powerpoint/2010/main" val="249814998"/>
      </p:ext>
    </p:extLst>
  </p:cSld>
  <p:clrMapOvr>
    <a:masterClrMapping/>
  </p:clrMapOvr>
  <p:transition spd="slow">
    <p:wipe dir="r"/>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796929" y="1676400"/>
            <a:ext cx="7661275" cy="3276600"/>
          </a:xfrm>
        </p:spPr>
        <p:txBody>
          <a:bodyPr/>
          <a:lstStyle/>
          <a:p>
            <a:pPr marL="0" indent="0" algn="just">
              <a:buNone/>
            </a:pPr>
            <a:r>
              <a:rPr lang="en-IN" dirty="0">
                <a:latin typeface="Times New Roman" pitchFamily="18" charset="0"/>
                <a:cs typeface="Times New Roman" pitchFamily="18" charset="0"/>
              </a:rPr>
              <a:t>It can have only two possible values 0 for ‘failure’ and 1 for ‘success’ and their probabilities are fixed but </a:t>
            </a:r>
            <a:r>
              <a:rPr lang="en-GB" dirty="0">
                <a:latin typeface="Times New Roman" pitchFamily="18" charset="0"/>
                <a:cs typeface="Times New Roman" pitchFamily="18" charset="0"/>
              </a:rPr>
              <a:t>usually unknown.</a:t>
            </a:r>
          </a:p>
          <a:p>
            <a:pPr marL="0" indent="0" algn="just">
              <a:buNone/>
            </a:pPr>
            <a:endParaRPr lang="en-IN" dirty="0">
              <a:latin typeface="Times New Roman" pitchFamily="18" charset="0"/>
              <a:cs typeface="Times New Roman" pitchFamily="18" charset="0"/>
            </a:endParaRPr>
          </a:p>
          <a:p>
            <a:pPr marL="0" indent="0" algn="just">
              <a:buNone/>
            </a:pPr>
            <a:r>
              <a:rPr lang="en-IN" dirty="0">
                <a:latin typeface="Times New Roman" pitchFamily="18" charset="0"/>
                <a:cs typeface="Times New Roman" pitchFamily="18" charset="0"/>
              </a:rPr>
              <a:t>Then the distribution of X , with the probability </a:t>
            </a:r>
            <a:r>
              <a:rPr lang="en-GB" dirty="0">
                <a:latin typeface="Times New Roman" pitchFamily="18" charset="0"/>
                <a:cs typeface="Times New Roman" pitchFamily="18" charset="0"/>
              </a:rPr>
              <a:t>mass function,</a:t>
            </a:r>
          </a:p>
        </p:txBody>
      </p:sp>
      <mc:AlternateContent xmlns:mc="http://schemas.openxmlformats.org/markup-compatibility/2006" xmlns:a14="http://schemas.microsoft.com/office/drawing/2010/main">
        <mc:Choice Requires="a14">
          <p:sp>
            <p:nvSpPr>
              <p:cNvPr id="6" name="TextBox 5"/>
              <p:cNvSpPr txBox="1"/>
              <p:nvPr/>
            </p:nvSpPr>
            <p:spPr>
              <a:xfrm>
                <a:off x="1707931" y="4832388"/>
                <a:ext cx="5158912" cy="1271438"/>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GB" sz="2400" i="1">
                          <a:solidFill>
                            <a:srgbClr val="002060"/>
                          </a:solidFill>
                          <a:latin typeface="Cambria Math"/>
                        </a:rPr>
                        <m:t>𝑃</m:t>
                      </m:r>
                      <m:d>
                        <m:dPr>
                          <m:ctrlPr>
                            <a:rPr lang="en-GB" sz="2400" i="1">
                              <a:solidFill>
                                <a:srgbClr val="002060"/>
                              </a:solidFill>
                              <a:latin typeface="Cambria Math" panose="02040503050406030204" pitchFamily="18" charset="0"/>
                            </a:rPr>
                          </m:ctrlPr>
                        </m:dPr>
                        <m:e>
                          <m:r>
                            <a:rPr lang="en-GB" sz="2400" i="1">
                              <a:solidFill>
                                <a:srgbClr val="002060"/>
                              </a:solidFill>
                              <a:latin typeface="Cambria Math"/>
                            </a:rPr>
                            <m:t>𝑋</m:t>
                          </m:r>
                          <m:r>
                            <a:rPr lang="en-GB" sz="2400" i="1">
                              <a:solidFill>
                                <a:srgbClr val="002060"/>
                              </a:solidFill>
                              <a:latin typeface="Cambria Math"/>
                            </a:rPr>
                            <m:t>=</m:t>
                          </m:r>
                          <m:r>
                            <a:rPr lang="en-GB" sz="2400" i="1">
                              <a:solidFill>
                                <a:srgbClr val="002060"/>
                              </a:solidFill>
                              <a:latin typeface="Cambria Math"/>
                            </a:rPr>
                            <m:t>𝑥</m:t>
                          </m:r>
                        </m:e>
                      </m:d>
                      <m:r>
                        <a:rPr lang="en-GB" sz="2400" i="1">
                          <a:solidFill>
                            <a:srgbClr val="002060"/>
                          </a:solidFill>
                          <a:latin typeface="Cambria Math"/>
                        </a:rPr>
                        <m:t>= </m:t>
                      </m:r>
                      <m:d>
                        <m:dPr>
                          <m:begChr m:val="{"/>
                          <m:endChr m:val=""/>
                          <m:ctrlPr>
                            <a:rPr lang="en-GB" sz="2400" i="1">
                              <a:solidFill>
                                <a:srgbClr val="002060"/>
                              </a:solidFill>
                              <a:latin typeface="Cambria Math" panose="02040503050406030204" pitchFamily="18" charset="0"/>
                            </a:rPr>
                          </m:ctrlPr>
                        </m:dPr>
                        <m:e>
                          <m:eqArr>
                            <m:eqArrPr>
                              <m:ctrlPr>
                                <a:rPr lang="en-GB" sz="2400" i="1">
                                  <a:solidFill>
                                    <a:srgbClr val="002060"/>
                                  </a:solidFill>
                                  <a:latin typeface="Cambria Math" panose="02040503050406030204" pitchFamily="18" charset="0"/>
                                </a:rPr>
                              </m:ctrlPr>
                            </m:eqArrPr>
                            <m:e>
                              <m:r>
                                <a:rPr lang="en-GB" sz="2400" i="1">
                                  <a:solidFill>
                                    <a:srgbClr val="002060"/>
                                  </a:solidFill>
                                  <a:latin typeface="Cambria Math"/>
                                </a:rPr>
                                <m:t>1−</m:t>
                              </m:r>
                              <m:r>
                                <a:rPr lang="en-GB" sz="2400" i="1">
                                  <a:solidFill>
                                    <a:srgbClr val="002060"/>
                                  </a:solidFill>
                                  <a:latin typeface="Cambria Math"/>
                                </a:rPr>
                                <m:t>𝑝</m:t>
                              </m:r>
                              <m:r>
                                <a:rPr lang="en-GB" sz="2400" i="1">
                                  <a:solidFill>
                                    <a:srgbClr val="002060"/>
                                  </a:solidFill>
                                  <a:latin typeface="Cambria Math"/>
                                </a:rPr>
                                <m:t>          </m:t>
                              </m:r>
                              <m:r>
                                <m:rPr>
                                  <m:sty m:val="p"/>
                                </m:rPr>
                                <a:rPr lang="en-GB" sz="2400">
                                  <a:solidFill>
                                    <a:srgbClr val="002060"/>
                                  </a:solidFill>
                                  <a:latin typeface="Cambria Math"/>
                                </a:rPr>
                                <m:t>when</m:t>
                              </m:r>
                              <m:r>
                                <a:rPr lang="en-GB" sz="2400">
                                  <a:solidFill>
                                    <a:srgbClr val="002060"/>
                                  </a:solidFill>
                                  <a:latin typeface="Cambria Math"/>
                                </a:rPr>
                                <m:t>  </m:t>
                              </m:r>
                              <m:r>
                                <a:rPr lang="en-GB" sz="2400" i="1">
                                  <a:solidFill>
                                    <a:srgbClr val="002060"/>
                                  </a:solidFill>
                                  <a:latin typeface="Cambria Math"/>
                                </a:rPr>
                                <m:t>𝑥</m:t>
                              </m:r>
                              <m:r>
                                <a:rPr lang="en-GB" sz="2400" i="1">
                                  <a:solidFill>
                                    <a:srgbClr val="002060"/>
                                  </a:solidFill>
                                  <a:latin typeface="Cambria Math"/>
                                </a:rPr>
                                <m:t>=0</m:t>
                              </m:r>
                            </m:e>
                            <m:e>
                              <m:r>
                                <a:rPr lang="en-GB" sz="2400" i="1">
                                  <a:solidFill>
                                    <a:srgbClr val="002060"/>
                                  </a:solidFill>
                                  <a:latin typeface="Cambria Math"/>
                                </a:rPr>
                                <m:t> </m:t>
                              </m:r>
                            </m:e>
                            <m:e>
                              <m:r>
                                <a:rPr lang="en-GB" sz="2400" i="1">
                                  <a:solidFill>
                                    <a:srgbClr val="002060"/>
                                  </a:solidFill>
                                  <a:latin typeface="Cambria Math"/>
                                </a:rPr>
                                <m:t>    </m:t>
                              </m:r>
                              <m:r>
                                <a:rPr lang="en-GB" sz="2400" i="1">
                                  <a:solidFill>
                                    <a:srgbClr val="002060"/>
                                  </a:solidFill>
                                  <a:latin typeface="Cambria Math"/>
                                </a:rPr>
                                <m:t>𝑝</m:t>
                              </m:r>
                              <m:r>
                                <a:rPr lang="en-GB" sz="2400" i="1">
                                  <a:solidFill>
                                    <a:srgbClr val="002060"/>
                                  </a:solidFill>
                                  <a:latin typeface="Cambria Math"/>
                                </a:rPr>
                                <m:t>              </m:t>
                              </m:r>
                              <m:r>
                                <m:rPr>
                                  <m:sty m:val="p"/>
                                </m:rPr>
                                <a:rPr lang="en-GB" sz="2400">
                                  <a:solidFill>
                                    <a:srgbClr val="002060"/>
                                  </a:solidFill>
                                  <a:latin typeface="Cambria Math"/>
                                </a:rPr>
                                <m:t>whe</m:t>
                              </m:r>
                              <m:r>
                                <a:rPr lang="en-GB" sz="2400" i="1">
                                  <a:solidFill>
                                    <a:srgbClr val="002060"/>
                                  </a:solidFill>
                                  <a:latin typeface="Cambria Math"/>
                                </a:rPr>
                                <m:t>𝑛</m:t>
                              </m:r>
                              <m:r>
                                <a:rPr lang="en-GB" sz="2400" i="1">
                                  <a:solidFill>
                                    <a:srgbClr val="002060"/>
                                  </a:solidFill>
                                  <a:latin typeface="Cambria Math"/>
                                </a:rPr>
                                <m:t>  </m:t>
                              </m:r>
                              <m:r>
                                <a:rPr lang="en-GB" sz="2400" i="1">
                                  <a:solidFill>
                                    <a:srgbClr val="002060"/>
                                  </a:solidFill>
                                  <a:latin typeface="Cambria Math"/>
                                </a:rPr>
                                <m:t>𝑥</m:t>
                              </m:r>
                              <m:r>
                                <a:rPr lang="en-GB" sz="2400" i="1">
                                  <a:solidFill>
                                    <a:srgbClr val="002060"/>
                                  </a:solidFill>
                                  <a:latin typeface="Cambria Math"/>
                                </a:rPr>
                                <m:t>=1</m:t>
                              </m:r>
                            </m:e>
                          </m:eqArr>
                        </m:e>
                      </m:d>
                    </m:oMath>
                  </m:oMathPara>
                </a14:m>
                <a:endParaRPr lang="en-GB" sz="2400" dirty="0">
                  <a:solidFill>
                    <a:srgbClr val="002060"/>
                  </a:solidFill>
                </a:endParaRPr>
              </a:p>
            </p:txBody>
          </p:sp>
        </mc:Choice>
        <mc:Fallback xmlns="">
          <p:sp>
            <p:nvSpPr>
              <p:cNvPr id="6" name="TextBox 5"/>
              <p:cNvSpPr txBox="1">
                <a:spLocks noRot="1" noChangeAspect="1" noMove="1" noResize="1" noEditPoints="1" noAdjustHandles="1" noChangeArrowheads="1" noChangeShapeType="1" noTextEdit="1"/>
              </p:cNvSpPr>
              <p:nvPr/>
            </p:nvSpPr>
            <p:spPr>
              <a:xfrm>
                <a:off x="1707931" y="4832388"/>
                <a:ext cx="5158912" cy="1271438"/>
              </a:xfrm>
              <a:prstGeom prst="rect">
                <a:avLst/>
              </a:prstGeom>
              <a:blipFill>
                <a:blip r:embed="rId2"/>
                <a:stretch>
                  <a:fillRect/>
                </a:stretch>
              </a:blipFill>
            </p:spPr>
            <p:txBody>
              <a:bodyPr/>
              <a:lstStyle/>
              <a:p>
                <a:r>
                  <a:rPr lang="en-NZ">
                    <a:noFill/>
                  </a:rPr>
                  <a:t> </a:t>
                </a:r>
              </a:p>
            </p:txBody>
          </p:sp>
        </mc:Fallback>
      </mc:AlternateContent>
      <p:sp>
        <p:nvSpPr>
          <p:cNvPr id="7" name="Title 1"/>
          <p:cNvSpPr>
            <a:spLocks noGrp="1"/>
          </p:cNvSpPr>
          <p:nvPr>
            <p:ph type="title"/>
          </p:nvPr>
        </p:nvSpPr>
        <p:spPr>
          <a:xfrm>
            <a:off x="931867" y="76204"/>
            <a:ext cx="7158037" cy="1412875"/>
          </a:xfrm>
        </p:spPr>
        <p:txBody>
          <a:bodyPr/>
          <a:lstStyle/>
          <a:p>
            <a:r>
              <a:rPr lang="en-GB" sz="3500" dirty="0">
                <a:solidFill>
                  <a:srgbClr val="C00000"/>
                </a:solidFill>
                <a:effectLst>
                  <a:outerShdw blurRad="38100" dist="38100" dir="2700000" algn="tl">
                    <a:srgbClr val="000000">
                      <a:alpha val="43137"/>
                    </a:srgbClr>
                  </a:outerShdw>
                </a:effectLst>
                <a:latin typeface="Times New Roman" pitchFamily="18" charset="0"/>
                <a:cs typeface="Times New Roman" pitchFamily="18" charset="0"/>
              </a:rPr>
              <a:t>Bernoulli Distribution continue….</a:t>
            </a:r>
          </a:p>
        </p:txBody>
      </p:sp>
      <p:sp>
        <p:nvSpPr>
          <p:cNvPr id="4" name="Slide Number Placeholder 3"/>
          <p:cNvSpPr>
            <a:spLocks noGrp="1"/>
          </p:cNvSpPr>
          <p:nvPr>
            <p:ph type="sldNum" sz="quarter" idx="12"/>
          </p:nvPr>
        </p:nvSpPr>
        <p:spPr/>
        <p:txBody>
          <a:bodyPr/>
          <a:lstStyle/>
          <a:p>
            <a:pPr>
              <a:defRPr/>
            </a:pPr>
            <a:fld id="{645ED874-4033-4CEE-AE69-D7CB222F48E6}" type="slidenum">
              <a:rPr lang="en-US" smtClean="0"/>
              <a:pPr>
                <a:defRPr/>
              </a:pPr>
              <a:t>13</a:t>
            </a:fld>
            <a:endParaRPr lang="en-US"/>
          </a:p>
        </p:txBody>
      </p:sp>
      <p:sp>
        <p:nvSpPr>
          <p:cNvPr id="2" name="Date Placeholder 1">
            <a:extLst>
              <a:ext uri="{FF2B5EF4-FFF2-40B4-BE49-F238E27FC236}">
                <a16:creationId xmlns:a16="http://schemas.microsoft.com/office/drawing/2014/main" id="{D5DAF3E9-80F3-4FB1-AF2A-BB48229E13A2}"/>
              </a:ext>
            </a:extLst>
          </p:cNvPr>
          <p:cNvSpPr>
            <a:spLocks noGrp="1"/>
          </p:cNvSpPr>
          <p:nvPr>
            <p:ph type="dt" sz="half" idx="10"/>
          </p:nvPr>
        </p:nvSpPr>
        <p:spPr/>
        <p:txBody>
          <a:bodyPr/>
          <a:lstStyle/>
          <a:p>
            <a:pPr>
              <a:defRPr/>
            </a:pPr>
            <a:fld id="{F88D8068-8654-4924-9BD1-7CDF87CD92A5}" type="datetime3">
              <a:rPr lang="en-US" smtClean="0"/>
              <a:t>16 December 2025</a:t>
            </a:fld>
            <a:endParaRPr lang="en-US"/>
          </a:p>
        </p:txBody>
      </p:sp>
      <p:sp>
        <p:nvSpPr>
          <p:cNvPr id="5" name="Footer Placeholder 4">
            <a:extLst>
              <a:ext uri="{FF2B5EF4-FFF2-40B4-BE49-F238E27FC236}">
                <a16:creationId xmlns:a16="http://schemas.microsoft.com/office/drawing/2014/main" id="{4F7FC234-D148-49B6-97FA-960C205987EB}"/>
              </a:ext>
            </a:extLst>
          </p:cNvPr>
          <p:cNvSpPr>
            <a:spLocks noGrp="1"/>
          </p:cNvSpPr>
          <p:nvPr>
            <p:ph type="ftr" sz="quarter" idx="11"/>
          </p:nvPr>
        </p:nvSpPr>
        <p:spPr/>
        <p:txBody>
          <a:bodyPr/>
          <a:lstStyle/>
          <a:p>
            <a:pPr>
              <a:defRPr/>
            </a:pPr>
            <a:r>
              <a:rPr lang="en-US"/>
              <a:t>T. Mayooran</a:t>
            </a:r>
          </a:p>
        </p:txBody>
      </p:sp>
    </p:spTree>
    <p:extLst>
      <p:ext uri="{BB962C8B-B14F-4D97-AF65-F5344CB8AC3E}">
        <p14:creationId xmlns:p14="http://schemas.microsoft.com/office/powerpoint/2010/main" val="3326327559"/>
      </p:ext>
    </p:extLst>
  </p:cSld>
  <p:clrMapOvr>
    <a:masterClrMapping/>
  </p:clrMapOvr>
  <p:transition spd="slow">
    <p:wipe dir="r"/>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85804" y="1600200"/>
                <a:ext cx="7661275" cy="4114800"/>
              </a:xfrm>
            </p:spPr>
            <p:txBody>
              <a:bodyPr/>
              <a:lstStyle/>
              <a:p>
                <a:pPr marL="0" indent="0" algn="just">
                  <a:buNone/>
                </a:pPr>
                <a:r>
                  <a:rPr lang="en-IN" sz="3000" dirty="0">
                    <a:latin typeface="Times New Roman" pitchFamily="18" charset="0"/>
                    <a:cs typeface="Times New Roman" pitchFamily="18" charset="0"/>
                  </a:rPr>
                  <a:t>Where </a:t>
                </a:r>
                <a14:m>
                  <m:oMath xmlns:m="http://schemas.openxmlformats.org/officeDocument/2006/math">
                    <m:r>
                      <a:rPr lang="en-GB" sz="3000" i="1">
                        <a:latin typeface="Cambria Math"/>
                        <a:cs typeface="Times New Roman" pitchFamily="18" charset="0"/>
                      </a:rPr>
                      <m:t>0</m:t>
                    </m:r>
                    <m:r>
                      <a:rPr lang="en-GB" sz="3000" i="1">
                        <a:latin typeface="Cambria Math"/>
                        <a:ea typeface="Cambria Math"/>
                        <a:cs typeface="Times New Roman" pitchFamily="18" charset="0"/>
                      </a:rPr>
                      <m:t>&lt;</m:t>
                    </m:r>
                    <m:r>
                      <a:rPr lang="en-GB" sz="3000" i="1">
                        <a:latin typeface="Cambria Math"/>
                        <a:ea typeface="Cambria Math"/>
                        <a:cs typeface="Times New Roman" pitchFamily="18" charset="0"/>
                      </a:rPr>
                      <m:t>𝑝</m:t>
                    </m:r>
                    <m:r>
                      <a:rPr lang="en-GB" sz="3000" i="1">
                        <a:latin typeface="Cambria Math"/>
                        <a:ea typeface="Cambria Math"/>
                        <a:cs typeface="Times New Roman" pitchFamily="18" charset="0"/>
                      </a:rPr>
                      <m:t>&lt;1</m:t>
                    </m:r>
                    <m:r>
                      <a:rPr lang="en-GB" sz="3000">
                        <a:latin typeface="Cambria Math"/>
                        <a:ea typeface="Cambria Math"/>
                        <a:cs typeface="Times New Roman" pitchFamily="18" charset="0"/>
                      </a:rPr>
                      <m:t> </m:t>
                    </m:r>
                  </m:oMath>
                </a14:m>
                <a:r>
                  <a:rPr lang="en-IN" sz="3000" dirty="0">
                    <a:latin typeface="Times New Roman" pitchFamily="18" charset="0"/>
                    <a:cs typeface="Times New Roman" pitchFamily="18" charset="0"/>
                  </a:rPr>
                  <a:t>is the probability of success and </a:t>
                </a:r>
                <a14:m>
                  <m:oMath xmlns:m="http://schemas.openxmlformats.org/officeDocument/2006/math">
                    <m:r>
                      <a:rPr lang="en-GB" sz="3000" i="1">
                        <a:latin typeface="Cambria Math"/>
                        <a:cs typeface="Times New Roman" pitchFamily="18" charset="0"/>
                      </a:rPr>
                      <m:t>1−</m:t>
                    </m:r>
                    <m:r>
                      <a:rPr lang="en-GB" sz="3000" i="1">
                        <a:latin typeface="Cambria Math"/>
                        <a:cs typeface="Times New Roman" pitchFamily="18" charset="0"/>
                      </a:rPr>
                      <m:t>𝑝</m:t>
                    </m:r>
                    <m:r>
                      <a:rPr lang="en-GB" sz="3000">
                        <a:latin typeface="Cambria Math"/>
                        <a:cs typeface="Times New Roman" pitchFamily="18" charset="0"/>
                      </a:rPr>
                      <m:t> </m:t>
                    </m:r>
                  </m:oMath>
                </a14:m>
                <a:r>
                  <a:rPr lang="en-IN" sz="3000" dirty="0">
                    <a:latin typeface="Times New Roman" pitchFamily="18" charset="0"/>
                    <a:cs typeface="Times New Roman" pitchFamily="18" charset="0"/>
                  </a:rPr>
                  <a:t>is the probability of failure, is known as the </a:t>
                </a:r>
                <a:r>
                  <a:rPr lang="en-IN" sz="3000" dirty="0">
                    <a:solidFill>
                      <a:srgbClr val="FF0000"/>
                    </a:solidFill>
                    <a:latin typeface="Times New Roman" pitchFamily="18" charset="0"/>
                    <a:cs typeface="Times New Roman" pitchFamily="18" charset="0"/>
                  </a:rPr>
                  <a:t>Bernoulli probability distribution</a:t>
                </a:r>
                <a:r>
                  <a:rPr lang="en-IN" sz="3000" dirty="0">
                    <a:latin typeface="Times New Roman" pitchFamily="18" charset="0"/>
                    <a:cs typeface="Times New Roman" pitchFamily="18" charset="0"/>
                  </a:rPr>
                  <a:t>. X is </a:t>
                </a:r>
                <a:r>
                  <a:rPr lang="en-GB" sz="3000" dirty="0">
                    <a:latin typeface="Times New Roman" pitchFamily="18" charset="0"/>
                    <a:cs typeface="Times New Roman" pitchFamily="18" charset="0"/>
                  </a:rPr>
                  <a:t>called a Bernoulli random variable.</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85804" y="1600200"/>
                <a:ext cx="7661275" cy="4114800"/>
              </a:xfrm>
              <a:blipFill>
                <a:blip r:embed="rId2"/>
                <a:stretch>
                  <a:fillRect l="-1911" t="-1926" r="-1911"/>
                </a:stretch>
              </a:blipFill>
            </p:spPr>
            <p:txBody>
              <a:bodyPr/>
              <a:lstStyle/>
              <a:p>
                <a:r>
                  <a:rPr lang="en-NZ">
                    <a:noFill/>
                  </a:rPr>
                  <a:t> </a:t>
                </a:r>
              </a:p>
            </p:txBody>
          </p:sp>
        </mc:Fallback>
      </mc:AlternateContent>
      <p:sp>
        <p:nvSpPr>
          <p:cNvPr id="6" name="Title 1"/>
          <p:cNvSpPr>
            <a:spLocks noGrp="1"/>
          </p:cNvSpPr>
          <p:nvPr>
            <p:ph type="title"/>
          </p:nvPr>
        </p:nvSpPr>
        <p:spPr>
          <a:xfrm>
            <a:off x="931867" y="76204"/>
            <a:ext cx="7158037" cy="1412875"/>
          </a:xfrm>
        </p:spPr>
        <p:txBody>
          <a:bodyPr/>
          <a:lstStyle/>
          <a:p>
            <a:r>
              <a:rPr lang="en-GB" sz="3500" dirty="0">
                <a:solidFill>
                  <a:srgbClr val="C00000"/>
                </a:solidFill>
                <a:effectLst>
                  <a:outerShdw blurRad="38100" dist="38100" dir="2700000" algn="tl">
                    <a:srgbClr val="000000">
                      <a:alpha val="43137"/>
                    </a:srgbClr>
                  </a:outerShdw>
                </a:effectLst>
                <a:latin typeface="Times New Roman" pitchFamily="18" charset="0"/>
                <a:cs typeface="Times New Roman" pitchFamily="18" charset="0"/>
              </a:rPr>
              <a:t>Bernoulli Distribution continue….</a:t>
            </a:r>
          </a:p>
        </p:txBody>
      </p:sp>
      <p:sp>
        <p:nvSpPr>
          <p:cNvPr id="7" name="Rectangle 6"/>
          <p:cNvSpPr/>
          <p:nvPr/>
        </p:nvSpPr>
        <p:spPr>
          <a:xfrm>
            <a:off x="685800" y="3635276"/>
            <a:ext cx="7848600" cy="2308324"/>
          </a:xfrm>
          <a:prstGeom prst="rect">
            <a:avLst/>
          </a:prstGeom>
        </p:spPr>
        <p:txBody>
          <a:bodyPr wrap="square">
            <a:spAutoFit/>
          </a:bodyPr>
          <a:lstStyle/>
          <a:p>
            <a:pPr algn="just"/>
            <a:r>
              <a:rPr lang="en-IN" sz="2400" dirty="0">
                <a:solidFill>
                  <a:srgbClr val="C00000"/>
                </a:solidFill>
                <a:latin typeface="Times New Roman" pitchFamily="18" charset="0"/>
                <a:cs typeface="Times New Roman" pitchFamily="18" charset="0"/>
              </a:rPr>
              <a:t>Example 4.2: </a:t>
            </a:r>
          </a:p>
          <a:p>
            <a:pPr algn="just"/>
            <a:r>
              <a:rPr lang="en-IN" sz="2400" dirty="0">
                <a:latin typeface="Times New Roman" pitchFamily="18" charset="0"/>
                <a:cs typeface="Times New Roman" pitchFamily="18" charset="0"/>
              </a:rPr>
              <a:t>Typical Bernoulli trials include tossing a coin, rolling a die, passing a test </a:t>
            </a:r>
            <a:r>
              <a:rPr lang="en-GB" sz="2400" dirty="0">
                <a:latin typeface="Times New Roman" pitchFamily="18" charset="0"/>
                <a:cs typeface="Times New Roman" pitchFamily="18" charset="0"/>
              </a:rPr>
              <a:t>or not, etc.</a:t>
            </a:r>
          </a:p>
          <a:p>
            <a:pPr algn="just"/>
            <a:endParaRPr lang="en-GB" sz="2400" dirty="0">
              <a:latin typeface="Times New Roman" pitchFamily="18" charset="0"/>
              <a:cs typeface="Times New Roman" pitchFamily="18" charset="0"/>
            </a:endParaRPr>
          </a:p>
          <a:p>
            <a:pPr algn="just"/>
            <a:r>
              <a:rPr lang="en-US" sz="2400" dirty="0">
                <a:solidFill>
                  <a:srgbClr val="C00000"/>
                </a:solidFill>
                <a:latin typeface="Times New Roman" pitchFamily="18" charset="0"/>
                <a:cs typeface="Times New Roman" pitchFamily="18" charset="0"/>
              </a:rPr>
              <a:t>Example:  </a:t>
            </a:r>
            <a:r>
              <a:rPr lang="en-US" sz="2400" dirty="0">
                <a:latin typeface="Times New Roman" pitchFamily="18" charset="0"/>
                <a:cs typeface="Times New Roman" pitchFamily="18" charset="0"/>
              </a:rPr>
              <a:t>A fair die is tossed.  Let X = 1 only if the first toss shows a “4” or “5”.  Then  X follows Bernoulli(1/3)</a:t>
            </a:r>
          </a:p>
        </p:txBody>
      </p:sp>
      <p:sp>
        <p:nvSpPr>
          <p:cNvPr id="4" name="Slide Number Placeholder 3"/>
          <p:cNvSpPr>
            <a:spLocks noGrp="1"/>
          </p:cNvSpPr>
          <p:nvPr>
            <p:ph type="sldNum" sz="quarter" idx="12"/>
          </p:nvPr>
        </p:nvSpPr>
        <p:spPr/>
        <p:txBody>
          <a:bodyPr/>
          <a:lstStyle/>
          <a:p>
            <a:pPr>
              <a:defRPr/>
            </a:pPr>
            <a:fld id="{645ED874-4033-4CEE-AE69-D7CB222F48E6}" type="slidenum">
              <a:rPr lang="en-US" smtClean="0"/>
              <a:pPr>
                <a:defRPr/>
              </a:pPr>
              <a:t>14</a:t>
            </a:fld>
            <a:endParaRPr lang="en-US"/>
          </a:p>
        </p:txBody>
      </p:sp>
      <p:sp>
        <p:nvSpPr>
          <p:cNvPr id="2" name="Date Placeholder 1">
            <a:extLst>
              <a:ext uri="{FF2B5EF4-FFF2-40B4-BE49-F238E27FC236}">
                <a16:creationId xmlns:a16="http://schemas.microsoft.com/office/drawing/2014/main" id="{B7266417-005D-40BE-9905-8A825A71208E}"/>
              </a:ext>
            </a:extLst>
          </p:cNvPr>
          <p:cNvSpPr>
            <a:spLocks noGrp="1"/>
          </p:cNvSpPr>
          <p:nvPr>
            <p:ph type="dt" sz="half" idx="10"/>
          </p:nvPr>
        </p:nvSpPr>
        <p:spPr/>
        <p:txBody>
          <a:bodyPr/>
          <a:lstStyle/>
          <a:p>
            <a:pPr>
              <a:defRPr/>
            </a:pPr>
            <a:fld id="{F2DD698F-3BD9-418E-A792-7D377A113FB1}" type="datetime3">
              <a:rPr lang="en-US" smtClean="0"/>
              <a:t>16 December 2025</a:t>
            </a:fld>
            <a:endParaRPr lang="en-US"/>
          </a:p>
        </p:txBody>
      </p:sp>
      <p:sp>
        <p:nvSpPr>
          <p:cNvPr id="5" name="Footer Placeholder 4">
            <a:extLst>
              <a:ext uri="{FF2B5EF4-FFF2-40B4-BE49-F238E27FC236}">
                <a16:creationId xmlns:a16="http://schemas.microsoft.com/office/drawing/2014/main" id="{6F7C07AD-16D5-4748-9F63-3322863B6A76}"/>
              </a:ext>
            </a:extLst>
          </p:cNvPr>
          <p:cNvSpPr>
            <a:spLocks noGrp="1"/>
          </p:cNvSpPr>
          <p:nvPr>
            <p:ph type="ftr" sz="quarter" idx="11"/>
          </p:nvPr>
        </p:nvSpPr>
        <p:spPr/>
        <p:txBody>
          <a:bodyPr/>
          <a:lstStyle/>
          <a:p>
            <a:pPr>
              <a:defRPr/>
            </a:pPr>
            <a:r>
              <a:rPr lang="en-US"/>
              <a:t>T. Mayooran</a:t>
            </a:r>
          </a:p>
        </p:txBody>
      </p:sp>
    </p:spTree>
    <p:extLst>
      <p:ext uri="{BB962C8B-B14F-4D97-AF65-F5344CB8AC3E}">
        <p14:creationId xmlns:p14="http://schemas.microsoft.com/office/powerpoint/2010/main" val="1905116149"/>
      </p:ext>
    </p:extLst>
  </p:cSld>
  <p:clrMapOvr>
    <a:masterClrMapping/>
  </p:clrMapOvr>
  <p:transition spd="slow">
    <p:wipe dir="r"/>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F1CB3ADA-A21D-4025-B305-AD9C28895047}"/>
              </a:ext>
            </a:extLst>
          </p:cNvPr>
          <p:cNvSpPr>
            <a:spLocks noGrp="1"/>
          </p:cNvSpPr>
          <p:nvPr>
            <p:ph type="dt" sz="half" idx="10"/>
          </p:nvPr>
        </p:nvSpPr>
        <p:spPr/>
        <p:txBody>
          <a:bodyPr/>
          <a:lstStyle/>
          <a:p>
            <a:pPr>
              <a:defRPr/>
            </a:pPr>
            <a:fld id="{E84513CC-386E-465A-BA6A-30F6981BE159}" type="datetime3">
              <a:rPr lang="en-US" smtClean="0"/>
              <a:t>16 December 2025</a:t>
            </a:fld>
            <a:endParaRPr lang="en-US"/>
          </a:p>
        </p:txBody>
      </p:sp>
      <p:sp>
        <p:nvSpPr>
          <p:cNvPr id="5" name="Footer Placeholder 4">
            <a:extLst>
              <a:ext uri="{FF2B5EF4-FFF2-40B4-BE49-F238E27FC236}">
                <a16:creationId xmlns:a16="http://schemas.microsoft.com/office/drawing/2014/main" id="{D447FDB3-7940-4E96-A96E-03404F918BC0}"/>
              </a:ext>
            </a:extLst>
          </p:cNvPr>
          <p:cNvSpPr>
            <a:spLocks noGrp="1"/>
          </p:cNvSpPr>
          <p:nvPr>
            <p:ph type="ftr" sz="quarter" idx="11"/>
          </p:nvPr>
        </p:nvSpPr>
        <p:spPr/>
        <p:txBody>
          <a:bodyPr/>
          <a:lstStyle/>
          <a:p>
            <a:pPr>
              <a:defRPr/>
            </a:pPr>
            <a:r>
              <a:rPr lang="en-US"/>
              <a:t>T. Mayooran</a:t>
            </a:r>
          </a:p>
        </p:txBody>
      </p:sp>
      <p:sp>
        <p:nvSpPr>
          <p:cNvPr id="6" name="Slide Number Placeholder 5">
            <a:extLst>
              <a:ext uri="{FF2B5EF4-FFF2-40B4-BE49-F238E27FC236}">
                <a16:creationId xmlns:a16="http://schemas.microsoft.com/office/drawing/2014/main" id="{7D7D8D37-4978-4DCE-99D1-7729AED548BF}"/>
              </a:ext>
            </a:extLst>
          </p:cNvPr>
          <p:cNvSpPr>
            <a:spLocks noGrp="1"/>
          </p:cNvSpPr>
          <p:nvPr>
            <p:ph type="sldNum" sz="quarter" idx="12"/>
          </p:nvPr>
        </p:nvSpPr>
        <p:spPr/>
        <p:txBody>
          <a:bodyPr/>
          <a:lstStyle/>
          <a:p>
            <a:pPr>
              <a:defRPr/>
            </a:pPr>
            <a:fld id="{645ED874-4033-4CEE-AE69-D7CB222F48E6}" type="slidenum">
              <a:rPr lang="en-US" smtClean="0"/>
              <a:pPr>
                <a:defRPr/>
              </a:pPr>
              <a:t>15</a:t>
            </a:fld>
            <a:endParaRPr lang="en-US"/>
          </a:p>
        </p:txBody>
      </p:sp>
      <p:sp>
        <p:nvSpPr>
          <p:cNvPr id="7" name="Title 1">
            <a:extLst>
              <a:ext uri="{FF2B5EF4-FFF2-40B4-BE49-F238E27FC236}">
                <a16:creationId xmlns:a16="http://schemas.microsoft.com/office/drawing/2014/main" id="{2A454F8C-B2A7-402B-926C-D897A92C53E1}"/>
              </a:ext>
            </a:extLst>
          </p:cNvPr>
          <p:cNvSpPr>
            <a:spLocks noGrp="1"/>
          </p:cNvSpPr>
          <p:nvPr>
            <p:ph type="title"/>
          </p:nvPr>
        </p:nvSpPr>
        <p:spPr>
          <a:xfrm>
            <a:off x="1723736" y="2438402"/>
            <a:ext cx="5943600" cy="1412875"/>
          </a:xfrm>
        </p:spPr>
        <p:txBody>
          <a:bodyPr/>
          <a:lstStyle/>
          <a:p>
            <a:pPr algn="ctr"/>
            <a:r>
              <a:rPr lang="en-GB" sz="4800" dirty="0">
                <a:solidFill>
                  <a:srgbClr val="C0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Binomial Distribution</a:t>
            </a:r>
          </a:p>
        </p:txBody>
      </p:sp>
    </p:spTree>
    <p:extLst>
      <p:ext uri="{BB962C8B-B14F-4D97-AF65-F5344CB8AC3E}">
        <p14:creationId xmlns:p14="http://schemas.microsoft.com/office/powerpoint/2010/main" val="4215909511"/>
      </p:ext>
    </p:extLst>
  </p:cSld>
  <p:clrMapOvr>
    <a:masterClrMapping/>
  </p:clrMapOvr>
  <p:transition spd="slow">
    <p:wipe dir="r"/>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sz="4500" dirty="0">
                <a:solidFill>
                  <a:srgbClr val="C00000"/>
                </a:solidFill>
                <a:effectLst>
                  <a:outerShdw blurRad="38100" dist="38100" dir="2700000" algn="tl">
                    <a:srgbClr val="000000">
                      <a:alpha val="43137"/>
                    </a:srgbClr>
                  </a:outerShdw>
                </a:effectLst>
                <a:latin typeface="Times New Roman" pitchFamily="18" charset="0"/>
                <a:cs typeface="Times New Roman" pitchFamily="18" charset="0"/>
              </a:rPr>
              <a:t>Binomial Distribution:</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85800" y="1600200"/>
                <a:ext cx="7848600" cy="4114800"/>
              </a:xfrm>
            </p:spPr>
            <p:txBody>
              <a:bodyPr/>
              <a:lstStyle/>
              <a:p>
                <a:pPr marL="0" indent="0" algn="just">
                  <a:buNone/>
                </a:pPr>
                <a:r>
                  <a:rPr lang="en-IN" sz="3000" dirty="0">
                    <a:latin typeface="Times New Roman" pitchFamily="18" charset="0"/>
                    <a:cs typeface="Times New Roman" pitchFamily="18" charset="0"/>
                  </a:rPr>
                  <a:t>If a Bernoulli trial is repeated independently </a:t>
                </a:r>
                <a14:m>
                  <m:oMath xmlns:m="http://schemas.openxmlformats.org/officeDocument/2006/math">
                    <m:r>
                      <a:rPr lang="en-IN" sz="3000" i="1" dirty="0">
                        <a:latin typeface="Cambria Math"/>
                        <a:cs typeface="Times New Roman" pitchFamily="18" charset="0"/>
                      </a:rPr>
                      <m:t>𝑛</m:t>
                    </m:r>
                  </m:oMath>
                </a14:m>
                <a:r>
                  <a:rPr lang="en-IN" sz="3000" dirty="0">
                    <a:latin typeface="Times New Roman" pitchFamily="18" charset="0"/>
                    <a:cs typeface="Times New Roman" pitchFamily="18" charset="0"/>
                  </a:rPr>
                  <a:t> times, we have a Binomial experiment. X is the number of successes in these </a:t>
                </a:r>
                <a14:m>
                  <m:oMath xmlns:m="http://schemas.openxmlformats.org/officeDocument/2006/math">
                    <m:r>
                      <a:rPr lang="en-IN" sz="3000" i="1" dirty="0">
                        <a:latin typeface="Cambria Math"/>
                        <a:cs typeface="Times New Roman" pitchFamily="18" charset="0"/>
                      </a:rPr>
                      <m:t>𝑛</m:t>
                    </m:r>
                  </m:oMath>
                </a14:m>
                <a:r>
                  <a:rPr lang="en-IN" sz="3000" dirty="0">
                    <a:latin typeface="Times New Roman" pitchFamily="18" charset="0"/>
                    <a:cs typeface="Times New Roman" pitchFamily="18" charset="0"/>
                  </a:rPr>
                  <a:t> independent Bernoulli trials. Then the distribution of X , with the </a:t>
                </a:r>
                <a:r>
                  <a:rPr lang="en-GB" sz="3000" dirty="0">
                    <a:latin typeface="Times New Roman" pitchFamily="18" charset="0"/>
                    <a:cs typeface="Times New Roman" pitchFamily="18" charset="0"/>
                  </a:rPr>
                  <a:t>probability mass function</a:t>
                </a:r>
              </a:p>
              <a:p>
                <a:pPr marL="0" indent="0" algn="just">
                  <a:buNone/>
                </a:pPr>
                <a14:m>
                  <m:oMath xmlns:m="http://schemas.openxmlformats.org/officeDocument/2006/math">
                    <m:r>
                      <a:rPr lang="en-GB" sz="3000" i="1">
                        <a:solidFill>
                          <a:srgbClr val="002060"/>
                        </a:solidFill>
                        <a:latin typeface="Cambria Math"/>
                        <a:cs typeface="Times New Roman" pitchFamily="18" charset="0"/>
                      </a:rPr>
                      <m:t>𝑃</m:t>
                    </m:r>
                    <m:d>
                      <m:dPr>
                        <m:ctrlPr>
                          <a:rPr lang="en-GB" sz="3000" i="1">
                            <a:solidFill>
                              <a:srgbClr val="002060"/>
                            </a:solidFill>
                            <a:latin typeface="Cambria Math" panose="02040503050406030204" pitchFamily="18" charset="0"/>
                            <a:cs typeface="Times New Roman" pitchFamily="18" charset="0"/>
                          </a:rPr>
                        </m:ctrlPr>
                      </m:dPr>
                      <m:e>
                        <m:r>
                          <a:rPr lang="en-GB" sz="3000" i="1">
                            <a:solidFill>
                              <a:srgbClr val="002060"/>
                            </a:solidFill>
                            <a:latin typeface="Cambria Math"/>
                            <a:cs typeface="Times New Roman" pitchFamily="18" charset="0"/>
                          </a:rPr>
                          <m:t>𝑋</m:t>
                        </m:r>
                        <m:r>
                          <a:rPr lang="en-GB" sz="3000" i="1">
                            <a:solidFill>
                              <a:srgbClr val="002060"/>
                            </a:solidFill>
                            <a:latin typeface="Cambria Math"/>
                            <a:cs typeface="Times New Roman" pitchFamily="18" charset="0"/>
                          </a:rPr>
                          <m:t>=</m:t>
                        </m:r>
                        <m:r>
                          <a:rPr lang="en-GB" sz="3000" i="1">
                            <a:solidFill>
                              <a:srgbClr val="002060"/>
                            </a:solidFill>
                            <a:latin typeface="Cambria Math"/>
                            <a:cs typeface="Times New Roman" pitchFamily="18" charset="0"/>
                          </a:rPr>
                          <m:t>𝑥</m:t>
                        </m:r>
                      </m:e>
                    </m:d>
                    <m:r>
                      <a:rPr lang="en-GB" sz="3000" i="1">
                        <a:solidFill>
                          <a:srgbClr val="002060"/>
                        </a:solidFill>
                        <a:latin typeface="Cambria Math"/>
                        <a:cs typeface="Times New Roman" pitchFamily="18" charset="0"/>
                      </a:rPr>
                      <m:t>=</m:t>
                    </m:r>
                    <m:r>
                      <a:rPr lang="en-GB" sz="3000" i="1" baseline="-25000">
                        <a:solidFill>
                          <a:srgbClr val="002060"/>
                        </a:solidFill>
                        <a:latin typeface="Cambria Math"/>
                      </a:rPr>
                      <m:t>𝑛</m:t>
                    </m:r>
                    <m:r>
                      <a:rPr lang="en-GB" sz="3000" i="1">
                        <a:solidFill>
                          <a:srgbClr val="002060"/>
                        </a:solidFill>
                        <a:latin typeface="Cambria Math"/>
                      </a:rPr>
                      <m:t>𝐶</m:t>
                    </m:r>
                    <m:r>
                      <a:rPr lang="en-GB" sz="3000" i="1" baseline="-25000">
                        <a:solidFill>
                          <a:srgbClr val="002060"/>
                        </a:solidFill>
                        <a:latin typeface="Cambria Math"/>
                      </a:rPr>
                      <m:t>𝑥</m:t>
                    </m:r>
                    <m:r>
                      <a:rPr lang="en-GB" sz="3000" i="1" baseline="-25000">
                        <a:solidFill>
                          <a:srgbClr val="002060"/>
                        </a:solidFill>
                        <a:latin typeface="Cambria Math"/>
                      </a:rPr>
                      <m:t>  </m:t>
                    </m:r>
                    <m:sSup>
                      <m:sSupPr>
                        <m:ctrlPr>
                          <a:rPr lang="en-GB" sz="3000" i="1">
                            <a:solidFill>
                              <a:srgbClr val="002060"/>
                            </a:solidFill>
                            <a:latin typeface="Cambria Math" panose="02040503050406030204" pitchFamily="18" charset="0"/>
                            <a:cs typeface="Times New Roman" pitchFamily="18" charset="0"/>
                          </a:rPr>
                        </m:ctrlPr>
                      </m:sSupPr>
                      <m:e>
                        <m:r>
                          <a:rPr lang="en-GB" sz="3000" i="1">
                            <a:solidFill>
                              <a:srgbClr val="002060"/>
                            </a:solidFill>
                            <a:latin typeface="Cambria Math"/>
                            <a:cs typeface="Times New Roman" pitchFamily="18" charset="0"/>
                          </a:rPr>
                          <m:t>𝑝</m:t>
                        </m:r>
                      </m:e>
                      <m:sup>
                        <m:r>
                          <a:rPr lang="en-GB" sz="3000" i="1">
                            <a:solidFill>
                              <a:srgbClr val="002060"/>
                            </a:solidFill>
                            <a:latin typeface="Cambria Math"/>
                            <a:cs typeface="Times New Roman" pitchFamily="18" charset="0"/>
                          </a:rPr>
                          <m:t>𝑥</m:t>
                        </m:r>
                      </m:sup>
                    </m:sSup>
                    <m:sSup>
                      <m:sSupPr>
                        <m:ctrlPr>
                          <a:rPr lang="en-GB" sz="3000" i="1">
                            <a:solidFill>
                              <a:srgbClr val="002060"/>
                            </a:solidFill>
                            <a:latin typeface="Cambria Math" panose="02040503050406030204" pitchFamily="18" charset="0"/>
                            <a:cs typeface="Times New Roman" pitchFamily="18" charset="0"/>
                          </a:rPr>
                        </m:ctrlPr>
                      </m:sSupPr>
                      <m:e>
                        <m:r>
                          <a:rPr lang="en-GB" sz="3000" i="1">
                            <a:solidFill>
                              <a:srgbClr val="002060"/>
                            </a:solidFill>
                            <a:latin typeface="Cambria Math"/>
                            <a:cs typeface="Times New Roman" pitchFamily="18" charset="0"/>
                          </a:rPr>
                          <m:t>(1−</m:t>
                        </m:r>
                        <m:r>
                          <a:rPr lang="en-GB" sz="3000" i="1">
                            <a:solidFill>
                              <a:srgbClr val="002060"/>
                            </a:solidFill>
                            <a:latin typeface="Cambria Math"/>
                            <a:cs typeface="Times New Roman" pitchFamily="18" charset="0"/>
                          </a:rPr>
                          <m:t>𝑝</m:t>
                        </m:r>
                        <m:r>
                          <a:rPr lang="en-GB" sz="3000" i="1">
                            <a:solidFill>
                              <a:srgbClr val="002060"/>
                            </a:solidFill>
                            <a:latin typeface="Cambria Math"/>
                            <a:cs typeface="Times New Roman" pitchFamily="18" charset="0"/>
                          </a:rPr>
                          <m:t>)</m:t>
                        </m:r>
                      </m:e>
                      <m:sup>
                        <m:r>
                          <a:rPr lang="en-GB" sz="3000" i="1">
                            <a:solidFill>
                              <a:srgbClr val="002060"/>
                            </a:solidFill>
                            <a:latin typeface="Cambria Math"/>
                            <a:cs typeface="Times New Roman" pitchFamily="18" charset="0"/>
                          </a:rPr>
                          <m:t>𝑛</m:t>
                        </m:r>
                        <m:r>
                          <a:rPr lang="en-GB" sz="3000" i="1">
                            <a:solidFill>
                              <a:srgbClr val="002060"/>
                            </a:solidFill>
                            <a:latin typeface="Cambria Math"/>
                            <a:cs typeface="Times New Roman" pitchFamily="18" charset="0"/>
                          </a:rPr>
                          <m:t>−</m:t>
                        </m:r>
                        <m:r>
                          <a:rPr lang="en-GB" sz="3000" i="1">
                            <a:solidFill>
                              <a:srgbClr val="002060"/>
                            </a:solidFill>
                            <a:latin typeface="Cambria Math"/>
                            <a:cs typeface="Times New Roman" pitchFamily="18" charset="0"/>
                          </a:rPr>
                          <m:t>𝑥</m:t>
                        </m:r>
                      </m:sup>
                    </m:sSup>
                  </m:oMath>
                </a14:m>
                <a:r>
                  <a:rPr lang="en-GB" sz="3000" dirty="0">
                    <a:solidFill>
                      <a:srgbClr val="002060"/>
                    </a:solidFill>
                    <a:latin typeface="Times New Roman" pitchFamily="18" charset="0"/>
                    <a:cs typeface="Times New Roman" pitchFamily="18" charset="0"/>
                  </a:rPr>
                  <a:t>   </a:t>
                </a:r>
                <a:endParaRPr lang="en-GB" sz="3000" i="1" dirty="0">
                  <a:solidFill>
                    <a:srgbClr val="002060"/>
                  </a:solidFill>
                  <a:latin typeface="Cambria Math"/>
                  <a:cs typeface="Times New Roman" pitchFamily="18" charset="0"/>
                </a:endParaRPr>
              </a:p>
              <a:p>
                <a:pPr marL="0" indent="0" algn="just">
                  <a:buNone/>
                </a:pPr>
                <a14:m>
                  <m:oMathPara xmlns:m="http://schemas.openxmlformats.org/officeDocument/2006/math">
                    <m:oMathParaPr>
                      <m:jc m:val="centerGroup"/>
                    </m:oMathParaPr>
                    <m:oMath xmlns:m="http://schemas.openxmlformats.org/officeDocument/2006/math">
                      <m:r>
                        <a:rPr lang="en-GB" sz="3000" i="1" dirty="0">
                          <a:solidFill>
                            <a:srgbClr val="002060"/>
                          </a:solidFill>
                          <a:latin typeface="Cambria Math"/>
                          <a:cs typeface="Times New Roman" pitchFamily="18" charset="0"/>
                        </a:rPr>
                        <m:t>                                                      </m:t>
                      </m:r>
                      <m:r>
                        <a:rPr lang="en-GB" sz="3000" i="1" dirty="0">
                          <a:solidFill>
                            <a:srgbClr val="002060"/>
                          </a:solidFill>
                          <a:latin typeface="Cambria Math"/>
                          <a:cs typeface="Times New Roman" pitchFamily="18" charset="0"/>
                        </a:rPr>
                        <m:t>𝑥</m:t>
                      </m:r>
                      <m:r>
                        <a:rPr lang="en-GB" sz="3000" i="1" dirty="0">
                          <a:solidFill>
                            <a:srgbClr val="002060"/>
                          </a:solidFill>
                          <a:latin typeface="Cambria Math"/>
                          <a:cs typeface="Times New Roman" pitchFamily="18" charset="0"/>
                        </a:rPr>
                        <m:t>=0,1,2,…….</m:t>
                      </m:r>
                      <m:r>
                        <a:rPr lang="en-GB" sz="3000" i="1" dirty="0">
                          <a:solidFill>
                            <a:srgbClr val="002060"/>
                          </a:solidFill>
                          <a:latin typeface="Cambria Math"/>
                          <a:cs typeface="Times New Roman" pitchFamily="18" charset="0"/>
                        </a:rPr>
                        <m:t>𝑛</m:t>
                      </m:r>
                    </m:oMath>
                  </m:oMathPara>
                </a14:m>
                <a:endParaRPr lang="en-GB" sz="3000" dirty="0">
                  <a:solidFill>
                    <a:srgbClr val="002060"/>
                  </a:solidFill>
                  <a:latin typeface="Times New Roman" pitchFamily="18" charset="0"/>
                  <a:cs typeface="Times New Roman" pitchFamily="18" charset="0"/>
                </a:endParaRPr>
              </a:p>
              <a:p>
                <a:pPr marL="0" indent="0" algn="just">
                  <a:buNone/>
                </a:pPr>
                <a:r>
                  <a:rPr lang="en-IN" sz="3000" dirty="0">
                    <a:latin typeface="Times New Roman" pitchFamily="18" charset="0"/>
                    <a:cs typeface="Times New Roman" pitchFamily="18" charset="0"/>
                  </a:rPr>
                  <a:t>is known as the </a:t>
                </a:r>
                <a:r>
                  <a:rPr lang="en-IN" sz="3000" dirty="0">
                    <a:solidFill>
                      <a:srgbClr val="FF0000"/>
                    </a:solidFill>
                    <a:latin typeface="Times New Roman" pitchFamily="18" charset="0"/>
                    <a:cs typeface="Times New Roman" pitchFamily="18" charset="0"/>
                  </a:rPr>
                  <a:t>Binomial probability distribution</a:t>
                </a:r>
                <a:r>
                  <a:rPr lang="en-IN" sz="3000" dirty="0">
                    <a:latin typeface="Times New Roman" pitchFamily="18" charset="0"/>
                    <a:cs typeface="Times New Roman" pitchFamily="18" charset="0"/>
                  </a:rPr>
                  <a:t>. X is called a binomial random </a:t>
                </a:r>
                <a:r>
                  <a:rPr lang="en-GB" sz="3000" dirty="0">
                    <a:latin typeface="Times New Roman" pitchFamily="18" charset="0"/>
                    <a:cs typeface="Times New Roman" pitchFamily="18" charset="0"/>
                  </a:rPr>
                  <a:t>variable.</a:t>
                </a:r>
                <a:endParaRPr lang="en-GB" sz="3000" dirty="0">
                  <a:solidFill>
                    <a:srgbClr val="002060"/>
                  </a:solidFill>
                  <a:latin typeface="Times New Roman" pitchFamily="18" charset="0"/>
                  <a:cs typeface="Times New Roman"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85800" y="1600200"/>
                <a:ext cx="7848600" cy="4114800"/>
              </a:xfrm>
              <a:blipFill>
                <a:blip r:embed="rId2"/>
                <a:stretch>
                  <a:fillRect l="-1865" t="-1926" r="-1787" b="-11111"/>
                </a:stretch>
              </a:blipFill>
            </p:spPr>
            <p:txBody>
              <a:bodyPr/>
              <a:lstStyle/>
              <a:p>
                <a:r>
                  <a:rPr lang="en-NZ">
                    <a:noFill/>
                  </a:rPr>
                  <a:t> </a:t>
                </a:r>
              </a:p>
            </p:txBody>
          </p:sp>
        </mc:Fallback>
      </mc:AlternateContent>
      <p:sp>
        <p:nvSpPr>
          <p:cNvPr id="6" name="Slide Number Placeholder 5"/>
          <p:cNvSpPr>
            <a:spLocks noGrp="1"/>
          </p:cNvSpPr>
          <p:nvPr>
            <p:ph type="sldNum" sz="quarter" idx="12"/>
          </p:nvPr>
        </p:nvSpPr>
        <p:spPr/>
        <p:txBody>
          <a:bodyPr/>
          <a:lstStyle/>
          <a:p>
            <a:pPr>
              <a:defRPr/>
            </a:pPr>
            <a:fld id="{645ED874-4033-4CEE-AE69-D7CB222F48E6}" type="slidenum">
              <a:rPr lang="en-US" smtClean="0"/>
              <a:pPr>
                <a:defRPr/>
              </a:pPr>
              <a:t>16</a:t>
            </a:fld>
            <a:endParaRPr lang="en-US"/>
          </a:p>
        </p:txBody>
      </p:sp>
      <p:sp>
        <p:nvSpPr>
          <p:cNvPr id="4" name="Date Placeholder 3">
            <a:extLst>
              <a:ext uri="{FF2B5EF4-FFF2-40B4-BE49-F238E27FC236}">
                <a16:creationId xmlns:a16="http://schemas.microsoft.com/office/drawing/2014/main" id="{B0DD169F-74B1-4B74-974E-28814AFDB3C3}"/>
              </a:ext>
            </a:extLst>
          </p:cNvPr>
          <p:cNvSpPr>
            <a:spLocks noGrp="1"/>
          </p:cNvSpPr>
          <p:nvPr>
            <p:ph type="dt" sz="half" idx="10"/>
          </p:nvPr>
        </p:nvSpPr>
        <p:spPr/>
        <p:txBody>
          <a:bodyPr/>
          <a:lstStyle/>
          <a:p>
            <a:pPr>
              <a:defRPr/>
            </a:pPr>
            <a:fld id="{39FACAE6-9AE1-4F0B-B5CC-4BF41824B418}" type="datetime3">
              <a:rPr lang="en-US" smtClean="0"/>
              <a:t>16 December 2025</a:t>
            </a:fld>
            <a:endParaRPr lang="en-US"/>
          </a:p>
        </p:txBody>
      </p:sp>
      <p:sp>
        <p:nvSpPr>
          <p:cNvPr id="5" name="Footer Placeholder 4">
            <a:extLst>
              <a:ext uri="{FF2B5EF4-FFF2-40B4-BE49-F238E27FC236}">
                <a16:creationId xmlns:a16="http://schemas.microsoft.com/office/drawing/2014/main" id="{A7C81025-7B57-44C7-832F-F9F612E7E669}"/>
              </a:ext>
            </a:extLst>
          </p:cNvPr>
          <p:cNvSpPr>
            <a:spLocks noGrp="1"/>
          </p:cNvSpPr>
          <p:nvPr>
            <p:ph type="ftr" sz="quarter" idx="11"/>
          </p:nvPr>
        </p:nvSpPr>
        <p:spPr/>
        <p:txBody>
          <a:bodyPr/>
          <a:lstStyle/>
          <a:p>
            <a:pPr>
              <a:defRPr/>
            </a:pPr>
            <a:r>
              <a:rPr lang="en-US"/>
              <a:t>T. Mayooran</a:t>
            </a:r>
          </a:p>
        </p:txBody>
      </p:sp>
    </p:spTree>
    <p:extLst>
      <p:ext uri="{BB962C8B-B14F-4D97-AF65-F5344CB8AC3E}">
        <p14:creationId xmlns:p14="http://schemas.microsoft.com/office/powerpoint/2010/main" val="868197707"/>
      </p:ext>
    </p:extLst>
  </p:cSld>
  <p:clrMapOvr>
    <a:masterClrMapping/>
  </p:clrMapOvr>
  <p:transition spd="slow">
    <p:wipe dir="r"/>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5" name="Rectangle 3"/>
          <p:cNvSpPr>
            <a:spLocks noChangeArrowheads="1"/>
          </p:cNvSpPr>
          <p:nvPr/>
        </p:nvSpPr>
        <p:spPr bwMode="auto">
          <a:xfrm>
            <a:off x="770732" y="1676400"/>
            <a:ext cx="7772400" cy="4375152"/>
          </a:xfrm>
          <a:prstGeom prst="rect">
            <a:avLst/>
          </a:prstGeom>
          <a:noFill/>
          <a:ln w="9525">
            <a:noFill/>
            <a:miter lim="800000"/>
            <a:headEnd/>
            <a:tailEnd/>
          </a:ln>
        </p:spPr>
        <p:txBody>
          <a:bodyPr lIns="85342" tIns="42672" rIns="85342" bIns="42672"/>
          <a:lstStyle/>
          <a:p>
            <a:pPr>
              <a:lnSpc>
                <a:spcPct val="90000"/>
              </a:lnSpc>
              <a:spcBef>
                <a:spcPct val="20000"/>
              </a:spcBef>
              <a:buClr>
                <a:srgbClr val="008000"/>
              </a:buClr>
              <a:buSzPct val="130000"/>
            </a:pPr>
            <a:r>
              <a:rPr lang="en-US" sz="2800" dirty="0">
                <a:solidFill>
                  <a:srgbClr val="111111"/>
                </a:solidFill>
                <a:latin typeface="Times New Roman" panose="02020603050405020304" pitchFamily="18" charset="0"/>
                <a:cs typeface="Times New Roman" panose="02020603050405020304" pitchFamily="18" charset="0"/>
              </a:rPr>
              <a:t>Criteria (BINS):</a:t>
            </a:r>
          </a:p>
          <a:p>
            <a:pPr marL="457200" indent="-457200" algn="just">
              <a:lnSpc>
                <a:spcPct val="110000"/>
              </a:lnSpc>
              <a:spcBef>
                <a:spcPct val="20000"/>
              </a:spcBef>
              <a:buSzPct val="120000"/>
              <a:buFont typeface="+mj-lt"/>
              <a:buAutoNum type="alphaUcPeriod" startAt="2"/>
            </a:pPr>
            <a:r>
              <a:rPr lang="en-US" sz="2400" dirty="0">
                <a:solidFill>
                  <a:srgbClr val="111111"/>
                </a:solidFill>
                <a:latin typeface="Times New Roman" panose="02020603050405020304" pitchFamily="18" charset="0"/>
                <a:cs typeface="Times New Roman" panose="02020603050405020304" pitchFamily="18" charset="0"/>
              </a:rPr>
              <a:t>(</a:t>
            </a:r>
            <a:r>
              <a:rPr lang="en-US" sz="2400" u="sng" dirty="0">
                <a:solidFill>
                  <a:srgbClr val="111111"/>
                </a:solidFill>
                <a:latin typeface="Times New Roman" panose="02020603050405020304" pitchFamily="18" charset="0"/>
                <a:cs typeface="Times New Roman" panose="02020603050405020304" pitchFamily="18" charset="0"/>
              </a:rPr>
              <a:t>B</a:t>
            </a:r>
            <a:r>
              <a:rPr lang="en-US" sz="2400" dirty="0">
                <a:solidFill>
                  <a:srgbClr val="111111"/>
                </a:solidFill>
                <a:latin typeface="Times New Roman" panose="02020603050405020304" pitchFamily="18" charset="0"/>
                <a:cs typeface="Times New Roman" panose="02020603050405020304" pitchFamily="18" charset="0"/>
              </a:rPr>
              <a:t>ivariate) Two mutually exclusive and collectively exhaustive categories</a:t>
            </a:r>
          </a:p>
          <a:p>
            <a:pPr marL="742950" lvl="1" indent="-285750" algn="just">
              <a:lnSpc>
                <a:spcPct val="90000"/>
              </a:lnSpc>
              <a:spcBef>
                <a:spcPct val="20000"/>
              </a:spcBef>
              <a:buClr>
                <a:srgbClr val="99CC00"/>
              </a:buClr>
              <a:buSzPct val="120000"/>
              <a:buFont typeface="Wingdings" pitchFamily="2" charset="2"/>
              <a:buChar char="§"/>
            </a:pPr>
            <a:r>
              <a:rPr lang="en-US" sz="2000" dirty="0">
                <a:solidFill>
                  <a:srgbClr val="111111"/>
                </a:solidFill>
                <a:latin typeface="Times New Roman" panose="02020603050405020304" pitchFamily="18" charset="0"/>
                <a:cs typeface="Times New Roman" panose="02020603050405020304" pitchFamily="18" charset="0"/>
              </a:rPr>
              <a:t>Generally called ‘success’ and ‘failure’</a:t>
            </a:r>
          </a:p>
          <a:p>
            <a:pPr marL="457200" indent="-457200" algn="just">
              <a:lnSpc>
                <a:spcPct val="90000"/>
              </a:lnSpc>
              <a:spcBef>
                <a:spcPct val="20000"/>
              </a:spcBef>
              <a:buSzPct val="120000"/>
              <a:buFont typeface="+mj-lt"/>
              <a:buAutoNum type="alphaUcPeriod" startAt="9"/>
            </a:pPr>
            <a:r>
              <a:rPr lang="en-US" sz="2400" dirty="0">
                <a:solidFill>
                  <a:srgbClr val="111111"/>
                </a:solidFill>
                <a:latin typeface="Times New Roman" panose="02020603050405020304" pitchFamily="18" charset="0"/>
                <a:cs typeface="Times New Roman" panose="02020603050405020304" pitchFamily="18" charset="0"/>
              </a:rPr>
              <a:t>Observations are </a:t>
            </a:r>
            <a:r>
              <a:rPr lang="en-US" sz="2400" u="sng" dirty="0">
                <a:solidFill>
                  <a:srgbClr val="111111"/>
                </a:solidFill>
                <a:latin typeface="Times New Roman" panose="02020603050405020304" pitchFamily="18" charset="0"/>
                <a:cs typeface="Times New Roman" panose="02020603050405020304" pitchFamily="18" charset="0"/>
              </a:rPr>
              <a:t>I</a:t>
            </a:r>
            <a:r>
              <a:rPr lang="en-US" sz="2400" dirty="0">
                <a:solidFill>
                  <a:srgbClr val="111111"/>
                </a:solidFill>
                <a:latin typeface="Times New Roman" panose="02020603050405020304" pitchFamily="18" charset="0"/>
                <a:cs typeface="Times New Roman" panose="02020603050405020304" pitchFamily="18" charset="0"/>
              </a:rPr>
              <a:t>ndependent</a:t>
            </a:r>
          </a:p>
          <a:p>
            <a:pPr marL="742950" lvl="1" indent="-285750" algn="just">
              <a:lnSpc>
                <a:spcPct val="90000"/>
              </a:lnSpc>
              <a:spcBef>
                <a:spcPct val="20000"/>
              </a:spcBef>
              <a:buClr>
                <a:srgbClr val="99CC00"/>
              </a:buClr>
              <a:buSzPct val="120000"/>
              <a:buFont typeface="Wingdings" pitchFamily="2" charset="2"/>
              <a:buChar char="§"/>
            </a:pPr>
            <a:r>
              <a:rPr lang="en-US" sz="2000" dirty="0">
                <a:solidFill>
                  <a:srgbClr val="111111"/>
                </a:solidFill>
                <a:latin typeface="Times New Roman" panose="02020603050405020304" pitchFamily="18" charset="0"/>
                <a:cs typeface="Times New Roman" panose="02020603050405020304" pitchFamily="18" charset="0"/>
              </a:rPr>
              <a:t>The outcome of one observation does not affect the outcome of the other</a:t>
            </a:r>
          </a:p>
          <a:p>
            <a:pPr marL="457200" indent="-457200" algn="just">
              <a:lnSpc>
                <a:spcPct val="90000"/>
              </a:lnSpc>
              <a:spcBef>
                <a:spcPct val="20000"/>
              </a:spcBef>
              <a:buSzPct val="120000"/>
              <a:buFont typeface="+mj-lt"/>
              <a:buAutoNum type="alphaUcPeriod" startAt="14"/>
            </a:pPr>
            <a:r>
              <a:rPr lang="en-US" sz="2400" dirty="0">
                <a:solidFill>
                  <a:srgbClr val="111111"/>
                </a:solidFill>
                <a:latin typeface="Times New Roman" panose="02020603050405020304" pitchFamily="18" charset="0"/>
                <a:cs typeface="Times New Roman" panose="02020603050405020304" pitchFamily="18" charset="0"/>
              </a:rPr>
              <a:t>A fixed </a:t>
            </a:r>
            <a:r>
              <a:rPr lang="en-US" sz="2400" u="sng" dirty="0">
                <a:solidFill>
                  <a:srgbClr val="111111"/>
                </a:solidFill>
                <a:latin typeface="Times New Roman" panose="02020603050405020304" pitchFamily="18" charset="0"/>
                <a:cs typeface="Times New Roman" panose="02020603050405020304" pitchFamily="18" charset="0"/>
              </a:rPr>
              <a:t>N</a:t>
            </a:r>
            <a:r>
              <a:rPr lang="en-US" sz="2400" dirty="0">
                <a:solidFill>
                  <a:srgbClr val="111111"/>
                </a:solidFill>
                <a:latin typeface="Times New Roman" panose="02020603050405020304" pitchFamily="18" charset="0"/>
                <a:cs typeface="Times New Roman" panose="02020603050405020304" pitchFamily="18" charset="0"/>
              </a:rPr>
              <a:t>umber of observations, or</a:t>
            </a:r>
            <a:r>
              <a:rPr lang="en-US" sz="2400" i="1" dirty="0">
                <a:solidFill>
                  <a:srgbClr val="111111"/>
                </a:solidFill>
                <a:latin typeface="Times New Roman" panose="02020603050405020304" pitchFamily="18" charset="0"/>
                <a:cs typeface="Times New Roman" panose="02020603050405020304" pitchFamily="18" charset="0"/>
              </a:rPr>
              <a:t> trials</a:t>
            </a:r>
            <a:r>
              <a:rPr lang="en-US" sz="2400" dirty="0">
                <a:solidFill>
                  <a:srgbClr val="111111"/>
                </a:solidFill>
                <a:latin typeface="Times New Roman" panose="02020603050405020304" pitchFamily="18" charset="0"/>
                <a:cs typeface="Times New Roman" panose="02020603050405020304" pitchFamily="18" charset="0"/>
              </a:rPr>
              <a:t>, n</a:t>
            </a:r>
          </a:p>
          <a:p>
            <a:pPr marL="742950" lvl="1" indent="-285750" algn="just">
              <a:lnSpc>
                <a:spcPct val="90000"/>
              </a:lnSpc>
              <a:spcBef>
                <a:spcPct val="20000"/>
              </a:spcBef>
              <a:buClr>
                <a:srgbClr val="99CC00"/>
              </a:buClr>
              <a:buSzPct val="120000"/>
              <a:buFont typeface="Wingdings" pitchFamily="2" charset="2"/>
              <a:buChar char="§"/>
            </a:pPr>
            <a:r>
              <a:rPr lang="en-US" sz="2000" dirty="0">
                <a:solidFill>
                  <a:srgbClr val="111111"/>
                </a:solidFill>
                <a:latin typeface="Times New Roman" panose="02020603050405020304" pitchFamily="18" charset="0"/>
                <a:cs typeface="Times New Roman" panose="02020603050405020304" pitchFamily="18" charset="0"/>
              </a:rPr>
              <a:t>E.g. 15 tosses of a coin; ten light bulbs taken from a warehouse</a:t>
            </a:r>
          </a:p>
          <a:p>
            <a:pPr marL="457200" indent="-457200" algn="just">
              <a:lnSpc>
                <a:spcPct val="110000"/>
              </a:lnSpc>
              <a:spcBef>
                <a:spcPct val="20000"/>
              </a:spcBef>
              <a:buSzPct val="120000"/>
              <a:buFont typeface="+mj-lt"/>
              <a:buAutoNum type="alphaUcPeriod" startAt="19"/>
            </a:pPr>
            <a:r>
              <a:rPr lang="en-US" sz="2400" dirty="0">
                <a:solidFill>
                  <a:srgbClr val="111111"/>
                </a:solidFill>
                <a:latin typeface="Times New Roman" panose="02020603050405020304" pitchFamily="18" charset="0"/>
                <a:cs typeface="Times New Roman" panose="02020603050405020304" pitchFamily="18" charset="0"/>
              </a:rPr>
              <a:t>Constant probability of </a:t>
            </a:r>
            <a:r>
              <a:rPr lang="en-US" sz="2400" u="sng" dirty="0">
                <a:solidFill>
                  <a:srgbClr val="111111"/>
                </a:solidFill>
                <a:latin typeface="Times New Roman" panose="02020603050405020304" pitchFamily="18" charset="0"/>
                <a:cs typeface="Times New Roman" panose="02020603050405020304" pitchFamily="18" charset="0"/>
              </a:rPr>
              <a:t>S</a:t>
            </a:r>
            <a:r>
              <a:rPr lang="en-US" sz="2400" dirty="0">
                <a:solidFill>
                  <a:srgbClr val="111111"/>
                </a:solidFill>
                <a:latin typeface="Times New Roman" panose="02020603050405020304" pitchFamily="18" charset="0"/>
                <a:cs typeface="Times New Roman" panose="02020603050405020304" pitchFamily="18" charset="0"/>
              </a:rPr>
              <a:t>uccess, p, for each observation</a:t>
            </a:r>
          </a:p>
          <a:p>
            <a:pPr marL="742950" lvl="1" indent="-285750" algn="just">
              <a:spcBef>
                <a:spcPct val="20000"/>
              </a:spcBef>
              <a:buClr>
                <a:srgbClr val="99CC00"/>
              </a:buClr>
              <a:buSzPct val="120000"/>
              <a:buFont typeface="Wingdings" pitchFamily="2" charset="2"/>
              <a:buChar char="§"/>
            </a:pPr>
            <a:r>
              <a:rPr lang="en-US" sz="2000" dirty="0">
                <a:solidFill>
                  <a:srgbClr val="111111"/>
                </a:solidFill>
                <a:latin typeface="Times New Roman" panose="02020603050405020304" pitchFamily="18" charset="0"/>
                <a:cs typeface="Times New Roman" panose="02020603050405020304" pitchFamily="18" charset="0"/>
              </a:rPr>
              <a:t>E.g. Probability of getting a tail is the same each time we toss the coin</a:t>
            </a:r>
          </a:p>
          <a:p>
            <a:pPr marL="285750" indent="-285750">
              <a:spcBef>
                <a:spcPct val="20000"/>
              </a:spcBef>
              <a:buClr>
                <a:srgbClr val="99CC00"/>
              </a:buClr>
              <a:buSzPct val="120000"/>
              <a:buFont typeface="Wingdings" pitchFamily="2" charset="2"/>
              <a:buChar char="§"/>
            </a:pPr>
            <a:endParaRPr lang="en-US" sz="2000" dirty="0">
              <a:solidFill>
                <a:srgbClr val="111111"/>
              </a:solidFill>
              <a:latin typeface="Times New Roman" panose="02020603050405020304" pitchFamily="18" charset="0"/>
              <a:cs typeface="Times New Roman" panose="02020603050405020304" pitchFamily="18" charset="0"/>
            </a:endParaRPr>
          </a:p>
          <a:p>
            <a:pPr marL="742950" lvl="1" indent="-285750">
              <a:lnSpc>
                <a:spcPct val="90000"/>
              </a:lnSpc>
              <a:spcBef>
                <a:spcPct val="20000"/>
              </a:spcBef>
              <a:buClr>
                <a:srgbClr val="99CC00"/>
              </a:buClr>
              <a:buSzPct val="120000"/>
            </a:pPr>
            <a:endParaRPr lang="en-US" sz="2000" dirty="0">
              <a:solidFill>
                <a:srgbClr val="111111"/>
              </a:solidFill>
              <a:latin typeface="Times New Roman" panose="02020603050405020304" pitchFamily="18" charset="0"/>
              <a:cs typeface="Times New Roman" panose="02020603050405020304" pitchFamily="18" charset="0"/>
            </a:endParaRPr>
          </a:p>
        </p:txBody>
      </p:sp>
      <p:sp>
        <p:nvSpPr>
          <p:cNvPr id="5" name="Title 1">
            <a:extLst>
              <a:ext uri="{FF2B5EF4-FFF2-40B4-BE49-F238E27FC236}">
                <a16:creationId xmlns:a16="http://schemas.microsoft.com/office/drawing/2014/main" id="{984C2585-5410-4705-A834-249C71285863}"/>
              </a:ext>
            </a:extLst>
          </p:cNvPr>
          <p:cNvSpPr>
            <a:spLocks noGrp="1"/>
          </p:cNvSpPr>
          <p:nvPr>
            <p:ph type="title"/>
          </p:nvPr>
        </p:nvSpPr>
        <p:spPr>
          <a:xfrm>
            <a:off x="931864" y="96842"/>
            <a:ext cx="7450136" cy="1412875"/>
          </a:xfrm>
        </p:spPr>
        <p:txBody>
          <a:bodyPr/>
          <a:lstStyle/>
          <a:p>
            <a:r>
              <a:rPr lang="en-US" sz="3600" dirty="0">
                <a:solidFill>
                  <a:srgbClr val="C00000"/>
                </a:solidFill>
                <a:effectLst>
                  <a:outerShdw blurRad="38100" dist="38100" dir="2700000" algn="tl">
                    <a:srgbClr val="000000">
                      <a:alpha val="43137"/>
                    </a:srgbClr>
                  </a:outerShdw>
                </a:effectLst>
                <a:latin typeface="Times New Roman" pitchFamily="18" charset="0"/>
                <a:cs typeface="Times New Roman" pitchFamily="18" charset="0"/>
              </a:rPr>
              <a:t>The acronym BINS can be used to help remember </a:t>
            </a:r>
            <a:r>
              <a:rPr lang="en-GB" sz="3600" dirty="0">
                <a:solidFill>
                  <a:srgbClr val="C00000"/>
                </a:solidFill>
                <a:effectLst>
                  <a:outerShdw blurRad="38100" dist="38100" dir="2700000" algn="tl">
                    <a:srgbClr val="000000">
                      <a:alpha val="43137"/>
                    </a:srgbClr>
                  </a:outerShdw>
                </a:effectLst>
                <a:latin typeface="Times New Roman" pitchFamily="18" charset="0"/>
                <a:cs typeface="Times New Roman" pitchFamily="18" charset="0"/>
              </a:rPr>
              <a:t>Binomial Distribution:</a:t>
            </a:r>
          </a:p>
        </p:txBody>
      </p:sp>
    </p:spTree>
    <p:extLst>
      <p:ext uri="{BB962C8B-B14F-4D97-AF65-F5344CB8AC3E}">
        <p14:creationId xmlns:p14="http://schemas.microsoft.com/office/powerpoint/2010/main" val="1342222332"/>
      </p:ext>
    </p:extLst>
  </p:cSld>
  <p:clrMapOvr>
    <a:masterClrMapping/>
  </p:clrMapOvr>
  <p:transition spd="slow">
    <p:wipe dir="r"/>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Rectangle 2"/>
          <p:cNvSpPr>
            <a:spLocks noGrp="1" noChangeArrowheads="1"/>
          </p:cNvSpPr>
          <p:nvPr>
            <p:ph type="title"/>
          </p:nvPr>
        </p:nvSpPr>
        <p:spPr>
          <a:xfrm>
            <a:off x="980394" y="321177"/>
            <a:ext cx="8196263" cy="990600"/>
          </a:xfrm>
        </p:spPr>
        <p:txBody>
          <a:bodyPr/>
          <a:lstStyle/>
          <a:p>
            <a:r>
              <a:rPr lang="en-US" dirty="0">
                <a:solidFill>
                  <a:srgbClr val="C00000"/>
                </a:solidFill>
                <a:effectLst>
                  <a:outerShdw blurRad="38100" dist="38100" dir="2700000" algn="tl">
                    <a:srgbClr val="000000">
                      <a:alpha val="43137"/>
                    </a:srgbClr>
                  </a:outerShdw>
                </a:effectLst>
                <a:latin typeface="Times New Roman" pitchFamily="18" charset="0"/>
                <a:cs typeface="Times New Roman" pitchFamily="18" charset="0"/>
              </a:rPr>
              <a:t>Question</a:t>
            </a:r>
          </a:p>
        </p:txBody>
      </p:sp>
      <p:sp>
        <p:nvSpPr>
          <p:cNvPr id="30723" name="Rectangle 3"/>
          <p:cNvSpPr>
            <a:spLocks noGrp="1" noChangeArrowheads="1"/>
          </p:cNvSpPr>
          <p:nvPr>
            <p:ph type="body" idx="1"/>
          </p:nvPr>
        </p:nvSpPr>
        <p:spPr>
          <a:xfrm>
            <a:off x="468313" y="1828800"/>
            <a:ext cx="8330454" cy="4343400"/>
          </a:xfrm>
          <a:noFill/>
        </p:spPr>
        <p:txBody>
          <a:bodyPr/>
          <a:lstStyle/>
          <a:p>
            <a:pPr marL="0" indent="0">
              <a:spcBef>
                <a:spcPct val="40000"/>
              </a:spcBef>
              <a:buNone/>
            </a:pPr>
            <a:r>
              <a:rPr lang="en-US" dirty="0">
                <a:latin typeface="Times New Roman" panose="02020603050405020304" pitchFamily="18" charset="0"/>
                <a:cs typeface="Times New Roman" panose="02020603050405020304" pitchFamily="18" charset="0"/>
              </a:rPr>
              <a:t>Which of the following could be binomially distributed?</a:t>
            </a:r>
          </a:p>
          <a:p>
            <a:pPr marL="971550" lvl="1" indent="-514350">
              <a:spcBef>
                <a:spcPct val="40000"/>
              </a:spcBef>
              <a:buClr>
                <a:srgbClr val="0070C0"/>
              </a:buClr>
              <a:buFont typeface="+mj-lt"/>
              <a:buAutoNum type="alphaUcPeriod"/>
            </a:pPr>
            <a:r>
              <a:rPr lang="en-US" dirty="0">
                <a:latin typeface="Times New Roman" panose="02020603050405020304" pitchFamily="18" charset="0"/>
                <a:cs typeface="Times New Roman" panose="02020603050405020304" pitchFamily="18" charset="0"/>
              </a:rPr>
              <a:t>The number of cows in a herd with tuberculosis.  </a:t>
            </a:r>
          </a:p>
          <a:p>
            <a:pPr marL="971550" lvl="1" indent="-514350">
              <a:spcBef>
                <a:spcPct val="40000"/>
              </a:spcBef>
              <a:buClr>
                <a:srgbClr val="0070C0"/>
              </a:buClr>
              <a:buFont typeface="+mj-lt"/>
              <a:buAutoNum type="alphaUcPeriod"/>
            </a:pPr>
            <a:r>
              <a:rPr lang="en-US" dirty="0">
                <a:latin typeface="Times New Roman" panose="02020603050405020304" pitchFamily="18" charset="0"/>
                <a:cs typeface="Times New Roman" panose="02020603050405020304" pitchFamily="18" charset="0"/>
              </a:rPr>
              <a:t>A seed from a given packet of n seeds germinates or not.</a:t>
            </a:r>
          </a:p>
          <a:p>
            <a:pPr marL="971550" lvl="1" indent="-514350">
              <a:spcBef>
                <a:spcPct val="40000"/>
              </a:spcBef>
              <a:buClr>
                <a:srgbClr val="0070C0"/>
              </a:buClr>
              <a:buFont typeface="+mj-lt"/>
              <a:buAutoNum type="alphaUcPeriod"/>
            </a:pPr>
            <a:r>
              <a:rPr lang="en-US" dirty="0">
                <a:latin typeface="Times New Roman" panose="02020603050405020304" pitchFamily="18" charset="0"/>
                <a:cs typeface="Times New Roman" panose="02020603050405020304" pitchFamily="18" charset="0"/>
              </a:rPr>
              <a:t>Number of boars in piglet litters of size n.  </a:t>
            </a:r>
          </a:p>
          <a:p>
            <a:pPr marL="971550" lvl="1" indent="-514350">
              <a:spcBef>
                <a:spcPct val="40000"/>
              </a:spcBef>
              <a:buClr>
                <a:srgbClr val="0070C0"/>
              </a:buClr>
              <a:buFont typeface="+mj-lt"/>
              <a:buAutoNum type="alphaUcPeriod"/>
            </a:pPr>
            <a:r>
              <a:rPr lang="en-US" dirty="0">
                <a:latin typeface="Times New Roman" panose="02020603050405020304" pitchFamily="18" charset="0"/>
                <a:cs typeface="Times New Roman" panose="02020603050405020304" pitchFamily="18" charset="0"/>
              </a:rPr>
              <a:t>A tree within a forest of n trees is infected with a disease or not.</a:t>
            </a:r>
          </a:p>
        </p:txBody>
      </p:sp>
      <p:pic>
        <p:nvPicPr>
          <p:cNvPr id="4" name="Picture 1" descr="C:\Users\dleader\AppData\Local\Microsoft\Windows\Temporary Internet Files\Content.IE5\DK3BMDA1\question-mark-in-blue-round-button-6154-large[1].pn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7740352" y="15673"/>
            <a:ext cx="1296104" cy="129610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65823654"/>
      </p:ext>
    </p:extLst>
  </p:cSld>
  <p:clrMapOvr>
    <a:masterClrMapping/>
  </p:clrMapOvr>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Rectangle 2"/>
          <p:cNvSpPr>
            <a:spLocks noGrp="1" noChangeArrowheads="1"/>
          </p:cNvSpPr>
          <p:nvPr>
            <p:ph type="title"/>
          </p:nvPr>
        </p:nvSpPr>
        <p:spPr/>
        <p:txBody>
          <a:bodyPr/>
          <a:lstStyle/>
          <a:p>
            <a:pPr eaLnBrk="1" hangingPunct="1"/>
            <a:r>
              <a:rPr lang="en-GB" sz="3500" dirty="0">
                <a:solidFill>
                  <a:srgbClr val="C00000"/>
                </a:solidFill>
                <a:effectLst>
                  <a:outerShdw blurRad="38100" dist="38100" dir="2700000" algn="tl">
                    <a:srgbClr val="000000">
                      <a:alpha val="43137"/>
                    </a:srgbClr>
                  </a:outerShdw>
                </a:effectLst>
                <a:latin typeface="Times New Roman" pitchFamily="18" charset="0"/>
                <a:cs typeface="Times New Roman" pitchFamily="18" charset="0"/>
              </a:rPr>
              <a:t>Binomial Distribution continue…. </a:t>
            </a:r>
            <a:endParaRPr lang="en-US" sz="3500" dirty="0"/>
          </a:p>
        </p:txBody>
      </p:sp>
      <p:sp>
        <p:nvSpPr>
          <p:cNvPr id="27651" name="Rectangle 3"/>
          <p:cNvSpPr>
            <a:spLocks noGrp="1" noChangeArrowheads="1"/>
          </p:cNvSpPr>
          <p:nvPr>
            <p:ph type="body" sz="half" idx="1"/>
          </p:nvPr>
        </p:nvSpPr>
        <p:spPr>
          <a:xfrm>
            <a:off x="457200" y="2359572"/>
            <a:ext cx="4305300" cy="3050628"/>
          </a:xfrm>
        </p:spPr>
        <p:txBody>
          <a:bodyPr/>
          <a:lstStyle/>
          <a:p>
            <a:pPr marL="0" indent="0" eaLnBrk="1" hangingPunct="1">
              <a:buNone/>
            </a:pPr>
            <a:r>
              <a:rPr lang="en-US" sz="2400" dirty="0">
                <a:latin typeface="Times New Roman" pitchFamily="18" charset="0"/>
                <a:cs typeface="Times New Roman" pitchFamily="18" charset="0"/>
              </a:rPr>
              <a:t>A Binomial Random Variable</a:t>
            </a:r>
          </a:p>
          <a:p>
            <a:pPr lvl="1" eaLnBrk="1" hangingPunct="1"/>
            <a:r>
              <a:rPr lang="en-US" i="1" dirty="0">
                <a:latin typeface="Times New Roman" pitchFamily="18" charset="0"/>
                <a:cs typeface="Times New Roman" pitchFamily="18" charset="0"/>
              </a:rPr>
              <a:t>n</a:t>
            </a:r>
            <a:r>
              <a:rPr lang="en-US" dirty="0">
                <a:latin typeface="Times New Roman" pitchFamily="18" charset="0"/>
                <a:cs typeface="Times New Roman" pitchFamily="18" charset="0"/>
              </a:rPr>
              <a:t> identical trials</a:t>
            </a:r>
          </a:p>
          <a:p>
            <a:pPr lvl="1" eaLnBrk="1" hangingPunct="1"/>
            <a:r>
              <a:rPr lang="en-US" dirty="0">
                <a:latin typeface="Times New Roman" pitchFamily="18" charset="0"/>
                <a:cs typeface="Times New Roman" pitchFamily="18" charset="0"/>
              </a:rPr>
              <a:t>Two outcomes: </a:t>
            </a:r>
            <a:r>
              <a:rPr lang="en-US" b="1" dirty="0">
                <a:latin typeface="Times New Roman" pitchFamily="18" charset="0"/>
                <a:cs typeface="Times New Roman" pitchFamily="18" charset="0"/>
              </a:rPr>
              <a:t>S</a:t>
            </a:r>
            <a:r>
              <a:rPr lang="en-US" dirty="0">
                <a:latin typeface="Times New Roman" pitchFamily="18" charset="0"/>
                <a:cs typeface="Times New Roman" pitchFamily="18" charset="0"/>
              </a:rPr>
              <a:t>uccess or </a:t>
            </a:r>
            <a:r>
              <a:rPr lang="en-US" b="1" dirty="0">
                <a:latin typeface="Times New Roman" pitchFamily="18" charset="0"/>
                <a:cs typeface="Times New Roman" pitchFamily="18" charset="0"/>
              </a:rPr>
              <a:t>F</a:t>
            </a:r>
            <a:r>
              <a:rPr lang="en-US" dirty="0">
                <a:latin typeface="Times New Roman" pitchFamily="18" charset="0"/>
                <a:cs typeface="Times New Roman" pitchFamily="18" charset="0"/>
              </a:rPr>
              <a:t>ailure</a:t>
            </a:r>
          </a:p>
          <a:p>
            <a:pPr lvl="1" eaLnBrk="1" hangingPunct="1"/>
            <a:r>
              <a:rPr lang="en-US" dirty="0">
                <a:latin typeface="Times New Roman" pitchFamily="18" charset="0"/>
                <a:cs typeface="Times New Roman" pitchFamily="18" charset="0"/>
              </a:rPr>
              <a:t>P(</a:t>
            </a:r>
            <a:r>
              <a:rPr lang="en-US" b="1" dirty="0">
                <a:latin typeface="Times New Roman" pitchFamily="18" charset="0"/>
                <a:cs typeface="Times New Roman" pitchFamily="18" charset="0"/>
              </a:rPr>
              <a:t>S</a:t>
            </a:r>
            <a:r>
              <a:rPr lang="en-US" dirty="0">
                <a:latin typeface="Times New Roman" pitchFamily="18" charset="0"/>
                <a:cs typeface="Times New Roman" pitchFamily="18" charset="0"/>
              </a:rPr>
              <a:t>) = </a:t>
            </a:r>
            <a:r>
              <a:rPr lang="en-US" i="1" dirty="0">
                <a:latin typeface="Times New Roman" pitchFamily="18" charset="0"/>
                <a:cs typeface="Times New Roman" pitchFamily="18" charset="0"/>
              </a:rPr>
              <a:t>p</a:t>
            </a:r>
            <a:r>
              <a:rPr lang="en-US" dirty="0">
                <a:latin typeface="Times New Roman" pitchFamily="18" charset="0"/>
                <a:cs typeface="Times New Roman" pitchFamily="18" charset="0"/>
              </a:rPr>
              <a:t>; P(</a:t>
            </a:r>
            <a:r>
              <a:rPr lang="en-US" b="1" dirty="0">
                <a:latin typeface="Times New Roman" pitchFamily="18" charset="0"/>
                <a:cs typeface="Times New Roman" pitchFamily="18" charset="0"/>
              </a:rPr>
              <a:t>F</a:t>
            </a:r>
            <a:r>
              <a:rPr lang="en-US" dirty="0">
                <a:latin typeface="Times New Roman" pitchFamily="18" charset="0"/>
                <a:cs typeface="Times New Roman" pitchFamily="18" charset="0"/>
              </a:rPr>
              <a:t>) = </a:t>
            </a:r>
            <a:r>
              <a:rPr lang="en-US" i="1" dirty="0">
                <a:latin typeface="Times New Roman" pitchFamily="18" charset="0"/>
                <a:cs typeface="Times New Roman" pitchFamily="18" charset="0"/>
              </a:rPr>
              <a:t>q</a:t>
            </a:r>
            <a:r>
              <a:rPr lang="en-US" dirty="0">
                <a:latin typeface="Times New Roman" pitchFamily="18" charset="0"/>
                <a:cs typeface="Times New Roman" pitchFamily="18" charset="0"/>
              </a:rPr>
              <a:t> = 1 – </a:t>
            </a:r>
            <a:r>
              <a:rPr lang="en-US" i="1" dirty="0">
                <a:latin typeface="Times New Roman" pitchFamily="18" charset="0"/>
                <a:cs typeface="Times New Roman" pitchFamily="18" charset="0"/>
              </a:rPr>
              <a:t>p</a:t>
            </a:r>
            <a:endParaRPr lang="en-US" dirty="0">
              <a:latin typeface="Times New Roman" pitchFamily="18" charset="0"/>
              <a:cs typeface="Times New Roman" pitchFamily="18" charset="0"/>
            </a:endParaRPr>
          </a:p>
          <a:p>
            <a:pPr lvl="1" eaLnBrk="1" hangingPunct="1"/>
            <a:r>
              <a:rPr lang="en-US" dirty="0">
                <a:latin typeface="Times New Roman" pitchFamily="18" charset="0"/>
                <a:cs typeface="Times New Roman" pitchFamily="18" charset="0"/>
              </a:rPr>
              <a:t>Trials are independent</a:t>
            </a:r>
            <a:endParaRPr lang="en-US" i="1" dirty="0">
              <a:latin typeface="Times New Roman" pitchFamily="18" charset="0"/>
              <a:cs typeface="Times New Roman" pitchFamily="18" charset="0"/>
            </a:endParaRPr>
          </a:p>
          <a:p>
            <a:pPr lvl="1" eaLnBrk="1" hangingPunct="1"/>
            <a:r>
              <a:rPr lang="en-US" i="1" dirty="0">
                <a:latin typeface="Times New Roman" pitchFamily="18" charset="0"/>
                <a:cs typeface="Times New Roman" pitchFamily="18" charset="0"/>
              </a:rPr>
              <a:t>x</a:t>
            </a:r>
            <a:r>
              <a:rPr lang="en-US" dirty="0">
                <a:latin typeface="Times New Roman" pitchFamily="18" charset="0"/>
                <a:cs typeface="Times New Roman" pitchFamily="18" charset="0"/>
              </a:rPr>
              <a:t> is the number of </a:t>
            </a:r>
            <a:r>
              <a:rPr lang="en-US" b="1" dirty="0">
                <a:latin typeface="Times New Roman" pitchFamily="18" charset="0"/>
                <a:cs typeface="Times New Roman" pitchFamily="18" charset="0"/>
              </a:rPr>
              <a:t>S</a:t>
            </a:r>
            <a:r>
              <a:rPr lang="en-US" dirty="0">
                <a:latin typeface="Times New Roman" pitchFamily="18" charset="0"/>
                <a:cs typeface="Times New Roman" pitchFamily="18" charset="0"/>
              </a:rPr>
              <a:t>’s in </a:t>
            </a:r>
            <a:r>
              <a:rPr lang="en-US" i="1" dirty="0">
                <a:latin typeface="Times New Roman" pitchFamily="18" charset="0"/>
                <a:cs typeface="Times New Roman" pitchFamily="18" charset="0"/>
              </a:rPr>
              <a:t>n </a:t>
            </a:r>
            <a:r>
              <a:rPr lang="en-US" dirty="0">
                <a:latin typeface="Times New Roman" pitchFamily="18" charset="0"/>
                <a:cs typeface="Times New Roman" pitchFamily="18" charset="0"/>
              </a:rPr>
              <a:t>trials </a:t>
            </a:r>
            <a:endParaRPr lang="en-US" i="1" dirty="0">
              <a:latin typeface="Times New Roman" pitchFamily="18" charset="0"/>
              <a:cs typeface="Times New Roman" pitchFamily="18" charset="0"/>
            </a:endParaRPr>
          </a:p>
        </p:txBody>
      </p:sp>
      <p:sp>
        <p:nvSpPr>
          <p:cNvPr id="27652" name="Rectangle 4"/>
          <p:cNvSpPr>
            <a:spLocks noGrp="1" noChangeArrowheads="1"/>
          </p:cNvSpPr>
          <p:nvPr>
            <p:ph type="body" sz="half" idx="2"/>
          </p:nvPr>
        </p:nvSpPr>
        <p:spPr>
          <a:xfrm>
            <a:off x="5372100" y="2819400"/>
            <a:ext cx="3848100" cy="2743200"/>
          </a:xfrm>
        </p:spPr>
        <p:txBody>
          <a:bodyPr/>
          <a:lstStyle/>
          <a:p>
            <a:pPr marL="0" lvl="1" indent="0" eaLnBrk="1" hangingPunct="1">
              <a:buNone/>
            </a:pPr>
            <a:r>
              <a:rPr lang="en-US" sz="2200" dirty="0">
                <a:solidFill>
                  <a:srgbClr val="003399"/>
                </a:solidFill>
                <a:latin typeface="Times New Roman" pitchFamily="18" charset="0"/>
                <a:cs typeface="Times New Roman" pitchFamily="18" charset="0"/>
              </a:rPr>
              <a:t>Flip a coin 3 times</a:t>
            </a:r>
          </a:p>
          <a:p>
            <a:pPr marL="0" lvl="1" indent="0" eaLnBrk="1" hangingPunct="1">
              <a:buNone/>
            </a:pPr>
            <a:r>
              <a:rPr lang="en-US" sz="2200" dirty="0">
                <a:solidFill>
                  <a:srgbClr val="003399"/>
                </a:solidFill>
                <a:latin typeface="Times New Roman" pitchFamily="18" charset="0"/>
                <a:cs typeface="Times New Roman" pitchFamily="18" charset="0"/>
              </a:rPr>
              <a:t>Outcomes are Heads or Tails</a:t>
            </a:r>
          </a:p>
          <a:p>
            <a:pPr marL="0" lvl="1" indent="0" eaLnBrk="1" hangingPunct="1">
              <a:buNone/>
            </a:pPr>
            <a:endParaRPr lang="en-US" sz="2200" dirty="0">
              <a:solidFill>
                <a:srgbClr val="003399"/>
              </a:solidFill>
              <a:latin typeface="Times New Roman" pitchFamily="18" charset="0"/>
              <a:cs typeface="Times New Roman" pitchFamily="18" charset="0"/>
            </a:endParaRPr>
          </a:p>
          <a:p>
            <a:pPr marL="0" lvl="1" indent="0" eaLnBrk="1" hangingPunct="1">
              <a:buNone/>
            </a:pPr>
            <a:r>
              <a:rPr lang="en-US" sz="2200" dirty="0">
                <a:solidFill>
                  <a:srgbClr val="003399"/>
                </a:solidFill>
                <a:latin typeface="Times New Roman" pitchFamily="18" charset="0"/>
                <a:cs typeface="Times New Roman" pitchFamily="18" charset="0"/>
              </a:rPr>
              <a:t>P(H) = 0.5; P(T) = 1-0.5 = .5</a:t>
            </a:r>
          </a:p>
          <a:p>
            <a:pPr marL="0" lvl="1" indent="0" eaLnBrk="1" hangingPunct="1">
              <a:buNone/>
            </a:pPr>
            <a:r>
              <a:rPr lang="en-US" sz="2200" dirty="0">
                <a:solidFill>
                  <a:srgbClr val="003399"/>
                </a:solidFill>
                <a:latin typeface="Times New Roman" pitchFamily="18" charset="0"/>
                <a:cs typeface="Times New Roman" pitchFamily="18" charset="0"/>
              </a:rPr>
              <a:t>A head on flip </a:t>
            </a:r>
            <a:r>
              <a:rPr lang="en-US" sz="2200" i="1" dirty="0">
                <a:solidFill>
                  <a:srgbClr val="003399"/>
                </a:solidFill>
                <a:latin typeface="Times New Roman" pitchFamily="18" charset="0"/>
                <a:cs typeface="Times New Roman" pitchFamily="18" charset="0"/>
              </a:rPr>
              <a:t>i</a:t>
            </a:r>
            <a:r>
              <a:rPr lang="en-US" sz="2200" dirty="0">
                <a:solidFill>
                  <a:srgbClr val="003399"/>
                </a:solidFill>
                <a:latin typeface="Times New Roman" pitchFamily="18" charset="0"/>
                <a:cs typeface="Times New Roman" pitchFamily="18" charset="0"/>
              </a:rPr>
              <a:t> doesn’t change P(H) of flip </a:t>
            </a:r>
            <a:r>
              <a:rPr lang="en-US" sz="2200" i="1" dirty="0">
                <a:solidFill>
                  <a:srgbClr val="003399"/>
                </a:solidFill>
                <a:latin typeface="Times New Roman" pitchFamily="18" charset="0"/>
                <a:cs typeface="Times New Roman" pitchFamily="18" charset="0"/>
              </a:rPr>
              <a:t>i</a:t>
            </a:r>
            <a:r>
              <a:rPr lang="en-US" sz="2200" dirty="0">
                <a:solidFill>
                  <a:srgbClr val="003399"/>
                </a:solidFill>
                <a:latin typeface="Times New Roman" pitchFamily="18" charset="0"/>
                <a:cs typeface="Times New Roman" pitchFamily="18" charset="0"/>
              </a:rPr>
              <a:t> + 1</a:t>
            </a:r>
          </a:p>
          <a:p>
            <a:pPr eaLnBrk="1" hangingPunct="1"/>
            <a:endParaRPr lang="en-US" sz="2200" dirty="0">
              <a:solidFill>
                <a:srgbClr val="003399"/>
              </a:solidFill>
              <a:latin typeface="Times New Roman" pitchFamily="18" charset="0"/>
              <a:cs typeface="Times New Roman" pitchFamily="18" charset="0"/>
            </a:endParaRPr>
          </a:p>
          <a:p>
            <a:pPr eaLnBrk="1" hangingPunct="1"/>
            <a:endParaRPr lang="en-US" sz="2200" dirty="0">
              <a:solidFill>
                <a:srgbClr val="003399"/>
              </a:solidFill>
              <a:latin typeface="Times New Roman" pitchFamily="18" charset="0"/>
              <a:cs typeface="Times New Roman" pitchFamily="18" charset="0"/>
            </a:endParaRPr>
          </a:p>
        </p:txBody>
      </p:sp>
      <p:cxnSp>
        <p:nvCxnSpPr>
          <p:cNvPr id="27655" name="Straight Arrow Connector 7"/>
          <p:cNvCxnSpPr>
            <a:cxnSpLocks noChangeShapeType="1"/>
          </p:cNvCxnSpPr>
          <p:nvPr/>
        </p:nvCxnSpPr>
        <p:spPr bwMode="auto">
          <a:xfrm>
            <a:off x="3505200" y="2971800"/>
            <a:ext cx="1828800" cy="1588"/>
          </a:xfrm>
          <a:prstGeom prst="straightConnector1">
            <a:avLst/>
          </a:prstGeom>
          <a:noFill/>
          <a:ln w="9525" algn="ctr">
            <a:solidFill>
              <a:srgbClr val="CC3300"/>
            </a:solidFill>
            <a:round/>
            <a:headEnd/>
            <a:tailEnd type="arrow" w="med" len="med"/>
          </a:ln>
          <a:extLst>
            <a:ext uri="{909E8E84-426E-40DD-AFC4-6F175D3DCCD1}">
              <a14:hiddenFill xmlns:a14="http://schemas.microsoft.com/office/drawing/2010/main">
                <a:noFill/>
              </a14:hiddenFill>
            </a:ext>
          </a:extLst>
        </p:spPr>
      </p:cxnSp>
      <p:cxnSp>
        <p:nvCxnSpPr>
          <p:cNvPr id="27656" name="Straight Arrow Connector 9"/>
          <p:cNvCxnSpPr>
            <a:cxnSpLocks noChangeShapeType="1"/>
          </p:cNvCxnSpPr>
          <p:nvPr/>
        </p:nvCxnSpPr>
        <p:spPr bwMode="auto">
          <a:xfrm>
            <a:off x="4495800" y="3427412"/>
            <a:ext cx="838200" cy="1588"/>
          </a:xfrm>
          <a:prstGeom prst="straightConnector1">
            <a:avLst/>
          </a:prstGeom>
          <a:noFill/>
          <a:ln w="9525" algn="ctr">
            <a:solidFill>
              <a:srgbClr val="CC3300"/>
            </a:solidFill>
            <a:round/>
            <a:headEnd/>
            <a:tailEnd type="arrow" w="med" len="med"/>
          </a:ln>
          <a:extLst>
            <a:ext uri="{909E8E84-426E-40DD-AFC4-6F175D3DCCD1}">
              <a14:hiddenFill xmlns:a14="http://schemas.microsoft.com/office/drawing/2010/main">
                <a:noFill/>
              </a14:hiddenFill>
            </a:ext>
          </a:extLst>
        </p:spPr>
      </p:cxnSp>
      <p:cxnSp>
        <p:nvCxnSpPr>
          <p:cNvPr id="27657" name="Straight Arrow Connector 12"/>
          <p:cNvCxnSpPr>
            <a:cxnSpLocks noChangeShapeType="1"/>
          </p:cNvCxnSpPr>
          <p:nvPr/>
        </p:nvCxnSpPr>
        <p:spPr bwMode="auto">
          <a:xfrm>
            <a:off x="4648200" y="4265612"/>
            <a:ext cx="685800" cy="1588"/>
          </a:xfrm>
          <a:prstGeom prst="straightConnector1">
            <a:avLst/>
          </a:prstGeom>
          <a:noFill/>
          <a:ln w="9525" algn="ctr">
            <a:solidFill>
              <a:srgbClr val="CC3300"/>
            </a:solidFill>
            <a:round/>
            <a:headEnd/>
            <a:tailEnd type="arrow" w="med" len="med"/>
          </a:ln>
          <a:extLst>
            <a:ext uri="{909E8E84-426E-40DD-AFC4-6F175D3DCCD1}">
              <a14:hiddenFill xmlns:a14="http://schemas.microsoft.com/office/drawing/2010/main">
                <a:noFill/>
              </a14:hiddenFill>
            </a:ext>
          </a:extLst>
        </p:spPr>
      </p:cxnSp>
      <p:cxnSp>
        <p:nvCxnSpPr>
          <p:cNvPr id="27658" name="Straight Arrow Connector 14"/>
          <p:cNvCxnSpPr>
            <a:cxnSpLocks noChangeShapeType="1"/>
          </p:cNvCxnSpPr>
          <p:nvPr/>
        </p:nvCxnSpPr>
        <p:spPr bwMode="auto">
          <a:xfrm>
            <a:off x="4343400" y="4722812"/>
            <a:ext cx="990600" cy="1588"/>
          </a:xfrm>
          <a:prstGeom prst="straightConnector1">
            <a:avLst/>
          </a:prstGeom>
          <a:noFill/>
          <a:ln w="9525" algn="ctr">
            <a:solidFill>
              <a:srgbClr val="CC3300"/>
            </a:solidFill>
            <a:round/>
            <a:headEnd/>
            <a:tailEnd type="arrow" w="med" len="med"/>
          </a:ln>
          <a:extLst>
            <a:ext uri="{909E8E84-426E-40DD-AFC4-6F175D3DCCD1}">
              <a14:hiddenFill xmlns:a14="http://schemas.microsoft.com/office/drawing/2010/main">
                <a:noFill/>
              </a14:hiddenFill>
            </a:ext>
          </a:extLst>
        </p:spPr>
      </p:cxnSp>
      <p:pic>
        <p:nvPicPr>
          <p:cNvPr id="27659" name="Picture 11"/>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00800" y="1676400"/>
            <a:ext cx="871538" cy="8715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Slide Number Placeholder 2"/>
          <p:cNvSpPr>
            <a:spLocks noGrp="1"/>
          </p:cNvSpPr>
          <p:nvPr>
            <p:ph type="sldNum" sz="quarter" idx="12"/>
          </p:nvPr>
        </p:nvSpPr>
        <p:spPr/>
        <p:txBody>
          <a:bodyPr/>
          <a:lstStyle/>
          <a:p>
            <a:pPr>
              <a:defRPr/>
            </a:pPr>
            <a:fld id="{605A68BB-D301-4C84-8D5A-68B072225578}" type="slidenum">
              <a:rPr lang="en-US" smtClean="0"/>
              <a:pPr>
                <a:defRPr/>
              </a:pPr>
              <a:t>19</a:t>
            </a:fld>
            <a:endParaRPr lang="en-US"/>
          </a:p>
        </p:txBody>
      </p:sp>
      <p:sp>
        <p:nvSpPr>
          <p:cNvPr id="2" name="Date Placeholder 1">
            <a:extLst>
              <a:ext uri="{FF2B5EF4-FFF2-40B4-BE49-F238E27FC236}">
                <a16:creationId xmlns:a16="http://schemas.microsoft.com/office/drawing/2014/main" id="{5A40BD1B-B8CE-4BD6-A3C5-D164E83FF8EB}"/>
              </a:ext>
            </a:extLst>
          </p:cNvPr>
          <p:cNvSpPr>
            <a:spLocks noGrp="1"/>
          </p:cNvSpPr>
          <p:nvPr>
            <p:ph type="dt" sz="half" idx="10"/>
          </p:nvPr>
        </p:nvSpPr>
        <p:spPr/>
        <p:txBody>
          <a:bodyPr/>
          <a:lstStyle/>
          <a:p>
            <a:pPr>
              <a:defRPr/>
            </a:pPr>
            <a:fld id="{ADB65D6C-4348-4AC0-9BFF-00B252066DF6}" type="datetime3">
              <a:rPr lang="en-US" smtClean="0"/>
              <a:t>16 December 2025</a:t>
            </a:fld>
            <a:endParaRPr lang="en-US"/>
          </a:p>
        </p:txBody>
      </p:sp>
      <p:sp>
        <p:nvSpPr>
          <p:cNvPr id="4" name="Footer Placeholder 3">
            <a:extLst>
              <a:ext uri="{FF2B5EF4-FFF2-40B4-BE49-F238E27FC236}">
                <a16:creationId xmlns:a16="http://schemas.microsoft.com/office/drawing/2014/main" id="{F0F05204-F9CC-410D-8784-614E49F39B6A}"/>
              </a:ext>
            </a:extLst>
          </p:cNvPr>
          <p:cNvSpPr>
            <a:spLocks noGrp="1"/>
          </p:cNvSpPr>
          <p:nvPr>
            <p:ph type="ftr" sz="quarter" idx="11"/>
          </p:nvPr>
        </p:nvSpPr>
        <p:spPr/>
        <p:txBody>
          <a:bodyPr/>
          <a:lstStyle/>
          <a:p>
            <a:pPr>
              <a:defRPr/>
            </a:pPr>
            <a:r>
              <a:rPr lang="en-US"/>
              <a:t>T. Mayooran</a:t>
            </a:r>
          </a:p>
        </p:txBody>
      </p:sp>
    </p:spTree>
    <p:extLst>
      <p:ext uri="{BB962C8B-B14F-4D97-AF65-F5344CB8AC3E}">
        <p14:creationId xmlns:p14="http://schemas.microsoft.com/office/powerpoint/2010/main" val="1645159849"/>
      </p:ext>
    </p:extLst>
  </p:cSld>
  <p:clrMapOvr>
    <a:masterClrMapping/>
  </p:clrMapOvr>
  <p:transition spd="slow">
    <p:wipe dir="r"/>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7" name="Rectangle 2"/>
          <p:cNvSpPr>
            <a:spLocks noGrp="1" noChangeArrowheads="1"/>
          </p:cNvSpPr>
          <p:nvPr>
            <p:ph type="title"/>
          </p:nvPr>
        </p:nvSpPr>
        <p:spPr>
          <a:xfrm>
            <a:off x="931867" y="76204"/>
            <a:ext cx="7158037" cy="1412875"/>
          </a:xfrm>
        </p:spPr>
        <p:txBody>
          <a:bodyPr/>
          <a:lstStyle/>
          <a:p>
            <a:pPr eaLnBrk="1" hangingPunct="1"/>
            <a:r>
              <a:rPr lang="en-GB" sz="3500" dirty="0">
                <a:solidFill>
                  <a:srgbClr val="C00000"/>
                </a:solidFill>
                <a:effectLst>
                  <a:outerShdw blurRad="38100" dist="38100" dir="2700000" algn="tl">
                    <a:srgbClr val="000000">
                      <a:alpha val="43137"/>
                    </a:srgbClr>
                  </a:outerShdw>
                </a:effectLst>
                <a:latin typeface="Times New Roman" pitchFamily="18" charset="0"/>
                <a:cs typeface="Times New Roman" pitchFamily="18" charset="0"/>
              </a:rPr>
              <a:t>Binomial Distribution continue…. </a:t>
            </a:r>
            <a:endParaRPr lang="en-US" sz="3500" dirty="0"/>
          </a:p>
        </p:txBody>
      </p:sp>
      <p:graphicFrame>
        <p:nvGraphicFramePr>
          <p:cNvPr id="6146" name="Object 2"/>
          <p:cNvGraphicFramePr>
            <a:graphicFrameLocks noGrp="1" noChangeAspect="1"/>
          </p:cNvGraphicFramePr>
          <p:nvPr>
            <p:ph sz="half" idx="2"/>
            <p:extLst>
              <p:ext uri="{D42A27DB-BD31-4B8C-83A1-F6EECF244321}">
                <p14:modId xmlns:p14="http://schemas.microsoft.com/office/powerpoint/2010/main" val="3657093089"/>
              </p:ext>
            </p:extLst>
          </p:nvPr>
        </p:nvGraphicFramePr>
        <p:xfrm>
          <a:off x="685800" y="3962400"/>
          <a:ext cx="6434138" cy="1447800"/>
        </p:xfrm>
        <a:graphic>
          <a:graphicData uri="http://schemas.openxmlformats.org/presentationml/2006/ole">
            <mc:AlternateContent xmlns:mc="http://schemas.openxmlformats.org/markup-compatibility/2006">
              <mc:Choice xmlns:v="urn:schemas-microsoft-com:vml" Requires="v">
                <p:oleObj name="Equation" r:id="rId3" imgW="1015920" imgH="228600" progId="Equation.3">
                  <p:embed/>
                </p:oleObj>
              </mc:Choice>
              <mc:Fallback>
                <p:oleObj name="Equation" r:id="rId3" imgW="1015920" imgH="228600" progId="Equation.3">
                  <p:embed/>
                  <p:pic>
                    <p:nvPicPr>
                      <p:cNvPr id="6146" name="Object 2"/>
                      <p:cNvPicPr>
                        <a:picLocks noChangeAspect="1" noChangeArrowheads="1"/>
                      </p:cNvPicPr>
                      <p:nvPr/>
                    </p:nvPicPr>
                    <p:blipFill>
                      <a:blip r:embed="rId4"/>
                      <a:srcRect/>
                      <a:stretch>
                        <a:fillRect/>
                      </a:stretch>
                    </p:blipFill>
                    <p:spPr bwMode="auto">
                      <a:xfrm>
                        <a:off x="685800" y="3962400"/>
                        <a:ext cx="6434138" cy="1447800"/>
                      </a:xfrm>
                      <a:prstGeom prst="rect">
                        <a:avLst/>
                      </a:prstGeom>
                    </p:spPr>
                  </p:pic>
                </p:oleObj>
              </mc:Fallback>
            </mc:AlternateContent>
          </a:graphicData>
        </a:graphic>
      </p:graphicFrame>
      <p:sp>
        <p:nvSpPr>
          <p:cNvPr id="8" name="Oval Callout 7"/>
          <p:cNvSpPr/>
          <p:nvPr/>
        </p:nvSpPr>
        <p:spPr bwMode="auto">
          <a:xfrm>
            <a:off x="304800" y="1981200"/>
            <a:ext cx="2590800" cy="1600200"/>
          </a:xfrm>
          <a:prstGeom prst="wedgeEllipseCallout">
            <a:avLst>
              <a:gd name="adj1" fmla="val 91802"/>
              <a:gd name="adj2" fmla="val 90503"/>
            </a:avLst>
          </a:prstGeom>
          <a:solidFill>
            <a:schemeClr val="accent1">
              <a:lumMod val="20000"/>
              <a:lumOff val="80000"/>
            </a:schemeClr>
          </a:solidFill>
          <a:ln>
            <a:headEnd type="none" w="med" len="med"/>
            <a:tailEnd type="none" w="med" len="med"/>
          </a:ln>
        </p:spPr>
        <p:style>
          <a:lnRef idx="2">
            <a:schemeClr val="accent1"/>
          </a:lnRef>
          <a:fillRef idx="1">
            <a:schemeClr val="lt1"/>
          </a:fillRef>
          <a:effectRef idx="0">
            <a:schemeClr val="accent1"/>
          </a:effectRef>
          <a:fontRef idx="minor">
            <a:schemeClr val="dk1"/>
          </a:fontRef>
        </p:style>
        <p:txBody>
          <a:bodyPr/>
          <a:lstStyle/>
          <a:p>
            <a:pPr eaLnBrk="0" hangingPunct="0">
              <a:defRPr/>
            </a:pPr>
            <a:r>
              <a:rPr lang="en-US" sz="1600" dirty="0">
                <a:ln w="12700">
                  <a:solidFill>
                    <a:schemeClr val="tx2">
                      <a:satMod val="155000"/>
                    </a:schemeClr>
                  </a:solidFill>
                  <a:prstDash val="solid"/>
                </a:ln>
                <a:solidFill>
                  <a:schemeClr val="tx1"/>
                </a:solidFill>
                <a:latin typeface="Times New Roman" pitchFamily="18" charset="0"/>
                <a:cs typeface="Times New Roman" pitchFamily="18" charset="0"/>
              </a:rPr>
              <a:t>The number of ways of getting the desired results</a:t>
            </a:r>
          </a:p>
        </p:txBody>
      </p:sp>
      <p:sp>
        <p:nvSpPr>
          <p:cNvPr id="10" name="Oval Callout 9"/>
          <p:cNvSpPr/>
          <p:nvPr/>
        </p:nvSpPr>
        <p:spPr bwMode="auto">
          <a:xfrm>
            <a:off x="3471041" y="1848507"/>
            <a:ext cx="2590800" cy="1447800"/>
          </a:xfrm>
          <a:prstGeom prst="wedgeEllipseCallout">
            <a:avLst>
              <a:gd name="adj1" fmla="val 23839"/>
              <a:gd name="adj2" fmla="val 115056"/>
            </a:avLst>
          </a:prstGeom>
          <a:solidFill>
            <a:schemeClr val="accent1">
              <a:lumMod val="20000"/>
              <a:lumOff val="80000"/>
            </a:schemeClr>
          </a:solidFill>
          <a:ln>
            <a:headEnd type="none" w="med" len="med"/>
            <a:tailEnd type="none" w="med" len="med"/>
          </a:ln>
        </p:spPr>
        <p:style>
          <a:lnRef idx="2">
            <a:schemeClr val="accent1"/>
          </a:lnRef>
          <a:fillRef idx="1">
            <a:schemeClr val="lt1"/>
          </a:fillRef>
          <a:effectRef idx="0">
            <a:schemeClr val="accent1"/>
          </a:effectRef>
          <a:fontRef idx="minor">
            <a:schemeClr val="dk1"/>
          </a:fontRef>
        </p:style>
        <p:txBody>
          <a:bodyPr/>
          <a:lstStyle/>
          <a:p>
            <a:pPr eaLnBrk="0" hangingPunct="0">
              <a:defRPr/>
            </a:pPr>
            <a:r>
              <a:rPr lang="en-US" sz="1600" dirty="0">
                <a:ln w="12700">
                  <a:solidFill>
                    <a:schemeClr val="tx2">
                      <a:satMod val="155000"/>
                    </a:schemeClr>
                  </a:solidFill>
                  <a:prstDash val="solid"/>
                </a:ln>
                <a:solidFill>
                  <a:schemeClr val="tx1"/>
                </a:solidFill>
                <a:latin typeface="Times New Roman" pitchFamily="18" charset="0"/>
                <a:cs typeface="Times New Roman" pitchFamily="18" charset="0"/>
              </a:rPr>
              <a:t>The probability of  getting the required number of successes</a:t>
            </a:r>
          </a:p>
        </p:txBody>
      </p:sp>
      <p:sp>
        <p:nvSpPr>
          <p:cNvPr id="11" name="Oval Callout 10"/>
          <p:cNvSpPr/>
          <p:nvPr/>
        </p:nvSpPr>
        <p:spPr bwMode="auto">
          <a:xfrm>
            <a:off x="6400800" y="2057400"/>
            <a:ext cx="2590800" cy="1447800"/>
          </a:xfrm>
          <a:prstGeom prst="wedgeEllipseCallout">
            <a:avLst>
              <a:gd name="adj1" fmla="val -53052"/>
              <a:gd name="adj2" fmla="val 97189"/>
            </a:avLst>
          </a:prstGeom>
          <a:solidFill>
            <a:schemeClr val="accent1">
              <a:lumMod val="20000"/>
              <a:lumOff val="80000"/>
            </a:schemeClr>
          </a:solidFill>
          <a:ln>
            <a:headEnd type="none" w="med" len="med"/>
            <a:tailEnd type="none" w="med" len="med"/>
          </a:ln>
        </p:spPr>
        <p:style>
          <a:lnRef idx="2">
            <a:schemeClr val="accent1"/>
          </a:lnRef>
          <a:fillRef idx="1">
            <a:schemeClr val="lt1"/>
          </a:fillRef>
          <a:effectRef idx="0">
            <a:schemeClr val="accent1"/>
          </a:effectRef>
          <a:fontRef idx="minor">
            <a:schemeClr val="dk1"/>
          </a:fontRef>
        </p:style>
        <p:txBody>
          <a:bodyPr/>
          <a:lstStyle/>
          <a:p>
            <a:pPr eaLnBrk="0" hangingPunct="0">
              <a:defRPr/>
            </a:pPr>
            <a:r>
              <a:rPr lang="en-US" sz="1600" dirty="0">
                <a:ln w="12700">
                  <a:solidFill>
                    <a:schemeClr val="tx2">
                      <a:satMod val="155000"/>
                    </a:schemeClr>
                  </a:solidFill>
                  <a:prstDash val="solid"/>
                </a:ln>
                <a:solidFill>
                  <a:schemeClr val="tx1"/>
                </a:solidFill>
                <a:latin typeface="Times New Roman" pitchFamily="18" charset="0"/>
                <a:cs typeface="Times New Roman" pitchFamily="18" charset="0"/>
              </a:rPr>
              <a:t>The probability of  getting the required number of failures</a:t>
            </a:r>
          </a:p>
        </p:txBody>
      </p:sp>
      <p:sp>
        <p:nvSpPr>
          <p:cNvPr id="3" name="Slide Number Placeholder 2"/>
          <p:cNvSpPr>
            <a:spLocks noGrp="1"/>
          </p:cNvSpPr>
          <p:nvPr>
            <p:ph type="sldNum" sz="quarter" idx="12"/>
          </p:nvPr>
        </p:nvSpPr>
        <p:spPr/>
        <p:txBody>
          <a:bodyPr/>
          <a:lstStyle/>
          <a:p>
            <a:pPr>
              <a:defRPr/>
            </a:pPr>
            <a:fld id="{6A1B57EA-E72A-4329-81F2-51EDB34B2E37}" type="slidenum">
              <a:rPr lang="en-US" smtClean="0"/>
              <a:pPr>
                <a:defRPr/>
              </a:pPr>
              <a:t>20</a:t>
            </a:fld>
            <a:endParaRPr lang="en-US"/>
          </a:p>
        </p:txBody>
      </p:sp>
    </p:spTree>
  </p:cSld>
  <p:clrMapOvr>
    <a:masterClrMapping/>
  </p:clrMapOvr>
  <p:transition spd="slow">
    <p:wipe dir="r"/>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8"/>
          <p:cNvSpPr/>
          <p:nvPr/>
        </p:nvSpPr>
        <p:spPr bwMode="auto">
          <a:xfrm>
            <a:off x="4876800" y="1981200"/>
            <a:ext cx="4114800" cy="3505200"/>
          </a:xfrm>
          <a:prstGeom prst="rect">
            <a:avLst/>
          </a:prstGeom>
          <a:solidFill>
            <a:schemeClr val="accent1">
              <a:lumMod val="20000"/>
              <a:lumOff val="80000"/>
            </a:schemeClr>
          </a:solidFill>
          <a:ln w="9525" cap="flat" cmpd="sng" algn="ctr">
            <a:solidFill>
              <a:schemeClr val="tx1"/>
            </a:solidFill>
            <a:prstDash val="solid"/>
            <a:round/>
            <a:headEnd type="none" w="med" len="med"/>
            <a:tailEnd type="none" w="med" len="med"/>
          </a:ln>
          <a:effectLst/>
        </p:spPr>
        <p:txBody>
          <a:bodyPr/>
          <a:lstStyle/>
          <a:p>
            <a:pPr eaLnBrk="0" hangingPunct="0">
              <a:defRPr/>
            </a:pPr>
            <a:endParaRPr lang="en-US"/>
          </a:p>
        </p:txBody>
      </p:sp>
      <p:sp>
        <p:nvSpPr>
          <p:cNvPr id="7172" name="Text Placeholder 2"/>
          <p:cNvSpPr>
            <a:spLocks noGrp="1"/>
          </p:cNvSpPr>
          <p:nvPr>
            <p:ph type="body" sz="half" idx="1"/>
          </p:nvPr>
        </p:nvSpPr>
        <p:spPr>
          <a:solidFill>
            <a:schemeClr val="accent5">
              <a:lumMod val="40000"/>
              <a:lumOff val="60000"/>
            </a:schemeClr>
          </a:solidFill>
        </p:spPr>
        <p:txBody>
          <a:bodyPr/>
          <a:lstStyle/>
          <a:p>
            <a:pPr eaLnBrk="1" hangingPunct="1"/>
            <a:r>
              <a:rPr lang="en-US" dirty="0">
                <a:latin typeface="Times New Roman" pitchFamily="18" charset="0"/>
                <a:cs typeface="Times New Roman" pitchFamily="18" charset="0"/>
              </a:rPr>
              <a:t>Say 40% of the class is female.</a:t>
            </a:r>
          </a:p>
          <a:p>
            <a:pPr eaLnBrk="1" hangingPunct="1"/>
            <a:r>
              <a:rPr lang="en-US" dirty="0">
                <a:latin typeface="Times New Roman" pitchFamily="18" charset="0"/>
                <a:cs typeface="Times New Roman" pitchFamily="18" charset="0"/>
              </a:rPr>
              <a:t>What is the probability that 6 of the first 10 students walking in will be female?</a:t>
            </a:r>
          </a:p>
        </p:txBody>
      </p:sp>
      <p:sp>
        <p:nvSpPr>
          <p:cNvPr id="7173" name="Rectangle 2"/>
          <p:cNvSpPr>
            <a:spLocks noGrp="1" noChangeArrowheads="1"/>
          </p:cNvSpPr>
          <p:nvPr>
            <p:ph type="title"/>
          </p:nvPr>
        </p:nvSpPr>
        <p:spPr/>
        <p:txBody>
          <a:bodyPr/>
          <a:lstStyle/>
          <a:p>
            <a:pPr eaLnBrk="1" hangingPunct="1"/>
            <a:r>
              <a:rPr lang="en-US" dirty="0">
                <a:solidFill>
                  <a:srgbClr val="C00000"/>
                </a:solidFill>
                <a:effectLst>
                  <a:outerShdw blurRad="38100" dist="38100" dir="2700000" algn="tl">
                    <a:srgbClr val="000000">
                      <a:alpha val="43137"/>
                    </a:srgbClr>
                  </a:outerShdw>
                </a:effectLst>
                <a:latin typeface="Times New Roman" pitchFamily="18" charset="0"/>
                <a:cs typeface="Times New Roman" pitchFamily="18" charset="0"/>
              </a:rPr>
              <a:t>Example:</a:t>
            </a:r>
          </a:p>
        </p:txBody>
      </p:sp>
      <p:graphicFrame>
        <p:nvGraphicFramePr>
          <p:cNvPr id="7170" name="Object 2"/>
          <p:cNvGraphicFramePr>
            <a:graphicFrameLocks noChangeAspect="1"/>
          </p:cNvGraphicFramePr>
          <p:nvPr>
            <p:extLst>
              <p:ext uri="{D42A27DB-BD31-4B8C-83A1-F6EECF244321}">
                <p14:modId xmlns:p14="http://schemas.microsoft.com/office/powerpoint/2010/main" val="827393495"/>
              </p:ext>
            </p:extLst>
          </p:nvPr>
        </p:nvGraphicFramePr>
        <p:xfrm>
          <a:off x="4991100" y="2628900"/>
          <a:ext cx="3968750" cy="2286000"/>
        </p:xfrm>
        <a:graphic>
          <a:graphicData uri="http://schemas.openxmlformats.org/presentationml/2006/ole">
            <mc:AlternateContent xmlns:mc="http://schemas.openxmlformats.org/markup-compatibility/2006">
              <mc:Choice xmlns:v="urn:schemas-microsoft-com:vml" Requires="v">
                <p:oleObj name="Equation" r:id="rId2" imgW="1587240" imgH="914400" progId="Equation.3">
                  <p:embed/>
                </p:oleObj>
              </mc:Choice>
              <mc:Fallback>
                <p:oleObj name="Equation" r:id="rId2" imgW="1587240" imgH="914400" progId="Equation.3">
                  <p:embed/>
                  <p:pic>
                    <p:nvPicPr>
                      <p:cNvPr id="7170" name="Object 2"/>
                      <p:cNvPicPr>
                        <a:picLocks noChangeAspect="1" noChangeArrowheads="1"/>
                      </p:cNvPicPr>
                      <p:nvPr/>
                    </p:nvPicPr>
                    <p:blipFill>
                      <a:blip r:embed="rId3"/>
                      <a:srcRect/>
                      <a:stretch>
                        <a:fillRect/>
                      </a:stretch>
                    </p:blipFill>
                    <p:spPr bwMode="auto">
                      <a:xfrm>
                        <a:off x="4991100" y="2628900"/>
                        <a:ext cx="3968750" cy="22860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3" name="Slide Number Placeholder 2"/>
          <p:cNvSpPr>
            <a:spLocks noGrp="1"/>
          </p:cNvSpPr>
          <p:nvPr>
            <p:ph type="sldNum" sz="quarter" idx="12"/>
          </p:nvPr>
        </p:nvSpPr>
        <p:spPr/>
        <p:txBody>
          <a:bodyPr/>
          <a:lstStyle/>
          <a:p>
            <a:pPr>
              <a:defRPr/>
            </a:pPr>
            <a:fld id="{6A1B57EA-E72A-4329-81F2-51EDB34B2E37}" type="slidenum">
              <a:rPr lang="en-US" smtClean="0"/>
              <a:pPr>
                <a:defRPr/>
              </a:pPr>
              <a:t>21</a:t>
            </a:fld>
            <a:endParaRPr lang="en-US"/>
          </a:p>
        </p:txBody>
      </p:sp>
    </p:spTree>
  </p:cSld>
  <p:clrMapOvr>
    <a:masterClrMapping/>
  </p:clrMapOvr>
  <p:transition spd="slow">
    <p:wipe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7170"/>
                                        </p:tgtEl>
                                        <p:attrNameLst>
                                          <p:attrName>style.visibility</p:attrName>
                                        </p:attrNameLst>
                                      </p:cBhvr>
                                      <p:to>
                                        <p:strVal val="visible"/>
                                      </p:to>
                                    </p:set>
                                    <p:anim calcmode="lin" valueType="num">
                                      <p:cBhvr additive="base">
                                        <p:cTn id="7" dur="500" fill="hold"/>
                                        <p:tgtEl>
                                          <p:spTgt spid="7170"/>
                                        </p:tgtEl>
                                        <p:attrNameLst>
                                          <p:attrName>ppt_x</p:attrName>
                                        </p:attrNameLst>
                                      </p:cBhvr>
                                      <p:tavLst>
                                        <p:tav tm="0">
                                          <p:val>
                                            <p:strVal val="#ppt_x"/>
                                          </p:val>
                                        </p:tav>
                                        <p:tav tm="100000">
                                          <p:val>
                                            <p:strVal val="#ppt_x"/>
                                          </p:val>
                                        </p:tav>
                                      </p:tavLst>
                                    </p:anim>
                                    <p:anim calcmode="lin" valueType="num">
                                      <p:cBhvr additive="base">
                                        <p:cTn id="8" dur="500" fill="hold"/>
                                        <p:tgtEl>
                                          <p:spTgt spid="7170"/>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31867" y="76204"/>
            <a:ext cx="7158037" cy="1412875"/>
          </a:xfrm>
        </p:spPr>
        <p:txBody>
          <a:bodyPr/>
          <a:lstStyle/>
          <a:p>
            <a:r>
              <a:rPr lang="en-GB" sz="4500" dirty="0">
                <a:solidFill>
                  <a:srgbClr val="C00000"/>
                </a:solidFill>
                <a:effectLst>
                  <a:outerShdw blurRad="38100" dist="38100" dir="2700000" algn="tl">
                    <a:srgbClr val="000000">
                      <a:alpha val="43137"/>
                    </a:srgbClr>
                  </a:outerShdw>
                </a:effectLst>
                <a:latin typeface="Times New Roman" pitchFamily="18" charset="0"/>
                <a:cs typeface="Times New Roman" pitchFamily="18" charset="0"/>
              </a:rPr>
              <a:t>Example 3:</a:t>
            </a:r>
          </a:p>
        </p:txBody>
      </p:sp>
      <p:sp>
        <p:nvSpPr>
          <p:cNvPr id="3" name="Content Placeholder 2"/>
          <p:cNvSpPr>
            <a:spLocks noGrp="1"/>
          </p:cNvSpPr>
          <p:nvPr>
            <p:ph idx="1"/>
          </p:nvPr>
        </p:nvSpPr>
        <p:spPr>
          <a:xfrm>
            <a:off x="762004" y="1676400"/>
            <a:ext cx="7661275" cy="4114800"/>
          </a:xfrm>
        </p:spPr>
        <p:txBody>
          <a:bodyPr/>
          <a:lstStyle/>
          <a:p>
            <a:pPr marL="0" indent="0" algn="just">
              <a:buNone/>
            </a:pPr>
            <a:r>
              <a:rPr lang="en-IN" dirty="0">
                <a:latin typeface="Times New Roman" pitchFamily="18" charset="0"/>
                <a:cs typeface="Times New Roman" pitchFamily="18" charset="0"/>
              </a:rPr>
              <a:t>In the manufacture of no deposit- no-return bottles, 5 percent of the bottles are defective. What is the probability in a sample of 7 bottles that there are,</a:t>
            </a:r>
          </a:p>
          <a:p>
            <a:pPr marL="514350" indent="-514350" algn="just">
              <a:buClrTx/>
              <a:buFont typeface="+mj-lt"/>
              <a:buAutoNum type="alphaLcParenR"/>
            </a:pPr>
            <a:r>
              <a:rPr lang="en-GB" dirty="0">
                <a:latin typeface="Times New Roman" pitchFamily="18" charset="0"/>
                <a:cs typeface="Times New Roman" pitchFamily="18" charset="0"/>
              </a:rPr>
              <a:t>No defectives.</a:t>
            </a:r>
          </a:p>
          <a:p>
            <a:pPr marL="514350" indent="-514350" algn="just">
              <a:buClrTx/>
              <a:buFont typeface="+mj-lt"/>
              <a:buAutoNum type="alphaLcParenR"/>
            </a:pPr>
            <a:r>
              <a:rPr lang="en-GB" dirty="0">
                <a:latin typeface="Times New Roman" pitchFamily="18" charset="0"/>
                <a:cs typeface="Times New Roman" pitchFamily="18" charset="0"/>
              </a:rPr>
              <a:t>3 defectives.</a:t>
            </a:r>
          </a:p>
          <a:p>
            <a:pPr marL="514350" indent="-514350" algn="just">
              <a:buClrTx/>
              <a:buFont typeface="+mj-lt"/>
              <a:buAutoNum type="alphaLcParenR"/>
            </a:pPr>
            <a:r>
              <a:rPr lang="en-GB" dirty="0">
                <a:latin typeface="Times New Roman" pitchFamily="18" charset="0"/>
                <a:cs typeface="Times New Roman" pitchFamily="18" charset="0"/>
              </a:rPr>
              <a:t>More than 3 defectives.</a:t>
            </a:r>
          </a:p>
        </p:txBody>
      </p:sp>
      <p:sp>
        <p:nvSpPr>
          <p:cNvPr id="6" name="Slide Number Placeholder 5"/>
          <p:cNvSpPr>
            <a:spLocks noGrp="1"/>
          </p:cNvSpPr>
          <p:nvPr>
            <p:ph type="sldNum" sz="quarter" idx="12"/>
          </p:nvPr>
        </p:nvSpPr>
        <p:spPr/>
        <p:txBody>
          <a:bodyPr/>
          <a:lstStyle/>
          <a:p>
            <a:pPr>
              <a:defRPr/>
            </a:pPr>
            <a:fld id="{645ED874-4033-4CEE-AE69-D7CB222F48E6}" type="slidenum">
              <a:rPr lang="en-US" smtClean="0"/>
              <a:pPr>
                <a:defRPr/>
              </a:pPr>
              <a:t>22</a:t>
            </a:fld>
            <a:endParaRPr lang="en-US"/>
          </a:p>
        </p:txBody>
      </p:sp>
      <p:sp>
        <p:nvSpPr>
          <p:cNvPr id="4" name="Date Placeholder 3">
            <a:extLst>
              <a:ext uri="{FF2B5EF4-FFF2-40B4-BE49-F238E27FC236}">
                <a16:creationId xmlns:a16="http://schemas.microsoft.com/office/drawing/2014/main" id="{31ED6107-2DC9-4992-B767-637D13AA6BB6}"/>
              </a:ext>
            </a:extLst>
          </p:cNvPr>
          <p:cNvSpPr>
            <a:spLocks noGrp="1"/>
          </p:cNvSpPr>
          <p:nvPr>
            <p:ph type="dt" sz="half" idx="10"/>
          </p:nvPr>
        </p:nvSpPr>
        <p:spPr/>
        <p:txBody>
          <a:bodyPr/>
          <a:lstStyle/>
          <a:p>
            <a:pPr>
              <a:defRPr/>
            </a:pPr>
            <a:fld id="{B6F2AD38-D8BE-4BB7-BB5D-2984C81D5B9C}" type="datetime3">
              <a:rPr lang="en-US" smtClean="0"/>
              <a:t>16 December 2025</a:t>
            </a:fld>
            <a:endParaRPr lang="en-US"/>
          </a:p>
        </p:txBody>
      </p:sp>
      <p:sp>
        <p:nvSpPr>
          <p:cNvPr id="5" name="Footer Placeholder 4">
            <a:extLst>
              <a:ext uri="{FF2B5EF4-FFF2-40B4-BE49-F238E27FC236}">
                <a16:creationId xmlns:a16="http://schemas.microsoft.com/office/drawing/2014/main" id="{C51AA445-65DA-4696-9A79-E79F6FF1AB59}"/>
              </a:ext>
            </a:extLst>
          </p:cNvPr>
          <p:cNvSpPr>
            <a:spLocks noGrp="1"/>
          </p:cNvSpPr>
          <p:nvPr>
            <p:ph type="ftr" sz="quarter" idx="11"/>
          </p:nvPr>
        </p:nvSpPr>
        <p:spPr/>
        <p:txBody>
          <a:bodyPr/>
          <a:lstStyle/>
          <a:p>
            <a:pPr>
              <a:defRPr/>
            </a:pPr>
            <a:r>
              <a:rPr lang="en-US"/>
              <a:t>T. Mayooran</a:t>
            </a:r>
          </a:p>
        </p:txBody>
      </p:sp>
    </p:spTree>
    <p:extLst>
      <p:ext uri="{BB962C8B-B14F-4D97-AF65-F5344CB8AC3E}">
        <p14:creationId xmlns:p14="http://schemas.microsoft.com/office/powerpoint/2010/main" val="1963562924"/>
      </p:ext>
    </p:extLst>
  </p:cSld>
  <p:clrMapOvr>
    <a:masterClrMapping/>
  </p:clrMapOvr>
  <p:transition spd="slow">
    <p:wipe dir="r"/>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solidFill>
                  <a:srgbClr val="C00000"/>
                </a:solidFill>
                <a:effectLst>
                  <a:outerShdw blurRad="38100" dist="38100" dir="2700000" algn="tl">
                    <a:srgbClr val="000000">
                      <a:alpha val="43137"/>
                    </a:srgbClr>
                  </a:outerShdw>
                </a:effectLst>
                <a:latin typeface="Times New Roman" pitchFamily="18" charset="0"/>
                <a:cs typeface="Times New Roman" pitchFamily="18" charset="0"/>
              </a:rPr>
              <a:t>Examples 4:</a:t>
            </a:r>
            <a:endParaRPr lang="en-GB" dirty="0"/>
          </a:p>
        </p:txBody>
      </p:sp>
      <p:sp>
        <p:nvSpPr>
          <p:cNvPr id="6" name="Content Placeholder 2"/>
          <p:cNvSpPr>
            <a:spLocks noGrp="1"/>
          </p:cNvSpPr>
          <p:nvPr>
            <p:ph idx="1"/>
          </p:nvPr>
        </p:nvSpPr>
        <p:spPr>
          <a:xfrm>
            <a:off x="838204" y="1676400"/>
            <a:ext cx="7661275" cy="4114800"/>
          </a:xfrm>
        </p:spPr>
        <p:txBody>
          <a:bodyPr/>
          <a:lstStyle/>
          <a:p>
            <a:pPr marL="0" indent="0" algn="just">
              <a:lnSpc>
                <a:spcPct val="90000"/>
              </a:lnSpc>
              <a:buNone/>
            </a:pPr>
            <a:r>
              <a:rPr lang="en-US" sz="2800" dirty="0">
                <a:latin typeface="Times New Roman" pitchFamily="18" charset="0"/>
              </a:rPr>
              <a:t>You are conducting a case-control study of smoking and lung cancer. If the probability of being a smoker among lung cancer cases is 0.6, what’s the probability that in a group of 8 cases you have:</a:t>
            </a:r>
          </a:p>
          <a:p>
            <a:pPr marL="357188" indent="-357188">
              <a:lnSpc>
                <a:spcPct val="90000"/>
              </a:lnSpc>
              <a:buClrTx/>
              <a:buFont typeface="+mj-lt"/>
              <a:buAutoNum type="alphaLcParenR"/>
            </a:pPr>
            <a:r>
              <a:rPr lang="en-US" sz="2800" dirty="0">
                <a:latin typeface="Times New Roman" pitchFamily="18" charset="0"/>
              </a:rPr>
              <a:t>Less than 2 smokers?  </a:t>
            </a:r>
          </a:p>
          <a:p>
            <a:pPr marL="0" indent="0">
              <a:lnSpc>
                <a:spcPct val="90000"/>
              </a:lnSpc>
              <a:buClrTx/>
              <a:buNone/>
            </a:pPr>
            <a:endParaRPr lang="en-US" sz="2800" dirty="0">
              <a:latin typeface="Times New Roman" pitchFamily="18" charset="0"/>
            </a:endParaRPr>
          </a:p>
          <a:p>
            <a:pPr marL="357188" indent="-357188">
              <a:lnSpc>
                <a:spcPct val="90000"/>
              </a:lnSpc>
              <a:buClrTx/>
              <a:buFont typeface="+mj-lt"/>
              <a:buAutoNum type="alphaLcParenR"/>
            </a:pPr>
            <a:r>
              <a:rPr lang="en-US" sz="2800" dirty="0">
                <a:latin typeface="Times New Roman" pitchFamily="18" charset="0"/>
              </a:rPr>
              <a:t>More than 5?</a:t>
            </a:r>
          </a:p>
          <a:p>
            <a:pPr marL="0" indent="0">
              <a:buNone/>
            </a:pPr>
            <a:endParaRPr lang="en-GB" sz="2800" dirty="0"/>
          </a:p>
        </p:txBody>
      </p:sp>
      <p:sp>
        <p:nvSpPr>
          <p:cNvPr id="4" name="Slide Number Placeholder 3"/>
          <p:cNvSpPr>
            <a:spLocks noGrp="1"/>
          </p:cNvSpPr>
          <p:nvPr>
            <p:ph type="sldNum" sz="quarter" idx="12"/>
          </p:nvPr>
        </p:nvSpPr>
        <p:spPr/>
        <p:txBody>
          <a:bodyPr/>
          <a:lstStyle/>
          <a:p>
            <a:pPr>
              <a:defRPr/>
            </a:pPr>
            <a:fld id="{645ED874-4033-4CEE-AE69-D7CB222F48E6}" type="slidenum">
              <a:rPr lang="en-US" smtClean="0"/>
              <a:pPr>
                <a:defRPr/>
              </a:pPr>
              <a:t>23</a:t>
            </a:fld>
            <a:endParaRPr lang="en-US"/>
          </a:p>
        </p:txBody>
      </p:sp>
      <p:sp>
        <p:nvSpPr>
          <p:cNvPr id="3" name="Date Placeholder 2">
            <a:extLst>
              <a:ext uri="{FF2B5EF4-FFF2-40B4-BE49-F238E27FC236}">
                <a16:creationId xmlns:a16="http://schemas.microsoft.com/office/drawing/2014/main" id="{73CFD2C4-671D-49E2-B270-CB7FED7E85A8}"/>
              </a:ext>
            </a:extLst>
          </p:cNvPr>
          <p:cNvSpPr>
            <a:spLocks noGrp="1"/>
          </p:cNvSpPr>
          <p:nvPr>
            <p:ph type="dt" sz="half" idx="10"/>
          </p:nvPr>
        </p:nvSpPr>
        <p:spPr/>
        <p:txBody>
          <a:bodyPr/>
          <a:lstStyle/>
          <a:p>
            <a:pPr>
              <a:defRPr/>
            </a:pPr>
            <a:fld id="{0EB6E69A-E8EE-4A35-B1E2-0DA7D146084C}" type="datetime3">
              <a:rPr lang="en-US" smtClean="0"/>
              <a:t>16 December 2025</a:t>
            </a:fld>
            <a:endParaRPr lang="en-US"/>
          </a:p>
        </p:txBody>
      </p:sp>
      <p:sp>
        <p:nvSpPr>
          <p:cNvPr id="5" name="Footer Placeholder 4">
            <a:extLst>
              <a:ext uri="{FF2B5EF4-FFF2-40B4-BE49-F238E27FC236}">
                <a16:creationId xmlns:a16="http://schemas.microsoft.com/office/drawing/2014/main" id="{DD2F9325-FFCA-400E-9DD7-89C196E5AA83}"/>
              </a:ext>
            </a:extLst>
          </p:cNvPr>
          <p:cNvSpPr>
            <a:spLocks noGrp="1"/>
          </p:cNvSpPr>
          <p:nvPr>
            <p:ph type="ftr" sz="quarter" idx="11"/>
          </p:nvPr>
        </p:nvSpPr>
        <p:spPr/>
        <p:txBody>
          <a:bodyPr/>
          <a:lstStyle/>
          <a:p>
            <a:pPr>
              <a:defRPr/>
            </a:pPr>
            <a:r>
              <a:rPr lang="en-US"/>
              <a:t>T. Mayooran</a:t>
            </a:r>
          </a:p>
        </p:txBody>
      </p:sp>
    </p:spTree>
    <p:extLst>
      <p:ext uri="{BB962C8B-B14F-4D97-AF65-F5344CB8AC3E}">
        <p14:creationId xmlns:p14="http://schemas.microsoft.com/office/powerpoint/2010/main" val="1901275128"/>
      </p:ext>
    </p:extLst>
  </p:cSld>
  <p:clrMapOvr>
    <a:masterClrMapping/>
  </p:clrMapOvr>
  <p:transition spd="slow">
    <p:wipe dir="r"/>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solidFill>
                  <a:srgbClr val="C00000"/>
                </a:solidFill>
                <a:effectLst>
                  <a:outerShdw blurRad="38100" dist="38100" dir="2700000" algn="tl">
                    <a:srgbClr val="000000">
                      <a:alpha val="43137"/>
                    </a:srgbClr>
                  </a:outerShdw>
                </a:effectLst>
                <a:latin typeface="Times New Roman" pitchFamily="18" charset="0"/>
                <a:cs typeface="Times New Roman" pitchFamily="18" charset="0"/>
              </a:rPr>
              <a:t>Exercises:</a:t>
            </a:r>
            <a:endParaRPr lang="en-GB" dirty="0"/>
          </a:p>
        </p:txBody>
      </p:sp>
      <p:sp>
        <p:nvSpPr>
          <p:cNvPr id="4" name="Slide Number Placeholder 3"/>
          <p:cNvSpPr>
            <a:spLocks noGrp="1"/>
          </p:cNvSpPr>
          <p:nvPr>
            <p:ph type="sldNum" sz="quarter" idx="12"/>
          </p:nvPr>
        </p:nvSpPr>
        <p:spPr/>
        <p:txBody>
          <a:bodyPr/>
          <a:lstStyle/>
          <a:p>
            <a:pPr>
              <a:defRPr/>
            </a:pPr>
            <a:fld id="{645ED874-4033-4CEE-AE69-D7CB222F48E6}" type="slidenum">
              <a:rPr lang="en-US" smtClean="0"/>
              <a:pPr>
                <a:defRPr/>
              </a:pPr>
              <a:t>24</a:t>
            </a:fld>
            <a:endParaRPr lang="en-US"/>
          </a:p>
        </p:txBody>
      </p:sp>
      <p:sp>
        <p:nvSpPr>
          <p:cNvPr id="3" name="Date Placeholder 2">
            <a:extLst>
              <a:ext uri="{FF2B5EF4-FFF2-40B4-BE49-F238E27FC236}">
                <a16:creationId xmlns:a16="http://schemas.microsoft.com/office/drawing/2014/main" id="{E654F5EA-7947-4496-80C2-2AEB4DE06E1E}"/>
              </a:ext>
            </a:extLst>
          </p:cNvPr>
          <p:cNvSpPr>
            <a:spLocks noGrp="1"/>
          </p:cNvSpPr>
          <p:nvPr>
            <p:ph type="dt" sz="half" idx="10"/>
          </p:nvPr>
        </p:nvSpPr>
        <p:spPr/>
        <p:txBody>
          <a:bodyPr/>
          <a:lstStyle/>
          <a:p>
            <a:pPr>
              <a:defRPr/>
            </a:pPr>
            <a:fld id="{E9EF4D00-61EE-4569-A1E2-EA8BC7728858}" type="datetime3">
              <a:rPr lang="en-US" smtClean="0"/>
              <a:t>16 December 2025</a:t>
            </a:fld>
            <a:endParaRPr lang="en-US"/>
          </a:p>
        </p:txBody>
      </p:sp>
      <p:sp>
        <p:nvSpPr>
          <p:cNvPr id="5" name="Footer Placeholder 4">
            <a:extLst>
              <a:ext uri="{FF2B5EF4-FFF2-40B4-BE49-F238E27FC236}">
                <a16:creationId xmlns:a16="http://schemas.microsoft.com/office/drawing/2014/main" id="{67CFE842-971F-4595-97B4-080D7C45F165}"/>
              </a:ext>
            </a:extLst>
          </p:cNvPr>
          <p:cNvSpPr>
            <a:spLocks noGrp="1"/>
          </p:cNvSpPr>
          <p:nvPr>
            <p:ph type="ftr" sz="quarter" idx="11"/>
          </p:nvPr>
        </p:nvSpPr>
        <p:spPr/>
        <p:txBody>
          <a:bodyPr/>
          <a:lstStyle/>
          <a:p>
            <a:pPr>
              <a:defRPr/>
            </a:pPr>
            <a:r>
              <a:rPr lang="en-US"/>
              <a:t>T. Mayooran</a:t>
            </a:r>
          </a:p>
        </p:txBody>
      </p:sp>
      <p:sp>
        <p:nvSpPr>
          <p:cNvPr id="7" name="TextBox 6">
            <a:extLst>
              <a:ext uri="{FF2B5EF4-FFF2-40B4-BE49-F238E27FC236}">
                <a16:creationId xmlns:a16="http://schemas.microsoft.com/office/drawing/2014/main" id="{DB03B745-C6DC-5D15-6834-8DE6AD873403}"/>
              </a:ext>
            </a:extLst>
          </p:cNvPr>
          <p:cNvSpPr txBox="1"/>
          <p:nvPr/>
        </p:nvSpPr>
        <p:spPr>
          <a:xfrm>
            <a:off x="838200" y="2133600"/>
            <a:ext cx="7696200" cy="2677656"/>
          </a:xfrm>
          <a:prstGeom prst="rect">
            <a:avLst/>
          </a:prstGeom>
          <a:noFill/>
        </p:spPr>
        <p:txBody>
          <a:bodyPr wrap="square" rtlCol="0">
            <a:spAutoFit/>
          </a:bodyPr>
          <a:lstStyle/>
          <a:p>
            <a:pPr algn="just"/>
            <a:r>
              <a:rPr lang="en-US" sz="2400" dirty="0">
                <a:latin typeface="Corbel" panose="020B0503020204020204" pitchFamily="34" charset="0"/>
              </a:rPr>
              <a:t>Please visit the course page for Week 2 and complete the exercises listed in the "Practice" section under the title </a:t>
            </a:r>
            <a:r>
              <a:rPr lang="en-US" sz="2400" b="1" dirty="0">
                <a:latin typeface="Corbel" panose="020B0503020204020204" pitchFamily="34" charset="0"/>
              </a:rPr>
              <a:t>"Practice Problems.“</a:t>
            </a:r>
          </a:p>
          <a:p>
            <a:pPr algn="just"/>
            <a:endParaRPr lang="en-US" sz="2400" dirty="0">
              <a:latin typeface="Corbel" panose="020B0503020204020204" pitchFamily="34" charset="0"/>
            </a:endParaRPr>
          </a:p>
          <a:p>
            <a:pPr algn="just"/>
            <a:r>
              <a:rPr lang="en-US" sz="2400" dirty="0">
                <a:latin typeface="Corbel" panose="020B0503020204020204" pitchFamily="34" charset="0"/>
              </a:rPr>
              <a:t>You can find them here: </a:t>
            </a:r>
          </a:p>
          <a:p>
            <a:pPr algn="just"/>
            <a:r>
              <a:rPr lang="en-US" sz="2400" dirty="0">
                <a:latin typeface="Corbel" panose="020B0503020204020204" pitchFamily="34" charset="0"/>
                <a:hlinkClick r:id="rId2"/>
              </a:rPr>
              <a:t>https://mayooran1987.github.io/MC3020_E24/weeks/week-2.html</a:t>
            </a:r>
            <a:endParaRPr lang="en-US" sz="2400" dirty="0">
              <a:latin typeface="Corbel" panose="020B0503020204020204" pitchFamily="34" charset="0"/>
            </a:endParaRPr>
          </a:p>
        </p:txBody>
      </p:sp>
    </p:spTree>
    <p:extLst>
      <p:ext uri="{BB962C8B-B14F-4D97-AF65-F5344CB8AC3E}">
        <p14:creationId xmlns:p14="http://schemas.microsoft.com/office/powerpoint/2010/main" val="1031238138"/>
      </p:ext>
    </p:extLst>
  </p:cSld>
  <p:clrMapOvr>
    <a:masterClrMapping/>
  </p:clrMapOvr>
  <p:transition spd="slow">
    <p:wipe dir="r"/>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F1CB3ADA-A21D-4025-B305-AD9C28895047}"/>
              </a:ext>
            </a:extLst>
          </p:cNvPr>
          <p:cNvSpPr>
            <a:spLocks noGrp="1"/>
          </p:cNvSpPr>
          <p:nvPr>
            <p:ph type="dt" sz="half" idx="10"/>
          </p:nvPr>
        </p:nvSpPr>
        <p:spPr/>
        <p:txBody>
          <a:bodyPr/>
          <a:lstStyle/>
          <a:p>
            <a:pPr>
              <a:defRPr/>
            </a:pPr>
            <a:fld id="{E84513CC-386E-465A-BA6A-30F6981BE159}" type="datetime3">
              <a:rPr lang="en-US" smtClean="0"/>
              <a:t>16 December 2025</a:t>
            </a:fld>
            <a:endParaRPr lang="en-US"/>
          </a:p>
        </p:txBody>
      </p:sp>
      <p:sp>
        <p:nvSpPr>
          <p:cNvPr id="5" name="Footer Placeholder 4">
            <a:extLst>
              <a:ext uri="{FF2B5EF4-FFF2-40B4-BE49-F238E27FC236}">
                <a16:creationId xmlns:a16="http://schemas.microsoft.com/office/drawing/2014/main" id="{D447FDB3-7940-4E96-A96E-03404F918BC0}"/>
              </a:ext>
            </a:extLst>
          </p:cNvPr>
          <p:cNvSpPr>
            <a:spLocks noGrp="1"/>
          </p:cNvSpPr>
          <p:nvPr>
            <p:ph type="ftr" sz="quarter" idx="11"/>
          </p:nvPr>
        </p:nvSpPr>
        <p:spPr/>
        <p:txBody>
          <a:bodyPr/>
          <a:lstStyle/>
          <a:p>
            <a:pPr>
              <a:defRPr/>
            </a:pPr>
            <a:r>
              <a:rPr lang="en-US"/>
              <a:t>T. Mayooran</a:t>
            </a:r>
          </a:p>
        </p:txBody>
      </p:sp>
      <p:sp>
        <p:nvSpPr>
          <p:cNvPr id="6" name="Slide Number Placeholder 5">
            <a:extLst>
              <a:ext uri="{FF2B5EF4-FFF2-40B4-BE49-F238E27FC236}">
                <a16:creationId xmlns:a16="http://schemas.microsoft.com/office/drawing/2014/main" id="{7D7D8D37-4978-4DCE-99D1-7729AED548BF}"/>
              </a:ext>
            </a:extLst>
          </p:cNvPr>
          <p:cNvSpPr>
            <a:spLocks noGrp="1"/>
          </p:cNvSpPr>
          <p:nvPr>
            <p:ph type="sldNum" sz="quarter" idx="12"/>
          </p:nvPr>
        </p:nvSpPr>
        <p:spPr/>
        <p:txBody>
          <a:bodyPr/>
          <a:lstStyle/>
          <a:p>
            <a:pPr>
              <a:defRPr/>
            </a:pPr>
            <a:fld id="{645ED874-4033-4CEE-AE69-D7CB222F48E6}" type="slidenum">
              <a:rPr lang="en-US" smtClean="0"/>
              <a:pPr>
                <a:defRPr/>
              </a:pPr>
              <a:t>25</a:t>
            </a:fld>
            <a:endParaRPr lang="en-US"/>
          </a:p>
        </p:txBody>
      </p:sp>
      <p:sp>
        <p:nvSpPr>
          <p:cNvPr id="7" name="Title 1">
            <a:extLst>
              <a:ext uri="{FF2B5EF4-FFF2-40B4-BE49-F238E27FC236}">
                <a16:creationId xmlns:a16="http://schemas.microsoft.com/office/drawing/2014/main" id="{2A454F8C-B2A7-402B-926C-D897A92C53E1}"/>
              </a:ext>
            </a:extLst>
          </p:cNvPr>
          <p:cNvSpPr>
            <a:spLocks noGrp="1"/>
          </p:cNvSpPr>
          <p:nvPr>
            <p:ph type="title"/>
          </p:nvPr>
        </p:nvSpPr>
        <p:spPr>
          <a:xfrm>
            <a:off x="1723736" y="2438402"/>
            <a:ext cx="5943600" cy="1412875"/>
          </a:xfrm>
        </p:spPr>
        <p:txBody>
          <a:bodyPr/>
          <a:lstStyle/>
          <a:p>
            <a:pPr algn="ctr"/>
            <a:r>
              <a:rPr lang="en-GB" sz="4800" dirty="0">
                <a:solidFill>
                  <a:srgbClr val="C0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Poisson Distribution</a:t>
            </a:r>
          </a:p>
        </p:txBody>
      </p:sp>
    </p:spTree>
    <p:extLst>
      <p:ext uri="{BB962C8B-B14F-4D97-AF65-F5344CB8AC3E}">
        <p14:creationId xmlns:p14="http://schemas.microsoft.com/office/powerpoint/2010/main" val="1154767618"/>
      </p:ext>
    </p:extLst>
  </p:cSld>
  <p:clrMapOvr>
    <a:masterClrMapping/>
  </p:clrMapOvr>
  <p:transition spd="slow">
    <p:wipe dir="r"/>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85804" y="1524000"/>
                <a:ext cx="7661275" cy="2133600"/>
              </a:xfrm>
            </p:spPr>
            <p:txBody>
              <a:bodyPr/>
              <a:lstStyle/>
              <a:p>
                <a:pPr marL="0" indent="0" algn="just">
                  <a:buNone/>
                </a:pPr>
                <a14:m>
                  <m:oMath xmlns:m="http://schemas.openxmlformats.org/officeDocument/2006/math">
                    <m:r>
                      <a:rPr lang="en-IN" i="1" dirty="0" smtClean="0">
                        <a:latin typeface="Cambria Math"/>
                        <a:cs typeface="Times New Roman" pitchFamily="18" charset="0"/>
                      </a:rPr>
                      <m:t>𝑋</m:t>
                    </m:r>
                  </m:oMath>
                </a14:m>
                <a:r>
                  <a:rPr lang="en-IN" dirty="0">
                    <a:latin typeface="Times New Roman" pitchFamily="18" charset="0"/>
                    <a:cs typeface="Times New Roman" pitchFamily="18" charset="0"/>
                  </a:rPr>
                  <a:t> is the </a:t>
                </a:r>
                <a:r>
                  <a:rPr lang="en-IN" dirty="0">
                    <a:solidFill>
                      <a:srgbClr val="003399"/>
                    </a:solidFill>
                    <a:latin typeface="Times New Roman" pitchFamily="18" charset="0"/>
                    <a:cs typeface="Times New Roman" pitchFamily="18" charset="0"/>
                  </a:rPr>
                  <a:t>number of occurrences in a unit interval or space when the rate of occurrence is a fixed value </a:t>
                </a:r>
                <a14:m>
                  <m:oMath xmlns:m="http://schemas.openxmlformats.org/officeDocument/2006/math">
                    <m:r>
                      <a:rPr lang="en-IN" i="1" smtClean="0">
                        <a:solidFill>
                          <a:srgbClr val="003399"/>
                        </a:solidFill>
                        <a:latin typeface="Cambria Math"/>
                        <a:ea typeface="Cambria Math"/>
                        <a:cs typeface="Times New Roman" pitchFamily="18" charset="0"/>
                      </a:rPr>
                      <m:t>𝜆</m:t>
                    </m:r>
                    <m:r>
                      <a:rPr lang="en-IN" i="1" smtClean="0">
                        <a:solidFill>
                          <a:srgbClr val="003399"/>
                        </a:solidFill>
                        <a:latin typeface="Cambria Math"/>
                        <a:ea typeface="Cambria Math"/>
                        <a:cs typeface="Times New Roman" pitchFamily="18" charset="0"/>
                      </a:rPr>
                      <m:t>≥0</m:t>
                    </m:r>
                  </m:oMath>
                </a14:m>
                <a:r>
                  <a:rPr lang="en-IN" dirty="0">
                    <a:latin typeface="Times New Roman" pitchFamily="18" charset="0"/>
                    <a:cs typeface="Times New Roman" pitchFamily="18" charset="0"/>
                  </a:rPr>
                  <a:t> . Then the distribution of </a:t>
                </a:r>
                <a14:m>
                  <m:oMath xmlns:m="http://schemas.openxmlformats.org/officeDocument/2006/math">
                    <m:r>
                      <a:rPr lang="en-IN" i="1" dirty="0" smtClean="0">
                        <a:latin typeface="Cambria Math"/>
                        <a:cs typeface="Times New Roman" pitchFamily="18" charset="0"/>
                      </a:rPr>
                      <m:t>𝑋</m:t>
                    </m:r>
                  </m:oMath>
                </a14:m>
                <a:r>
                  <a:rPr lang="en-IN" dirty="0">
                    <a:latin typeface="Times New Roman" pitchFamily="18" charset="0"/>
                    <a:cs typeface="Times New Roman" pitchFamily="18" charset="0"/>
                  </a:rPr>
                  <a:t>, with the probability mass function</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85804" y="1524000"/>
                <a:ext cx="7661275" cy="2133600"/>
              </a:xfrm>
              <a:blipFill>
                <a:blip r:embed="rId4"/>
                <a:stretch>
                  <a:fillRect l="-2070" t="-4000" r="-2070" b="-4857"/>
                </a:stretch>
              </a:blipFill>
            </p:spPr>
            <p:txBody>
              <a:bodyPr/>
              <a:lstStyle/>
              <a:p>
                <a:r>
                  <a:rPr lang="en-NZ">
                    <a:noFill/>
                  </a:rPr>
                  <a:t> </a:t>
                </a:r>
              </a:p>
            </p:txBody>
          </p:sp>
        </mc:Fallback>
      </mc:AlternateContent>
      <p:sp>
        <p:nvSpPr>
          <p:cNvPr id="2" name="Title 1"/>
          <p:cNvSpPr>
            <a:spLocks noGrp="1"/>
          </p:cNvSpPr>
          <p:nvPr>
            <p:ph type="title"/>
          </p:nvPr>
        </p:nvSpPr>
        <p:spPr/>
        <p:txBody>
          <a:bodyPr/>
          <a:lstStyle/>
          <a:p>
            <a:r>
              <a:rPr lang="en-GB" sz="4500" dirty="0">
                <a:solidFill>
                  <a:srgbClr val="C00000"/>
                </a:solidFill>
                <a:effectLst>
                  <a:outerShdw blurRad="38100" dist="38100" dir="2700000" algn="tl">
                    <a:srgbClr val="000000">
                      <a:alpha val="43137"/>
                    </a:srgbClr>
                  </a:outerShdw>
                </a:effectLst>
                <a:latin typeface="Times New Roman" pitchFamily="18" charset="0"/>
                <a:cs typeface="Times New Roman" pitchFamily="18" charset="0"/>
              </a:rPr>
              <a:t>Poisson Distribution:</a:t>
            </a:r>
          </a:p>
        </p:txBody>
      </p:sp>
      <p:sp>
        <p:nvSpPr>
          <p:cNvPr id="6" name="TextBox 5"/>
          <p:cNvSpPr txBox="1"/>
          <p:nvPr/>
        </p:nvSpPr>
        <p:spPr>
          <a:xfrm>
            <a:off x="685800" y="4724400"/>
            <a:ext cx="7772400" cy="1569660"/>
          </a:xfrm>
          <a:prstGeom prst="rect">
            <a:avLst/>
          </a:prstGeom>
          <a:noFill/>
        </p:spPr>
        <p:txBody>
          <a:bodyPr wrap="square" rtlCol="0">
            <a:spAutoFit/>
          </a:bodyPr>
          <a:lstStyle/>
          <a:p>
            <a:pPr algn="just"/>
            <a:r>
              <a:rPr lang="en-IN" sz="3200" dirty="0">
                <a:latin typeface="Times New Roman" pitchFamily="18" charset="0"/>
                <a:cs typeface="Times New Roman" pitchFamily="18" charset="0"/>
              </a:rPr>
              <a:t>is known as the </a:t>
            </a:r>
            <a:r>
              <a:rPr lang="en-IN" sz="3200" dirty="0">
                <a:solidFill>
                  <a:srgbClr val="FF0000"/>
                </a:solidFill>
                <a:latin typeface="Times New Roman" pitchFamily="18" charset="0"/>
                <a:cs typeface="Times New Roman" pitchFamily="18" charset="0"/>
              </a:rPr>
              <a:t>Poisson probability distribution</a:t>
            </a:r>
            <a:r>
              <a:rPr lang="en-IN" sz="3200" dirty="0">
                <a:latin typeface="Times New Roman" pitchFamily="18" charset="0"/>
                <a:cs typeface="Times New Roman" pitchFamily="18" charset="0"/>
              </a:rPr>
              <a:t>. X is called a </a:t>
            </a:r>
            <a:r>
              <a:rPr lang="en-IN" sz="3200" dirty="0">
                <a:solidFill>
                  <a:srgbClr val="FF0000"/>
                </a:solidFill>
                <a:latin typeface="Times New Roman" pitchFamily="18" charset="0"/>
                <a:cs typeface="Times New Roman" pitchFamily="18" charset="0"/>
              </a:rPr>
              <a:t>Poisson random variable</a:t>
            </a:r>
            <a:r>
              <a:rPr lang="en-IN" sz="3200" dirty="0">
                <a:latin typeface="Times New Roman" pitchFamily="18" charset="0"/>
                <a:cs typeface="Times New Roman" pitchFamily="18" charset="0"/>
              </a:rPr>
              <a:t>.</a:t>
            </a:r>
            <a:endParaRPr lang="en-GB" sz="3200" dirty="0">
              <a:latin typeface="Times New Roman" pitchFamily="18" charset="0"/>
              <a:cs typeface="Times New Roman" pitchFamily="18" charset="0"/>
            </a:endParaRPr>
          </a:p>
        </p:txBody>
      </p:sp>
      <mc:AlternateContent xmlns:mc="http://schemas.openxmlformats.org/markup-compatibility/2006" xmlns:a14="http://schemas.microsoft.com/office/drawing/2010/main">
        <mc:Choice Requires="a14">
          <p:sp>
            <p:nvSpPr>
              <p:cNvPr id="8" name="Object 7"/>
              <p:cNvSpPr txBox="1"/>
              <p:nvPr/>
            </p:nvSpPr>
            <p:spPr>
              <a:xfrm>
                <a:off x="1527175" y="3657600"/>
                <a:ext cx="6089650" cy="1030288"/>
              </a:xfrm>
              <a:prstGeom prst="rect">
                <a:avLst/>
              </a:prstGeom>
            </p:spPr>
            <p:txBody>
              <a:bodyPr>
                <a:normAutofit/>
              </a:bodyPr>
              <a:lstStyle/>
              <a:p>
                <a:pPr/>
                <a14:m>
                  <m:oMathPara xmlns:m="http://schemas.openxmlformats.org/officeDocument/2006/math">
                    <m:oMathParaPr>
                      <m:jc m:val="left"/>
                    </m:oMathParaPr>
                    <m:oMath xmlns:m="http://schemas.openxmlformats.org/officeDocument/2006/math">
                      <m:r>
                        <a:rPr lang="en-NZ" sz="2800" i="1">
                          <a:solidFill>
                            <a:srgbClr val="000000"/>
                          </a:solidFill>
                          <a:latin typeface="Cambria Math" panose="02040503050406030204" pitchFamily="18" charset="0"/>
                        </a:rPr>
                        <m:t>𝑃</m:t>
                      </m:r>
                      <m:r>
                        <a:rPr lang="en-NZ" sz="2800" i="1">
                          <a:solidFill>
                            <a:srgbClr val="000000"/>
                          </a:solidFill>
                          <a:latin typeface="Cambria Math" panose="02040503050406030204" pitchFamily="18" charset="0"/>
                        </a:rPr>
                        <m:t>(</m:t>
                      </m:r>
                      <m:r>
                        <a:rPr lang="en-NZ" sz="2800" i="1">
                          <a:solidFill>
                            <a:srgbClr val="000000"/>
                          </a:solidFill>
                          <a:latin typeface="Cambria Math" panose="02040503050406030204" pitchFamily="18" charset="0"/>
                        </a:rPr>
                        <m:t>𝑋</m:t>
                      </m:r>
                      <m:r>
                        <a:rPr lang="en-NZ" sz="2800" i="1">
                          <a:solidFill>
                            <a:srgbClr val="000000"/>
                          </a:solidFill>
                          <a:latin typeface="Cambria Math" panose="02040503050406030204" pitchFamily="18" charset="0"/>
                        </a:rPr>
                        <m:t>=</m:t>
                      </m:r>
                      <m:r>
                        <a:rPr lang="en-NZ" sz="2800" i="1">
                          <a:solidFill>
                            <a:srgbClr val="000000"/>
                          </a:solidFill>
                          <a:latin typeface="Cambria Math" panose="02040503050406030204" pitchFamily="18" charset="0"/>
                        </a:rPr>
                        <m:t>𝑥</m:t>
                      </m:r>
                      <m:r>
                        <a:rPr lang="en-NZ" sz="2800" i="1">
                          <a:solidFill>
                            <a:srgbClr val="000000"/>
                          </a:solidFill>
                          <a:latin typeface="Cambria Math" panose="02040503050406030204" pitchFamily="18" charset="0"/>
                        </a:rPr>
                        <m:t>)=</m:t>
                      </m:r>
                      <m:f>
                        <m:fPr>
                          <m:ctrlPr>
                            <a:rPr lang="en-NZ" sz="2800" i="1">
                              <a:solidFill>
                                <a:srgbClr val="000000"/>
                              </a:solidFill>
                              <a:latin typeface="Cambria Math" panose="02040503050406030204" pitchFamily="18" charset="0"/>
                            </a:rPr>
                          </m:ctrlPr>
                        </m:fPr>
                        <m:num>
                          <m:sSup>
                            <m:sSupPr>
                              <m:ctrlPr>
                                <a:rPr lang="en-NZ" sz="2800" i="1">
                                  <a:solidFill>
                                    <a:srgbClr val="000000"/>
                                  </a:solidFill>
                                  <a:latin typeface="Cambria Math" panose="02040503050406030204" pitchFamily="18" charset="0"/>
                                </a:rPr>
                              </m:ctrlPr>
                            </m:sSupPr>
                            <m:e>
                              <m:r>
                                <a:rPr lang="en-NZ" sz="2800" i="1">
                                  <a:solidFill>
                                    <a:srgbClr val="000000"/>
                                  </a:solidFill>
                                  <a:latin typeface="Cambria Math" panose="02040503050406030204" pitchFamily="18" charset="0"/>
                                </a:rPr>
                                <m:t>𝑒</m:t>
                              </m:r>
                            </m:e>
                            <m:sup>
                              <m:r>
                                <a:rPr lang="en-NZ" sz="2800" i="1">
                                  <a:solidFill>
                                    <a:srgbClr val="000000"/>
                                  </a:solidFill>
                                  <a:latin typeface="Cambria Math" panose="02040503050406030204" pitchFamily="18" charset="0"/>
                                </a:rPr>
                                <m:t>−</m:t>
                              </m:r>
                              <m:r>
                                <a:rPr lang="en-NZ" sz="2800" i="1">
                                  <a:solidFill>
                                    <a:srgbClr val="000000"/>
                                  </a:solidFill>
                                  <a:latin typeface="Cambria Math" panose="02040503050406030204" pitchFamily="18" charset="0"/>
                                </a:rPr>
                                <m:t>𝜆</m:t>
                              </m:r>
                            </m:sup>
                          </m:sSup>
                          <m:sSup>
                            <m:sSupPr>
                              <m:ctrlPr>
                                <a:rPr lang="en-NZ" sz="2800" i="1">
                                  <a:solidFill>
                                    <a:srgbClr val="000000"/>
                                  </a:solidFill>
                                  <a:latin typeface="Cambria Math" panose="02040503050406030204" pitchFamily="18" charset="0"/>
                                </a:rPr>
                              </m:ctrlPr>
                            </m:sSupPr>
                            <m:e>
                              <m:r>
                                <a:rPr lang="en-NZ" sz="2800" i="1">
                                  <a:solidFill>
                                    <a:srgbClr val="000000"/>
                                  </a:solidFill>
                                  <a:latin typeface="Cambria Math" panose="02040503050406030204" pitchFamily="18" charset="0"/>
                                </a:rPr>
                                <m:t>𝜆</m:t>
                              </m:r>
                            </m:e>
                            <m:sup>
                              <m:r>
                                <a:rPr lang="en-NZ" sz="2800" i="1">
                                  <a:solidFill>
                                    <a:srgbClr val="000000"/>
                                  </a:solidFill>
                                  <a:latin typeface="Cambria Math" panose="02040503050406030204" pitchFamily="18" charset="0"/>
                                </a:rPr>
                                <m:t>𝑥</m:t>
                              </m:r>
                            </m:sup>
                          </m:sSup>
                        </m:num>
                        <m:den>
                          <m:r>
                            <a:rPr lang="en-NZ" sz="2800" i="1">
                              <a:solidFill>
                                <a:srgbClr val="000000"/>
                              </a:solidFill>
                              <a:latin typeface="Cambria Math" panose="02040503050406030204" pitchFamily="18" charset="0"/>
                            </a:rPr>
                            <m:t>𝑥</m:t>
                          </m:r>
                          <m:r>
                            <a:rPr lang="en-NZ" sz="2800" i="1">
                              <a:solidFill>
                                <a:srgbClr val="000000"/>
                              </a:solidFill>
                              <a:latin typeface="Cambria Math" panose="02040503050406030204" pitchFamily="18" charset="0"/>
                            </a:rPr>
                            <m:t>!</m:t>
                          </m:r>
                        </m:den>
                      </m:f>
                      <m:r>
                        <a:rPr lang="en-NZ" sz="2800" i="1">
                          <a:solidFill>
                            <a:srgbClr val="000000"/>
                          </a:solidFill>
                          <a:latin typeface="Cambria Math" panose="02040503050406030204" pitchFamily="18" charset="0"/>
                        </a:rPr>
                        <m:t>,</m:t>
                      </m:r>
                      <m:r>
                        <a:rPr lang="en-NZ" sz="2800" i="1">
                          <a:solidFill>
                            <a:srgbClr val="000000"/>
                          </a:solidFill>
                          <a:latin typeface="Cambria Math" panose="02040503050406030204" pitchFamily="18" charset="0"/>
                        </a:rPr>
                        <m:t>𝑥</m:t>
                      </m:r>
                      <m:r>
                        <a:rPr lang="en-NZ" sz="2800" i="1">
                          <a:solidFill>
                            <a:srgbClr val="000000"/>
                          </a:solidFill>
                          <a:latin typeface="Cambria Math" panose="02040503050406030204" pitchFamily="18" charset="0"/>
                        </a:rPr>
                        <m:t>=0,1,2,3,.....</m:t>
                      </m:r>
                    </m:oMath>
                  </m:oMathPara>
                </a14:m>
                <a:endParaRPr lang="en-NZ" sz="2800" dirty="0"/>
              </a:p>
            </p:txBody>
          </p:sp>
        </mc:Choice>
        <mc:Fallback xmlns="">
          <p:sp>
            <p:nvSpPr>
              <p:cNvPr id="8" name="Object 7"/>
              <p:cNvSpPr txBox="1">
                <a:spLocks noRot="1" noChangeAspect="1" noMove="1" noResize="1" noEditPoints="1" noAdjustHandles="1" noChangeArrowheads="1" noChangeShapeType="1" noTextEdit="1"/>
              </p:cNvSpPr>
              <p:nvPr/>
            </p:nvSpPr>
            <p:spPr>
              <a:xfrm>
                <a:off x="1527175" y="3657600"/>
                <a:ext cx="6089650" cy="1030288"/>
              </a:xfrm>
              <a:prstGeom prst="rect">
                <a:avLst/>
              </a:prstGeom>
              <a:blipFill>
                <a:blip r:embed="rId5"/>
                <a:stretch>
                  <a:fillRect/>
                </a:stretch>
              </a:blipFill>
            </p:spPr>
            <p:txBody>
              <a:bodyPr/>
              <a:lstStyle/>
              <a:p>
                <a:r>
                  <a:rPr lang="en-NZ">
                    <a:noFill/>
                  </a:rPr>
                  <a:t> </a:t>
                </a:r>
              </a:p>
            </p:txBody>
          </p:sp>
        </mc:Fallback>
      </mc:AlternateContent>
      <p:sp>
        <p:nvSpPr>
          <p:cNvPr id="7" name="Slide Number Placeholder 6"/>
          <p:cNvSpPr>
            <a:spLocks noGrp="1"/>
          </p:cNvSpPr>
          <p:nvPr>
            <p:ph type="sldNum" sz="quarter" idx="12"/>
          </p:nvPr>
        </p:nvSpPr>
        <p:spPr/>
        <p:txBody>
          <a:bodyPr/>
          <a:lstStyle/>
          <a:p>
            <a:pPr>
              <a:defRPr/>
            </a:pPr>
            <a:fld id="{645ED874-4033-4CEE-AE69-D7CB222F48E6}" type="slidenum">
              <a:rPr lang="en-US" smtClean="0"/>
              <a:pPr>
                <a:defRPr/>
              </a:pPr>
              <a:t>26</a:t>
            </a:fld>
            <a:endParaRPr lang="en-US"/>
          </a:p>
        </p:txBody>
      </p:sp>
      <p:sp>
        <p:nvSpPr>
          <p:cNvPr id="4" name="Date Placeholder 3">
            <a:extLst>
              <a:ext uri="{FF2B5EF4-FFF2-40B4-BE49-F238E27FC236}">
                <a16:creationId xmlns:a16="http://schemas.microsoft.com/office/drawing/2014/main" id="{1944D356-B035-42A2-AB90-E9D919A00033}"/>
              </a:ext>
            </a:extLst>
          </p:cNvPr>
          <p:cNvSpPr>
            <a:spLocks noGrp="1"/>
          </p:cNvSpPr>
          <p:nvPr>
            <p:ph type="dt" sz="half" idx="10"/>
          </p:nvPr>
        </p:nvSpPr>
        <p:spPr/>
        <p:txBody>
          <a:bodyPr/>
          <a:lstStyle/>
          <a:p>
            <a:pPr>
              <a:defRPr/>
            </a:pPr>
            <a:fld id="{88CA511A-0CB3-4831-BDF9-10D3D1622EF6}" type="datetime3">
              <a:rPr lang="en-US" smtClean="0"/>
              <a:t>16 December 2025</a:t>
            </a:fld>
            <a:endParaRPr lang="en-US"/>
          </a:p>
        </p:txBody>
      </p:sp>
      <p:sp>
        <p:nvSpPr>
          <p:cNvPr id="5" name="Footer Placeholder 4">
            <a:extLst>
              <a:ext uri="{FF2B5EF4-FFF2-40B4-BE49-F238E27FC236}">
                <a16:creationId xmlns:a16="http://schemas.microsoft.com/office/drawing/2014/main" id="{7E8FA4DE-1BD9-44A2-8FD6-1BA5FB5AA905}"/>
              </a:ext>
            </a:extLst>
          </p:cNvPr>
          <p:cNvSpPr>
            <a:spLocks noGrp="1"/>
          </p:cNvSpPr>
          <p:nvPr>
            <p:ph type="ftr" sz="quarter" idx="11"/>
          </p:nvPr>
        </p:nvSpPr>
        <p:spPr/>
        <p:txBody>
          <a:bodyPr/>
          <a:lstStyle/>
          <a:p>
            <a:pPr>
              <a:defRPr/>
            </a:pPr>
            <a:r>
              <a:rPr lang="en-US"/>
              <a:t>T. Mayooran</a:t>
            </a:r>
          </a:p>
        </p:txBody>
      </p:sp>
    </p:spTree>
    <p:extLst>
      <p:ext uri="{BB962C8B-B14F-4D97-AF65-F5344CB8AC3E}">
        <p14:creationId xmlns:p14="http://schemas.microsoft.com/office/powerpoint/2010/main" val="92532747"/>
      </p:ext>
    </p:extLst>
  </p:cSld>
  <p:clrMapOvr>
    <a:masterClrMapping/>
  </p:clrMapOvr>
  <p:transition spd="slow">
    <p:wipe dir="r"/>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188845" y="1590262"/>
            <a:ext cx="8666921" cy="5049078"/>
          </a:xfrm>
        </p:spPr>
        <p:txBody>
          <a:bodyPr/>
          <a:lstStyle/>
          <a:p>
            <a:pPr marL="0" indent="0">
              <a:buNone/>
            </a:pPr>
            <a:r>
              <a:rPr lang="en-NZ" dirty="0">
                <a:latin typeface="Times New Roman" pitchFamily="18" charset="0"/>
                <a:cs typeface="Times New Roman" pitchFamily="18" charset="0"/>
              </a:rPr>
              <a:t>Criteria:</a:t>
            </a:r>
          </a:p>
          <a:p>
            <a:pPr marL="971550" lvl="1" indent="-514350" algn="just">
              <a:buClrTx/>
              <a:buFont typeface="+mj-lt"/>
              <a:buAutoNum type="arabicPeriod"/>
            </a:pPr>
            <a:r>
              <a:rPr lang="en-NZ" sz="3200" dirty="0">
                <a:latin typeface="Times New Roman" pitchFamily="18" charset="0"/>
                <a:ea typeface="+mn-ea"/>
                <a:cs typeface="Times New Roman" pitchFamily="18" charset="0"/>
              </a:rPr>
              <a:t>The variable is the number of events that occur in an interval of a given size.</a:t>
            </a:r>
          </a:p>
          <a:p>
            <a:pPr marL="971550" lvl="1" indent="-514350" algn="just">
              <a:buClrTx/>
              <a:buFont typeface="+mj-lt"/>
              <a:buAutoNum type="arabicPeriod"/>
            </a:pPr>
            <a:r>
              <a:rPr lang="en-NZ" sz="3200" dirty="0">
                <a:latin typeface="Times New Roman" pitchFamily="18" charset="0"/>
                <a:ea typeface="+mn-ea"/>
                <a:cs typeface="Times New Roman" pitchFamily="18" charset="0"/>
              </a:rPr>
              <a:t>The average number of events per unit is </a:t>
            </a:r>
            <a:r>
              <a:rPr lang="el-GR" sz="3200" b="1" dirty="0">
                <a:latin typeface="Times New Roman" pitchFamily="18" charset="0"/>
                <a:cs typeface="Times New Roman" pitchFamily="18" charset="0"/>
              </a:rPr>
              <a:t>λ</a:t>
            </a:r>
            <a:r>
              <a:rPr lang="en-NZ" sz="3200" dirty="0">
                <a:latin typeface="Times New Roman" pitchFamily="18" charset="0"/>
                <a:ea typeface="+mn-ea"/>
                <a:cs typeface="Times New Roman" pitchFamily="18" charset="0"/>
              </a:rPr>
              <a:t>, where </a:t>
            </a:r>
            <a:r>
              <a:rPr lang="el-GR" sz="3200" b="1" dirty="0">
                <a:latin typeface="Times New Roman" pitchFamily="18" charset="0"/>
                <a:cs typeface="Times New Roman" pitchFamily="18" charset="0"/>
              </a:rPr>
              <a:t>λ</a:t>
            </a:r>
            <a:r>
              <a:rPr lang="en-NZ" sz="3200" dirty="0">
                <a:latin typeface="Times New Roman" pitchFamily="18" charset="0"/>
                <a:ea typeface="+mn-ea"/>
                <a:cs typeface="Times New Roman" pitchFamily="18" charset="0"/>
              </a:rPr>
              <a:t> is fixed.</a:t>
            </a:r>
            <a:endParaRPr lang="en-GB" sz="3200" dirty="0">
              <a:latin typeface="Times New Roman" pitchFamily="18" charset="0"/>
              <a:ea typeface="+mn-ea"/>
              <a:cs typeface="Times New Roman" pitchFamily="18" charset="0"/>
            </a:endParaRPr>
          </a:p>
          <a:p>
            <a:pPr marL="971550" lvl="1" indent="-514350" algn="just">
              <a:buClrTx/>
              <a:buFont typeface="+mj-lt"/>
              <a:buAutoNum type="arabicPeriod"/>
            </a:pPr>
            <a:r>
              <a:rPr lang="en-NZ" sz="3200" dirty="0">
                <a:latin typeface="Times New Roman" pitchFamily="18" charset="0"/>
                <a:ea typeface="+mn-ea"/>
                <a:cs typeface="Times New Roman" pitchFamily="18" charset="0"/>
              </a:rPr>
              <a:t>Events occur at random in continuous space or time</a:t>
            </a:r>
          </a:p>
          <a:p>
            <a:pPr marL="971550" lvl="1" indent="-514350" algn="just">
              <a:buClrTx/>
              <a:buFont typeface="+mj-lt"/>
              <a:buAutoNum type="arabicPeriod"/>
            </a:pPr>
            <a:r>
              <a:rPr lang="en-NZ" sz="3200" dirty="0">
                <a:latin typeface="Times New Roman" pitchFamily="18" charset="0"/>
                <a:ea typeface="+mn-ea"/>
                <a:cs typeface="Times New Roman" pitchFamily="18" charset="0"/>
              </a:rPr>
              <a:t>Events occur singly.</a:t>
            </a:r>
          </a:p>
          <a:p>
            <a:pPr marL="971550" lvl="1" indent="-514350" algn="just">
              <a:buClrTx/>
              <a:buFont typeface="+mj-lt"/>
              <a:buAutoNum type="arabicPeriod"/>
            </a:pPr>
            <a:r>
              <a:rPr lang="en-NZ" sz="3200" dirty="0">
                <a:latin typeface="Times New Roman" pitchFamily="18" charset="0"/>
                <a:ea typeface="+mn-ea"/>
                <a:cs typeface="Times New Roman" pitchFamily="18" charset="0"/>
              </a:rPr>
              <a:t>Events occur independently.</a:t>
            </a:r>
          </a:p>
        </p:txBody>
      </p:sp>
      <p:sp>
        <p:nvSpPr>
          <p:cNvPr id="4" name="Title 1">
            <a:extLst>
              <a:ext uri="{FF2B5EF4-FFF2-40B4-BE49-F238E27FC236}">
                <a16:creationId xmlns:a16="http://schemas.microsoft.com/office/drawing/2014/main" id="{A3BB93A7-74D1-4585-AF23-5BCCA75BDEB3}"/>
              </a:ext>
            </a:extLst>
          </p:cNvPr>
          <p:cNvSpPr txBox="1">
            <a:spLocks/>
          </p:cNvSpPr>
          <p:nvPr/>
        </p:nvSpPr>
        <p:spPr bwMode="auto">
          <a:xfrm>
            <a:off x="943286" y="5864"/>
            <a:ext cx="7158037" cy="1412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b" anchorCtr="0" compatLnSpc="1">
            <a:prstTxWarp prst="textNoShape">
              <a:avLst/>
            </a:prstTxWarp>
          </a:bodyPr>
          <a:lstStyle>
            <a:lvl1pPr algn="l" rtl="0" eaLnBrk="0" fontAlgn="base" hangingPunct="0">
              <a:spcBef>
                <a:spcPct val="0"/>
              </a:spcBef>
              <a:spcAft>
                <a:spcPct val="0"/>
              </a:spcAft>
              <a:defRPr sz="4000">
                <a:solidFill>
                  <a:schemeClr val="tx2"/>
                </a:solidFill>
                <a:latin typeface="+mj-lt"/>
                <a:ea typeface="+mj-ea"/>
                <a:cs typeface="+mj-cs"/>
              </a:defRPr>
            </a:lvl1pPr>
            <a:lvl2pPr algn="l" rtl="0" eaLnBrk="0" fontAlgn="base" hangingPunct="0">
              <a:spcBef>
                <a:spcPct val="0"/>
              </a:spcBef>
              <a:spcAft>
                <a:spcPct val="0"/>
              </a:spcAft>
              <a:defRPr sz="4000">
                <a:solidFill>
                  <a:schemeClr val="tx2"/>
                </a:solidFill>
                <a:latin typeface="Arial" charset="0"/>
              </a:defRPr>
            </a:lvl2pPr>
            <a:lvl3pPr algn="l" rtl="0" eaLnBrk="0" fontAlgn="base" hangingPunct="0">
              <a:spcBef>
                <a:spcPct val="0"/>
              </a:spcBef>
              <a:spcAft>
                <a:spcPct val="0"/>
              </a:spcAft>
              <a:defRPr sz="4000">
                <a:solidFill>
                  <a:schemeClr val="tx2"/>
                </a:solidFill>
                <a:latin typeface="Arial" charset="0"/>
              </a:defRPr>
            </a:lvl3pPr>
            <a:lvl4pPr algn="l" rtl="0" eaLnBrk="0" fontAlgn="base" hangingPunct="0">
              <a:spcBef>
                <a:spcPct val="0"/>
              </a:spcBef>
              <a:spcAft>
                <a:spcPct val="0"/>
              </a:spcAft>
              <a:defRPr sz="4000">
                <a:solidFill>
                  <a:schemeClr val="tx2"/>
                </a:solidFill>
                <a:latin typeface="Arial" charset="0"/>
              </a:defRPr>
            </a:lvl4pPr>
            <a:lvl5pPr algn="l" rtl="0" eaLnBrk="0" fontAlgn="base" hangingPunct="0">
              <a:spcBef>
                <a:spcPct val="0"/>
              </a:spcBef>
              <a:spcAft>
                <a:spcPct val="0"/>
              </a:spcAft>
              <a:defRPr sz="4000">
                <a:solidFill>
                  <a:schemeClr val="tx2"/>
                </a:solidFill>
                <a:latin typeface="Arial" charset="0"/>
              </a:defRPr>
            </a:lvl5pPr>
            <a:lvl6pPr marL="457200" algn="l" rtl="0" fontAlgn="base">
              <a:spcBef>
                <a:spcPct val="0"/>
              </a:spcBef>
              <a:spcAft>
                <a:spcPct val="0"/>
              </a:spcAft>
              <a:defRPr sz="4000">
                <a:solidFill>
                  <a:schemeClr val="tx2"/>
                </a:solidFill>
                <a:latin typeface="Arial" charset="0"/>
              </a:defRPr>
            </a:lvl6pPr>
            <a:lvl7pPr marL="914400" algn="l" rtl="0" fontAlgn="base">
              <a:spcBef>
                <a:spcPct val="0"/>
              </a:spcBef>
              <a:spcAft>
                <a:spcPct val="0"/>
              </a:spcAft>
              <a:defRPr sz="4000">
                <a:solidFill>
                  <a:schemeClr val="tx2"/>
                </a:solidFill>
                <a:latin typeface="Arial" charset="0"/>
              </a:defRPr>
            </a:lvl7pPr>
            <a:lvl8pPr marL="1371600" algn="l" rtl="0" fontAlgn="base">
              <a:spcBef>
                <a:spcPct val="0"/>
              </a:spcBef>
              <a:spcAft>
                <a:spcPct val="0"/>
              </a:spcAft>
              <a:defRPr sz="4000">
                <a:solidFill>
                  <a:schemeClr val="tx2"/>
                </a:solidFill>
                <a:latin typeface="Arial" charset="0"/>
              </a:defRPr>
            </a:lvl8pPr>
            <a:lvl9pPr marL="1828800" algn="l" rtl="0" fontAlgn="base">
              <a:spcBef>
                <a:spcPct val="0"/>
              </a:spcBef>
              <a:spcAft>
                <a:spcPct val="0"/>
              </a:spcAft>
              <a:defRPr sz="4000">
                <a:solidFill>
                  <a:schemeClr val="tx2"/>
                </a:solidFill>
                <a:latin typeface="Arial" charset="0"/>
              </a:defRPr>
            </a:lvl9pPr>
          </a:lstStyle>
          <a:p>
            <a:r>
              <a:rPr lang="en-GB" sz="4500" kern="0" dirty="0">
                <a:solidFill>
                  <a:srgbClr val="C00000"/>
                </a:solidFill>
                <a:effectLst>
                  <a:outerShdw blurRad="38100" dist="38100" dir="2700000" algn="tl">
                    <a:srgbClr val="000000">
                      <a:alpha val="43137"/>
                    </a:srgbClr>
                  </a:outerShdw>
                </a:effectLst>
                <a:latin typeface="Times New Roman" pitchFamily="18" charset="0"/>
                <a:cs typeface="Times New Roman" pitchFamily="18" charset="0"/>
              </a:rPr>
              <a:t>Poisson Distribution:</a:t>
            </a:r>
          </a:p>
        </p:txBody>
      </p:sp>
    </p:spTree>
    <p:extLst>
      <p:ext uri="{BB962C8B-B14F-4D97-AF65-F5344CB8AC3E}">
        <p14:creationId xmlns:p14="http://schemas.microsoft.com/office/powerpoint/2010/main" val="848622178"/>
      </p:ext>
    </p:extLst>
  </p:cSld>
  <p:clrMapOvr>
    <a:masterClrMapping/>
  </p:clrMapOvr>
  <p:transition spd="slow">
    <p:wipe dir="r"/>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sz="4500" dirty="0">
                <a:solidFill>
                  <a:srgbClr val="C00000"/>
                </a:solidFill>
                <a:effectLst>
                  <a:outerShdw blurRad="38100" dist="38100" dir="2700000" algn="tl">
                    <a:srgbClr val="000000">
                      <a:alpha val="43137"/>
                    </a:srgbClr>
                  </a:outerShdw>
                </a:effectLst>
                <a:latin typeface="Times New Roman" pitchFamily="18" charset="0"/>
                <a:cs typeface="Times New Roman" pitchFamily="18" charset="0"/>
              </a:rPr>
              <a:t>Note:</a:t>
            </a:r>
          </a:p>
        </p:txBody>
      </p:sp>
      <p:sp>
        <p:nvSpPr>
          <p:cNvPr id="6" name="Text Box 6"/>
          <p:cNvSpPr txBox="1">
            <a:spLocks noGrp="1" noChangeArrowheads="1"/>
          </p:cNvSpPr>
          <p:nvPr>
            <p:ph idx="1"/>
          </p:nvPr>
        </p:nvSpPr>
        <p:spPr bwMode="auto">
          <a:xfrm>
            <a:off x="949329" y="1447804"/>
            <a:ext cx="7661275" cy="45243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defPPr>
              <a:defRPr lang="en-US"/>
            </a:defPPr>
            <a:lvl1pPr algn="l" rtl="0" fontAlgn="base">
              <a:spcBef>
                <a:spcPct val="0"/>
              </a:spcBef>
              <a:spcAft>
                <a:spcPct val="0"/>
              </a:spcAft>
              <a:defRPr sz="3200" kern="1200">
                <a:solidFill>
                  <a:schemeClr val="tx1"/>
                </a:solidFill>
                <a:latin typeface="Comic Sans MS" pitchFamily="66" charset="0"/>
                <a:ea typeface="+mn-ea"/>
                <a:cs typeface="+mn-cs"/>
              </a:defRPr>
            </a:lvl1pPr>
            <a:lvl2pPr marL="457200" algn="l" rtl="0" fontAlgn="base">
              <a:spcBef>
                <a:spcPct val="0"/>
              </a:spcBef>
              <a:spcAft>
                <a:spcPct val="0"/>
              </a:spcAft>
              <a:defRPr sz="3200" kern="1200">
                <a:solidFill>
                  <a:schemeClr val="tx1"/>
                </a:solidFill>
                <a:latin typeface="Comic Sans MS" pitchFamily="66" charset="0"/>
                <a:ea typeface="+mn-ea"/>
                <a:cs typeface="+mn-cs"/>
              </a:defRPr>
            </a:lvl2pPr>
            <a:lvl3pPr marL="914400" algn="l" rtl="0" fontAlgn="base">
              <a:spcBef>
                <a:spcPct val="0"/>
              </a:spcBef>
              <a:spcAft>
                <a:spcPct val="0"/>
              </a:spcAft>
              <a:defRPr sz="3200" kern="1200">
                <a:solidFill>
                  <a:schemeClr val="tx1"/>
                </a:solidFill>
                <a:latin typeface="Comic Sans MS" pitchFamily="66" charset="0"/>
                <a:ea typeface="+mn-ea"/>
                <a:cs typeface="+mn-cs"/>
              </a:defRPr>
            </a:lvl3pPr>
            <a:lvl4pPr marL="1371600" algn="l" rtl="0" fontAlgn="base">
              <a:spcBef>
                <a:spcPct val="0"/>
              </a:spcBef>
              <a:spcAft>
                <a:spcPct val="0"/>
              </a:spcAft>
              <a:defRPr sz="3200" kern="1200">
                <a:solidFill>
                  <a:schemeClr val="tx1"/>
                </a:solidFill>
                <a:latin typeface="Comic Sans MS" pitchFamily="66" charset="0"/>
                <a:ea typeface="+mn-ea"/>
                <a:cs typeface="+mn-cs"/>
              </a:defRPr>
            </a:lvl4pPr>
            <a:lvl5pPr marL="1828800" algn="l" rtl="0" fontAlgn="base">
              <a:spcBef>
                <a:spcPct val="0"/>
              </a:spcBef>
              <a:spcAft>
                <a:spcPct val="0"/>
              </a:spcAft>
              <a:defRPr sz="3200" kern="1200">
                <a:solidFill>
                  <a:schemeClr val="tx1"/>
                </a:solidFill>
                <a:latin typeface="Comic Sans MS" pitchFamily="66" charset="0"/>
                <a:ea typeface="+mn-ea"/>
                <a:cs typeface="+mn-cs"/>
              </a:defRPr>
            </a:lvl5pPr>
            <a:lvl6pPr marL="2286000" algn="l" defTabSz="914400" rtl="0" eaLnBrk="1" latinLnBrk="0" hangingPunct="1">
              <a:defRPr sz="3200" kern="1200">
                <a:solidFill>
                  <a:schemeClr val="tx1"/>
                </a:solidFill>
                <a:latin typeface="Comic Sans MS" pitchFamily="66" charset="0"/>
                <a:ea typeface="+mn-ea"/>
                <a:cs typeface="+mn-cs"/>
              </a:defRPr>
            </a:lvl6pPr>
            <a:lvl7pPr marL="2743200" algn="l" defTabSz="914400" rtl="0" eaLnBrk="1" latinLnBrk="0" hangingPunct="1">
              <a:defRPr sz="3200" kern="1200">
                <a:solidFill>
                  <a:schemeClr val="tx1"/>
                </a:solidFill>
                <a:latin typeface="Comic Sans MS" pitchFamily="66" charset="0"/>
                <a:ea typeface="+mn-ea"/>
                <a:cs typeface="+mn-cs"/>
              </a:defRPr>
            </a:lvl7pPr>
            <a:lvl8pPr marL="3200400" algn="l" defTabSz="914400" rtl="0" eaLnBrk="1" latinLnBrk="0" hangingPunct="1">
              <a:defRPr sz="3200" kern="1200">
                <a:solidFill>
                  <a:schemeClr val="tx1"/>
                </a:solidFill>
                <a:latin typeface="Comic Sans MS" pitchFamily="66" charset="0"/>
                <a:ea typeface="+mn-ea"/>
                <a:cs typeface="+mn-cs"/>
              </a:defRPr>
            </a:lvl8pPr>
            <a:lvl9pPr marL="3657600" algn="l" defTabSz="914400" rtl="0" eaLnBrk="1" latinLnBrk="0" hangingPunct="1">
              <a:defRPr sz="3200" kern="1200">
                <a:solidFill>
                  <a:schemeClr val="tx1"/>
                </a:solidFill>
                <a:latin typeface="Comic Sans MS" pitchFamily="66" charset="0"/>
                <a:ea typeface="+mn-ea"/>
                <a:cs typeface="+mn-cs"/>
              </a:defRPr>
            </a:lvl9pPr>
          </a:lstStyle>
          <a:p>
            <a:pPr marL="0" indent="0" algn="just">
              <a:buNone/>
            </a:pPr>
            <a:r>
              <a:rPr lang="en-US" i="1" dirty="0">
                <a:latin typeface="Times New Roman" pitchFamily="18" charset="0"/>
                <a:cs typeface="Times New Roman" pitchFamily="18" charset="0"/>
              </a:rPr>
              <a:t>x</a:t>
            </a:r>
            <a:r>
              <a:rPr lang="en-US" dirty="0">
                <a:latin typeface="Times New Roman" pitchFamily="18" charset="0"/>
                <a:cs typeface="Times New Roman" pitchFamily="18" charset="0"/>
              </a:rPr>
              <a:t> = Number of occurrences of event in a given time period</a:t>
            </a:r>
          </a:p>
          <a:p>
            <a:pPr algn="just">
              <a:buFontTx/>
              <a:buAutoNum type="arabicPeriod"/>
            </a:pPr>
            <a:r>
              <a:rPr lang="en-US" dirty="0">
                <a:solidFill>
                  <a:srgbClr val="0070C0"/>
                </a:solidFill>
                <a:latin typeface="Times New Roman" pitchFamily="18" charset="0"/>
                <a:cs typeface="Times New Roman" pitchFamily="18" charset="0"/>
              </a:rPr>
              <a:t>The probability an event occurs in the interval is proportional to the length of the interval.</a:t>
            </a:r>
          </a:p>
          <a:p>
            <a:pPr algn="just">
              <a:buFontTx/>
              <a:buAutoNum type="arabicPeriod"/>
            </a:pPr>
            <a:r>
              <a:rPr lang="en-US" dirty="0">
                <a:solidFill>
                  <a:srgbClr val="0070C0"/>
                </a:solidFill>
                <a:latin typeface="Times New Roman" pitchFamily="18" charset="0"/>
                <a:cs typeface="Times New Roman" pitchFamily="18" charset="0"/>
              </a:rPr>
              <a:t>An infinite number of occurrences are possible.</a:t>
            </a:r>
          </a:p>
          <a:p>
            <a:pPr algn="just">
              <a:buFontTx/>
              <a:buAutoNum type="arabicPeriod"/>
            </a:pPr>
            <a:r>
              <a:rPr lang="en-US" dirty="0">
                <a:solidFill>
                  <a:srgbClr val="0070C0"/>
                </a:solidFill>
                <a:latin typeface="Times New Roman" pitchFamily="18" charset="0"/>
                <a:cs typeface="Times New Roman" pitchFamily="18" charset="0"/>
              </a:rPr>
              <a:t>Events occur independently at a </a:t>
            </a:r>
            <a:r>
              <a:rPr lang="en-US" b="1" u="sng" dirty="0">
                <a:solidFill>
                  <a:srgbClr val="0070C0"/>
                </a:solidFill>
                <a:latin typeface="Times New Roman" pitchFamily="18" charset="0"/>
                <a:cs typeface="Times New Roman" pitchFamily="18" charset="0"/>
              </a:rPr>
              <a:t>rate </a:t>
            </a:r>
            <a:r>
              <a:rPr lang="el-GR" b="1" u="sng" dirty="0">
                <a:solidFill>
                  <a:srgbClr val="0070C0"/>
                </a:solidFill>
                <a:latin typeface="Times New Roman" pitchFamily="18" charset="0"/>
                <a:cs typeface="Times New Roman" pitchFamily="18" charset="0"/>
              </a:rPr>
              <a:t>λ</a:t>
            </a:r>
            <a:r>
              <a:rPr lang="en-US" b="1" u="sng" dirty="0">
                <a:solidFill>
                  <a:srgbClr val="0070C0"/>
                </a:solidFill>
                <a:latin typeface="Times New Roman" pitchFamily="18" charset="0"/>
                <a:cs typeface="Times New Roman" pitchFamily="18" charset="0"/>
                <a:sym typeface="Euclid Symbol" pitchFamily="18" charset="2"/>
              </a:rPr>
              <a:t>.</a:t>
            </a:r>
            <a:endParaRPr lang="en-US" b="1" u="sng" dirty="0">
              <a:solidFill>
                <a:srgbClr val="0070C0"/>
              </a:solidFill>
              <a:latin typeface="Times New Roman" pitchFamily="18" charset="0"/>
              <a:cs typeface="Times New Roman" pitchFamily="18" charset="0"/>
            </a:endParaRPr>
          </a:p>
          <a:p>
            <a:pPr marL="0" indent="0">
              <a:buNone/>
            </a:pPr>
            <a:endParaRPr lang="en-US" u="sng" dirty="0">
              <a:latin typeface="Times New Roman" pitchFamily="18" charset="0"/>
              <a:cs typeface="Times New Roman" pitchFamily="18" charset="0"/>
            </a:endParaRPr>
          </a:p>
        </p:txBody>
      </p:sp>
      <p:sp>
        <p:nvSpPr>
          <p:cNvPr id="4" name="Slide Number Placeholder 3"/>
          <p:cNvSpPr>
            <a:spLocks noGrp="1"/>
          </p:cNvSpPr>
          <p:nvPr>
            <p:ph type="sldNum" sz="quarter" idx="12"/>
          </p:nvPr>
        </p:nvSpPr>
        <p:spPr/>
        <p:txBody>
          <a:bodyPr/>
          <a:lstStyle/>
          <a:p>
            <a:pPr>
              <a:defRPr/>
            </a:pPr>
            <a:fld id="{645ED874-4033-4CEE-AE69-D7CB222F48E6}" type="slidenum">
              <a:rPr lang="en-US" smtClean="0"/>
              <a:pPr>
                <a:defRPr/>
              </a:pPr>
              <a:t>28</a:t>
            </a:fld>
            <a:endParaRPr lang="en-US"/>
          </a:p>
        </p:txBody>
      </p:sp>
      <p:sp>
        <p:nvSpPr>
          <p:cNvPr id="3" name="Date Placeholder 2">
            <a:extLst>
              <a:ext uri="{FF2B5EF4-FFF2-40B4-BE49-F238E27FC236}">
                <a16:creationId xmlns:a16="http://schemas.microsoft.com/office/drawing/2014/main" id="{C16B54F9-3814-4CF2-B6B9-0089F2795413}"/>
              </a:ext>
            </a:extLst>
          </p:cNvPr>
          <p:cNvSpPr>
            <a:spLocks noGrp="1"/>
          </p:cNvSpPr>
          <p:nvPr>
            <p:ph type="dt" sz="half" idx="10"/>
          </p:nvPr>
        </p:nvSpPr>
        <p:spPr/>
        <p:txBody>
          <a:bodyPr/>
          <a:lstStyle/>
          <a:p>
            <a:pPr>
              <a:defRPr/>
            </a:pPr>
            <a:fld id="{3E1AA7E2-38AE-438C-8949-ABBD868B8326}" type="datetime3">
              <a:rPr lang="en-US" smtClean="0"/>
              <a:t>16 December 2025</a:t>
            </a:fld>
            <a:endParaRPr lang="en-US"/>
          </a:p>
        </p:txBody>
      </p:sp>
      <p:sp>
        <p:nvSpPr>
          <p:cNvPr id="5" name="Footer Placeholder 4">
            <a:extLst>
              <a:ext uri="{FF2B5EF4-FFF2-40B4-BE49-F238E27FC236}">
                <a16:creationId xmlns:a16="http://schemas.microsoft.com/office/drawing/2014/main" id="{24EC0102-6D94-4209-A53B-72E8BBFC8CA9}"/>
              </a:ext>
            </a:extLst>
          </p:cNvPr>
          <p:cNvSpPr>
            <a:spLocks noGrp="1"/>
          </p:cNvSpPr>
          <p:nvPr>
            <p:ph type="ftr" sz="quarter" idx="11"/>
          </p:nvPr>
        </p:nvSpPr>
        <p:spPr/>
        <p:txBody>
          <a:bodyPr/>
          <a:lstStyle/>
          <a:p>
            <a:pPr>
              <a:defRPr/>
            </a:pPr>
            <a:r>
              <a:rPr lang="en-US"/>
              <a:t>T. Mayooran</a:t>
            </a:r>
          </a:p>
        </p:txBody>
      </p:sp>
    </p:spTree>
    <p:extLst>
      <p:ext uri="{BB962C8B-B14F-4D97-AF65-F5344CB8AC3E}">
        <p14:creationId xmlns:p14="http://schemas.microsoft.com/office/powerpoint/2010/main" val="415016601"/>
      </p:ext>
    </p:extLst>
  </p:cSld>
  <p:clrMapOvr>
    <a:masterClrMapping/>
  </p:clrMapOvr>
  <p:transition spd="slow">
    <p:wipe dir="r"/>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NZ" sz="4500" dirty="0">
                <a:solidFill>
                  <a:srgbClr val="C00000"/>
                </a:solidFill>
                <a:effectLst>
                  <a:outerShdw blurRad="38100" dist="38100" dir="2700000" algn="tl">
                    <a:srgbClr val="000000">
                      <a:alpha val="43137"/>
                    </a:srgbClr>
                  </a:outerShdw>
                </a:effectLst>
                <a:latin typeface="Times New Roman" pitchFamily="18" charset="0"/>
                <a:cs typeface="Times New Roman" pitchFamily="18" charset="0"/>
              </a:rPr>
              <a:t>Poisson</a:t>
            </a:r>
            <a:r>
              <a:rPr lang="en-NZ" dirty="0"/>
              <a:t> </a:t>
            </a:r>
            <a:r>
              <a:rPr lang="en-NZ" sz="4500" dirty="0">
                <a:solidFill>
                  <a:srgbClr val="C00000"/>
                </a:solidFill>
                <a:effectLst>
                  <a:outerShdw blurRad="38100" dist="38100" dir="2700000" algn="tl">
                    <a:srgbClr val="000000">
                      <a:alpha val="43137"/>
                    </a:srgbClr>
                  </a:outerShdw>
                </a:effectLst>
                <a:latin typeface="Times New Roman" pitchFamily="18" charset="0"/>
                <a:cs typeface="Times New Roman" pitchFamily="18" charset="0"/>
              </a:rPr>
              <a:t>Distribution:</a:t>
            </a:r>
            <a:endParaRPr lang="en-GB" sz="4500" dirty="0">
              <a:solidFill>
                <a:srgbClr val="C00000"/>
              </a:solidFill>
              <a:effectLst>
                <a:outerShdw blurRad="38100" dist="38100" dir="2700000" algn="tl">
                  <a:srgbClr val="000000">
                    <a:alpha val="43137"/>
                  </a:srgbClr>
                </a:outerShdw>
              </a:effectLst>
              <a:latin typeface="Times New Roman" pitchFamily="18" charset="0"/>
              <a:cs typeface="Times New Roman" pitchFamily="18" charset="0"/>
            </a:endParaRPr>
          </a:p>
        </p:txBody>
      </p:sp>
      <p:sp>
        <p:nvSpPr>
          <p:cNvPr id="3" name="Content Placeholder 2"/>
          <p:cNvSpPr>
            <a:spLocks noGrp="1"/>
          </p:cNvSpPr>
          <p:nvPr>
            <p:ph idx="1"/>
          </p:nvPr>
        </p:nvSpPr>
        <p:spPr/>
        <p:txBody>
          <a:bodyPr/>
          <a:lstStyle/>
          <a:p>
            <a:pPr marL="0" indent="0" algn="just">
              <a:buNone/>
            </a:pPr>
            <a:r>
              <a:rPr lang="en-US" dirty="0">
                <a:latin typeface="Times New Roman" panose="02020603050405020304" pitchFamily="18" charset="0"/>
                <a:cs typeface="Times New Roman" panose="02020603050405020304" pitchFamily="18" charset="0"/>
              </a:rPr>
              <a:t>Which of the following could be Poisson distributed?</a:t>
            </a:r>
          </a:p>
          <a:p>
            <a:pPr marL="971550" lvl="1" indent="-514350" algn="just">
              <a:buClr>
                <a:srgbClr val="0070C0"/>
              </a:buClr>
              <a:buFont typeface="+mj-lt"/>
              <a:buAutoNum type="alphaLcParenR"/>
            </a:pPr>
            <a:r>
              <a:rPr lang="en-NZ" sz="3200" dirty="0">
                <a:latin typeface="Times New Roman" panose="02020603050405020304" pitchFamily="18" charset="0"/>
                <a:cs typeface="Times New Roman" panose="02020603050405020304" pitchFamily="18" charset="0"/>
              </a:rPr>
              <a:t>Number of </a:t>
            </a:r>
            <a:r>
              <a:rPr lang="en-NZ" sz="3200" dirty="0">
                <a:latin typeface="Times New Roman" panose="02020603050405020304" pitchFamily="18" charset="0"/>
                <a:cs typeface="Times New Roman" panose="02020603050405020304" pitchFamily="18" charset="0"/>
                <a:hlinkClick r:id="rId3"/>
              </a:rPr>
              <a:t>Takahe</a:t>
            </a:r>
            <a:r>
              <a:rPr lang="en-NZ" sz="3200" dirty="0">
                <a:latin typeface="Times New Roman" panose="02020603050405020304" pitchFamily="18" charset="0"/>
                <a:cs typeface="Times New Roman" panose="02020603050405020304" pitchFamily="18" charset="0"/>
              </a:rPr>
              <a:t> nests per hectare in regions where the bird is found.</a:t>
            </a:r>
          </a:p>
          <a:p>
            <a:pPr marL="971550" lvl="1" indent="-514350" algn="just">
              <a:buClr>
                <a:srgbClr val="0070C0"/>
              </a:buClr>
              <a:buFont typeface="+mj-lt"/>
              <a:buAutoNum type="alphaLcParenR"/>
            </a:pPr>
            <a:r>
              <a:rPr lang="en-NZ" sz="3200" dirty="0">
                <a:latin typeface="Times New Roman" panose="02020603050405020304" pitchFamily="18" charset="0"/>
                <a:cs typeface="Times New Roman" panose="02020603050405020304" pitchFamily="18" charset="0"/>
              </a:rPr>
              <a:t>Number of wet days in a year</a:t>
            </a:r>
            <a:r>
              <a:rPr lang="en-GB" sz="3200" dirty="0">
                <a:latin typeface="Times New Roman" panose="02020603050405020304" pitchFamily="18" charset="0"/>
                <a:cs typeface="Times New Roman" panose="02020603050405020304" pitchFamily="18" charset="0"/>
              </a:rPr>
              <a:t>.</a:t>
            </a:r>
          </a:p>
          <a:p>
            <a:pPr marL="971550" lvl="1" indent="-514350" algn="just">
              <a:buClr>
                <a:srgbClr val="0070C0"/>
              </a:buClr>
              <a:buFont typeface="+mj-lt"/>
              <a:buAutoNum type="alphaLcParenR"/>
            </a:pPr>
            <a:r>
              <a:rPr lang="en-NZ" sz="3200" dirty="0">
                <a:latin typeface="Times New Roman" panose="02020603050405020304" pitchFamily="18" charset="0"/>
                <a:cs typeface="Times New Roman" panose="02020603050405020304" pitchFamily="18" charset="0"/>
              </a:rPr>
              <a:t>Number of rabbit burrows per acre.</a:t>
            </a:r>
          </a:p>
          <a:p>
            <a:pPr marL="971550" lvl="1" indent="-514350" algn="just">
              <a:buClr>
                <a:srgbClr val="0070C0"/>
              </a:buClr>
              <a:buFont typeface="+mj-lt"/>
              <a:buAutoNum type="alphaLcParenR"/>
            </a:pPr>
            <a:r>
              <a:rPr lang="en-NZ" sz="3200" dirty="0">
                <a:latin typeface="Times New Roman" panose="02020603050405020304" pitchFamily="18" charset="0"/>
                <a:cs typeface="Times New Roman" panose="02020603050405020304" pitchFamily="18" charset="0"/>
              </a:rPr>
              <a:t>Number of weeds per 5m</a:t>
            </a:r>
            <a:r>
              <a:rPr lang="en-NZ" sz="3200" baseline="30000" dirty="0">
                <a:latin typeface="Times New Roman" panose="02020603050405020304" pitchFamily="18" charset="0"/>
                <a:cs typeface="Times New Roman" panose="02020603050405020304" pitchFamily="18" charset="0"/>
              </a:rPr>
              <a:t>2</a:t>
            </a:r>
            <a:r>
              <a:rPr lang="en-NZ" sz="3200" dirty="0">
                <a:latin typeface="Times New Roman" panose="02020603050405020304" pitchFamily="18" charset="0"/>
                <a:cs typeface="Times New Roman" panose="02020603050405020304" pitchFamily="18" charset="0"/>
              </a:rPr>
              <a:t> of lawn.</a:t>
            </a:r>
          </a:p>
        </p:txBody>
      </p:sp>
      <p:pic>
        <p:nvPicPr>
          <p:cNvPr id="4" name="Picture 1" descr="C:\Users\dleader\AppData\Local\Microsoft\Windows\Temporary Internet Files\Content.IE5\DK3BMDA1\question-mark-in-blue-round-button-6154-large[1].png">
            <a:extLst>
              <a:ext uri="{FF2B5EF4-FFF2-40B4-BE49-F238E27FC236}">
                <a16:creationId xmlns:a16="http://schemas.microsoft.com/office/drawing/2014/main" id="{DAC12931-F87F-42C1-B094-6BFA319D9580}"/>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740352" y="15673"/>
            <a:ext cx="1296104" cy="129610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68963351"/>
      </p:ext>
    </p:extLst>
  </p:cSld>
  <p:clrMapOvr>
    <a:masterClrMapping/>
  </p:clrMapOvr>
  <p:transition spd="slow">
    <p:wipe dir="r"/>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sz="4400" dirty="0">
                <a:solidFill>
                  <a:srgbClr val="C00000"/>
                </a:solidFill>
                <a:effectLst>
                  <a:outerShdw blurRad="38100" dist="38100" dir="2700000" algn="tl">
                    <a:srgbClr val="000000">
                      <a:alpha val="43137"/>
                    </a:srgbClr>
                  </a:outerShdw>
                </a:effectLst>
                <a:latin typeface="Times New Roman" pitchFamily="18" charset="0"/>
                <a:cs typeface="Times New Roman" pitchFamily="18" charset="0"/>
              </a:rPr>
              <a:t>Example 5 :</a:t>
            </a:r>
            <a:endParaRPr lang="en-GB" sz="4400" dirty="0">
              <a:solidFill>
                <a:srgbClr val="C00000"/>
              </a:solidFill>
              <a:effectLst>
                <a:outerShdw blurRad="38100" dist="38100" dir="2700000" algn="tl">
                  <a:srgbClr val="000000">
                    <a:alpha val="43137"/>
                  </a:srgbClr>
                </a:outerShdw>
              </a:effectLst>
              <a:latin typeface="Times New Roman" pitchFamily="18" charset="0"/>
              <a:cs typeface="Times New Roman" pitchFamily="18" charset="0"/>
            </a:endParaRPr>
          </a:p>
        </p:txBody>
      </p:sp>
      <p:sp>
        <p:nvSpPr>
          <p:cNvPr id="3" name="Content Placeholder 2"/>
          <p:cNvSpPr>
            <a:spLocks noGrp="1"/>
          </p:cNvSpPr>
          <p:nvPr>
            <p:ph idx="1"/>
          </p:nvPr>
        </p:nvSpPr>
        <p:spPr>
          <a:xfrm>
            <a:off x="762004" y="1676400"/>
            <a:ext cx="7661275" cy="4114800"/>
          </a:xfrm>
        </p:spPr>
        <p:txBody>
          <a:bodyPr/>
          <a:lstStyle/>
          <a:p>
            <a:pPr marL="0" indent="0" algn="just">
              <a:buNone/>
            </a:pPr>
            <a:r>
              <a:rPr lang="en-IN" dirty="0">
                <a:latin typeface="Times New Roman" pitchFamily="18" charset="0"/>
                <a:cs typeface="Times New Roman" pitchFamily="18" charset="0"/>
              </a:rPr>
              <a:t>Some examples of Poisson random</a:t>
            </a:r>
            <a:br>
              <a:rPr lang="en-IN" dirty="0">
                <a:latin typeface="Times New Roman" pitchFamily="18" charset="0"/>
                <a:cs typeface="Times New Roman" pitchFamily="18" charset="0"/>
              </a:rPr>
            </a:br>
            <a:r>
              <a:rPr lang="en-IN" dirty="0">
                <a:latin typeface="Times New Roman" pitchFamily="18" charset="0"/>
                <a:cs typeface="Times New Roman" pitchFamily="18" charset="0"/>
              </a:rPr>
              <a:t>variables are:</a:t>
            </a:r>
            <a:endParaRPr lang="en-GB" dirty="0">
              <a:latin typeface="Times New Roman" pitchFamily="18" charset="0"/>
              <a:cs typeface="Times New Roman" pitchFamily="18" charset="0"/>
            </a:endParaRPr>
          </a:p>
          <a:p>
            <a:pPr marL="571500" indent="-571500" algn="just">
              <a:buClrTx/>
              <a:buFont typeface="+mj-lt"/>
              <a:buAutoNum type="romanLcPeriod"/>
            </a:pPr>
            <a:r>
              <a:rPr lang="en-IN" dirty="0">
                <a:latin typeface="Times New Roman" pitchFamily="18" charset="0"/>
                <a:cs typeface="Times New Roman" pitchFamily="18" charset="0"/>
              </a:rPr>
              <a:t>The number of people arriving at bus stop </a:t>
            </a:r>
            <a:r>
              <a:rPr lang="en-GB" dirty="0">
                <a:latin typeface="Times New Roman" pitchFamily="18" charset="0"/>
                <a:cs typeface="Times New Roman" pitchFamily="18" charset="0"/>
              </a:rPr>
              <a:t>within an hour. </a:t>
            </a:r>
          </a:p>
          <a:p>
            <a:pPr marL="571500" indent="-571500" algn="just">
              <a:buClrTx/>
              <a:buFont typeface="+mj-lt"/>
              <a:buAutoNum type="romanLcPeriod"/>
            </a:pPr>
            <a:r>
              <a:rPr lang="en-IN" dirty="0">
                <a:latin typeface="Times New Roman" pitchFamily="18" charset="0"/>
                <a:cs typeface="Times New Roman" pitchFamily="18" charset="0"/>
              </a:rPr>
              <a:t>The number of patients visiting a clinic on a </a:t>
            </a:r>
            <a:r>
              <a:rPr lang="en-GB" dirty="0">
                <a:latin typeface="Times New Roman" pitchFamily="18" charset="0"/>
                <a:cs typeface="Times New Roman" pitchFamily="18" charset="0"/>
              </a:rPr>
              <a:t>given day. </a:t>
            </a:r>
          </a:p>
          <a:p>
            <a:pPr marL="571500" indent="-571500" algn="just">
              <a:buClrTx/>
              <a:buFont typeface="+mj-lt"/>
              <a:buAutoNum type="romanLcPeriod"/>
            </a:pPr>
            <a:r>
              <a:rPr lang="en-IN" dirty="0">
                <a:latin typeface="Times New Roman" pitchFamily="18" charset="0"/>
                <a:cs typeface="Times New Roman" pitchFamily="18" charset="0"/>
              </a:rPr>
              <a:t>The number of meteorites hitting a specific </a:t>
            </a:r>
            <a:r>
              <a:rPr lang="en-GB" dirty="0">
                <a:latin typeface="Times New Roman" pitchFamily="18" charset="0"/>
                <a:cs typeface="Times New Roman" pitchFamily="18" charset="0"/>
              </a:rPr>
              <a:t>area per year.</a:t>
            </a:r>
          </a:p>
        </p:txBody>
      </p:sp>
      <p:pic>
        <p:nvPicPr>
          <p:cNvPr id="9218" name="Picture 2" descr="http://lrsus.com/wp-content/uploads/2015/09/Waiting-in-line-LRS.jp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943600" y="228604"/>
            <a:ext cx="2057400" cy="930029"/>
          </a:xfrm>
          <a:prstGeom prst="rect">
            <a:avLst/>
          </a:prstGeom>
          <a:noFill/>
          <a:extLst>
            <a:ext uri="{909E8E84-426E-40DD-AFC4-6F175D3DCCD1}">
              <a14:hiddenFill xmlns:a14="http://schemas.microsoft.com/office/drawing/2010/main">
                <a:solidFill>
                  <a:srgbClr val="FFFFFF"/>
                </a:solidFill>
              </a14:hiddenFill>
            </a:ext>
          </a:extLst>
        </p:spPr>
      </p:pic>
      <p:sp>
        <p:nvSpPr>
          <p:cNvPr id="6" name="Slide Number Placeholder 5"/>
          <p:cNvSpPr>
            <a:spLocks noGrp="1"/>
          </p:cNvSpPr>
          <p:nvPr>
            <p:ph type="sldNum" sz="quarter" idx="12"/>
          </p:nvPr>
        </p:nvSpPr>
        <p:spPr/>
        <p:txBody>
          <a:bodyPr/>
          <a:lstStyle/>
          <a:p>
            <a:pPr>
              <a:defRPr/>
            </a:pPr>
            <a:fld id="{645ED874-4033-4CEE-AE69-D7CB222F48E6}" type="slidenum">
              <a:rPr lang="en-US" smtClean="0"/>
              <a:pPr>
                <a:defRPr/>
              </a:pPr>
              <a:t>30</a:t>
            </a:fld>
            <a:endParaRPr lang="en-US"/>
          </a:p>
        </p:txBody>
      </p:sp>
      <p:sp>
        <p:nvSpPr>
          <p:cNvPr id="4" name="Date Placeholder 3">
            <a:extLst>
              <a:ext uri="{FF2B5EF4-FFF2-40B4-BE49-F238E27FC236}">
                <a16:creationId xmlns:a16="http://schemas.microsoft.com/office/drawing/2014/main" id="{716E1401-FD12-47E8-AB71-2C7C89612EA3}"/>
              </a:ext>
            </a:extLst>
          </p:cNvPr>
          <p:cNvSpPr>
            <a:spLocks noGrp="1"/>
          </p:cNvSpPr>
          <p:nvPr>
            <p:ph type="dt" sz="half" idx="10"/>
          </p:nvPr>
        </p:nvSpPr>
        <p:spPr/>
        <p:txBody>
          <a:bodyPr/>
          <a:lstStyle/>
          <a:p>
            <a:pPr>
              <a:defRPr/>
            </a:pPr>
            <a:fld id="{1CF7A16D-5561-4894-B820-D1114137ADA5}" type="datetime3">
              <a:rPr lang="en-US" smtClean="0"/>
              <a:t>16 December 2025</a:t>
            </a:fld>
            <a:endParaRPr lang="en-US"/>
          </a:p>
        </p:txBody>
      </p:sp>
      <p:sp>
        <p:nvSpPr>
          <p:cNvPr id="5" name="Footer Placeholder 4">
            <a:extLst>
              <a:ext uri="{FF2B5EF4-FFF2-40B4-BE49-F238E27FC236}">
                <a16:creationId xmlns:a16="http://schemas.microsoft.com/office/drawing/2014/main" id="{13E7FE58-F6BF-405B-972A-F37B0A0FECB5}"/>
              </a:ext>
            </a:extLst>
          </p:cNvPr>
          <p:cNvSpPr>
            <a:spLocks noGrp="1"/>
          </p:cNvSpPr>
          <p:nvPr>
            <p:ph type="ftr" sz="quarter" idx="11"/>
          </p:nvPr>
        </p:nvSpPr>
        <p:spPr/>
        <p:txBody>
          <a:bodyPr/>
          <a:lstStyle/>
          <a:p>
            <a:pPr>
              <a:defRPr/>
            </a:pPr>
            <a:r>
              <a:rPr lang="en-US"/>
              <a:t>T. Mayooran</a:t>
            </a:r>
          </a:p>
        </p:txBody>
      </p:sp>
    </p:spTree>
    <p:extLst>
      <p:ext uri="{BB962C8B-B14F-4D97-AF65-F5344CB8AC3E}">
        <p14:creationId xmlns:p14="http://schemas.microsoft.com/office/powerpoint/2010/main" val="2583352528"/>
      </p:ext>
    </p:extLst>
  </p:cSld>
  <p:clrMapOvr>
    <a:masterClrMapping/>
  </p:clrMapOvr>
  <p:transition spd="slow">
    <p:wipe dir="r"/>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796929" y="1676400"/>
            <a:ext cx="7661275" cy="4114800"/>
          </a:xfrm>
        </p:spPr>
        <p:txBody>
          <a:bodyPr/>
          <a:lstStyle/>
          <a:p>
            <a:pPr marL="0" indent="0" algn="just">
              <a:buNone/>
            </a:pPr>
            <a:r>
              <a:rPr lang="en-US" dirty="0">
                <a:latin typeface="Times New Roman" panose="02020603050405020304" pitchFamily="18" charset="0"/>
                <a:cs typeface="Times New Roman" panose="02020603050405020304" pitchFamily="18" charset="0"/>
              </a:rPr>
              <a:t>Births in a hospital occur randomly at an average rate of 1.8 births per hour. What is the probability of observing 4 births in a given hour at the hospital?(                  )</a:t>
            </a:r>
          </a:p>
          <a:p>
            <a:pPr marL="0" indent="0" algn="just">
              <a:buNone/>
            </a:pPr>
            <a:endParaRPr lang="en-US" dirty="0">
              <a:latin typeface="Times New Roman" panose="02020603050405020304" pitchFamily="18" charset="0"/>
              <a:cs typeface="Times New Roman" panose="02020603050405020304" pitchFamily="18" charset="0"/>
            </a:endParaRPr>
          </a:p>
          <a:p>
            <a:pPr algn="just"/>
            <a:r>
              <a:rPr lang="en-US" sz="2400" dirty="0">
                <a:latin typeface="Times New Roman" panose="02020603050405020304" pitchFamily="18" charset="0"/>
                <a:cs typeface="Times New Roman" panose="02020603050405020304" pitchFamily="18" charset="0"/>
              </a:rPr>
              <a:t>What is the probability of observing at least 2 births in a given hour at the hospital?</a:t>
            </a:r>
          </a:p>
          <a:p>
            <a:pPr algn="just"/>
            <a:r>
              <a:rPr lang="en-US" sz="2400" dirty="0">
                <a:latin typeface="Times New Roman" panose="02020603050405020304" pitchFamily="18" charset="0"/>
                <a:cs typeface="Times New Roman" panose="02020603050405020304" pitchFamily="18" charset="0"/>
              </a:rPr>
              <a:t>What is the probability of observing 2 births in a given day at the hospital?</a:t>
            </a:r>
          </a:p>
          <a:p>
            <a:pPr marL="0" indent="0" algn="just">
              <a:buNone/>
            </a:pPr>
            <a:endParaRPr lang="en-US" dirty="0">
              <a:latin typeface="Times New Roman" panose="02020603050405020304" pitchFamily="18" charset="0"/>
              <a:cs typeface="Times New Roman" panose="02020603050405020304" pitchFamily="18" charset="0"/>
            </a:endParaRPr>
          </a:p>
        </p:txBody>
      </p:sp>
      <p:sp>
        <p:nvSpPr>
          <p:cNvPr id="6" name="Rectangle 5"/>
          <p:cNvSpPr/>
          <p:nvPr/>
        </p:nvSpPr>
        <p:spPr>
          <a:xfrm>
            <a:off x="5226171" y="3124204"/>
            <a:ext cx="2089033" cy="584775"/>
          </a:xfrm>
          <a:prstGeom prst="rect">
            <a:avLst/>
          </a:prstGeom>
        </p:spPr>
        <p:txBody>
          <a:bodyPr wrap="none">
            <a:spAutoFit/>
          </a:bodyPr>
          <a:lstStyle/>
          <a:p>
            <a:r>
              <a:rPr lang="en-US" sz="3200" dirty="0">
                <a:solidFill>
                  <a:srgbClr val="FF0000"/>
                </a:solidFill>
                <a:latin typeface="Times New Roman" panose="02020603050405020304" pitchFamily="18" charset="0"/>
                <a:cs typeface="Times New Roman" panose="02020603050405020304" pitchFamily="18" charset="0"/>
              </a:rPr>
              <a:t>Ans:0.0723</a:t>
            </a:r>
            <a:endParaRPr lang="en-US" sz="3200" dirty="0"/>
          </a:p>
        </p:txBody>
      </p:sp>
      <p:sp>
        <p:nvSpPr>
          <p:cNvPr id="7" name="Title 1"/>
          <p:cNvSpPr>
            <a:spLocks noGrp="1"/>
          </p:cNvSpPr>
          <p:nvPr>
            <p:ph type="title"/>
          </p:nvPr>
        </p:nvSpPr>
        <p:spPr/>
        <p:txBody>
          <a:bodyPr/>
          <a:lstStyle/>
          <a:p>
            <a:r>
              <a:rPr lang="en-IN" sz="4500" dirty="0">
                <a:solidFill>
                  <a:srgbClr val="C00000"/>
                </a:solidFill>
                <a:effectLst>
                  <a:outerShdw blurRad="38100" dist="38100" dir="2700000" algn="tl">
                    <a:srgbClr val="000000">
                      <a:alpha val="43137"/>
                    </a:srgbClr>
                  </a:outerShdw>
                </a:effectLst>
                <a:latin typeface="Times New Roman" pitchFamily="18" charset="0"/>
                <a:cs typeface="Times New Roman" pitchFamily="18" charset="0"/>
              </a:rPr>
              <a:t>Example 6 :</a:t>
            </a:r>
            <a:endParaRPr lang="en-GB" sz="4500" dirty="0"/>
          </a:p>
        </p:txBody>
      </p:sp>
      <p:pic>
        <p:nvPicPr>
          <p:cNvPr id="19458" name="Picture 2" descr="Image result for hospital"/>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619843" y="62888"/>
            <a:ext cx="2498726" cy="1760590"/>
          </a:xfrm>
          <a:prstGeom prst="rect">
            <a:avLst/>
          </a:prstGeom>
          <a:noFill/>
          <a:extLst>
            <a:ext uri="{909E8E84-426E-40DD-AFC4-6F175D3DCCD1}">
              <a14:hiddenFill xmlns:a14="http://schemas.microsoft.com/office/drawing/2010/main">
                <a:solidFill>
                  <a:srgbClr val="FFFFFF"/>
                </a:solidFill>
              </a14:hiddenFill>
            </a:ext>
          </a:extLst>
        </p:spPr>
      </p:pic>
      <p:sp>
        <p:nvSpPr>
          <p:cNvPr id="4" name="Slide Number Placeholder 3"/>
          <p:cNvSpPr>
            <a:spLocks noGrp="1"/>
          </p:cNvSpPr>
          <p:nvPr>
            <p:ph type="sldNum" sz="quarter" idx="12"/>
          </p:nvPr>
        </p:nvSpPr>
        <p:spPr/>
        <p:txBody>
          <a:bodyPr/>
          <a:lstStyle/>
          <a:p>
            <a:pPr>
              <a:defRPr/>
            </a:pPr>
            <a:fld id="{645ED874-4033-4CEE-AE69-D7CB222F48E6}" type="slidenum">
              <a:rPr lang="en-US" smtClean="0"/>
              <a:pPr>
                <a:defRPr/>
              </a:pPr>
              <a:t>31</a:t>
            </a:fld>
            <a:endParaRPr lang="en-US"/>
          </a:p>
        </p:txBody>
      </p:sp>
      <p:sp>
        <p:nvSpPr>
          <p:cNvPr id="2" name="Date Placeholder 1">
            <a:extLst>
              <a:ext uri="{FF2B5EF4-FFF2-40B4-BE49-F238E27FC236}">
                <a16:creationId xmlns:a16="http://schemas.microsoft.com/office/drawing/2014/main" id="{290C2BBC-79C7-4CF8-8539-A2370190909A}"/>
              </a:ext>
            </a:extLst>
          </p:cNvPr>
          <p:cNvSpPr>
            <a:spLocks noGrp="1"/>
          </p:cNvSpPr>
          <p:nvPr>
            <p:ph type="dt" sz="half" idx="10"/>
          </p:nvPr>
        </p:nvSpPr>
        <p:spPr/>
        <p:txBody>
          <a:bodyPr/>
          <a:lstStyle/>
          <a:p>
            <a:pPr>
              <a:defRPr/>
            </a:pPr>
            <a:fld id="{E3388B9F-6703-4857-BB71-2C0F330A4C22}" type="datetime3">
              <a:rPr lang="en-US" smtClean="0"/>
              <a:t>16 December 2025</a:t>
            </a:fld>
            <a:endParaRPr lang="en-US"/>
          </a:p>
        </p:txBody>
      </p:sp>
      <p:sp>
        <p:nvSpPr>
          <p:cNvPr id="5" name="Footer Placeholder 4">
            <a:extLst>
              <a:ext uri="{FF2B5EF4-FFF2-40B4-BE49-F238E27FC236}">
                <a16:creationId xmlns:a16="http://schemas.microsoft.com/office/drawing/2014/main" id="{3C6CA5F3-EDE4-443D-BDB8-12D8F75E78D7}"/>
              </a:ext>
            </a:extLst>
          </p:cNvPr>
          <p:cNvSpPr>
            <a:spLocks noGrp="1"/>
          </p:cNvSpPr>
          <p:nvPr>
            <p:ph type="ftr" sz="quarter" idx="11"/>
          </p:nvPr>
        </p:nvSpPr>
        <p:spPr/>
        <p:txBody>
          <a:bodyPr/>
          <a:lstStyle/>
          <a:p>
            <a:pPr>
              <a:defRPr/>
            </a:pPr>
            <a:r>
              <a:rPr lang="en-US"/>
              <a:t>T. Mayooran</a:t>
            </a:r>
          </a:p>
        </p:txBody>
      </p:sp>
    </p:spTree>
    <p:extLst>
      <p:ext uri="{BB962C8B-B14F-4D97-AF65-F5344CB8AC3E}">
        <p14:creationId xmlns:p14="http://schemas.microsoft.com/office/powerpoint/2010/main" val="2406877766"/>
      </p:ext>
    </p:extLst>
  </p:cSld>
  <p:clrMapOvr>
    <a:masterClrMapping/>
  </p:clrMapOvr>
  <p:transition spd="slow">
    <p:wipe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1000"/>
                                        <p:tgtEl>
                                          <p:spTgt spid="6"/>
                                        </p:tgtEl>
                                      </p:cBhvr>
                                    </p:animEffect>
                                    <p:anim calcmode="lin" valueType="num">
                                      <p:cBhvr>
                                        <p:cTn id="8" dur="1000" fill="hold"/>
                                        <p:tgtEl>
                                          <p:spTgt spid="6"/>
                                        </p:tgtEl>
                                        <p:attrNameLst>
                                          <p:attrName>ppt_x</p:attrName>
                                        </p:attrNameLst>
                                      </p:cBhvr>
                                      <p:tavLst>
                                        <p:tav tm="0">
                                          <p:val>
                                            <p:strVal val="#ppt_x"/>
                                          </p:val>
                                        </p:tav>
                                        <p:tav tm="100000">
                                          <p:val>
                                            <p:strVal val="#ppt_x"/>
                                          </p:val>
                                        </p:tav>
                                      </p:tavLst>
                                    </p:anim>
                                    <p:anim calcmode="lin" valueType="num">
                                      <p:cBhvr>
                                        <p:cTn id="9" dur="10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3">
                                            <p:txEl>
                                              <p:pRg st="2" end="2"/>
                                            </p:txEl>
                                          </p:spTgt>
                                        </p:tgtEl>
                                        <p:attrNameLst>
                                          <p:attrName>style.visibility</p:attrName>
                                        </p:attrNameLst>
                                      </p:cBhvr>
                                      <p:to>
                                        <p:strVal val="visible"/>
                                      </p:to>
                                    </p:set>
                                    <p:animEffect transition="in" filter="fade">
                                      <p:cBhvr>
                                        <p:cTn id="14" dur="1000"/>
                                        <p:tgtEl>
                                          <p:spTgt spid="3">
                                            <p:txEl>
                                              <p:pRg st="2" end="2"/>
                                            </p:txEl>
                                          </p:spTgt>
                                        </p:tgtEl>
                                      </p:cBhvr>
                                    </p:animEffect>
                                    <p:anim calcmode="lin" valueType="num">
                                      <p:cBhvr>
                                        <p:cTn id="15"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16" dur="1000" fill="hold"/>
                                        <p:tgtEl>
                                          <p:spTgt spid="3">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nodeType="clickEffect">
                                  <p:stCondLst>
                                    <p:cond delay="0"/>
                                  </p:stCondLst>
                                  <p:childTnLst>
                                    <p:set>
                                      <p:cBhvr>
                                        <p:cTn id="20" dur="1" fill="hold">
                                          <p:stCondLst>
                                            <p:cond delay="0"/>
                                          </p:stCondLst>
                                        </p:cTn>
                                        <p:tgtEl>
                                          <p:spTgt spid="3">
                                            <p:txEl>
                                              <p:pRg st="3" end="3"/>
                                            </p:txEl>
                                          </p:spTgt>
                                        </p:tgtEl>
                                        <p:attrNameLst>
                                          <p:attrName>style.visibility</p:attrName>
                                        </p:attrNameLst>
                                      </p:cBhvr>
                                      <p:to>
                                        <p:strVal val="visible"/>
                                      </p:to>
                                    </p:set>
                                    <p:animEffect transition="in" filter="fade">
                                      <p:cBhvr>
                                        <p:cTn id="21" dur="1000"/>
                                        <p:tgtEl>
                                          <p:spTgt spid="3">
                                            <p:txEl>
                                              <p:pRg st="3" end="3"/>
                                            </p:txEl>
                                          </p:spTgt>
                                        </p:tgtEl>
                                      </p:cBhvr>
                                    </p:animEffect>
                                    <p:anim calcmode="lin" valueType="num">
                                      <p:cBhvr>
                                        <p:cTn id="22"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23" dur="1000" fill="hold"/>
                                        <p:tgtEl>
                                          <p:spTgt spid="3">
                                            <p:txEl>
                                              <p:pRg st="3" end="3"/>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IN" sz="4500" dirty="0">
                <a:solidFill>
                  <a:srgbClr val="C00000"/>
                </a:solidFill>
                <a:effectLst>
                  <a:outerShdw blurRad="38100" dist="38100" dir="2700000" algn="tl">
                    <a:srgbClr val="000000">
                      <a:alpha val="43137"/>
                    </a:srgbClr>
                  </a:outerShdw>
                </a:effectLst>
                <a:latin typeface="Times New Roman" pitchFamily="18" charset="0"/>
                <a:cs typeface="Times New Roman" pitchFamily="18" charset="0"/>
              </a:rPr>
              <a:t>Example 7 :</a:t>
            </a:r>
            <a:endParaRPr lang="en-GB" sz="4500" dirty="0"/>
          </a:p>
        </p:txBody>
      </p:sp>
      <p:sp>
        <p:nvSpPr>
          <p:cNvPr id="3" name="Content Placeholder 2"/>
          <p:cNvSpPr>
            <a:spLocks noGrp="1"/>
          </p:cNvSpPr>
          <p:nvPr>
            <p:ph idx="1"/>
          </p:nvPr>
        </p:nvSpPr>
        <p:spPr>
          <a:xfrm>
            <a:off x="762004" y="1676400"/>
            <a:ext cx="7661275" cy="4114800"/>
          </a:xfrm>
        </p:spPr>
        <p:txBody>
          <a:bodyPr/>
          <a:lstStyle/>
          <a:p>
            <a:pPr marL="0" indent="0" algn="just">
              <a:buNone/>
            </a:pPr>
            <a:r>
              <a:rPr lang="en-IN" dirty="0">
                <a:latin typeface="Times New Roman" pitchFamily="18" charset="0"/>
                <a:cs typeface="Times New Roman" pitchFamily="18" charset="0"/>
              </a:rPr>
              <a:t>The transportation system at a new large airport is designed so that it will have one failure every ten days. What is the probability that it will not fail on the “Grand Opening Day”?</a:t>
            </a:r>
            <a:endParaRPr lang="en-GB" dirty="0">
              <a:latin typeface="Times New Roman" pitchFamily="18" charset="0"/>
              <a:cs typeface="Times New Roman" pitchFamily="18" charset="0"/>
            </a:endParaRPr>
          </a:p>
        </p:txBody>
      </p:sp>
      <p:sp>
        <p:nvSpPr>
          <p:cNvPr id="6" name="Slide Number Placeholder 5"/>
          <p:cNvSpPr>
            <a:spLocks noGrp="1"/>
          </p:cNvSpPr>
          <p:nvPr>
            <p:ph type="sldNum" sz="quarter" idx="12"/>
          </p:nvPr>
        </p:nvSpPr>
        <p:spPr/>
        <p:txBody>
          <a:bodyPr/>
          <a:lstStyle/>
          <a:p>
            <a:pPr>
              <a:defRPr/>
            </a:pPr>
            <a:fld id="{645ED874-4033-4CEE-AE69-D7CB222F48E6}" type="slidenum">
              <a:rPr lang="en-US" smtClean="0"/>
              <a:pPr>
                <a:defRPr/>
              </a:pPr>
              <a:t>32</a:t>
            </a:fld>
            <a:endParaRPr lang="en-US"/>
          </a:p>
        </p:txBody>
      </p:sp>
      <p:sp>
        <p:nvSpPr>
          <p:cNvPr id="4" name="Date Placeholder 3">
            <a:extLst>
              <a:ext uri="{FF2B5EF4-FFF2-40B4-BE49-F238E27FC236}">
                <a16:creationId xmlns:a16="http://schemas.microsoft.com/office/drawing/2014/main" id="{B50DC0D9-A5FC-4F4F-90CA-CD9A99D5F507}"/>
              </a:ext>
            </a:extLst>
          </p:cNvPr>
          <p:cNvSpPr>
            <a:spLocks noGrp="1"/>
          </p:cNvSpPr>
          <p:nvPr>
            <p:ph type="dt" sz="half" idx="10"/>
          </p:nvPr>
        </p:nvSpPr>
        <p:spPr/>
        <p:txBody>
          <a:bodyPr/>
          <a:lstStyle/>
          <a:p>
            <a:pPr>
              <a:defRPr/>
            </a:pPr>
            <a:fld id="{1B167F89-51DE-4E5A-9643-6D09BE10EC3C}" type="datetime3">
              <a:rPr lang="en-US" smtClean="0"/>
              <a:t>16 December 2025</a:t>
            </a:fld>
            <a:endParaRPr lang="en-US"/>
          </a:p>
        </p:txBody>
      </p:sp>
      <p:sp>
        <p:nvSpPr>
          <p:cNvPr id="5" name="Footer Placeholder 4">
            <a:extLst>
              <a:ext uri="{FF2B5EF4-FFF2-40B4-BE49-F238E27FC236}">
                <a16:creationId xmlns:a16="http://schemas.microsoft.com/office/drawing/2014/main" id="{B18C5BC7-B53A-448C-AA9F-5D04B0C2C7EB}"/>
              </a:ext>
            </a:extLst>
          </p:cNvPr>
          <p:cNvSpPr>
            <a:spLocks noGrp="1"/>
          </p:cNvSpPr>
          <p:nvPr>
            <p:ph type="ftr" sz="quarter" idx="11"/>
          </p:nvPr>
        </p:nvSpPr>
        <p:spPr/>
        <p:txBody>
          <a:bodyPr/>
          <a:lstStyle/>
          <a:p>
            <a:pPr>
              <a:defRPr/>
            </a:pPr>
            <a:r>
              <a:rPr lang="en-US"/>
              <a:t>T. Mayooran</a:t>
            </a:r>
          </a:p>
        </p:txBody>
      </p:sp>
    </p:spTree>
    <p:extLst>
      <p:ext uri="{BB962C8B-B14F-4D97-AF65-F5344CB8AC3E}">
        <p14:creationId xmlns:p14="http://schemas.microsoft.com/office/powerpoint/2010/main" val="3479257543"/>
      </p:ext>
    </p:extLst>
  </p:cSld>
  <p:clrMapOvr>
    <a:masterClrMapping/>
  </p:clrMapOvr>
  <p:transition spd="slow">
    <p:wipe dir="r"/>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31867" y="76204"/>
            <a:ext cx="7158037" cy="1412875"/>
          </a:xfrm>
        </p:spPr>
        <p:txBody>
          <a:bodyPr/>
          <a:lstStyle/>
          <a:p>
            <a:r>
              <a:rPr lang="en-GB" dirty="0">
                <a:solidFill>
                  <a:srgbClr val="C00000"/>
                </a:solidFill>
                <a:effectLst>
                  <a:outerShdw blurRad="38100" dist="38100" dir="2700000" algn="tl">
                    <a:srgbClr val="000000">
                      <a:alpha val="43137"/>
                    </a:srgbClr>
                  </a:outerShdw>
                </a:effectLst>
                <a:latin typeface="Times New Roman" pitchFamily="18" charset="0"/>
                <a:cs typeface="Times New Roman" pitchFamily="18" charset="0"/>
              </a:rPr>
              <a:t>Example 8 :</a:t>
            </a:r>
            <a:endParaRPr lang="en-GB" dirty="0"/>
          </a:p>
        </p:txBody>
      </p:sp>
      <p:sp>
        <p:nvSpPr>
          <p:cNvPr id="3" name="Content Placeholder 2"/>
          <p:cNvSpPr>
            <a:spLocks noGrp="1"/>
          </p:cNvSpPr>
          <p:nvPr>
            <p:ph idx="1"/>
          </p:nvPr>
        </p:nvSpPr>
        <p:spPr>
          <a:xfrm>
            <a:off x="685804" y="1676400"/>
            <a:ext cx="7661275" cy="4114800"/>
          </a:xfrm>
        </p:spPr>
        <p:txBody>
          <a:bodyPr/>
          <a:lstStyle/>
          <a:p>
            <a:pPr marL="0" indent="0" algn="just">
              <a:buNone/>
            </a:pPr>
            <a:r>
              <a:rPr lang="en-US" dirty="0">
                <a:latin typeface="Times New Roman" pitchFamily="18" charset="0"/>
                <a:cs typeface="Times New Roman" pitchFamily="18" charset="0"/>
              </a:rPr>
              <a:t>Airline passengers arrive randomly and independently at the passenger-screening facility at a major international airport. The mean arrival rate is 10 passengers per minute. What is the probability that three or fewer passengers will arrive in a 30 second period? </a:t>
            </a:r>
            <a:endParaRPr lang="en-GB" dirty="0">
              <a:latin typeface="Times New Roman" pitchFamily="18" charset="0"/>
              <a:cs typeface="Times New Roman" pitchFamily="18" charset="0"/>
            </a:endParaRPr>
          </a:p>
        </p:txBody>
      </p:sp>
      <p:sp>
        <p:nvSpPr>
          <p:cNvPr id="6" name="Slide Number Placeholder 5"/>
          <p:cNvSpPr>
            <a:spLocks noGrp="1"/>
          </p:cNvSpPr>
          <p:nvPr>
            <p:ph type="sldNum" sz="quarter" idx="12"/>
          </p:nvPr>
        </p:nvSpPr>
        <p:spPr/>
        <p:txBody>
          <a:bodyPr/>
          <a:lstStyle/>
          <a:p>
            <a:pPr>
              <a:defRPr/>
            </a:pPr>
            <a:fld id="{645ED874-4033-4CEE-AE69-D7CB222F48E6}" type="slidenum">
              <a:rPr lang="en-US" smtClean="0"/>
              <a:pPr>
                <a:defRPr/>
              </a:pPr>
              <a:t>33</a:t>
            </a:fld>
            <a:endParaRPr lang="en-US"/>
          </a:p>
        </p:txBody>
      </p:sp>
      <p:sp>
        <p:nvSpPr>
          <p:cNvPr id="4" name="Date Placeholder 3">
            <a:extLst>
              <a:ext uri="{FF2B5EF4-FFF2-40B4-BE49-F238E27FC236}">
                <a16:creationId xmlns:a16="http://schemas.microsoft.com/office/drawing/2014/main" id="{BA0029A6-6041-4DDA-B903-BF806128F04E}"/>
              </a:ext>
            </a:extLst>
          </p:cNvPr>
          <p:cNvSpPr>
            <a:spLocks noGrp="1"/>
          </p:cNvSpPr>
          <p:nvPr>
            <p:ph type="dt" sz="half" idx="10"/>
          </p:nvPr>
        </p:nvSpPr>
        <p:spPr/>
        <p:txBody>
          <a:bodyPr/>
          <a:lstStyle/>
          <a:p>
            <a:pPr>
              <a:defRPr/>
            </a:pPr>
            <a:fld id="{1E7A21E6-A7EE-4EAE-B102-2A5E242977C6}" type="datetime3">
              <a:rPr lang="en-US" smtClean="0"/>
              <a:t>16 December 2025</a:t>
            </a:fld>
            <a:endParaRPr lang="en-US"/>
          </a:p>
        </p:txBody>
      </p:sp>
      <p:sp>
        <p:nvSpPr>
          <p:cNvPr id="5" name="Footer Placeholder 4">
            <a:extLst>
              <a:ext uri="{FF2B5EF4-FFF2-40B4-BE49-F238E27FC236}">
                <a16:creationId xmlns:a16="http://schemas.microsoft.com/office/drawing/2014/main" id="{6B03D425-2FBD-4155-9D50-A88EA0F433CF}"/>
              </a:ext>
            </a:extLst>
          </p:cNvPr>
          <p:cNvSpPr>
            <a:spLocks noGrp="1"/>
          </p:cNvSpPr>
          <p:nvPr>
            <p:ph type="ftr" sz="quarter" idx="11"/>
          </p:nvPr>
        </p:nvSpPr>
        <p:spPr/>
        <p:txBody>
          <a:bodyPr/>
          <a:lstStyle/>
          <a:p>
            <a:pPr>
              <a:defRPr/>
            </a:pPr>
            <a:r>
              <a:rPr lang="en-US"/>
              <a:t>T. Mayooran</a:t>
            </a:r>
          </a:p>
        </p:txBody>
      </p:sp>
    </p:spTree>
    <p:extLst>
      <p:ext uri="{BB962C8B-B14F-4D97-AF65-F5344CB8AC3E}">
        <p14:creationId xmlns:p14="http://schemas.microsoft.com/office/powerpoint/2010/main" val="2227591289"/>
      </p:ext>
    </p:extLst>
  </p:cSld>
  <p:clrMapOvr>
    <a:masterClrMapping/>
  </p:clrMapOvr>
  <p:transition spd="slow">
    <p:wipe dir="r"/>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2FAE69-D3A9-A97F-B0A8-7B33081B240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51F5954-1B3D-6319-2B9E-05A939B195EB}"/>
              </a:ext>
            </a:extLst>
          </p:cNvPr>
          <p:cNvSpPr>
            <a:spLocks noGrp="1"/>
          </p:cNvSpPr>
          <p:nvPr>
            <p:ph type="title"/>
          </p:nvPr>
        </p:nvSpPr>
        <p:spPr/>
        <p:txBody>
          <a:bodyPr/>
          <a:lstStyle/>
          <a:p>
            <a:r>
              <a:rPr lang="en-GB" dirty="0">
                <a:solidFill>
                  <a:srgbClr val="C00000"/>
                </a:solidFill>
                <a:effectLst>
                  <a:outerShdw blurRad="38100" dist="38100" dir="2700000" algn="tl">
                    <a:srgbClr val="000000">
                      <a:alpha val="43137"/>
                    </a:srgbClr>
                  </a:outerShdw>
                </a:effectLst>
                <a:latin typeface="Times New Roman" pitchFamily="18" charset="0"/>
                <a:cs typeface="Times New Roman" pitchFamily="18" charset="0"/>
              </a:rPr>
              <a:t>Exercises:</a:t>
            </a:r>
            <a:endParaRPr lang="en-GB" dirty="0"/>
          </a:p>
        </p:txBody>
      </p:sp>
      <p:sp>
        <p:nvSpPr>
          <p:cNvPr id="4" name="Slide Number Placeholder 3">
            <a:extLst>
              <a:ext uri="{FF2B5EF4-FFF2-40B4-BE49-F238E27FC236}">
                <a16:creationId xmlns:a16="http://schemas.microsoft.com/office/drawing/2014/main" id="{4698CE0D-F454-4560-CAAA-B347F1E4BBAB}"/>
              </a:ext>
            </a:extLst>
          </p:cNvPr>
          <p:cNvSpPr>
            <a:spLocks noGrp="1"/>
          </p:cNvSpPr>
          <p:nvPr>
            <p:ph type="sldNum" sz="quarter" idx="12"/>
          </p:nvPr>
        </p:nvSpPr>
        <p:spPr/>
        <p:txBody>
          <a:bodyPr/>
          <a:lstStyle/>
          <a:p>
            <a:pPr>
              <a:defRPr/>
            </a:pPr>
            <a:fld id="{645ED874-4033-4CEE-AE69-D7CB222F48E6}" type="slidenum">
              <a:rPr lang="en-US" smtClean="0"/>
              <a:pPr>
                <a:defRPr/>
              </a:pPr>
              <a:t>34</a:t>
            </a:fld>
            <a:endParaRPr lang="en-US"/>
          </a:p>
        </p:txBody>
      </p:sp>
      <p:sp>
        <p:nvSpPr>
          <p:cNvPr id="3" name="Date Placeholder 2">
            <a:extLst>
              <a:ext uri="{FF2B5EF4-FFF2-40B4-BE49-F238E27FC236}">
                <a16:creationId xmlns:a16="http://schemas.microsoft.com/office/drawing/2014/main" id="{895BE999-925D-5E48-68A7-18781A1EE276}"/>
              </a:ext>
            </a:extLst>
          </p:cNvPr>
          <p:cNvSpPr>
            <a:spLocks noGrp="1"/>
          </p:cNvSpPr>
          <p:nvPr>
            <p:ph type="dt" sz="half" idx="10"/>
          </p:nvPr>
        </p:nvSpPr>
        <p:spPr/>
        <p:txBody>
          <a:bodyPr/>
          <a:lstStyle/>
          <a:p>
            <a:pPr>
              <a:defRPr/>
            </a:pPr>
            <a:fld id="{E9EF4D00-61EE-4569-A1E2-EA8BC7728858}" type="datetime3">
              <a:rPr lang="en-US" smtClean="0"/>
              <a:t>16 December 2025</a:t>
            </a:fld>
            <a:endParaRPr lang="en-US"/>
          </a:p>
        </p:txBody>
      </p:sp>
      <p:sp>
        <p:nvSpPr>
          <p:cNvPr id="5" name="Footer Placeholder 4">
            <a:extLst>
              <a:ext uri="{FF2B5EF4-FFF2-40B4-BE49-F238E27FC236}">
                <a16:creationId xmlns:a16="http://schemas.microsoft.com/office/drawing/2014/main" id="{10BD74EF-F0C8-ADA8-15E2-06C100D282E5}"/>
              </a:ext>
            </a:extLst>
          </p:cNvPr>
          <p:cNvSpPr>
            <a:spLocks noGrp="1"/>
          </p:cNvSpPr>
          <p:nvPr>
            <p:ph type="ftr" sz="quarter" idx="11"/>
          </p:nvPr>
        </p:nvSpPr>
        <p:spPr/>
        <p:txBody>
          <a:bodyPr/>
          <a:lstStyle/>
          <a:p>
            <a:pPr>
              <a:defRPr/>
            </a:pPr>
            <a:r>
              <a:rPr lang="en-US"/>
              <a:t>T. Mayooran</a:t>
            </a:r>
          </a:p>
        </p:txBody>
      </p:sp>
      <p:sp>
        <p:nvSpPr>
          <p:cNvPr id="7" name="TextBox 6">
            <a:extLst>
              <a:ext uri="{FF2B5EF4-FFF2-40B4-BE49-F238E27FC236}">
                <a16:creationId xmlns:a16="http://schemas.microsoft.com/office/drawing/2014/main" id="{798DC929-1457-F404-C90C-775E99118218}"/>
              </a:ext>
            </a:extLst>
          </p:cNvPr>
          <p:cNvSpPr txBox="1"/>
          <p:nvPr/>
        </p:nvSpPr>
        <p:spPr>
          <a:xfrm>
            <a:off x="838200" y="2133600"/>
            <a:ext cx="7696200" cy="2677656"/>
          </a:xfrm>
          <a:prstGeom prst="rect">
            <a:avLst/>
          </a:prstGeom>
          <a:noFill/>
        </p:spPr>
        <p:txBody>
          <a:bodyPr wrap="square" rtlCol="0">
            <a:spAutoFit/>
          </a:bodyPr>
          <a:lstStyle/>
          <a:p>
            <a:pPr algn="just"/>
            <a:r>
              <a:rPr lang="en-US" sz="2400" dirty="0">
                <a:latin typeface="Corbel" panose="020B0503020204020204" pitchFamily="34" charset="0"/>
              </a:rPr>
              <a:t>Please visit the course page for Week 2 and complete the exercises listed in the "Practice" section under the title </a:t>
            </a:r>
            <a:r>
              <a:rPr lang="en-US" sz="2400" b="1" dirty="0">
                <a:latin typeface="Corbel" panose="020B0503020204020204" pitchFamily="34" charset="0"/>
              </a:rPr>
              <a:t>"Practice Problems.“</a:t>
            </a:r>
          </a:p>
          <a:p>
            <a:pPr algn="just"/>
            <a:endParaRPr lang="en-US" sz="2400" dirty="0">
              <a:latin typeface="Corbel" panose="020B0503020204020204" pitchFamily="34" charset="0"/>
            </a:endParaRPr>
          </a:p>
          <a:p>
            <a:pPr algn="just"/>
            <a:r>
              <a:rPr lang="en-US" sz="2400" dirty="0">
                <a:latin typeface="Corbel" panose="020B0503020204020204" pitchFamily="34" charset="0"/>
              </a:rPr>
              <a:t>You can find them here: </a:t>
            </a:r>
          </a:p>
          <a:p>
            <a:pPr algn="just"/>
            <a:r>
              <a:rPr lang="en-US" sz="2400" dirty="0">
                <a:latin typeface="Corbel" panose="020B0503020204020204" pitchFamily="34" charset="0"/>
                <a:hlinkClick r:id="rId2"/>
              </a:rPr>
              <a:t>https://mayooran1987.github.io/MC3020_E24/weeks/week-2.html</a:t>
            </a:r>
            <a:endParaRPr lang="en-US" sz="2400" dirty="0">
              <a:latin typeface="Corbel" panose="020B0503020204020204" pitchFamily="34" charset="0"/>
            </a:endParaRPr>
          </a:p>
        </p:txBody>
      </p:sp>
    </p:spTree>
    <p:extLst>
      <p:ext uri="{BB962C8B-B14F-4D97-AF65-F5344CB8AC3E}">
        <p14:creationId xmlns:p14="http://schemas.microsoft.com/office/powerpoint/2010/main" val="4229818888"/>
      </p:ext>
    </p:extLst>
  </p:cSld>
  <p:clrMapOvr>
    <a:masterClrMapping/>
  </p:clrMapOvr>
  <p:transition spd="slow">
    <p:wipe dir="r"/>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33404" y="2048456"/>
            <a:ext cx="8301037" cy="1412875"/>
          </a:xfrm>
        </p:spPr>
        <p:txBody>
          <a:bodyPr/>
          <a:lstStyle/>
          <a:p>
            <a:pPr algn="ctr"/>
            <a:r>
              <a:rPr lang="en-GB" sz="4800" dirty="0">
                <a:solidFill>
                  <a:srgbClr val="C0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Hypergeometric Distribution</a:t>
            </a:r>
          </a:p>
        </p:txBody>
      </p:sp>
      <p:sp>
        <p:nvSpPr>
          <p:cNvPr id="4" name="Slide Number Placeholder 3"/>
          <p:cNvSpPr>
            <a:spLocks noGrp="1"/>
          </p:cNvSpPr>
          <p:nvPr>
            <p:ph type="sldNum" sz="quarter" idx="12"/>
          </p:nvPr>
        </p:nvSpPr>
        <p:spPr/>
        <p:txBody>
          <a:bodyPr/>
          <a:lstStyle/>
          <a:p>
            <a:pPr>
              <a:defRPr/>
            </a:pPr>
            <a:fld id="{645ED874-4033-4CEE-AE69-D7CB222F48E6}" type="slidenum">
              <a:rPr lang="en-US" smtClean="0"/>
              <a:pPr>
                <a:defRPr/>
              </a:pPr>
              <a:t>35</a:t>
            </a:fld>
            <a:endParaRPr lang="en-US"/>
          </a:p>
        </p:txBody>
      </p:sp>
      <p:sp>
        <p:nvSpPr>
          <p:cNvPr id="3" name="Date Placeholder 2">
            <a:extLst>
              <a:ext uri="{FF2B5EF4-FFF2-40B4-BE49-F238E27FC236}">
                <a16:creationId xmlns:a16="http://schemas.microsoft.com/office/drawing/2014/main" id="{3FD87C7A-A04D-45D3-A6B3-89478BB02D0A}"/>
              </a:ext>
            </a:extLst>
          </p:cNvPr>
          <p:cNvSpPr>
            <a:spLocks noGrp="1"/>
          </p:cNvSpPr>
          <p:nvPr>
            <p:ph type="dt" sz="half" idx="10"/>
          </p:nvPr>
        </p:nvSpPr>
        <p:spPr/>
        <p:txBody>
          <a:bodyPr/>
          <a:lstStyle/>
          <a:p>
            <a:pPr>
              <a:defRPr/>
            </a:pPr>
            <a:fld id="{E5976918-E21D-4366-A99A-8F0C4B673D1F}" type="datetime3">
              <a:rPr lang="en-US" smtClean="0"/>
              <a:t>16 December 2025</a:t>
            </a:fld>
            <a:endParaRPr lang="en-US"/>
          </a:p>
        </p:txBody>
      </p:sp>
      <p:sp>
        <p:nvSpPr>
          <p:cNvPr id="5" name="Footer Placeholder 4">
            <a:extLst>
              <a:ext uri="{FF2B5EF4-FFF2-40B4-BE49-F238E27FC236}">
                <a16:creationId xmlns:a16="http://schemas.microsoft.com/office/drawing/2014/main" id="{46E9D83D-138E-4239-B26D-C3372DE653B5}"/>
              </a:ext>
            </a:extLst>
          </p:cNvPr>
          <p:cNvSpPr>
            <a:spLocks noGrp="1"/>
          </p:cNvSpPr>
          <p:nvPr>
            <p:ph type="ftr" sz="quarter" idx="11"/>
          </p:nvPr>
        </p:nvSpPr>
        <p:spPr/>
        <p:txBody>
          <a:bodyPr/>
          <a:lstStyle/>
          <a:p>
            <a:pPr>
              <a:defRPr/>
            </a:pPr>
            <a:r>
              <a:rPr lang="en-US"/>
              <a:t>T. Mayooran</a:t>
            </a:r>
          </a:p>
        </p:txBody>
      </p:sp>
    </p:spTree>
    <p:extLst>
      <p:ext uri="{BB962C8B-B14F-4D97-AF65-F5344CB8AC3E}">
        <p14:creationId xmlns:p14="http://schemas.microsoft.com/office/powerpoint/2010/main" val="1426990434"/>
      </p:ext>
    </p:extLst>
  </p:cSld>
  <p:clrMapOvr>
    <a:masterClrMapping/>
  </p:clrMapOvr>
  <p:transition spd="slow">
    <p:wipe dir="r"/>
  </p:transition>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Rectangle 2"/>
          <p:cNvSpPr>
            <a:spLocks noGrp="1" noChangeArrowheads="1"/>
          </p:cNvSpPr>
          <p:nvPr>
            <p:ph type="title"/>
          </p:nvPr>
        </p:nvSpPr>
        <p:spPr/>
        <p:txBody>
          <a:bodyPr/>
          <a:lstStyle/>
          <a:p>
            <a:pPr eaLnBrk="1" hangingPunct="1"/>
            <a:r>
              <a:rPr lang="en-US" altLang="en-US" dirty="0">
                <a:solidFill>
                  <a:srgbClr val="C0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The Hypergeometric Distribution</a:t>
            </a:r>
          </a:p>
        </p:txBody>
      </p:sp>
      <p:sp>
        <p:nvSpPr>
          <p:cNvPr id="31749" name="Content Placeholder 5"/>
          <p:cNvSpPr>
            <a:spLocks noGrp="1"/>
          </p:cNvSpPr>
          <p:nvPr>
            <p:ph idx="1"/>
          </p:nvPr>
        </p:nvSpPr>
        <p:spPr>
          <a:xfrm>
            <a:off x="838204" y="1676400"/>
            <a:ext cx="7661275" cy="4114800"/>
          </a:xfrm>
        </p:spPr>
        <p:txBody>
          <a:bodyPr/>
          <a:lstStyle/>
          <a:p>
            <a:pPr algn="just" eaLnBrk="1" hangingPunct="1">
              <a:buClrTx/>
            </a:pPr>
            <a:r>
              <a:rPr lang="en-US" altLang="en-US" dirty="0">
                <a:latin typeface="Times New Roman" panose="02020603050405020304" pitchFamily="18" charset="0"/>
                <a:cs typeface="Times New Roman" panose="02020603050405020304" pitchFamily="18" charset="0"/>
              </a:rPr>
              <a:t>Randomly draw </a:t>
            </a:r>
            <a:r>
              <a:rPr lang="en-US" altLang="en-US" i="1" dirty="0">
                <a:solidFill>
                  <a:srgbClr val="0070C0"/>
                </a:solidFill>
                <a:latin typeface="Times New Roman" panose="02020603050405020304" pitchFamily="18" charset="0"/>
                <a:cs typeface="Times New Roman" panose="02020603050405020304" pitchFamily="18" charset="0"/>
              </a:rPr>
              <a:t>n</a:t>
            </a:r>
            <a:r>
              <a:rPr lang="en-US" altLang="en-US" dirty="0">
                <a:latin typeface="Times New Roman" panose="02020603050405020304" pitchFamily="18" charset="0"/>
                <a:cs typeface="Times New Roman" panose="02020603050405020304" pitchFamily="18" charset="0"/>
              </a:rPr>
              <a:t> elements from a set of </a:t>
            </a:r>
            <a:r>
              <a:rPr lang="en-US" altLang="en-US" i="1" dirty="0">
                <a:solidFill>
                  <a:srgbClr val="0070C0"/>
                </a:solidFill>
                <a:latin typeface="Times New Roman" panose="02020603050405020304" pitchFamily="18" charset="0"/>
                <a:cs typeface="Times New Roman" panose="02020603050405020304" pitchFamily="18" charset="0"/>
              </a:rPr>
              <a:t>N</a:t>
            </a:r>
            <a:r>
              <a:rPr lang="en-US" altLang="en-US" dirty="0">
                <a:latin typeface="Times New Roman" panose="02020603050405020304" pitchFamily="18" charset="0"/>
                <a:cs typeface="Times New Roman" panose="02020603050405020304" pitchFamily="18" charset="0"/>
              </a:rPr>
              <a:t> elements, without replacement.  Assume there are </a:t>
            </a:r>
            <a:r>
              <a:rPr lang="en-US" altLang="en-US" i="1" dirty="0">
                <a:solidFill>
                  <a:srgbClr val="0070C0"/>
                </a:solidFill>
                <a:latin typeface="Times New Roman" panose="02020603050405020304" pitchFamily="18" charset="0"/>
                <a:cs typeface="Times New Roman" panose="02020603050405020304" pitchFamily="18" charset="0"/>
              </a:rPr>
              <a:t>r</a:t>
            </a:r>
            <a:r>
              <a:rPr lang="en-US" altLang="en-US" dirty="0">
                <a:latin typeface="Times New Roman" panose="02020603050405020304" pitchFamily="18" charset="0"/>
                <a:cs typeface="Times New Roman" panose="02020603050405020304" pitchFamily="18" charset="0"/>
              </a:rPr>
              <a:t> successes and </a:t>
            </a:r>
            <a:r>
              <a:rPr lang="en-US" altLang="en-US" i="1" dirty="0">
                <a:solidFill>
                  <a:srgbClr val="0070C0"/>
                </a:solidFill>
                <a:latin typeface="Times New Roman" panose="02020603050405020304" pitchFamily="18" charset="0"/>
                <a:cs typeface="Times New Roman" panose="02020603050405020304" pitchFamily="18" charset="0"/>
              </a:rPr>
              <a:t>N-r</a:t>
            </a:r>
            <a:r>
              <a:rPr lang="en-US" altLang="en-US" dirty="0">
                <a:latin typeface="Times New Roman" panose="02020603050405020304" pitchFamily="18" charset="0"/>
                <a:cs typeface="Times New Roman" panose="02020603050405020304" pitchFamily="18" charset="0"/>
              </a:rPr>
              <a:t> failures in the </a:t>
            </a:r>
            <a:r>
              <a:rPr lang="en-US" altLang="en-US" i="1" dirty="0">
                <a:solidFill>
                  <a:srgbClr val="0070C0"/>
                </a:solidFill>
                <a:latin typeface="Times New Roman" panose="02020603050405020304" pitchFamily="18" charset="0"/>
                <a:cs typeface="Times New Roman" panose="02020603050405020304" pitchFamily="18" charset="0"/>
              </a:rPr>
              <a:t>N </a:t>
            </a:r>
            <a:r>
              <a:rPr lang="en-US" altLang="en-US" dirty="0">
                <a:latin typeface="Times New Roman" panose="02020603050405020304" pitchFamily="18" charset="0"/>
                <a:cs typeface="Times New Roman" panose="02020603050405020304" pitchFamily="18" charset="0"/>
              </a:rPr>
              <a:t>elements.</a:t>
            </a:r>
          </a:p>
          <a:p>
            <a:pPr algn="just" eaLnBrk="1" hangingPunct="1">
              <a:buClrTx/>
            </a:pPr>
            <a:r>
              <a:rPr lang="en-US" altLang="en-US" dirty="0">
                <a:latin typeface="Times New Roman" panose="02020603050405020304" pitchFamily="18" charset="0"/>
                <a:cs typeface="Times New Roman" panose="02020603050405020304" pitchFamily="18" charset="0"/>
              </a:rPr>
              <a:t>The hypergeometric random variable is the number of successes, </a:t>
            </a:r>
            <a:r>
              <a:rPr lang="en-US" altLang="en-US" i="1" dirty="0">
                <a:solidFill>
                  <a:srgbClr val="0070C0"/>
                </a:solidFill>
                <a:latin typeface="Times New Roman" panose="02020603050405020304" pitchFamily="18" charset="0"/>
                <a:cs typeface="Times New Roman" panose="02020603050405020304" pitchFamily="18" charset="0"/>
              </a:rPr>
              <a:t>x</a:t>
            </a:r>
            <a:r>
              <a:rPr lang="en-US" altLang="en-US" dirty="0">
                <a:latin typeface="Times New Roman" panose="02020603050405020304" pitchFamily="18" charset="0"/>
                <a:cs typeface="Times New Roman" panose="02020603050405020304" pitchFamily="18" charset="0"/>
              </a:rPr>
              <a:t>, drawn from the </a:t>
            </a:r>
            <a:r>
              <a:rPr lang="en-US" altLang="en-US" i="1" dirty="0">
                <a:solidFill>
                  <a:srgbClr val="0070C0"/>
                </a:solidFill>
                <a:latin typeface="Times New Roman" panose="02020603050405020304" pitchFamily="18" charset="0"/>
                <a:cs typeface="Times New Roman" panose="02020603050405020304" pitchFamily="18" charset="0"/>
              </a:rPr>
              <a:t>r</a:t>
            </a:r>
            <a:r>
              <a:rPr lang="en-US" altLang="en-US" dirty="0">
                <a:latin typeface="Times New Roman" panose="02020603050405020304" pitchFamily="18" charset="0"/>
                <a:cs typeface="Times New Roman" panose="02020603050405020304" pitchFamily="18" charset="0"/>
              </a:rPr>
              <a:t> available in the </a:t>
            </a:r>
            <a:r>
              <a:rPr lang="en-US" altLang="en-US" i="1" dirty="0">
                <a:solidFill>
                  <a:srgbClr val="0070C0"/>
                </a:solidFill>
                <a:latin typeface="Times New Roman" panose="02020603050405020304" pitchFamily="18" charset="0"/>
                <a:cs typeface="Times New Roman" panose="02020603050405020304" pitchFamily="18" charset="0"/>
              </a:rPr>
              <a:t>n</a:t>
            </a:r>
            <a:r>
              <a:rPr lang="en-US" altLang="en-US" dirty="0">
                <a:latin typeface="Times New Roman" panose="02020603050405020304" pitchFamily="18" charset="0"/>
                <a:cs typeface="Times New Roman" panose="02020603050405020304" pitchFamily="18" charset="0"/>
              </a:rPr>
              <a:t> selections.</a:t>
            </a:r>
          </a:p>
        </p:txBody>
      </p:sp>
      <p:sp>
        <p:nvSpPr>
          <p:cNvPr id="3" name="Slide Number Placeholder 2"/>
          <p:cNvSpPr>
            <a:spLocks noGrp="1"/>
          </p:cNvSpPr>
          <p:nvPr>
            <p:ph type="sldNum" sz="quarter" idx="12"/>
          </p:nvPr>
        </p:nvSpPr>
        <p:spPr/>
        <p:txBody>
          <a:bodyPr/>
          <a:lstStyle/>
          <a:p>
            <a:pPr>
              <a:defRPr/>
            </a:pPr>
            <a:fld id="{645ED874-4033-4CEE-AE69-D7CB222F48E6}" type="slidenum">
              <a:rPr lang="en-US" smtClean="0"/>
              <a:pPr>
                <a:defRPr/>
              </a:pPr>
              <a:t>36</a:t>
            </a:fld>
            <a:endParaRPr lang="en-US"/>
          </a:p>
        </p:txBody>
      </p:sp>
      <p:sp>
        <p:nvSpPr>
          <p:cNvPr id="2" name="Date Placeholder 1">
            <a:extLst>
              <a:ext uri="{FF2B5EF4-FFF2-40B4-BE49-F238E27FC236}">
                <a16:creationId xmlns:a16="http://schemas.microsoft.com/office/drawing/2014/main" id="{4CD866BF-0AC1-46D0-87FE-C7EEAC3421CC}"/>
              </a:ext>
            </a:extLst>
          </p:cNvPr>
          <p:cNvSpPr>
            <a:spLocks noGrp="1"/>
          </p:cNvSpPr>
          <p:nvPr>
            <p:ph type="dt" sz="half" idx="10"/>
          </p:nvPr>
        </p:nvSpPr>
        <p:spPr/>
        <p:txBody>
          <a:bodyPr/>
          <a:lstStyle/>
          <a:p>
            <a:pPr>
              <a:defRPr/>
            </a:pPr>
            <a:fld id="{EEB8F818-3AE2-49EE-A2AD-A9C1FD59581A}" type="datetime3">
              <a:rPr lang="en-US" smtClean="0"/>
              <a:t>16 December 2025</a:t>
            </a:fld>
            <a:endParaRPr lang="en-US"/>
          </a:p>
        </p:txBody>
      </p:sp>
      <p:sp>
        <p:nvSpPr>
          <p:cNvPr id="4" name="Footer Placeholder 3">
            <a:extLst>
              <a:ext uri="{FF2B5EF4-FFF2-40B4-BE49-F238E27FC236}">
                <a16:creationId xmlns:a16="http://schemas.microsoft.com/office/drawing/2014/main" id="{9E1E3B85-A61C-4FC2-8974-018FFEFF624D}"/>
              </a:ext>
            </a:extLst>
          </p:cNvPr>
          <p:cNvSpPr>
            <a:spLocks noGrp="1"/>
          </p:cNvSpPr>
          <p:nvPr>
            <p:ph type="ftr" sz="quarter" idx="11"/>
          </p:nvPr>
        </p:nvSpPr>
        <p:spPr/>
        <p:txBody>
          <a:bodyPr/>
          <a:lstStyle/>
          <a:p>
            <a:pPr>
              <a:defRPr/>
            </a:pPr>
            <a:r>
              <a:rPr lang="en-US"/>
              <a:t>T. Mayooran</a:t>
            </a:r>
          </a:p>
        </p:txBody>
      </p:sp>
    </p:spTree>
    <p:extLst>
      <p:ext uri="{BB962C8B-B14F-4D97-AF65-F5344CB8AC3E}">
        <p14:creationId xmlns:p14="http://schemas.microsoft.com/office/powerpoint/2010/main" val="2373915410"/>
      </p:ext>
    </p:extLst>
  </p:cSld>
  <p:clrMapOvr>
    <a:masterClrMapping/>
  </p:clrMapOvr>
  <p:transition spd="slow">
    <p:wipe dir="r"/>
  </p:transition>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5" name="Rectangle 2"/>
          <p:cNvSpPr>
            <a:spLocks noGrp="1" noChangeArrowheads="1"/>
          </p:cNvSpPr>
          <p:nvPr>
            <p:ph type="title"/>
          </p:nvPr>
        </p:nvSpPr>
        <p:spPr/>
        <p:txBody>
          <a:bodyPr/>
          <a:lstStyle/>
          <a:p>
            <a:pPr eaLnBrk="1" hangingPunct="1"/>
            <a:r>
              <a:rPr lang="en-US" altLang="en-US" dirty="0">
                <a:solidFill>
                  <a:srgbClr val="C0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The Hypergeometric Distribution</a:t>
            </a:r>
          </a:p>
        </p:txBody>
      </p:sp>
      <p:graphicFrame>
        <p:nvGraphicFramePr>
          <p:cNvPr id="13314" name="Content Placeholder 9"/>
          <p:cNvGraphicFramePr>
            <a:graphicFrameLocks noGrp="1" noChangeAspect="1"/>
          </p:cNvGraphicFramePr>
          <p:nvPr>
            <p:ph idx="1"/>
            <p:extLst>
              <p:ext uri="{D42A27DB-BD31-4B8C-83A1-F6EECF244321}">
                <p14:modId xmlns:p14="http://schemas.microsoft.com/office/powerpoint/2010/main" val="2084056287"/>
              </p:ext>
            </p:extLst>
          </p:nvPr>
        </p:nvGraphicFramePr>
        <p:xfrm>
          <a:off x="1371600" y="1893888"/>
          <a:ext cx="4992688" cy="1238250"/>
        </p:xfrm>
        <a:graphic>
          <a:graphicData uri="http://schemas.openxmlformats.org/presentationml/2006/ole">
            <mc:AlternateContent xmlns:mc="http://schemas.openxmlformats.org/markup-compatibility/2006">
              <mc:Choice xmlns:v="urn:schemas-microsoft-com:vml" Requires="v">
                <p:oleObj name="Equation" r:id="rId2" imgW="1587240" imgH="393480" progId="Equation.3">
                  <p:embed/>
                </p:oleObj>
              </mc:Choice>
              <mc:Fallback>
                <p:oleObj name="Equation" r:id="rId2" imgW="1587240" imgH="393480" progId="Equation.3">
                  <p:embed/>
                  <p:pic>
                    <p:nvPicPr>
                      <p:cNvPr id="13314" name="Content Placeholder 9"/>
                      <p:cNvPicPr>
                        <a:picLocks noChangeAspect="1" noChangeArrowheads="1"/>
                      </p:cNvPicPr>
                      <p:nvPr/>
                    </p:nvPicPr>
                    <p:blipFill>
                      <a:blip r:embed="rId3"/>
                      <a:srcRect/>
                      <a:stretch>
                        <a:fillRect/>
                      </a:stretch>
                    </p:blipFill>
                    <p:spPr bwMode="auto">
                      <a:xfrm>
                        <a:off x="1371600" y="1893888"/>
                        <a:ext cx="4992688" cy="1238250"/>
                      </a:xfrm>
                      <a:prstGeom prst="rect">
                        <a:avLst/>
                      </a:prstGeom>
                    </p:spPr>
                  </p:pic>
                </p:oleObj>
              </mc:Fallback>
            </mc:AlternateContent>
          </a:graphicData>
        </a:graphic>
      </p:graphicFrame>
      <p:sp>
        <p:nvSpPr>
          <p:cNvPr id="13318" name="TextBox 10"/>
          <p:cNvSpPr txBox="1">
            <a:spLocks noChangeArrowheads="1"/>
          </p:cNvSpPr>
          <p:nvPr/>
        </p:nvSpPr>
        <p:spPr bwMode="auto">
          <a:xfrm>
            <a:off x="762004" y="3516317"/>
            <a:ext cx="7749237" cy="25545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panose="020B0604020202020204" pitchFamily="34" charset="0"/>
              </a:defRPr>
            </a:lvl1pPr>
            <a:lvl2pPr marL="742950" indent="-285750" eaLnBrk="0" hangingPunct="0">
              <a:defRPr>
                <a:solidFill>
                  <a:schemeClr val="tx1"/>
                </a:solidFill>
                <a:latin typeface="Arial" panose="020B0604020202020204" pitchFamily="34" charset="0"/>
              </a:defRPr>
            </a:lvl2pPr>
            <a:lvl3pPr marL="1143000" indent="-228600" eaLnBrk="0" hangingPunct="0">
              <a:defRPr>
                <a:solidFill>
                  <a:schemeClr val="tx1"/>
                </a:solidFill>
                <a:latin typeface="Arial" panose="020B0604020202020204" pitchFamily="34" charset="0"/>
              </a:defRPr>
            </a:lvl3pPr>
            <a:lvl4pPr marL="1600200" indent="-228600" eaLnBrk="0" hangingPunct="0">
              <a:defRPr>
                <a:solidFill>
                  <a:schemeClr val="tx1"/>
                </a:solidFill>
                <a:latin typeface="Arial" panose="020B0604020202020204" pitchFamily="34" charset="0"/>
              </a:defRPr>
            </a:lvl4pPr>
            <a:lvl5pPr marL="2057400" indent="-228600" eaLnBrk="0" hangingPunct="0">
              <a:defRPr>
                <a:solidFill>
                  <a:schemeClr val="tx1"/>
                </a:solidFill>
                <a:latin typeface="Arial" panose="020B0604020202020204" pitchFamily="34" charset="0"/>
              </a:defRPr>
            </a:lvl5pPr>
            <a:lvl6pPr marL="2514600" indent="-228600" eaLnBrk="0" fontAlgn="base" hangingPunct="0">
              <a:spcBef>
                <a:spcPct val="0"/>
              </a:spcBef>
              <a:spcAft>
                <a:spcPct val="0"/>
              </a:spcAft>
              <a:defRPr>
                <a:solidFill>
                  <a:schemeClr val="tx1"/>
                </a:solidFill>
                <a:latin typeface="Arial" panose="020B0604020202020204" pitchFamily="34" charset="0"/>
              </a:defRPr>
            </a:lvl6pPr>
            <a:lvl7pPr marL="2971800" indent="-228600" eaLnBrk="0" fontAlgn="base" hangingPunct="0">
              <a:spcBef>
                <a:spcPct val="0"/>
              </a:spcBef>
              <a:spcAft>
                <a:spcPct val="0"/>
              </a:spcAft>
              <a:defRPr>
                <a:solidFill>
                  <a:schemeClr val="tx1"/>
                </a:solidFill>
                <a:latin typeface="Arial" panose="020B0604020202020204" pitchFamily="34" charset="0"/>
              </a:defRPr>
            </a:lvl7pPr>
            <a:lvl8pPr marL="3429000" indent="-228600" eaLnBrk="0" fontAlgn="base" hangingPunct="0">
              <a:spcBef>
                <a:spcPct val="0"/>
              </a:spcBef>
              <a:spcAft>
                <a:spcPct val="0"/>
              </a:spcAft>
              <a:defRPr>
                <a:solidFill>
                  <a:schemeClr val="tx1"/>
                </a:solidFill>
                <a:latin typeface="Arial" panose="020B0604020202020204" pitchFamily="34" charset="0"/>
              </a:defRPr>
            </a:lvl8pPr>
            <a:lvl9pPr marL="3886200" indent="-228600" eaLnBrk="0" fontAlgn="base" hangingPunct="0">
              <a:spcBef>
                <a:spcPct val="0"/>
              </a:spcBef>
              <a:spcAft>
                <a:spcPct val="0"/>
              </a:spcAft>
              <a:defRPr>
                <a:solidFill>
                  <a:schemeClr val="tx1"/>
                </a:solidFill>
                <a:latin typeface="Arial" panose="020B0604020202020204" pitchFamily="34" charset="0"/>
              </a:defRPr>
            </a:lvl9pPr>
          </a:lstStyle>
          <a:p>
            <a:r>
              <a:rPr lang="en-US" altLang="en-US" sz="3200" dirty="0">
                <a:latin typeface="Times New Roman" panose="02020603050405020304" pitchFamily="18" charset="0"/>
                <a:cs typeface="Times New Roman" panose="02020603050405020304" pitchFamily="18" charset="0"/>
              </a:rPr>
              <a:t>where </a:t>
            </a:r>
          </a:p>
          <a:p>
            <a:r>
              <a:rPr lang="en-US" altLang="en-US" sz="3200" i="1" dirty="0">
                <a:latin typeface="Times New Roman" panose="02020603050405020304" pitchFamily="18" charset="0"/>
                <a:cs typeface="Times New Roman" panose="02020603050405020304" pitchFamily="18" charset="0"/>
              </a:rPr>
              <a:t>N</a:t>
            </a:r>
            <a:r>
              <a:rPr lang="en-US" altLang="en-US" sz="3200" dirty="0">
                <a:latin typeface="Times New Roman" panose="02020603050405020304" pitchFamily="18" charset="0"/>
                <a:cs typeface="Times New Roman" panose="02020603050405020304" pitchFamily="18" charset="0"/>
              </a:rPr>
              <a:t> = the total number of elements</a:t>
            </a:r>
          </a:p>
          <a:p>
            <a:r>
              <a:rPr lang="en-US" altLang="en-US" sz="3200" i="1" dirty="0">
                <a:latin typeface="Times New Roman" panose="02020603050405020304" pitchFamily="18" charset="0"/>
                <a:cs typeface="Times New Roman" panose="02020603050405020304" pitchFamily="18" charset="0"/>
              </a:rPr>
              <a:t>r  = </a:t>
            </a:r>
            <a:r>
              <a:rPr lang="en-US" altLang="en-US" sz="3200" dirty="0">
                <a:latin typeface="Times New Roman" panose="02020603050405020304" pitchFamily="18" charset="0"/>
                <a:cs typeface="Times New Roman" panose="02020603050405020304" pitchFamily="18" charset="0"/>
              </a:rPr>
              <a:t>number of successes in the </a:t>
            </a:r>
            <a:r>
              <a:rPr lang="en-US" altLang="en-US" sz="3200" i="1" dirty="0">
                <a:latin typeface="Times New Roman" panose="02020603050405020304" pitchFamily="18" charset="0"/>
                <a:cs typeface="Times New Roman" panose="02020603050405020304" pitchFamily="18" charset="0"/>
              </a:rPr>
              <a:t>N</a:t>
            </a:r>
            <a:r>
              <a:rPr lang="en-US" altLang="en-US" sz="3200" dirty="0">
                <a:latin typeface="Times New Roman" panose="02020603050405020304" pitchFamily="18" charset="0"/>
                <a:cs typeface="Times New Roman" panose="02020603050405020304" pitchFamily="18" charset="0"/>
              </a:rPr>
              <a:t> elements</a:t>
            </a:r>
          </a:p>
          <a:p>
            <a:r>
              <a:rPr lang="en-US" altLang="en-US" sz="3200" i="1" dirty="0">
                <a:latin typeface="Times New Roman" panose="02020603050405020304" pitchFamily="18" charset="0"/>
                <a:cs typeface="Times New Roman" panose="02020603050405020304" pitchFamily="18" charset="0"/>
              </a:rPr>
              <a:t>n</a:t>
            </a:r>
            <a:r>
              <a:rPr lang="en-US" altLang="en-US" sz="3200" dirty="0">
                <a:latin typeface="Times New Roman" panose="02020603050405020304" pitchFamily="18" charset="0"/>
                <a:cs typeface="Times New Roman" panose="02020603050405020304" pitchFamily="18" charset="0"/>
              </a:rPr>
              <a:t> = number of elements drawn</a:t>
            </a:r>
          </a:p>
          <a:p>
            <a:r>
              <a:rPr lang="en-US" altLang="en-US" sz="3200" i="1" dirty="0">
                <a:latin typeface="Times New Roman" panose="02020603050405020304" pitchFamily="18" charset="0"/>
                <a:cs typeface="Times New Roman" panose="02020603050405020304" pitchFamily="18" charset="0"/>
              </a:rPr>
              <a:t>x</a:t>
            </a:r>
            <a:r>
              <a:rPr lang="en-US" altLang="en-US" sz="3200" dirty="0">
                <a:latin typeface="Times New Roman" panose="02020603050405020304" pitchFamily="18" charset="0"/>
                <a:cs typeface="Times New Roman" panose="02020603050405020304" pitchFamily="18" charset="0"/>
              </a:rPr>
              <a:t> = the number of successes in the </a:t>
            </a:r>
            <a:r>
              <a:rPr lang="en-US" altLang="en-US" sz="3200" i="1" dirty="0">
                <a:latin typeface="Times New Roman" panose="02020603050405020304" pitchFamily="18" charset="0"/>
                <a:cs typeface="Times New Roman" panose="02020603050405020304" pitchFamily="18" charset="0"/>
              </a:rPr>
              <a:t>n </a:t>
            </a:r>
            <a:r>
              <a:rPr lang="en-US" altLang="en-US" sz="3200" dirty="0">
                <a:latin typeface="Times New Roman" panose="02020603050405020304" pitchFamily="18" charset="0"/>
                <a:cs typeface="Times New Roman" panose="02020603050405020304" pitchFamily="18" charset="0"/>
              </a:rPr>
              <a:t>elements</a:t>
            </a:r>
            <a:endParaRPr lang="en-US" altLang="en-US" sz="3200" i="1" dirty="0">
              <a:latin typeface="Times New Roman" panose="02020603050405020304" pitchFamily="18" charset="0"/>
              <a:cs typeface="Times New Roman" panose="02020603050405020304" pitchFamily="18" charset="0"/>
            </a:endParaRPr>
          </a:p>
        </p:txBody>
      </p:sp>
      <p:sp>
        <p:nvSpPr>
          <p:cNvPr id="3" name="Slide Number Placeholder 2"/>
          <p:cNvSpPr>
            <a:spLocks noGrp="1"/>
          </p:cNvSpPr>
          <p:nvPr>
            <p:ph type="sldNum" sz="quarter" idx="12"/>
          </p:nvPr>
        </p:nvSpPr>
        <p:spPr/>
        <p:txBody>
          <a:bodyPr/>
          <a:lstStyle/>
          <a:p>
            <a:pPr>
              <a:defRPr/>
            </a:pPr>
            <a:fld id="{645ED874-4033-4CEE-AE69-D7CB222F48E6}" type="slidenum">
              <a:rPr lang="en-US" smtClean="0"/>
              <a:pPr>
                <a:defRPr/>
              </a:pPr>
              <a:t>37</a:t>
            </a:fld>
            <a:endParaRPr lang="en-US"/>
          </a:p>
        </p:txBody>
      </p:sp>
      <p:sp>
        <p:nvSpPr>
          <p:cNvPr id="2" name="Date Placeholder 1">
            <a:extLst>
              <a:ext uri="{FF2B5EF4-FFF2-40B4-BE49-F238E27FC236}">
                <a16:creationId xmlns:a16="http://schemas.microsoft.com/office/drawing/2014/main" id="{BE05688D-A773-4D25-B35E-324019D20D6E}"/>
              </a:ext>
            </a:extLst>
          </p:cNvPr>
          <p:cNvSpPr>
            <a:spLocks noGrp="1"/>
          </p:cNvSpPr>
          <p:nvPr>
            <p:ph type="dt" sz="half" idx="10"/>
          </p:nvPr>
        </p:nvSpPr>
        <p:spPr/>
        <p:txBody>
          <a:bodyPr/>
          <a:lstStyle/>
          <a:p>
            <a:pPr>
              <a:defRPr/>
            </a:pPr>
            <a:fld id="{98CA9101-7B80-438D-B9F9-D90458832093}" type="datetime3">
              <a:rPr lang="en-US" smtClean="0"/>
              <a:t>16 December 2025</a:t>
            </a:fld>
            <a:endParaRPr lang="en-US"/>
          </a:p>
        </p:txBody>
      </p:sp>
      <p:sp>
        <p:nvSpPr>
          <p:cNvPr id="4" name="Footer Placeholder 3">
            <a:extLst>
              <a:ext uri="{FF2B5EF4-FFF2-40B4-BE49-F238E27FC236}">
                <a16:creationId xmlns:a16="http://schemas.microsoft.com/office/drawing/2014/main" id="{48A70DC1-FD07-4DB8-B761-DE886A2056EB}"/>
              </a:ext>
            </a:extLst>
          </p:cNvPr>
          <p:cNvSpPr>
            <a:spLocks noGrp="1"/>
          </p:cNvSpPr>
          <p:nvPr>
            <p:ph type="ftr" sz="quarter" idx="11"/>
          </p:nvPr>
        </p:nvSpPr>
        <p:spPr/>
        <p:txBody>
          <a:bodyPr/>
          <a:lstStyle/>
          <a:p>
            <a:pPr>
              <a:defRPr/>
            </a:pPr>
            <a:r>
              <a:rPr lang="en-US"/>
              <a:t>T. Mayooran</a:t>
            </a:r>
          </a:p>
        </p:txBody>
      </p:sp>
    </p:spTree>
    <p:extLst>
      <p:ext uri="{BB962C8B-B14F-4D97-AF65-F5344CB8AC3E}">
        <p14:creationId xmlns:p14="http://schemas.microsoft.com/office/powerpoint/2010/main" val="3592274377"/>
      </p:ext>
    </p:extLst>
  </p:cSld>
  <p:clrMapOvr>
    <a:masterClrMapping/>
  </p:clrMapOvr>
  <p:transition spd="slow">
    <p:wipe dir="r"/>
  </p:transition>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838204" y="1600200"/>
            <a:ext cx="7661275" cy="4114800"/>
          </a:xfrm>
        </p:spPr>
        <p:txBody>
          <a:bodyPr/>
          <a:lstStyle/>
          <a:p>
            <a:pPr marL="0" indent="0" algn="just">
              <a:buNone/>
            </a:pPr>
            <a:r>
              <a:rPr lang="en-IN" dirty="0">
                <a:latin typeface="Times New Roman" panose="02020603050405020304" pitchFamily="18" charset="0"/>
                <a:cs typeface="Times New Roman" panose="02020603050405020304" pitchFamily="18" charset="0"/>
              </a:rPr>
              <a:t>The hypergeometric distribution has the following characteristics:</a:t>
            </a:r>
          </a:p>
          <a:p>
            <a:pPr algn="just">
              <a:buClrTx/>
            </a:pPr>
            <a:r>
              <a:rPr lang="en-IN" dirty="0">
                <a:latin typeface="Times New Roman" panose="02020603050405020304" pitchFamily="18" charset="0"/>
                <a:cs typeface="Times New Roman" panose="02020603050405020304" pitchFamily="18" charset="0"/>
              </a:rPr>
              <a:t>There are only </a:t>
            </a:r>
            <a:r>
              <a:rPr lang="en-IN" dirty="0">
                <a:solidFill>
                  <a:srgbClr val="0070C0"/>
                </a:solidFill>
                <a:latin typeface="Times New Roman" panose="02020603050405020304" pitchFamily="18" charset="0"/>
                <a:cs typeface="Times New Roman" panose="02020603050405020304" pitchFamily="18" charset="0"/>
              </a:rPr>
              <a:t>two possible outcomes</a:t>
            </a:r>
            <a:r>
              <a:rPr lang="en-IN" dirty="0">
                <a:latin typeface="Times New Roman" panose="02020603050405020304" pitchFamily="18" charset="0"/>
                <a:cs typeface="Times New Roman" panose="02020603050405020304" pitchFamily="18" charset="0"/>
              </a:rPr>
              <a:t>.</a:t>
            </a:r>
          </a:p>
          <a:p>
            <a:pPr algn="just">
              <a:buClrTx/>
            </a:pPr>
            <a:r>
              <a:rPr lang="en-IN" dirty="0">
                <a:latin typeface="Times New Roman" panose="02020603050405020304" pitchFamily="18" charset="0"/>
                <a:cs typeface="Times New Roman" panose="02020603050405020304" pitchFamily="18" charset="0"/>
              </a:rPr>
              <a:t>The probability of a success is </a:t>
            </a:r>
            <a:r>
              <a:rPr lang="en-IN" dirty="0">
                <a:solidFill>
                  <a:srgbClr val="0070C0"/>
                </a:solidFill>
                <a:latin typeface="Times New Roman" panose="02020603050405020304" pitchFamily="18" charset="0"/>
                <a:cs typeface="Times New Roman" panose="02020603050405020304" pitchFamily="18" charset="0"/>
              </a:rPr>
              <a:t>not the same on each trial</a:t>
            </a:r>
            <a:r>
              <a:rPr lang="en-IN" dirty="0">
                <a:latin typeface="Times New Roman" panose="02020603050405020304" pitchFamily="18" charset="0"/>
                <a:cs typeface="Times New Roman" panose="02020603050405020304" pitchFamily="18" charset="0"/>
              </a:rPr>
              <a:t>.</a:t>
            </a:r>
          </a:p>
          <a:p>
            <a:pPr algn="just">
              <a:buClrTx/>
            </a:pPr>
            <a:r>
              <a:rPr lang="en-IN" dirty="0">
                <a:latin typeface="Times New Roman" panose="02020603050405020304" pitchFamily="18" charset="0"/>
                <a:cs typeface="Times New Roman" panose="02020603050405020304" pitchFamily="18" charset="0"/>
              </a:rPr>
              <a:t>It results from a count of the number of successes in a fixed number of trials.</a:t>
            </a:r>
          </a:p>
          <a:p>
            <a:pPr marL="0" indent="0">
              <a:buNone/>
            </a:pPr>
            <a:endParaRPr lang="en-GB" dirty="0">
              <a:latin typeface="Times New Roman" panose="02020603050405020304" pitchFamily="18" charset="0"/>
              <a:cs typeface="Times New Roman" panose="02020603050405020304" pitchFamily="18" charset="0"/>
            </a:endParaRPr>
          </a:p>
        </p:txBody>
      </p:sp>
      <p:sp>
        <p:nvSpPr>
          <p:cNvPr id="6" name="Rectangle 2"/>
          <p:cNvSpPr>
            <a:spLocks noGrp="1" noChangeArrowheads="1"/>
          </p:cNvSpPr>
          <p:nvPr>
            <p:ph type="title"/>
          </p:nvPr>
        </p:nvSpPr>
        <p:spPr>
          <a:xfrm>
            <a:off x="931867" y="96842"/>
            <a:ext cx="7158037" cy="1412875"/>
          </a:xfrm>
        </p:spPr>
        <p:txBody>
          <a:bodyPr/>
          <a:lstStyle/>
          <a:p>
            <a:pPr eaLnBrk="1" hangingPunct="1"/>
            <a:r>
              <a:rPr lang="en-US" altLang="en-US" dirty="0">
                <a:solidFill>
                  <a:srgbClr val="C0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The Hypergeometric Distribution</a:t>
            </a:r>
          </a:p>
        </p:txBody>
      </p:sp>
      <p:sp>
        <p:nvSpPr>
          <p:cNvPr id="4" name="Slide Number Placeholder 3"/>
          <p:cNvSpPr>
            <a:spLocks noGrp="1"/>
          </p:cNvSpPr>
          <p:nvPr>
            <p:ph type="sldNum" sz="quarter" idx="12"/>
          </p:nvPr>
        </p:nvSpPr>
        <p:spPr/>
        <p:txBody>
          <a:bodyPr/>
          <a:lstStyle/>
          <a:p>
            <a:pPr>
              <a:defRPr/>
            </a:pPr>
            <a:fld id="{645ED874-4033-4CEE-AE69-D7CB222F48E6}" type="slidenum">
              <a:rPr lang="en-US" smtClean="0"/>
              <a:pPr>
                <a:defRPr/>
              </a:pPr>
              <a:t>38</a:t>
            </a:fld>
            <a:endParaRPr lang="en-US"/>
          </a:p>
        </p:txBody>
      </p:sp>
      <p:sp>
        <p:nvSpPr>
          <p:cNvPr id="2" name="Date Placeholder 1">
            <a:extLst>
              <a:ext uri="{FF2B5EF4-FFF2-40B4-BE49-F238E27FC236}">
                <a16:creationId xmlns:a16="http://schemas.microsoft.com/office/drawing/2014/main" id="{66908532-FDD3-4C71-A283-24F97643C065}"/>
              </a:ext>
            </a:extLst>
          </p:cNvPr>
          <p:cNvSpPr>
            <a:spLocks noGrp="1"/>
          </p:cNvSpPr>
          <p:nvPr>
            <p:ph type="dt" sz="half" idx="10"/>
          </p:nvPr>
        </p:nvSpPr>
        <p:spPr/>
        <p:txBody>
          <a:bodyPr/>
          <a:lstStyle/>
          <a:p>
            <a:pPr>
              <a:defRPr/>
            </a:pPr>
            <a:fld id="{A353ED53-EFF6-4FE4-85A5-FAC6FA6431BF}" type="datetime3">
              <a:rPr lang="en-US" smtClean="0"/>
              <a:t>16 December 2025</a:t>
            </a:fld>
            <a:endParaRPr lang="en-US"/>
          </a:p>
        </p:txBody>
      </p:sp>
      <p:sp>
        <p:nvSpPr>
          <p:cNvPr id="5" name="Footer Placeholder 4">
            <a:extLst>
              <a:ext uri="{FF2B5EF4-FFF2-40B4-BE49-F238E27FC236}">
                <a16:creationId xmlns:a16="http://schemas.microsoft.com/office/drawing/2014/main" id="{A7C44EE6-D214-4B3F-9E23-29C7B9D1FC5D}"/>
              </a:ext>
            </a:extLst>
          </p:cNvPr>
          <p:cNvSpPr>
            <a:spLocks noGrp="1"/>
          </p:cNvSpPr>
          <p:nvPr>
            <p:ph type="ftr" sz="quarter" idx="11"/>
          </p:nvPr>
        </p:nvSpPr>
        <p:spPr/>
        <p:txBody>
          <a:bodyPr/>
          <a:lstStyle/>
          <a:p>
            <a:pPr>
              <a:defRPr/>
            </a:pPr>
            <a:r>
              <a:rPr lang="en-US"/>
              <a:t>T. Mayooran</a:t>
            </a:r>
          </a:p>
        </p:txBody>
      </p:sp>
    </p:spTree>
    <p:extLst>
      <p:ext uri="{BB962C8B-B14F-4D97-AF65-F5344CB8AC3E}">
        <p14:creationId xmlns:p14="http://schemas.microsoft.com/office/powerpoint/2010/main" val="666651940"/>
      </p:ext>
    </p:extLst>
  </p:cSld>
  <p:clrMapOvr>
    <a:masterClrMapping/>
  </p:clrMapOvr>
  <p:transition spd="slow">
    <p:wipe dir="r"/>
  </p:transition>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838204" y="1676400"/>
            <a:ext cx="7661275" cy="4114800"/>
          </a:xfrm>
        </p:spPr>
        <p:txBody>
          <a:bodyPr/>
          <a:lstStyle/>
          <a:p>
            <a:pPr marL="0" indent="0" algn="just">
              <a:buNone/>
            </a:pPr>
            <a:r>
              <a:rPr lang="en-US" altLang="en-US" dirty="0">
                <a:latin typeface="Times New Roman" panose="02020603050405020304" pitchFamily="18" charset="0"/>
                <a:cs typeface="Times New Roman" panose="02020603050405020304" pitchFamily="18" charset="0"/>
              </a:rPr>
              <a:t>Different computers are checked from 10 in the department. 4 of the 10 computers have illegal software loaded.  What is the probability that 2 of the 3 selected computers have illegal software loaded?</a:t>
            </a:r>
          </a:p>
          <a:p>
            <a:pPr marL="0" indent="0" algn="just">
              <a:buNone/>
            </a:pPr>
            <a:endParaRPr lang="en-US" dirty="0">
              <a:latin typeface="Times New Roman" panose="02020603050405020304" pitchFamily="18" charset="0"/>
              <a:cs typeface="Times New Roman" panose="02020603050405020304" pitchFamily="18" charset="0"/>
            </a:endParaRPr>
          </a:p>
        </p:txBody>
      </p:sp>
      <p:sp>
        <p:nvSpPr>
          <p:cNvPr id="5" name="Rectangle 2"/>
          <p:cNvSpPr>
            <a:spLocks noGrp="1" noChangeArrowheads="1"/>
          </p:cNvSpPr>
          <p:nvPr>
            <p:ph type="title"/>
          </p:nvPr>
        </p:nvSpPr>
        <p:spPr>
          <a:xfrm>
            <a:off x="931867" y="609604"/>
            <a:ext cx="7158037" cy="823913"/>
          </a:xfrm>
        </p:spPr>
        <p:txBody>
          <a:bodyPr/>
          <a:lstStyle/>
          <a:p>
            <a:pPr eaLnBrk="1" hangingPunct="1"/>
            <a:r>
              <a:rPr lang="en-GB" dirty="0">
                <a:solidFill>
                  <a:srgbClr val="C0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Example 9 : </a:t>
            </a:r>
            <a:endParaRPr lang="en-US" altLang="en-US" dirty="0">
              <a:solidFill>
                <a:srgbClr val="C0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endParaRPr>
          </a:p>
        </p:txBody>
      </p:sp>
      <p:sp>
        <p:nvSpPr>
          <p:cNvPr id="7" name="TextBox 6"/>
          <p:cNvSpPr txBox="1"/>
          <p:nvPr/>
        </p:nvSpPr>
        <p:spPr>
          <a:xfrm>
            <a:off x="5791200" y="3581404"/>
            <a:ext cx="1828800" cy="584775"/>
          </a:xfrm>
          <a:prstGeom prst="rect">
            <a:avLst/>
          </a:prstGeom>
          <a:noFill/>
        </p:spPr>
        <p:txBody>
          <a:bodyPr wrap="square" rtlCol="0">
            <a:spAutoFit/>
          </a:bodyPr>
          <a:lstStyle/>
          <a:p>
            <a:r>
              <a:rPr lang="en-US" sz="3200" dirty="0">
                <a:solidFill>
                  <a:srgbClr val="FF0000"/>
                </a:solidFill>
                <a:latin typeface="Times New Roman" panose="02020603050405020304" pitchFamily="18" charset="0"/>
                <a:cs typeface="Times New Roman" panose="02020603050405020304" pitchFamily="18" charset="0"/>
              </a:rPr>
              <a:t>Ans : 0.3</a:t>
            </a:r>
          </a:p>
        </p:txBody>
      </p:sp>
      <p:sp>
        <p:nvSpPr>
          <p:cNvPr id="6" name="Slide Number Placeholder 5"/>
          <p:cNvSpPr>
            <a:spLocks noGrp="1"/>
          </p:cNvSpPr>
          <p:nvPr>
            <p:ph type="sldNum" sz="quarter" idx="12"/>
          </p:nvPr>
        </p:nvSpPr>
        <p:spPr/>
        <p:txBody>
          <a:bodyPr/>
          <a:lstStyle/>
          <a:p>
            <a:pPr>
              <a:defRPr/>
            </a:pPr>
            <a:fld id="{645ED874-4033-4CEE-AE69-D7CB222F48E6}" type="slidenum">
              <a:rPr lang="en-US" smtClean="0"/>
              <a:pPr>
                <a:defRPr/>
              </a:pPr>
              <a:t>39</a:t>
            </a:fld>
            <a:endParaRPr lang="en-US"/>
          </a:p>
        </p:txBody>
      </p:sp>
      <p:sp>
        <p:nvSpPr>
          <p:cNvPr id="2" name="Date Placeholder 1">
            <a:extLst>
              <a:ext uri="{FF2B5EF4-FFF2-40B4-BE49-F238E27FC236}">
                <a16:creationId xmlns:a16="http://schemas.microsoft.com/office/drawing/2014/main" id="{8666653C-B612-4269-A0F3-53987D9EB07E}"/>
              </a:ext>
            </a:extLst>
          </p:cNvPr>
          <p:cNvSpPr>
            <a:spLocks noGrp="1"/>
          </p:cNvSpPr>
          <p:nvPr>
            <p:ph type="dt" sz="half" idx="10"/>
          </p:nvPr>
        </p:nvSpPr>
        <p:spPr/>
        <p:txBody>
          <a:bodyPr/>
          <a:lstStyle/>
          <a:p>
            <a:pPr>
              <a:defRPr/>
            </a:pPr>
            <a:fld id="{5AB3E753-C921-4F16-BBD6-D8C2B0D6C0FA}" type="datetime3">
              <a:rPr lang="en-US" smtClean="0"/>
              <a:t>16 December 2025</a:t>
            </a:fld>
            <a:endParaRPr lang="en-US"/>
          </a:p>
        </p:txBody>
      </p:sp>
      <p:sp>
        <p:nvSpPr>
          <p:cNvPr id="4" name="Footer Placeholder 3">
            <a:extLst>
              <a:ext uri="{FF2B5EF4-FFF2-40B4-BE49-F238E27FC236}">
                <a16:creationId xmlns:a16="http://schemas.microsoft.com/office/drawing/2014/main" id="{77A8DD79-8AA2-405D-8C50-E4ECB8CA8E45}"/>
              </a:ext>
            </a:extLst>
          </p:cNvPr>
          <p:cNvSpPr>
            <a:spLocks noGrp="1"/>
          </p:cNvSpPr>
          <p:nvPr>
            <p:ph type="ftr" sz="quarter" idx="11"/>
          </p:nvPr>
        </p:nvSpPr>
        <p:spPr/>
        <p:txBody>
          <a:bodyPr/>
          <a:lstStyle/>
          <a:p>
            <a:pPr>
              <a:defRPr/>
            </a:pPr>
            <a:r>
              <a:rPr lang="en-US"/>
              <a:t>T. Mayooran</a:t>
            </a:r>
          </a:p>
        </p:txBody>
      </p:sp>
    </p:spTree>
    <p:extLst>
      <p:ext uri="{BB962C8B-B14F-4D97-AF65-F5344CB8AC3E}">
        <p14:creationId xmlns:p14="http://schemas.microsoft.com/office/powerpoint/2010/main" val="3470230800"/>
      </p:ext>
    </p:extLst>
  </p:cSld>
  <p:clrMapOvr>
    <a:masterClrMapping/>
  </p:clrMapOvr>
  <p:transition spd="slow">
    <p:wipe dir="r"/>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ppt_x"/>
                                          </p:val>
                                        </p:tav>
                                        <p:tav tm="100000">
                                          <p:val>
                                            <p:strVal val="#ppt_x"/>
                                          </p:val>
                                        </p:tav>
                                      </p:tavLst>
                                    </p:anim>
                                    <p:anim calcmode="lin" valueType="num">
                                      <p:cBhvr additive="base">
                                        <p:cTn id="8" dur="500" fill="hold"/>
                                        <p:tgtEl>
                                          <p:spTgt spid="7"/>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3" name="Rectangle 2"/>
          <p:cNvSpPr>
            <a:spLocks noGrp="1" noChangeArrowheads="1"/>
          </p:cNvSpPr>
          <p:nvPr>
            <p:ph type="title"/>
          </p:nvPr>
        </p:nvSpPr>
        <p:spPr>
          <a:xfrm>
            <a:off x="931867" y="609604"/>
            <a:ext cx="7158037" cy="823913"/>
          </a:xfrm>
        </p:spPr>
        <p:txBody>
          <a:bodyPr/>
          <a:lstStyle/>
          <a:p>
            <a:pPr eaLnBrk="1" hangingPunct="1"/>
            <a:r>
              <a:rPr lang="en-GB" dirty="0">
                <a:solidFill>
                  <a:srgbClr val="C0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Example 10 :</a:t>
            </a:r>
            <a:endParaRPr lang="en-US" altLang="en-US" dirty="0">
              <a:solidFill>
                <a:srgbClr val="C0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endParaRPr>
          </a:p>
        </p:txBody>
      </p:sp>
      <p:graphicFrame>
        <p:nvGraphicFramePr>
          <p:cNvPr id="15362" name="Content Placeholder 9"/>
          <p:cNvGraphicFramePr>
            <a:graphicFrameLocks noGrp="1" noChangeAspect="1"/>
          </p:cNvGraphicFramePr>
          <p:nvPr>
            <p:ph sz="half" idx="1"/>
            <p:extLst>
              <p:ext uri="{D42A27DB-BD31-4B8C-83A1-F6EECF244321}">
                <p14:modId xmlns:p14="http://schemas.microsoft.com/office/powerpoint/2010/main" val="1649437077"/>
              </p:ext>
            </p:extLst>
          </p:nvPr>
        </p:nvGraphicFramePr>
        <p:xfrm>
          <a:off x="2640017" y="4719642"/>
          <a:ext cx="6122987" cy="1081087"/>
        </p:xfrm>
        <a:graphic>
          <a:graphicData uri="http://schemas.openxmlformats.org/presentationml/2006/ole">
            <mc:AlternateContent xmlns:mc="http://schemas.openxmlformats.org/markup-compatibility/2006">
              <mc:Choice xmlns:v="urn:schemas-microsoft-com:vml" Requires="v">
                <p:oleObj name="Equation" r:id="rId2" imgW="3593880" imgH="634680" progId="Equation.3">
                  <p:embed/>
                </p:oleObj>
              </mc:Choice>
              <mc:Fallback>
                <p:oleObj name="Equation" r:id="rId2" imgW="3593880" imgH="634680" progId="Equation.3">
                  <p:embed/>
                  <p:pic>
                    <p:nvPicPr>
                      <p:cNvPr id="15362" name="Content Placeholder 9"/>
                      <p:cNvPicPr>
                        <a:picLocks noChangeAspect="1" noChangeArrowheads="1"/>
                      </p:cNvPicPr>
                      <p:nvPr/>
                    </p:nvPicPr>
                    <p:blipFill>
                      <a:blip r:embed="rId3"/>
                      <a:srcRect/>
                      <a:stretch>
                        <a:fillRect/>
                      </a:stretch>
                    </p:blipFill>
                    <p:spPr bwMode="auto">
                      <a:xfrm>
                        <a:off x="2640017" y="4719642"/>
                        <a:ext cx="6122987" cy="1081087"/>
                      </a:xfrm>
                      <a:prstGeom prst="rect">
                        <a:avLst/>
                      </a:prstGeom>
                    </p:spPr>
                  </p:pic>
                </p:oleObj>
              </mc:Fallback>
            </mc:AlternateContent>
          </a:graphicData>
        </a:graphic>
      </p:graphicFrame>
      <p:sp>
        <p:nvSpPr>
          <p:cNvPr id="15364" name="Content Placeholder 11"/>
          <p:cNvSpPr>
            <a:spLocks noGrp="1"/>
          </p:cNvSpPr>
          <p:nvPr>
            <p:ph sz="half" idx="2"/>
          </p:nvPr>
        </p:nvSpPr>
        <p:spPr>
          <a:xfrm>
            <a:off x="838200" y="1600200"/>
            <a:ext cx="7772400" cy="1828800"/>
          </a:xfrm>
        </p:spPr>
        <p:txBody>
          <a:bodyPr/>
          <a:lstStyle/>
          <a:p>
            <a:pPr algn="just" eaLnBrk="1" hangingPunct="1">
              <a:buClrTx/>
            </a:pPr>
            <a:r>
              <a:rPr lang="en-US" altLang="en-US" sz="2400" dirty="0">
                <a:latin typeface="Times New Roman" panose="02020603050405020304" pitchFamily="18" charset="0"/>
                <a:cs typeface="Times New Roman" panose="02020603050405020304" pitchFamily="18" charset="0"/>
              </a:rPr>
              <a:t>Suppose a customer at a pet store wants to buy two hamsters for his daughter, but he wants two males or two females (i.e., he wants only two hamsters in a few months)</a:t>
            </a:r>
          </a:p>
          <a:p>
            <a:pPr algn="just" eaLnBrk="1" hangingPunct="1">
              <a:buClrTx/>
            </a:pPr>
            <a:r>
              <a:rPr lang="en-US" altLang="en-US" sz="2400" dirty="0">
                <a:latin typeface="Times New Roman" panose="02020603050405020304" pitchFamily="18" charset="0"/>
                <a:cs typeface="Times New Roman" panose="02020603050405020304" pitchFamily="18" charset="0"/>
              </a:rPr>
              <a:t>If there are ten hamsters, five male and five female, what is the probability of drawing two of the same sex? (With hamsters, it’s virtually a random selection.)</a:t>
            </a:r>
          </a:p>
        </p:txBody>
      </p:sp>
      <p:pic>
        <p:nvPicPr>
          <p:cNvPr id="10250" name="Picture 10" descr="http://www.animalpicturesociety.com/modules/uploads/ha/hamsters.jpeg"/>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495574" y="4343400"/>
            <a:ext cx="2095226" cy="1981200"/>
          </a:xfrm>
          <a:prstGeom prst="rect">
            <a:avLst/>
          </a:prstGeom>
          <a:ln>
            <a:noFill/>
          </a:ln>
          <a:effectLst>
            <a:softEdge rad="112500"/>
          </a:effectLst>
          <a:extLst>
            <a:ext uri="{909E8E84-426E-40DD-AFC4-6F175D3DCCD1}">
              <a14:hiddenFill xmlns:a14="http://schemas.microsoft.com/office/drawing/2010/main">
                <a:solidFill>
                  <a:srgbClr val="FFFFFF"/>
                </a:solidFill>
              </a14:hiddenFill>
            </a:ext>
          </a:extLst>
        </p:spPr>
      </p:pic>
      <p:sp>
        <p:nvSpPr>
          <p:cNvPr id="3" name="Slide Number Placeholder 2"/>
          <p:cNvSpPr>
            <a:spLocks noGrp="1"/>
          </p:cNvSpPr>
          <p:nvPr>
            <p:ph type="sldNum" sz="quarter" idx="12"/>
          </p:nvPr>
        </p:nvSpPr>
        <p:spPr/>
        <p:txBody>
          <a:bodyPr/>
          <a:lstStyle/>
          <a:p>
            <a:pPr>
              <a:defRPr/>
            </a:pPr>
            <a:fld id="{605A68BB-D301-4C84-8D5A-68B072225578}" type="slidenum">
              <a:rPr lang="en-US" smtClean="0"/>
              <a:pPr>
                <a:defRPr/>
              </a:pPr>
              <a:t>40</a:t>
            </a:fld>
            <a:endParaRPr lang="en-US"/>
          </a:p>
        </p:txBody>
      </p:sp>
      <p:sp>
        <p:nvSpPr>
          <p:cNvPr id="2" name="Date Placeholder 1">
            <a:extLst>
              <a:ext uri="{FF2B5EF4-FFF2-40B4-BE49-F238E27FC236}">
                <a16:creationId xmlns:a16="http://schemas.microsoft.com/office/drawing/2014/main" id="{D644F0C5-7A7D-471C-BAB2-8D75B3F4F401}"/>
              </a:ext>
            </a:extLst>
          </p:cNvPr>
          <p:cNvSpPr>
            <a:spLocks noGrp="1"/>
          </p:cNvSpPr>
          <p:nvPr>
            <p:ph type="dt" sz="half" idx="10"/>
          </p:nvPr>
        </p:nvSpPr>
        <p:spPr/>
        <p:txBody>
          <a:bodyPr/>
          <a:lstStyle/>
          <a:p>
            <a:pPr>
              <a:defRPr/>
            </a:pPr>
            <a:fld id="{E6BFBD91-ED7F-45FC-B809-AC0E7C9C9CF3}" type="datetime3">
              <a:rPr lang="en-US" smtClean="0"/>
              <a:t>16 December 2025</a:t>
            </a:fld>
            <a:endParaRPr lang="en-US"/>
          </a:p>
        </p:txBody>
      </p:sp>
      <p:sp>
        <p:nvSpPr>
          <p:cNvPr id="4" name="Footer Placeholder 3">
            <a:extLst>
              <a:ext uri="{FF2B5EF4-FFF2-40B4-BE49-F238E27FC236}">
                <a16:creationId xmlns:a16="http://schemas.microsoft.com/office/drawing/2014/main" id="{354DA556-60DA-485A-9659-EB14715D4F26}"/>
              </a:ext>
            </a:extLst>
          </p:cNvPr>
          <p:cNvSpPr>
            <a:spLocks noGrp="1"/>
          </p:cNvSpPr>
          <p:nvPr>
            <p:ph type="ftr" sz="quarter" idx="11"/>
          </p:nvPr>
        </p:nvSpPr>
        <p:spPr/>
        <p:txBody>
          <a:bodyPr/>
          <a:lstStyle/>
          <a:p>
            <a:pPr>
              <a:defRPr/>
            </a:pPr>
            <a:r>
              <a:rPr lang="en-US"/>
              <a:t>T. Mayooran</a:t>
            </a:r>
          </a:p>
        </p:txBody>
      </p:sp>
    </p:spTree>
    <p:extLst>
      <p:ext uri="{BB962C8B-B14F-4D97-AF65-F5344CB8AC3E}">
        <p14:creationId xmlns:p14="http://schemas.microsoft.com/office/powerpoint/2010/main" val="3744588400"/>
      </p:ext>
    </p:extLst>
  </p:cSld>
  <p:clrMapOvr>
    <a:masterClrMapping/>
  </p:clrMapOvr>
  <p:transition spd="slow">
    <p:wipe dir="r"/>
  </p:transition>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sz="4500" dirty="0">
                <a:solidFill>
                  <a:srgbClr val="C0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Example 11 :</a:t>
            </a:r>
          </a:p>
        </p:txBody>
      </p:sp>
      <p:sp>
        <p:nvSpPr>
          <p:cNvPr id="3" name="Content Placeholder 2"/>
          <p:cNvSpPr>
            <a:spLocks noGrp="1"/>
          </p:cNvSpPr>
          <p:nvPr>
            <p:ph idx="1"/>
          </p:nvPr>
        </p:nvSpPr>
        <p:spPr>
          <a:xfrm>
            <a:off x="838204" y="1676400"/>
            <a:ext cx="7661275" cy="4114800"/>
          </a:xfrm>
        </p:spPr>
        <p:txBody>
          <a:bodyPr/>
          <a:lstStyle/>
          <a:p>
            <a:pPr marL="0" indent="0" algn="just">
              <a:buNone/>
            </a:pPr>
            <a:r>
              <a:rPr lang="en-GB" dirty="0">
                <a:latin typeface="Times New Roman" panose="02020603050405020304" pitchFamily="18" charset="0"/>
                <a:cs typeface="Times New Roman" panose="02020603050405020304" pitchFamily="18" charset="0"/>
              </a:rPr>
              <a:t>A box contains 100 marbles. Five </a:t>
            </a:r>
            <a:r>
              <a:rPr lang="en-IN" dirty="0">
                <a:latin typeface="Times New Roman" panose="02020603050405020304" pitchFamily="18" charset="0"/>
                <a:cs typeface="Times New Roman" panose="02020603050405020304" pitchFamily="18" charset="0"/>
              </a:rPr>
              <a:t>of the marbles are purple, and the rest are green. If 8 marbles are drawn without replacement, what is the probability of obtaining </a:t>
            </a:r>
            <a:r>
              <a:rPr lang="en-GB" dirty="0">
                <a:latin typeface="Times New Roman" panose="02020603050405020304" pitchFamily="18" charset="0"/>
                <a:cs typeface="Times New Roman" panose="02020603050405020304" pitchFamily="18" charset="0"/>
              </a:rPr>
              <a:t>exactly 2 purple marbles?</a:t>
            </a:r>
          </a:p>
          <a:p>
            <a:pPr marL="0" indent="0" algn="just">
              <a:buNone/>
            </a:pPr>
            <a:r>
              <a:rPr lang="en-IN" dirty="0">
                <a:solidFill>
                  <a:srgbClr val="FF0000"/>
                </a:solidFill>
                <a:latin typeface="Times New Roman" panose="02020603050405020304" pitchFamily="18" charset="0"/>
                <a:cs typeface="Times New Roman" panose="02020603050405020304" pitchFamily="18" charset="0"/>
              </a:rPr>
              <a:t>Solution: </a:t>
            </a:r>
            <a:r>
              <a:rPr lang="en-IN" dirty="0">
                <a:latin typeface="Times New Roman" panose="02020603050405020304" pitchFamily="18" charset="0"/>
                <a:cs typeface="Times New Roman" panose="02020603050405020304" pitchFamily="18" charset="0"/>
              </a:rPr>
              <a:t>Since the drawings are without replacement, the composition of the box changes after each draw, so it is not a binomial experiment. </a:t>
            </a:r>
            <a:endParaRPr lang="en-GB" dirty="0">
              <a:latin typeface="Times New Roman" panose="02020603050405020304" pitchFamily="18" charset="0"/>
              <a:cs typeface="Times New Roman" panose="02020603050405020304" pitchFamily="18" charset="0"/>
            </a:endParaRPr>
          </a:p>
        </p:txBody>
      </p:sp>
      <p:pic>
        <p:nvPicPr>
          <p:cNvPr id="6" name="Picture 5"/>
          <p:cNvPicPr>
            <a:picLocks noChangeAspect="1"/>
          </p:cNvPicPr>
          <p:nvPr/>
        </p:nvPicPr>
        <p:blipFill>
          <a:blip r:embed="rId2"/>
          <a:stretch>
            <a:fillRect/>
          </a:stretch>
        </p:blipFill>
        <p:spPr>
          <a:xfrm>
            <a:off x="6400800" y="50007"/>
            <a:ext cx="1524000" cy="1543050"/>
          </a:xfrm>
          <a:prstGeom prst="rect">
            <a:avLst/>
          </a:prstGeom>
        </p:spPr>
      </p:pic>
      <p:sp>
        <p:nvSpPr>
          <p:cNvPr id="7" name="Slide Number Placeholder 6"/>
          <p:cNvSpPr>
            <a:spLocks noGrp="1"/>
          </p:cNvSpPr>
          <p:nvPr>
            <p:ph type="sldNum" sz="quarter" idx="12"/>
          </p:nvPr>
        </p:nvSpPr>
        <p:spPr/>
        <p:txBody>
          <a:bodyPr/>
          <a:lstStyle/>
          <a:p>
            <a:pPr>
              <a:defRPr/>
            </a:pPr>
            <a:fld id="{645ED874-4033-4CEE-AE69-D7CB222F48E6}" type="slidenum">
              <a:rPr lang="en-US" smtClean="0"/>
              <a:pPr>
                <a:defRPr/>
              </a:pPr>
              <a:t>41</a:t>
            </a:fld>
            <a:endParaRPr lang="en-US"/>
          </a:p>
        </p:txBody>
      </p:sp>
      <p:sp>
        <p:nvSpPr>
          <p:cNvPr id="4" name="Date Placeholder 3">
            <a:extLst>
              <a:ext uri="{FF2B5EF4-FFF2-40B4-BE49-F238E27FC236}">
                <a16:creationId xmlns:a16="http://schemas.microsoft.com/office/drawing/2014/main" id="{AABB134B-8A2F-4EA7-A987-B2691F9B668D}"/>
              </a:ext>
            </a:extLst>
          </p:cNvPr>
          <p:cNvSpPr>
            <a:spLocks noGrp="1"/>
          </p:cNvSpPr>
          <p:nvPr>
            <p:ph type="dt" sz="half" idx="10"/>
          </p:nvPr>
        </p:nvSpPr>
        <p:spPr/>
        <p:txBody>
          <a:bodyPr/>
          <a:lstStyle/>
          <a:p>
            <a:pPr>
              <a:defRPr/>
            </a:pPr>
            <a:fld id="{70A7DE80-08CF-4BC0-B5E4-33AAC1BEC369}" type="datetime3">
              <a:rPr lang="en-US" smtClean="0"/>
              <a:t>16 December 2025</a:t>
            </a:fld>
            <a:endParaRPr lang="en-US"/>
          </a:p>
        </p:txBody>
      </p:sp>
      <p:sp>
        <p:nvSpPr>
          <p:cNvPr id="5" name="Footer Placeholder 4">
            <a:extLst>
              <a:ext uri="{FF2B5EF4-FFF2-40B4-BE49-F238E27FC236}">
                <a16:creationId xmlns:a16="http://schemas.microsoft.com/office/drawing/2014/main" id="{30CD7DAF-0099-47F5-9CB8-10F364CB5462}"/>
              </a:ext>
            </a:extLst>
          </p:cNvPr>
          <p:cNvSpPr>
            <a:spLocks noGrp="1"/>
          </p:cNvSpPr>
          <p:nvPr>
            <p:ph type="ftr" sz="quarter" idx="11"/>
          </p:nvPr>
        </p:nvSpPr>
        <p:spPr/>
        <p:txBody>
          <a:bodyPr/>
          <a:lstStyle/>
          <a:p>
            <a:pPr>
              <a:defRPr/>
            </a:pPr>
            <a:r>
              <a:rPr lang="en-US"/>
              <a:t>T. Mayooran</a:t>
            </a:r>
          </a:p>
        </p:txBody>
      </p:sp>
    </p:spTree>
    <p:extLst>
      <p:ext uri="{BB962C8B-B14F-4D97-AF65-F5344CB8AC3E}">
        <p14:creationId xmlns:p14="http://schemas.microsoft.com/office/powerpoint/2010/main" val="3295320310"/>
      </p:ext>
    </p:extLst>
  </p:cSld>
  <p:clrMapOvr>
    <a:masterClrMapping/>
  </p:clrMapOvr>
  <p:transition spd="slow">
    <p:wipe dir="r"/>
  </p:transition>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838204" y="1676400"/>
            <a:ext cx="7661275" cy="4114800"/>
          </a:xfrm>
        </p:spPr>
        <p:txBody>
          <a:bodyPr/>
          <a:lstStyle/>
          <a:p>
            <a:pPr marL="0" indent="0" algn="just">
              <a:buNone/>
            </a:pPr>
            <a:r>
              <a:rPr lang="en-IN" sz="3000" dirty="0">
                <a:latin typeface="Times New Roman" panose="02020603050405020304" pitchFamily="18" charset="0"/>
                <a:cs typeface="Times New Roman" panose="02020603050405020304" pitchFamily="18" charset="0"/>
              </a:rPr>
              <a:t>Let be the number of </a:t>
            </a:r>
            <a:r>
              <a:rPr lang="en-GB" sz="2800" dirty="0">
                <a:latin typeface="Times New Roman" panose="02020603050405020304" pitchFamily="18" charset="0"/>
                <a:cs typeface="Times New Roman" panose="02020603050405020304" pitchFamily="18" charset="0"/>
              </a:rPr>
              <a:t>purple marbles</a:t>
            </a:r>
            <a:r>
              <a:rPr lang="en-IN" sz="3000" dirty="0">
                <a:latin typeface="Times New Roman" panose="02020603050405020304" pitchFamily="18" charset="0"/>
                <a:cs typeface="Times New Roman" panose="02020603050405020304" pitchFamily="18" charset="0"/>
              </a:rPr>
              <a:t> in a sample of 8 items. The probability can be computed as</a:t>
            </a:r>
          </a:p>
          <a:p>
            <a:pPr marL="0" indent="0">
              <a:buNone/>
            </a:pPr>
            <a:endParaRPr lang="en-IN" sz="3000" dirty="0">
              <a:latin typeface="Times New Roman" panose="02020603050405020304" pitchFamily="18" charset="0"/>
              <a:cs typeface="Times New Roman" panose="02020603050405020304" pitchFamily="18" charset="0"/>
            </a:endParaRPr>
          </a:p>
          <a:p>
            <a:pPr marL="0" indent="0">
              <a:buNone/>
            </a:pPr>
            <a:endParaRPr lang="en-IN" sz="3000" dirty="0">
              <a:latin typeface="Times New Roman" panose="02020603050405020304" pitchFamily="18" charset="0"/>
              <a:cs typeface="Times New Roman" panose="02020603050405020304" pitchFamily="18" charset="0"/>
            </a:endParaRPr>
          </a:p>
          <a:p>
            <a:pPr marL="0" indent="0" algn="just">
              <a:buNone/>
            </a:pPr>
            <a:endParaRPr lang="en-IN" sz="3000" dirty="0">
              <a:latin typeface="Times New Roman" panose="02020603050405020304" pitchFamily="18" charset="0"/>
              <a:cs typeface="Times New Roman" panose="02020603050405020304" pitchFamily="18" charset="0"/>
            </a:endParaRPr>
          </a:p>
          <a:p>
            <a:pPr marL="0" indent="0" algn="just">
              <a:buNone/>
            </a:pPr>
            <a:endParaRPr lang="en-IN" sz="3000" dirty="0">
              <a:latin typeface="Times New Roman" panose="02020603050405020304" pitchFamily="18" charset="0"/>
              <a:cs typeface="Times New Roman" panose="02020603050405020304" pitchFamily="18" charset="0"/>
            </a:endParaRPr>
          </a:p>
          <a:p>
            <a:pPr marL="0" indent="0" algn="just">
              <a:buNone/>
            </a:pPr>
            <a:r>
              <a:rPr lang="en-IN" sz="3000" dirty="0">
                <a:latin typeface="Times New Roman" panose="02020603050405020304" pitchFamily="18" charset="0"/>
                <a:cs typeface="Times New Roman" panose="02020603050405020304" pitchFamily="18" charset="0"/>
              </a:rPr>
              <a:t>This computation also could be done using the combination formula given in Chapter 3. </a:t>
            </a:r>
            <a:r>
              <a:rPr lang="en-IN" sz="3000" dirty="0">
                <a:solidFill>
                  <a:srgbClr val="0070C0"/>
                </a:solidFill>
                <a:latin typeface="Times New Roman" panose="02020603050405020304" pitchFamily="18" charset="0"/>
                <a:cs typeface="Times New Roman" panose="02020603050405020304" pitchFamily="18" charset="0"/>
              </a:rPr>
              <a:t>Alternately,</a:t>
            </a:r>
          </a:p>
          <a:p>
            <a:pPr marL="0" indent="0">
              <a:buNone/>
            </a:pPr>
            <a:endParaRPr lang="en-IN" sz="3000" dirty="0">
              <a:latin typeface="Times New Roman" panose="02020603050405020304" pitchFamily="18" charset="0"/>
              <a:cs typeface="Times New Roman" panose="02020603050405020304" pitchFamily="18" charset="0"/>
            </a:endParaRPr>
          </a:p>
          <a:p>
            <a:pPr marL="0" indent="0">
              <a:buNone/>
            </a:pPr>
            <a:endParaRPr lang="en-GB" sz="3000" dirty="0">
              <a:latin typeface="Times New Roman" panose="02020603050405020304" pitchFamily="18" charset="0"/>
              <a:cs typeface="Times New Roman" panose="02020603050405020304" pitchFamily="18" charset="0"/>
            </a:endParaRPr>
          </a:p>
        </p:txBody>
      </p:sp>
      <p:graphicFrame>
        <p:nvGraphicFramePr>
          <p:cNvPr id="6" name="Object 5"/>
          <p:cNvGraphicFramePr>
            <a:graphicFrameLocks noChangeAspect="1"/>
          </p:cNvGraphicFramePr>
          <p:nvPr>
            <p:extLst>
              <p:ext uri="{D42A27DB-BD31-4B8C-83A1-F6EECF244321}">
                <p14:modId xmlns:p14="http://schemas.microsoft.com/office/powerpoint/2010/main" val="731267488"/>
              </p:ext>
            </p:extLst>
          </p:nvPr>
        </p:nvGraphicFramePr>
        <p:xfrm>
          <a:off x="993775" y="2590800"/>
          <a:ext cx="4285318" cy="1196800"/>
        </p:xfrm>
        <a:graphic>
          <a:graphicData uri="http://schemas.openxmlformats.org/presentationml/2006/ole">
            <mc:AlternateContent xmlns:mc="http://schemas.openxmlformats.org/markup-compatibility/2006">
              <mc:Choice xmlns:v="urn:schemas-microsoft-com:vml" Requires="v">
                <p:oleObj name="Equation" r:id="rId2" imgW="1409400" imgH="393480" progId="Equation.3">
                  <p:embed/>
                </p:oleObj>
              </mc:Choice>
              <mc:Fallback>
                <p:oleObj name="Equation" r:id="rId2" imgW="1409400" imgH="393480" progId="Equation.3">
                  <p:embed/>
                  <p:pic>
                    <p:nvPicPr>
                      <p:cNvPr id="6" name="Object 5"/>
                      <p:cNvPicPr/>
                      <p:nvPr/>
                    </p:nvPicPr>
                    <p:blipFill>
                      <a:blip r:embed="rId3"/>
                      <a:stretch>
                        <a:fillRect/>
                      </a:stretch>
                    </p:blipFill>
                    <p:spPr>
                      <a:xfrm>
                        <a:off x="993775" y="2590800"/>
                        <a:ext cx="4285318" cy="1196800"/>
                      </a:xfrm>
                      <a:prstGeom prst="rect">
                        <a:avLst/>
                      </a:prstGeom>
                    </p:spPr>
                  </p:pic>
                </p:oleObj>
              </mc:Fallback>
            </mc:AlternateContent>
          </a:graphicData>
        </a:graphic>
      </p:graphicFrame>
      <p:graphicFrame>
        <p:nvGraphicFramePr>
          <p:cNvPr id="7" name="Object 6"/>
          <p:cNvGraphicFramePr>
            <a:graphicFrameLocks noChangeAspect="1"/>
          </p:cNvGraphicFramePr>
          <p:nvPr>
            <p:extLst>
              <p:ext uri="{D42A27DB-BD31-4B8C-83A1-F6EECF244321}">
                <p14:modId xmlns:p14="http://schemas.microsoft.com/office/powerpoint/2010/main" val="3186922019"/>
              </p:ext>
            </p:extLst>
          </p:nvPr>
        </p:nvGraphicFramePr>
        <p:xfrm>
          <a:off x="1004661" y="3744686"/>
          <a:ext cx="5347262" cy="1055914"/>
        </p:xfrm>
        <a:graphic>
          <a:graphicData uri="http://schemas.openxmlformats.org/presentationml/2006/ole">
            <mc:AlternateContent xmlns:mc="http://schemas.openxmlformats.org/markup-compatibility/2006">
              <mc:Choice xmlns:v="urn:schemas-microsoft-com:vml" Requires="v">
                <p:oleObj name="Equation" r:id="rId4" imgW="1993680" imgH="393480" progId="Equation.3">
                  <p:embed/>
                </p:oleObj>
              </mc:Choice>
              <mc:Fallback>
                <p:oleObj name="Equation" r:id="rId4" imgW="1993680" imgH="393480" progId="Equation.3">
                  <p:embed/>
                  <p:pic>
                    <p:nvPicPr>
                      <p:cNvPr id="7" name="Object 6"/>
                      <p:cNvPicPr/>
                      <p:nvPr/>
                    </p:nvPicPr>
                    <p:blipFill>
                      <a:blip r:embed="rId5"/>
                      <a:stretch>
                        <a:fillRect/>
                      </a:stretch>
                    </p:blipFill>
                    <p:spPr>
                      <a:xfrm>
                        <a:off x="1004661" y="3744686"/>
                        <a:ext cx="5347262" cy="1055914"/>
                      </a:xfrm>
                      <a:prstGeom prst="rect">
                        <a:avLst/>
                      </a:prstGeom>
                    </p:spPr>
                  </p:pic>
                </p:oleObj>
              </mc:Fallback>
            </mc:AlternateContent>
          </a:graphicData>
        </a:graphic>
      </p:graphicFrame>
      <p:pic>
        <p:nvPicPr>
          <p:cNvPr id="10" name="Picture 9"/>
          <p:cNvPicPr>
            <a:picLocks noChangeAspect="1"/>
          </p:cNvPicPr>
          <p:nvPr/>
        </p:nvPicPr>
        <p:blipFill>
          <a:blip r:embed="rId6"/>
          <a:stretch>
            <a:fillRect/>
          </a:stretch>
        </p:blipFill>
        <p:spPr>
          <a:xfrm>
            <a:off x="6400800" y="50007"/>
            <a:ext cx="1524000" cy="1543050"/>
          </a:xfrm>
          <a:prstGeom prst="rect">
            <a:avLst/>
          </a:prstGeom>
        </p:spPr>
      </p:pic>
      <p:sp>
        <p:nvSpPr>
          <p:cNvPr id="4" name="Slide Number Placeholder 3"/>
          <p:cNvSpPr>
            <a:spLocks noGrp="1"/>
          </p:cNvSpPr>
          <p:nvPr>
            <p:ph type="sldNum" sz="quarter" idx="12"/>
          </p:nvPr>
        </p:nvSpPr>
        <p:spPr/>
        <p:txBody>
          <a:bodyPr/>
          <a:lstStyle/>
          <a:p>
            <a:pPr>
              <a:defRPr/>
            </a:pPr>
            <a:fld id="{645ED874-4033-4CEE-AE69-D7CB222F48E6}" type="slidenum">
              <a:rPr lang="en-US" smtClean="0"/>
              <a:pPr>
                <a:defRPr/>
              </a:pPr>
              <a:t>42</a:t>
            </a:fld>
            <a:endParaRPr lang="en-US"/>
          </a:p>
        </p:txBody>
      </p:sp>
      <p:sp>
        <p:nvSpPr>
          <p:cNvPr id="2" name="Date Placeholder 1">
            <a:extLst>
              <a:ext uri="{FF2B5EF4-FFF2-40B4-BE49-F238E27FC236}">
                <a16:creationId xmlns:a16="http://schemas.microsoft.com/office/drawing/2014/main" id="{50A02175-C10C-42F1-B8B1-F41DCB762D82}"/>
              </a:ext>
            </a:extLst>
          </p:cNvPr>
          <p:cNvSpPr>
            <a:spLocks noGrp="1"/>
          </p:cNvSpPr>
          <p:nvPr>
            <p:ph type="dt" sz="half" idx="10"/>
          </p:nvPr>
        </p:nvSpPr>
        <p:spPr/>
        <p:txBody>
          <a:bodyPr/>
          <a:lstStyle/>
          <a:p>
            <a:pPr>
              <a:defRPr/>
            </a:pPr>
            <a:fld id="{C755EF04-B0E8-45CA-91C9-E01B1BAF11A0}" type="datetime3">
              <a:rPr lang="en-US" smtClean="0"/>
              <a:t>16 December 2025</a:t>
            </a:fld>
            <a:endParaRPr lang="en-US"/>
          </a:p>
        </p:txBody>
      </p:sp>
      <p:sp>
        <p:nvSpPr>
          <p:cNvPr id="5" name="Footer Placeholder 4">
            <a:extLst>
              <a:ext uri="{FF2B5EF4-FFF2-40B4-BE49-F238E27FC236}">
                <a16:creationId xmlns:a16="http://schemas.microsoft.com/office/drawing/2014/main" id="{FB6B44E6-AE85-468F-89AD-CD079CE83BCC}"/>
              </a:ext>
            </a:extLst>
          </p:cNvPr>
          <p:cNvSpPr>
            <a:spLocks noGrp="1"/>
          </p:cNvSpPr>
          <p:nvPr>
            <p:ph type="ftr" sz="quarter" idx="11"/>
          </p:nvPr>
        </p:nvSpPr>
        <p:spPr/>
        <p:txBody>
          <a:bodyPr/>
          <a:lstStyle/>
          <a:p>
            <a:pPr>
              <a:defRPr/>
            </a:pPr>
            <a:r>
              <a:rPr lang="en-US"/>
              <a:t>T. Mayooran</a:t>
            </a:r>
          </a:p>
        </p:txBody>
      </p:sp>
    </p:spTree>
    <p:extLst>
      <p:ext uri="{BB962C8B-B14F-4D97-AF65-F5344CB8AC3E}">
        <p14:creationId xmlns:p14="http://schemas.microsoft.com/office/powerpoint/2010/main" val="4124559835"/>
      </p:ext>
    </p:extLst>
  </p:cSld>
  <p:clrMapOvr>
    <a:masterClrMapping/>
  </p:clrMapOvr>
  <p:transition spd="slow">
    <p:wipe dir="r"/>
  </p:transition>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589940" y="1524000"/>
            <a:ext cx="7661275" cy="4114800"/>
          </a:xfrm>
        </p:spPr>
        <p:txBody>
          <a:bodyPr/>
          <a:lstStyle/>
          <a:p>
            <a:pPr marL="0" indent="0" algn="just">
              <a:buNone/>
            </a:pPr>
            <a:endParaRPr lang="en-IN" dirty="0">
              <a:latin typeface="Times New Roman" panose="02020603050405020304" pitchFamily="18" charset="0"/>
              <a:cs typeface="Times New Roman" panose="02020603050405020304" pitchFamily="18" charset="0"/>
            </a:endParaRPr>
          </a:p>
          <a:p>
            <a:pPr marL="0" indent="0" algn="just">
              <a:buNone/>
            </a:pPr>
            <a:endParaRPr lang="en-IN" dirty="0">
              <a:latin typeface="Times New Roman" panose="02020603050405020304" pitchFamily="18" charset="0"/>
              <a:cs typeface="Times New Roman" panose="02020603050405020304" pitchFamily="18" charset="0"/>
            </a:endParaRPr>
          </a:p>
          <a:p>
            <a:pPr marL="0" indent="0" algn="just">
              <a:buNone/>
            </a:pPr>
            <a:r>
              <a:rPr lang="en-IN" dirty="0">
                <a:latin typeface="Times New Roman" panose="02020603050405020304" pitchFamily="18" charset="0"/>
                <a:cs typeface="Times New Roman" panose="02020603050405020304" pitchFamily="18" charset="0"/>
              </a:rPr>
              <a:t>where P stands for purple and G stands for green, one choice is PPGGGGGG and this choice can happen in different ways. And</a:t>
            </a:r>
          </a:p>
          <a:p>
            <a:pPr marL="0" indent="0" algn="just">
              <a:buNone/>
            </a:pPr>
            <a:endParaRPr lang="en-GB" dirty="0">
              <a:latin typeface="Times New Roman" panose="02020603050405020304" pitchFamily="18" charset="0"/>
              <a:cs typeface="Times New Roman" panose="02020603050405020304" pitchFamily="18" charset="0"/>
            </a:endParaRPr>
          </a:p>
        </p:txBody>
      </p:sp>
      <p:graphicFrame>
        <p:nvGraphicFramePr>
          <p:cNvPr id="6" name="Object 5"/>
          <p:cNvGraphicFramePr>
            <a:graphicFrameLocks noChangeAspect="1"/>
          </p:cNvGraphicFramePr>
          <p:nvPr>
            <p:extLst>
              <p:ext uri="{D42A27DB-BD31-4B8C-83A1-F6EECF244321}">
                <p14:modId xmlns:p14="http://schemas.microsoft.com/office/powerpoint/2010/main" val="943640502"/>
              </p:ext>
            </p:extLst>
          </p:nvPr>
        </p:nvGraphicFramePr>
        <p:xfrm>
          <a:off x="589936" y="5257800"/>
          <a:ext cx="8020664" cy="990600"/>
        </p:xfrm>
        <a:graphic>
          <a:graphicData uri="http://schemas.openxmlformats.org/presentationml/2006/ole">
            <mc:AlternateContent xmlns:mc="http://schemas.openxmlformats.org/markup-compatibility/2006">
              <mc:Choice xmlns:v="urn:schemas-microsoft-com:vml" Requires="v">
                <p:oleObj name="Equation" r:id="rId2" imgW="3187440" imgH="393480" progId="Equation.3">
                  <p:embed/>
                </p:oleObj>
              </mc:Choice>
              <mc:Fallback>
                <p:oleObj name="Equation" r:id="rId2" imgW="3187440" imgH="393480" progId="Equation.3">
                  <p:embed/>
                  <p:pic>
                    <p:nvPicPr>
                      <p:cNvPr id="6" name="Object 5"/>
                      <p:cNvPicPr/>
                      <p:nvPr/>
                    </p:nvPicPr>
                    <p:blipFill>
                      <a:blip r:embed="rId3"/>
                      <a:stretch>
                        <a:fillRect/>
                      </a:stretch>
                    </p:blipFill>
                    <p:spPr>
                      <a:xfrm>
                        <a:off x="589936" y="5257800"/>
                        <a:ext cx="8020664" cy="990600"/>
                      </a:xfrm>
                      <a:prstGeom prst="rect">
                        <a:avLst/>
                      </a:prstGeom>
                    </p:spPr>
                  </p:pic>
                </p:oleObj>
              </mc:Fallback>
            </mc:AlternateContent>
          </a:graphicData>
        </a:graphic>
      </p:graphicFrame>
      <p:graphicFrame>
        <p:nvGraphicFramePr>
          <p:cNvPr id="7" name="Object 6"/>
          <p:cNvGraphicFramePr>
            <a:graphicFrameLocks noChangeAspect="1"/>
          </p:cNvGraphicFramePr>
          <p:nvPr>
            <p:extLst>
              <p:ext uri="{D42A27DB-BD31-4B8C-83A1-F6EECF244321}">
                <p14:modId xmlns:p14="http://schemas.microsoft.com/office/powerpoint/2010/main" val="415647487"/>
              </p:ext>
            </p:extLst>
          </p:nvPr>
        </p:nvGraphicFramePr>
        <p:xfrm>
          <a:off x="589940" y="1905004"/>
          <a:ext cx="7370233" cy="537143"/>
        </p:xfrm>
        <a:graphic>
          <a:graphicData uri="http://schemas.openxmlformats.org/presentationml/2006/ole">
            <mc:AlternateContent xmlns:mc="http://schemas.openxmlformats.org/markup-compatibility/2006">
              <mc:Choice xmlns:v="urn:schemas-microsoft-com:vml" Requires="v">
                <p:oleObj name="Equation" r:id="rId4" imgW="2781000" imgH="203040" progId="Equation.3">
                  <p:embed/>
                </p:oleObj>
              </mc:Choice>
              <mc:Fallback>
                <p:oleObj name="Equation" r:id="rId4" imgW="2781000" imgH="203040" progId="Equation.3">
                  <p:embed/>
                  <p:pic>
                    <p:nvPicPr>
                      <p:cNvPr id="7" name="Object 6"/>
                      <p:cNvPicPr/>
                      <p:nvPr/>
                    </p:nvPicPr>
                    <p:blipFill>
                      <a:blip r:embed="rId5"/>
                      <a:stretch>
                        <a:fillRect/>
                      </a:stretch>
                    </p:blipFill>
                    <p:spPr>
                      <a:xfrm>
                        <a:off x="589940" y="1905004"/>
                        <a:ext cx="7370233" cy="537143"/>
                      </a:xfrm>
                      <a:prstGeom prst="rect">
                        <a:avLst/>
                      </a:prstGeom>
                    </p:spPr>
                  </p:pic>
                </p:oleObj>
              </mc:Fallback>
            </mc:AlternateContent>
          </a:graphicData>
        </a:graphic>
      </p:graphicFrame>
      <p:pic>
        <p:nvPicPr>
          <p:cNvPr id="8" name="Picture 7"/>
          <p:cNvPicPr>
            <a:picLocks noChangeAspect="1"/>
          </p:cNvPicPr>
          <p:nvPr/>
        </p:nvPicPr>
        <p:blipFill>
          <a:blip r:embed="rId6"/>
          <a:stretch>
            <a:fillRect/>
          </a:stretch>
        </p:blipFill>
        <p:spPr>
          <a:xfrm>
            <a:off x="6400800" y="50007"/>
            <a:ext cx="1524000" cy="1543050"/>
          </a:xfrm>
          <a:prstGeom prst="rect">
            <a:avLst/>
          </a:prstGeom>
        </p:spPr>
      </p:pic>
      <p:graphicFrame>
        <p:nvGraphicFramePr>
          <p:cNvPr id="10" name="Object 9"/>
          <p:cNvGraphicFramePr>
            <a:graphicFrameLocks noChangeAspect="1"/>
          </p:cNvGraphicFramePr>
          <p:nvPr>
            <p:extLst>
              <p:ext uri="{D42A27DB-BD31-4B8C-83A1-F6EECF244321}">
                <p14:modId xmlns:p14="http://schemas.microsoft.com/office/powerpoint/2010/main" val="496995635"/>
              </p:ext>
            </p:extLst>
          </p:nvPr>
        </p:nvGraphicFramePr>
        <p:xfrm>
          <a:off x="589940" y="4493933"/>
          <a:ext cx="7370233" cy="537143"/>
        </p:xfrm>
        <a:graphic>
          <a:graphicData uri="http://schemas.openxmlformats.org/presentationml/2006/ole">
            <mc:AlternateContent xmlns:mc="http://schemas.openxmlformats.org/markup-compatibility/2006">
              <mc:Choice xmlns:v="urn:schemas-microsoft-com:vml" Requires="v">
                <p:oleObj name="Equation" r:id="rId4" imgW="2781000" imgH="203040" progId="Equation.3">
                  <p:embed/>
                </p:oleObj>
              </mc:Choice>
              <mc:Fallback>
                <p:oleObj name="Equation" r:id="rId4" imgW="2781000" imgH="203040" progId="Equation.3">
                  <p:embed/>
                  <p:pic>
                    <p:nvPicPr>
                      <p:cNvPr id="10" name="Object 9"/>
                      <p:cNvPicPr/>
                      <p:nvPr/>
                    </p:nvPicPr>
                    <p:blipFill>
                      <a:blip r:embed="rId5"/>
                      <a:stretch>
                        <a:fillRect/>
                      </a:stretch>
                    </p:blipFill>
                    <p:spPr>
                      <a:xfrm>
                        <a:off x="589940" y="4493933"/>
                        <a:ext cx="7370233" cy="537143"/>
                      </a:xfrm>
                      <a:prstGeom prst="rect">
                        <a:avLst/>
                      </a:prstGeom>
                    </p:spPr>
                  </p:pic>
                </p:oleObj>
              </mc:Fallback>
            </mc:AlternateContent>
          </a:graphicData>
        </a:graphic>
      </p:graphicFrame>
      <p:sp>
        <p:nvSpPr>
          <p:cNvPr id="4" name="Slide Number Placeholder 3"/>
          <p:cNvSpPr>
            <a:spLocks noGrp="1"/>
          </p:cNvSpPr>
          <p:nvPr>
            <p:ph type="sldNum" sz="quarter" idx="12"/>
          </p:nvPr>
        </p:nvSpPr>
        <p:spPr/>
        <p:txBody>
          <a:bodyPr/>
          <a:lstStyle/>
          <a:p>
            <a:pPr>
              <a:defRPr/>
            </a:pPr>
            <a:fld id="{645ED874-4033-4CEE-AE69-D7CB222F48E6}" type="slidenum">
              <a:rPr lang="en-US" smtClean="0"/>
              <a:pPr>
                <a:defRPr/>
              </a:pPr>
              <a:t>43</a:t>
            </a:fld>
            <a:endParaRPr lang="en-US"/>
          </a:p>
        </p:txBody>
      </p:sp>
      <p:sp>
        <p:nvSpPr>
          <p:cNvPr id="2" name="Date Placeholder 1">
            <a:extLst>
              <a:ext uri="{FF2B5EF4-FFF2-40B4-BE49-F238E27FC236}">
                <a16:creationId xmlns:a16="http://schemas.microsoft.com/office/drawing/2014/main" id="{480AB37C-70C9-4307-AB64-191F20DD99F2}"/>
              </a:ext>
            </a:extLst>
          </p:cNvPr>
          <p:cNvSpPr>
            <a:spLocks noGrp="1"/>
          </p:cNvSpPr>
          <p:nvPr>
            <p:ph type="dt" sz="half" idx="10"/>
          </p:nvPr>
        </p:nvSpPr>
        <p:spPr/>
        <p:txBody>
          <a:bodyPr/>
          <a:lstStyle/>
          <a:p>
            <a:pPr>
              <a:defRPr/>
            </a:pPr>
            <a:fld id="{4967952A-FAC5-4532-A65B-61C08D7A309F}" type="datetime3">
              <a:rPr lang="en-US" smtClean="0"/>
              <a:t>16 December 2025</a:t>
            </a:fld>
            <a:endParaRPr lang="en-US"/>
          </a:p>
        </p:txBody>
      </p:sp>
      <p:sp>
        <p:nvSpPr>
          <p:cNvPr id="5" name="Footer Placeholder 4">
            <a:extLst>
              <a:ext uri="{FF2B5EF4-FFF2-40B4-BE49-F238E27FC236}">
                <a16:creationId xmlns:a16="http://schemas.microsoft.com/office/drawing/2014/main" id="{97D6CBE0-FB80-4D71-B8BF-C1933996075F}"/>
              </a:ext>
            </a:extLst>
          </p:cNvPr>
          <p:cNvSpPr>
            <a:spLocks noGrp="1"/>
          </p:cNvSpPr>
          <p:nvPr>
            <p:ph type="ftr" sz="quarter" idx="11"/>
          </p:nvPr>
        </p:nvSpPr>
        <p:spPr/>
        <p:txBody>
          <a:bodyPr/>
          <a:lstStyle/>
          <a:p>
            <a:pPr>
              <a:defRPr/>
            </a:pPr>
            <a:r>
              <a:rPr lang="en-US"/>
              <a:t>T. Mayooran</a:t>
            </a:r>
          </a:p>
        </p:txBody>
      </p:sp>
    </p:spTree>
    <p:extLst>
      <p:ext uri="{BB962C8B-B14F-4D97-AF65-F5344CB8AC3E}">
        <p14:creationId xmlns:p14="http://schemas.microsoft.com/office/powerpoint/2010/main" val="3898427755"/>
      </p:ext>
    </p:extLst>
  </p:cSld>
  <p:clrMapOvr>
    <a:masterClrMapping/>
  </p:clrMapOvr>
  <p:transition spd="slow">
    <p:wipe dir="r"/>
  </p:transition>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sz="4500" dirty="0">
                <a:solidFill>
                  <a:srgbClr val="C0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Example 12 :</a:t>
            </a:r>
          </a:p>
        </p:txBody>
      </p:sp>
      <p:sp>
        <p:nvSpPr>
          <p:cNvPr id="3" name="Content Placeholder 2"/>
          <p:cNvSpPr>
            <a:spLocks noGrp="1"/>
          </p:cNvSpPr>
          <p:nvPr>
            <p:ph idx="1"/>
          </p:nvPr>
        </p:nvSpPr>
        <p:spPr>
          <a:xfrm>
            <a:off x="644529" y="1524000"/>
            <a:ext cx="7661275" cy="4114800"/>
          </a:xfrm>
        </p:spPr>
        <p:txBody>
          <a:bodyPr/>
          <a:lstStyle/>
          <a:p>
            <a:pPr marL="0" indent="0" algn="just">
              <a:buNone/>
            </a:pPr>
            <a:r>
              <a:rPr lang="en-IN" dirty="0">
                <a:latin typeface="Times New Roman" panose="02020603050405020304" pitchFamily="18" charset="0"/>
                <a:cs typeface="Times New Roman" panose="02020603050405020304" pitchFamily="18" charset="0"/>
              </a:rPr>
              <a:t>A machine produces output with a fraction defective of 0.06. If a lot consists of 100 items, what is the probability that a sample of 5 items will contain one or fewer defective?</a:t>
            </a:r>
          </a:p>
          <a:p>
            <a:pPr marL="0" indent="0" algn="just">
              <a:buNone/>
            </a:pPr>
            <a:r>
              <a:rPr lang="en-IN" dirty="0">
                <a:solidFill>
                  <a:srgbClr val="FF0000"/>
                </a:solidFill>
                <a:latin typeface="Times New Roman" panose="02020603050405020304" pitchFamily="18" charset="0"/>
                <a:cs typeface="Times New Roman" panose="02020603050405020304" pitchFamily="18" charset="0"/>
              </a:rPr>
              <a:t>Solution: </a:t>
            </a:r>
            <a:r>
              <a:rPr lang="en-IN" dirty="0">
                <a:latin typeface="Times New Roman" panose="02020603050405020304" pitchFamily="18" charset="0"/>
                <a:cs typeface="Times New Roman" panose="02020603050405020304" pitchFamily="18" charset="0"/>
              </a:rPr>
              <a:t>Let X be the number of defectives in a sample of 5 items. Among 100 items, there are 6 defective items. Then</a:t>
            </a:r>
            <a:endParaRPr lang="en-GB" dirty="0">
              <a:latin typeface="Times New Roman" panose="02020603050405020304" pitchFamily="18" charset="0"/>
              <a:cs typeface="Times New Roman" panose="02020603050405020304" pitchFamily="18" charset="0"/>
            </a:endParaRPr>
          </a:p>
        </p:txBody>
      </p:sp>
      <p:pic>
        <p:nvPicPr>
          <p:cNvPr id="13314" name="Picture 2" descr="http://www.nodi.dk/fileadmin/_processed_/csm_Aksial1000x571_8c5f7f664d.jp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87865" y="296983"/>
            <a:ext cx="2202039" cy="1257974"/>
          </a:xfrm>
          <a:prstGeom prst="rect">
            <a:avLst/>
          </a:prstGeom>
          <a:ln>
            <a:noFill/>
          </a:ln>
          <a:effectLst>
            <a:softEdge rad="112500"/>
          </a:effectLst>
          <a:extLst>
            <a:ext uri="{909E8E84-426E-40DD-AFC4-6F175D3DCCD1}">
              <a14:hiddenFill xmlns:a14="http://schemas.microsoft.com/office/drawing/2010/main">
                <a:solidFill>
                  <a:srgbClr val="FFFFFF"/>
                </a:solidFill>
              </a14:hiddenFill>
            </a:ext>
          </a:extLst>
        </p:spPr>
      </p:pic>
      <p:graphicFrame>
        <p:nvGraphicFramePr>
          <p:cNvPr id="7" name="Object 6"/>
          <p:cNvGraphicFramePr>
            <a:graphicFrameLocks noChangeAspect="1"/>
          </p:cNvGraphicFramePr>
          <p:nvPr>
            <p:extLst>
              <p:ext uri="{D42A27DB-BD31-4B8C-83A1-F6EECF244321}">
                <p14:modId xmlns:p14="http://schemas.microsoft.com/office/powerpoint/2010/main" val="3296173604"/>
              </p:ext>
            </p:extLst>
          </p:nvPr>
        </p:nvGraphicFramePr>
        <p:xfrm>
          <a:off x="1371600" y="5181600"/>
          <a:ext cx="4285318" cy="1196800"/>
        </p:xfrm>
        <a:graphic>
          <a:graphicData uri="http://schemas.openxmlformats.org/presentationml/2006/ole">
            <mc:AlternateContent xmlns:mc="http://schemas.openxmlformats.org/markup-compatibility/2006">
              <mc:Choice xmlns:v="urn:schemas-microsoft-com:vml" Requires="v">
                <p:oleObj name="Equation" r:id="rId3" imgW="1409400" imgH="393480" progId="Equation.3">
                  <p:embed/>
                </p:oleObj>
              </mc:Choice>
              <mc:Fallback>
                <p:oleObj name="Equation" r:id="rId3" imgW="1409400" imgH="393480" progId="Equation.3">
                  <p:embed/>
                  <p:pic>
                    <p:nvPicPr>
                      <p:cNvPr id="7" name="Object 6"/>
                      <p:cNvPicPr/>
                      <p:nvPr/>
                    </p:nvPicPr>
                    <p:blipFill>
                      <a:blip r:embed="rId4"/>
                      <a:stretch>
                        <a:fillRect/>
                      </a:stretch>
                    </p:blipFill>
                    <p:spPr>
                      <a:xfrm>
                        <a:off x="1371600" y="5181600"/>
                        <a:ext cx="4285318" cy="1196800"/>
                      </a:xfrm>
                      <a:prstGeom prst="rect">
                        <a:avLst/>
                      </a:prstGeom>
                    </p:spPr>
                  </p:pic>
                </p:oleObj>
              </mc:Fallback>
            </mc:AlternateContent>
          </a:graphicData>
        </a:graphic>
      </p:graphicFrame>
      <p:sp>
        <p:nvSpPr>
          <p:cNvPr id="6" name="Slide Number Placeholder 5"/>
          <p:cNvSpPr>
            <a:spLocks noGrp="1"/>
          </p:cNvSpPr>
          <p:nvPr>
            <p:ph type="sldNum" sz="quarter" idx="12"/>
          </p:nvPr>
        </p:nvSpPr>
        <p:spPr/>
        <p:txBody>
          <a:bodyPr/>
          <a:lstStyle/>
          <a:p>
            <a:pPr>
              <a:defRPr/>
            </a:pPr>
            <a:fld id="{645ED874-4033-4CEE-AE69-D7CB222F48E6}" type="slidenum">
              <a:rPr lang="en-US" smtClean="0"/>
              <a:pPr>
                <a:defRPr/>
              </a:pPr>
              <a:t>44</a:t>
            </a:fld>
            <a:endParaRPr lang="en-US"/>
          </a:p>
        </p:txBody>
      </p:sp>
      <p:sp>
        <p:nvSpPr>
          <p:cNvPr id="4" name="Date Placeholder 3">
            <a:extLst>
              <a:ext uri="{FF2B5EF4-FFF2-40B4-BE49-F238E27FC236}">
                <a16:creationId xmlns:a16="http://schemas.microsoft.com/office/drawing/2014/main" id="{FF2B0CB3-EA8C-4CE1-96A6-2BFFA285A31B}"/>
              </a:ext>
            </a:extLst>
          </p:cNvPr>
          <p:cNvSpPr>
            <a:spLocks noGrp="1"/>
          </p:cNvSpPr>
          <p:nvPr>
            <p:ph type="dt" sz="half" idx="10"/>
          </p:nvPr>
        </p:nvSpPr>
        <p:spPr/>
        <p:txBody>
          <a:bodyPr/>
          <a:lstStyle/>
          <a:p>
            <a:pPr>
              <a:defRPr/>
            </a:pPr>
            <a:fld id="{B8111191-3A4D-4B9C-A42F-94960EF056CE}" type="datetime3">
              <a:rPr lang="en-US" smtClean="0"/>
              <a:t>16 December 2025</a:t>
            </a:fld>
            <a:endParaRPr lang="en-US"/>
          </a:p>
        </p:txBody>
      </p:sp>
      <p:sp>
        <p:nvSpPr>
          <p:cNvPr id="5" name="Footer Placeholder 4">
            <a:extLst>
              <a:ext uri="{FF2B5EF4-FFF2-40B4-BE49-F238E27FC236}">
                <a16:creationId xmlns:a16="http://schemas.microsoft.com/office/drawing/2014/main" id="{C13F0FF9-E63F-4601-8E1A-4E24AC17984D}"/>
              </a:ext>
            </a:extLst>
          </p:cNvPr>
          <p:cNvSpPr>
            <a:spLocks noGrp="1"/>
          </p:cNvSpPr>
          <p:nvPr>
            <p:ph type="ftr" sz="quarter" idx="11"/>
          </p:nvPr>
        </p:nvSpPr>
        <p:spPr/>
        <p:txBody>
          <a:bodyPr/>
          <a:lstStyle/>
          <a:p>
            <a:pPr>
              <a:defRPr/>
            </a:pPr>
            <a:r>
              <a:rPr lang="en-US"/>
              <a:t>T. Mayooran</a:t>
            </a:r>
          </a:p>
        </p:txBody>
      </p:sp>
    </p:spTree>
    <p:extLst>
      <p:ext uri="{BB962C8B-B14F-4D97-AF65-F5344CB8AC3E}">
        <p14:creationId xmlns:p14="http://schemas.microsoft.com/office/powerpoint/2010/main" val="741334683"/>
      </p:ext>
    </p:extLst>
  </p:cSld>
  <p:clrMapOvr>
    <a:masterClrMapping/>
  </p:clrMapOvr>
  <p:transition spd="slow">
    <p:wipe dir="r"/>
  </p:transition>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579441" y="3122159"/>
            <a:ext cx="7661275" cy="4114800"/>
          </a:xfrm>
        </p:spPr>
        <p:txBody>
          <a:bodyPr/>
          <a:lstStyle/>
          <a:p>
            <a:pPr marL="0" indent="0">
              <a:buNone/>
            </a:pPr>
            <a:r>
              <a:rPr lang="en-GB" sz="2400" dirty="0">
                <a:solidFill>
                  <a:srgbClr val="0070C0"/>
                </a:solidFill>
                <a:latin typeface="Times New Roman" panose="02020603050405020304" pitchFamily="18" charset="0"/>
                <a:cs typeface="Times New Roman" panose="02020603050405020304" pitchFamily="18" charset="0"/>
              </a:rPr>
              <a:t>Alternately,</a:t>
            </a:r>
          </a:p>
          <a:p>
            <a:pPr marL="0" indent="0">
              <a:buNone/>
            </a:pPr>
            <a:endParaRPr lang="en-GB" sz="2400" dirty="0">
              <a:latin typeface="Times New Roman" panose="02020603050405020304" pitchFamily="18" charset="0"/>
              <a:cs typeface="Times New Roman" panose="02020603050405020304" pitchFamily="18" charset="0"/>
            </a:endParaRPr>
          </a:p>
          <a:p>
            <a:pPr marL="0" indent="0">
              <a:buNone/>
            </a:pPr>
            <a:r>
              <a:rPr lang="en-IN" sz="2400" dirty="0">
                <a:latin typeface="Times New Roman" panose="02020603050405020304" pitchFamily="18" charset="0"/>
                <a:cs typeface="Times New Roman" panose="02020603050405020304" pitchFamily="18" charset="0"/>
              </a:rPr>
              <a:t>where G stands for good and D stands for defective,          and           and ways GGGGG and GGGGD can be arranged, respectively. Then</a:t>
            </a:r>
            <a:endParaRPr lang="en-GB" sz="2400" dirty="0">
              <a:latin typeface="Times New Roman" panose="02020603050405020304" pitchFamily="18" charset="0"/>
              <a:cs typeface="Times New Roman" panose="02020603050405020304" pitchFamily="18" charset="0"/>
            </a:endParaRPr>
          </a:p>
        </p:txBody>
      </p:sp>
      <p:pic>
        <p:nvPicPr>
          <p:cNvPr id="6" name="Picture 2" descr="http://www.nodi.dk/fileadmin/_processed_/csm_Aksial1000x571_8c5f7f664d.jp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943604" y="304800"/>
            <a:ext cx="2202039" cy="1257974"/>
          </a:xfrm>
          <a:prstGeom prst="rect">
            <a:avLst/>
          </a:prstGeom>
          <a:ln>
            <a:noFill/>
          </a:ln>
          <a:effectLst>
            <a:softEdge rad="112500"/>
          </a:effectLst>
          <a:extLst>
            <a:ext uri="{909E8E84-426E-40DD-AFC4-6F175D3DCCD1}">
              <a14:hiddenFill xmlns:a14="http://schemas.microsoft.com/office/drawing/2010/main">
                <a:solidFill>
                  <a:srgbClr val="FFFFFF"/>
                </a:solidFill>
              </a14:hiddenFill>
            </a:ext>
          </a:extLst>
        </p:spPr>
      </p:pic>
      <p:graphicFrame>
        <p:nvGraphicFramePr>
          <p:cNvPr id="7" name="Object 6"/>
          <p:cNvGraphicFramePr>
            <a:graphicFrameLocks noChangeAspect="1"/>
          </p:cNvGraphicFramePr>
          <p:nvPr>
            <p:extLst>
              <p:ext uri="{D42A27DB-BD31-4B8C-83A1-F6EECF244321}">
                <p14:modId xmlns:p14="http://schemas.microsoft.com/office/powerpoint/2010/main" val="4136706759"/>
              </p:ext>
            </p:extLst>
          </p:nvPr>
        </p:nvGraphicFramePr>
        <p:xfrm>
          <a:off x="990604" y="1830835"/>
          <a:ext cx="3777497" cy="1140966"/>
        </p:xfrm>
        <a:graphic>
          <a:graphicData uri="http://schemas.openxmlformats.org/presentationml/2006/ole">
            <mc:AlternateContent xmlns:mc="http://schemas.openxmlformats.org/markup-compatibility/2006">
              <mc:Choice xmlns:v="urn:schemas-microsoft-com:vml" Requires="v">
                <p:oleObj name="Equation" r:id="rId3" imgW="2019240" imgH="609480" progId="Equation.3">
                  <p:embed/>
                </p:oleObj>
              </mc:Choice>
              <mc:Fallback>
                <p:oleObj name="Equation" r:id="rId3" imgW="2019240" imgH="609480" progId="Equation.3">
                  <p:embed/>
                  <p:pic>
                    <p:nvPicPr>
                      <p:cNvPr id="7" name="Object 6"/>
                      <p:cNvPicPr/>
                      <p:nvPr/>
                    </p:nvPicPr>
                    <p:blipFill>
                      <a:blip r:embed="rId4"/>
                      <a:stretch>
                        <a:fillRect/>
                      </a:stretch>
                    </p:blipFill>
                    <p:spPr>
                      <a:xfrm>
                        <a:off x="990604" y="1830835"/>
                        <a:ext cx="3777497" cy="1140966"/>
                      </a:xfrm>
                      <a:prstGeom prst="rect">
                        <a:avLst/>
                      </a:prstGeom>
                    </p:spPr>
                  </p:pic>
                </p:oleObj>
              </mc:Fallback>
            </mc:AlternateContent>
          </a:graphicData>
        </a:graphic>
      </p:graphicFrame>
      <p:graphicFrame>
        <p:nvGraphicFramePr>
          <p:cNvPr id="8" name="Object 7"/>
          <p:cNvGraphicFramePr>
            <a:graphicFrameLocks noChangeAspect="1"/>
          </p:cNvGraphicFramePr>
          <p:nvPr>
            <p:extLst>
              <p:ext uri="{D42A27DB-BD31-4B8C-83A1-F6EECF244321}">
                <p14:modId xmlns:p14="http://schemas.microsoft.com/office/powerpoint/2010/main" val="2498513326"/>
              </p:ext>
            </p:extLst>
          </p:nvPr>
        </p:nvGraphicFramePr>
        <p:xfrm>
          <a:off x="2362200" y="3312502"/>
          <a:ext cx="3352800" cy="690946"/>
        </p:xfrm>
        <a:graphic>
          <a:graphicData uri="http://schemas.openxmlformats.org/presentationml/2006/ole">
            <mc:AlternateContent xmlns:mc="http://schemas.openxmlformats.org/markup-compatibility/2006">
              <mc:Choice xmlns:v="urn:schemas-microsoft-com:vml" Requires="v">
                <p:oleObj name="Equation" r:id="rId5" imgW="2095200" imgH="431640" progId="Equation.3">
                  <p:embed/>
                </p:oleObj>
              </mc:Choice>
              <mc:Fallback>
                <p:oleObj name="Equation" r:id="rId5" imgW="2095200" imgH="431640" progId="Equation.3">
                  <p:embed/>
                  <p:pic>
                    <p:nvPicPr>
                      <p:cNvPr id="8" name="Object 7"/>
                      <p:cNvPicPr/>
                      <p:nvPr/>
                    </p:nvPicPr>
                    <p:blipFill>
                      <a:blip r:embed="rId6"/>
                      <a:stretch>
                        <a:fillRect/>
                      </a:stretch>
                    </p:blipFill>
                    <p:spPr>
                      <a:xfrm>
                        <a:off x="2362200" y="3312502"/>
                        <a:ext cx="3352800" cy="690946"/>
                      </a:xfrm>
                      <a:prstGeom prst="rect">
                        <a:avLst/>
                      </a:prstGeom>
                    </p:spPr>
                  </p:pic>
                </p:oleObj>
              </mc:Fallback>
            </mc:AlternateContent>
          </a:graphicData>
        </a:graphic>
      </p:graphicFrame>
      <p:graphicFrame>
        <p:nvGraphicFramePr>
          <p:cNvPr id="9" name="Object 8"/>
          <p:cNvGraphicFramePr>
            <a:graphicFrameLocks noChangeAspect="1"/>
          </p:cNvGraphicFramePr>
          <p:nvPr>
            <p:extLst>
              <p:ext uri="{D42A27DB-BD31-4B8C-83A1-F6EECF244321}">
                <p14:modId xmlns:p14="http://schemas.microsoft.com/office/powerpoint/2010/main" val="3396850574"/>
              </p:ext>
            </p:extLst>
          </p:nvPr>
        </p:nvGraphicFramePr>
        <p:xfrm>
          <a:off x="1124380" y="4419600"/>
          <a:ext cx="780620" cy="311150"/>
        </p:xfrm>
        <a:graphic>
          <a:graphicData uri="http://schemas.openxmlformats.org/presentationml/2006/ole">
            <mc:AlternateContent xmlns:mc="http://schemas.openxmlformats.org/markup-compatibility/2006">
              <mc:Choice xmlns:v="urn:schemas-microsoft-com:vml" Requires="v">
                <p:oleObj name="Equation" r:id="rId7" imgW="444240" imgH="177480" progId="Equation.3">
                  <p:embed/>
                </p:oleObj>
              </mc:Choice>
              <mc:Fallback>
                <p:oleObj name="Equation" r:id="rId7" imgW="444240" imgH="177480" progId="Equation.3">
                  <p:embed/>
                  <p:pic>
                    <p:nvPicPr>
                      <p:cNvPr id="9" name="Object 8"/>
                      <p:cNvPicPr/>
                      <p:nvPr/>
                    </p:nvPicPr>
                    <p:blipFill>
                      <a:blip r:embed="rId8"/>
                      <a:stretch>
                        <a:fillRect/>
                      </a:stretch>
                    </p:blipFill>
                    <p:spPr>
                      <a:xfrm>
                        <a:off x="1124380" y="4419600"/>
                        <a:ext cx="780620" cy="311150"/>
                      </a:xfrm>
                      <a:prstGeom prst="rect">
                        <a:avLst/>
                      </a:prstGeom>
                    </p:spPr>
                  </p:pic>
                </p:oleObj>
              </mc:Fallback>
            </mc:AlternateContent>
          </a:graphicData>
        </a:graphic>
      </p:graphicFrame>
      <p:graphicFrame>
        <p:nvGraphicFramePr>
          <p:cNvPr id="10" name="Object 9"/>
          <p:cNvGraphicFramePr>
            <a:graphicFrameLocks noChangeAspect="1"/>
          </p:cNvGraphicFramePr>
          <p:nvPr>
            <p:extLst>
              <p:ext uri="{D42A27DB-BD31-4B8C-83A1-F6EECF244321}">
                <p14:modId xmlns:p14="http://schemas.microsoft.com/office/powerpoint/2010/main" val="3619088639"/>
              </p:ext>
            </p:extLst>
          </p:nvPr>
        </p:nvGraphicFramePr>
        <p:xfrm>
          <a:off x="7066394" y="4039772"/>
          <a:ext cx="758825" cy="311150"/>
        </p:xfrm>
        <a:graphic>
          <a:graphicData uri="http://schemas.openxmlformats.org/presentationml/2006/ole">
            <mc:AlternateContent xmlns:mc="http://schemas.openxmlformats.org/markup-compatibility/2006">
              <mc:Choice xmlns:v="urn:schemas-microsoft-com:vml" Requires="v">
                <p:oleObj name="Equation" r:id="rId9" imgW="431640" imgH="177480" progId="Equation.3">
                  <p:embed/>
                </p:oleObj>
              </mc:Choice>
              <mc:Fallback>
                <p:oleObj name="Equation" r:id="rId9" imgW="431640" imgH="177480" progId="Equation.3">
                  <p:embed/>
                  <p:pic>
                    <p:nvPicPr>
                      <p:cNvPr id="10" name="Object 9"/>
                      <p:cNvPicPr/>
                      <p:nvPr/>
                    </p:nvPicPr>
                    <p:blipFill>
                      <a:blip r:embed="rId10"/>
                      <a:stretch>
                        <a:fillRect/>
                      </a:stretch>
                    </p:blipFill>
                    <p:spPr>
                      <a:xfrm>
                        <a:off x="7066394" y="4039772"/>
                        <a:ext cx="758825" cy="311150"/>
                      </a:xfrm>
                      <a:prstGeom prst="rect">
                        <a:avLst/>
                      </a:prstGeom>
                    </p:spPr>
                  </p:pic>
                </p:oleObj>
              </mc:Fallback>
            </mc:AlternateContent>
          </a:graphicData>
        </a:graphic>
      </p:graphicFrame>
      <p:graphicFrame>
        <p:nvGraphicFramePr>
          <p:cNvPr id="11" name="Object 10"/>
          <p:cNvGraphicFramePr>
            <a:graphicFrameLocks noChangeAspect="1"/>
          </p:cNvGraphicFramePr>
          <p:nvPr>
            <p:extLst>
              <p:ext uri="{D42A27DB-BD31-4B8C-83A1-F6EECF244321}">
                <p14:modId xmlns:p14="http://schemas.microsoft.com/office/powerpoint/2010/main" val="103037533"/>
              </p:ext>
            </p:extLst>
          </p:nvPr>
        </p:nvGraphicFramePr>
        <p:xfrm>
          <a:off x="1752600" y="5290003"/>
          <a:ext cx="4831644" cy="1208466"/>
        </p:xfrm>
        <a:graphic>
          <a:graphicData uri="http://schemas.openxmlformats.org/presentationml/2006/ole">
            <mc:AlternateContent xmlns:mc="http://schemas.openxmlformats.org/markup-compatibility/2006">
              <mc:Choice xmlns:v="urn:schemas-microsoft-com:vml" Requires="v">
                <p:oleObj name="Equation" r:id="rId11" imgW="3200400" imgH="799920" progId="Equation.3">
                  <p:embed/>
                </p:oleObj>
              </mc:Choice>
              <mc:Fallback>
                <p:oleObj name="Equation" r:id="rId11" imgW="3200400" imgH="799920" progId="Equation.3">
                  <p:embed/>
                  <p:pic>
                    <p:nvPicPr>
                      <p:cNvPr id="11" name="Object 10"/>
                      <p:cNvPicPr/>
                      <p:nvPr/>
                    </p:nvPicPr>
                    <p:blipFill>
                      <a:blip r:embed="rId12"/>
                      <a:stretch>
                        <a:fillRect/>
                      </a:stretch>
                    </p:blipFill>
                    <p:spPr>
                      <a:xfrm>
                        <a:off x="1752600" y="5290003"/>
                        <a:ext cx="4831644" cy="1208466"/>
                      </a:xfrm>
                      <a:prstGeom prst="rect">
                        <a:avLst/>
                      </a:prstGeom>
                    </p:spPr>
                  </p:pic>
                </p:oleObj>
              </mc:Fallback>
            </mc:AlternateContent>
          </a:graphicData>
        </a:graphic>
      </p:graphicFrame>
      <p:sp>
        <p:nvSpPr>
          <p:cNvPr id="4" name="Slide Number Placeholder 3"/>
          <p:cNvSpPr>
            <a:spLocks noGrp="1"/>
          </p:cNvSpPr>
          <p:nvPr>
            <p:ph type="sldNum" sz="quarter" idx="12"/>
          </p:nvPr>
        </p:nvSpPr>
        <p:spPr/>
        <p:txBody>
          <a:bodyPr/>
          <a:lstStyle/>
          <a:p>
            <a:pPr>
              <a:defRPr/>
            </a:pPr>
            <a:fld id="{645ED874-4033-4CEE-AE69-D7CB222F48E6}" type="slidenum">
              <a:rPr lang="en-US" smtClean="0"/>
              <a:pPr>
                <a:defRPr/>
              </a:pPr>
              <a:t>45</a:t>
            </a:fld>
            <a:endParaRPr lang="en-US"/>
          </a:p>
        </p:txBody>
      </p:sp>
      <p:sp>
        <p:nvSpPr>
          <p:cNvPr id="2" name="Date Placeholder 1">
            <a:extLst>
              <a:ext uri="{FF2B5EF4-FFF2-40B4-BE49-F238E27FC236}">
                <a16:creationId xmlns:a16="http://schemas.microsoft.com/office/drawing/2014/main" id="{3B52EA5F-6A80-4B58-9728-2E756BAFEFCD}"/>
              </a:ext>
            </a:extLst>
          </p:cNvPr>
          <p:cNvSpPr>
            <a:spLocks noGrp="1"/>
          </p:cNvSpPr>
          <p:nvPr>
            <p:ph type="dt" sz="half" idx="10"/>
          </p:nvPr>
        </p:nvSpPr>
        <p:spPr/>
        <p:txBody>
          <a:bodyPr/>
          <a:lstStyle/>
          <a:p>
            <a:pPr>
              <a:defRPr/>
            </a:pPr>
            <a:fld id="{5D897CCF-6D2F-4795-9715-E8C554639C8B}" type="datetime3">
              <a:rPr lang="en-US" smtClean="0"/>
              <a:t>16 December 2025</a:t>
            </a:fld>
            <a:endParaRPr lang="en-US"/>
          </a:p>
        </p:txBody>
      </p:sp>
      <p:sp>
        <p:nvSpPr>
          <p:cNvPr id="5" name="Footer Placeholder 4">
            <a:extLst>
              <a:ext uri="{FF2B5EF4-FFF2-40B4-BE49-F238E27FC236}">
                <a16:creationId xmlns:a16="http://schemas.microsoft.com/office/drawing/2014/main" id="{C03ED517-D7CF-47F9-B758-57C35E6DEB71}"/>
              </a:ext>
            </a:extLst>
          </p:cNvPr>
          <p:cNvSpPr>
            <a:spLocks noGrp="1"/>
          </p:cNvSpPr>
          <p:nvPr>
            <p:ph type="ftr" sz="quarter" idx="11"/>
          </p:nvPr>
        </p:nvSpPr>
        <p:spPr/>
        <p:txBody>
          <a:bodyPr/>
          <a:lstStyle/>
          <a:p>
            <a:pPr>
              <a:defRPr/>
            </a:pPr>
            <a:r>
              <a:rPr lang="en-US"/>
              <a:t>T. Mayooran</a:t>
            </a:r>
          </a:p>
        </p:txBody>
      </p:sp>
    </p:spTree>
    <p:extLst>
      <p:ext uri="{BB962C8B-B14F-4D97-AF65-F5344CB8AC3E}">
        <p14:creationId xmlns:p14="http://schemas.microsoft.com/office/powerpoint/2010/main" val="3702652092"/>
      </p:ext>
    </p:extLst>
  </p:cSld>
  <p:clrMapOvr>
    <a:masterClrMapping/>
  </p:clrMapOvr>
  <p:transition spd="slow">
    <p:wipe dir="r"/>
  </p:transition>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69C6A8-FCD8-CB75-238E-4B8638D96A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2EF6E59-D548-6B7F-9049-615FA400C64A}"/>
              </a:ext>
            </a:extLst>
          </p:cNvPr>
          <p:cNvSpPr>
            <a:spLocks noGrp="1"/>
          </p:cNvSpPr>
          <p:nvPr>
            <p:ph type="title"/>
          </p:nvPr>
        </p:nvSpPr>
        <p:spPr/>
        <p:txBody>
          <a:bodyPr/>
          <a:lstStyle/>
          <a:p>
            <a:r>
              <a:rPr lang="en-GB" dirty="0">
                <a:solidFill>
                  <a:srgbClr val="C00000"/>
                </a:solidFill>
                <a:effectLst>
                  <a:outerShdw blurRad="38100" dist="38100" dir="2700000" algn="tl">
                    <a:srgbClr val="000000">
                      <a:alpha val="43137"/>
                    </a:srgbClr>
                  </a:outerShdw>
                </a:effectLst>
                <a:latin typeface="Times New Roman" pitchFamily="18" charset="0"/>
                <a:cs typeface="Times New Roman" pitchFamily="18" charset="0"/>
              </a:rPr>
              <a:t>Exercises:</a:t>
            </a:r>
            <a:endParaRPr lang="en-GB" dirty="0"/>
          </a:p>
        </p:txBody>
      </p:sp>
      <p:sp>
        <p:nvSpPr>
          <p:cNvPr id="4" name="Slide Number Placeholder 3">
            <a:extLst>
              <a:ext uri="{FF2B5EF4-FFF2-40B4-BE49-F238E27FC236}">
                <a16:creationId xmlns:a16="http://schemas.microsoft.com/office/drawing/2014/main" id="{543BC94B-5F2D-F5DF-F7C4-0336A8EEB35C}"/>
              </a:ext>
            </a:extLst>
          </p:cNvPr>
          <p:cNvSpPr>
            <a:spLocks noGrp="1"/>
          </p:cNvSpPr>
          <p:nvPr>
            <p:ph type="sldNum" sz="quarter" idx="12"/>
          </p:nvPr>
        </p:nvSpPr>
        <p:spPr/>
        <p:txBody>
          <a:bodyPr/>
          <a:lstStyle/>
          <a:p>
            <a:pPr>
              <a:defRPr/>
            </a:pPr>
            <a:fld id="{645ED874-4033-4CEE-AE69-D7CB222F48E6}" type="slidenum">
              <a:rPr lang="en-US" smtClean="0"/>
              <a:pPr>
                <a:defRPr/>
              </a:pPr>
              <a:t>46</a:t>
            </a:fld>
            <a:endParaRPr lang="en-US"/>
          </a:p>
        </p:txBody>
      </p:sp>
      <p:sp>
        <p:nvSpPr>
          <p:cNvPr id="3" name="Date Placeholder 2">
            <a:extLst>
              <a:ext uri="{FF2B5EF4-FFF2-40B4-BE49-F238E27FC236}">
                <a16:creationId xmlns:a16="http://schemas.microsoft.com/office/drawing/2014/main" id="{0947D131-33C1-9C62-CFF1-2BA376E99375}"/>
              </a:ext>
            </a:extLst>
          </p:cNvPr>
          <p:cNvSpPr>
            <a:spLocks noGrp="1"/>
          </p:cNvSpPr>
          <p:nvPr>
            <p:ph type="dt" sz="half" idx="10"/>
          </p:nvPr>
        </p:nvSpPr>
        <p:spPr/>
        <p:txBody>
          <a:bodyPr/>
          <a:lstStyle/>
          <a:p>
            <a:pPr>
              <a:defRPr/>
            </a:pPr>
            <a:fld id="{E9EF4D00-61EE-4569-A1E2-EA8BC7728858}" type="datetime3">
              <a:rPr lang="en-US" smtClean="0"/>
              <a:t>16 December 2025</a:t>
            </a:fld>
            <a:endParaRPr lang="en-US"/>
          </a:p>
        </p:txBody>
      </p:sp>
      <p:sp>
        <p:nvSpPr>
          <p:cNvPr id="5" name="Footer Placeholder 4">
            <a:extLst>
              <a:ext uri="{FF2B5EF4-FFF2-40B4-BE49-F238E27FC236}">
                <a16:creationId xmlns:a16="http://schemas.microsoft.com/office/drawing/2014/main" id="{FE3DAB85-DF49-D333-B343-DD8787AAE92D}"/>
              </a:ext>
            </a:extLst>
          </p:cNvPr>
          <p:cNvSpPr>
            <a:spLocks noGrp="1"/>
          </p:cNvSpPr>
          <p:nvPr>
            <p:ph type="ftr" sz="quarter" idx="11"/>
          </p:nvPr>
        </p:nvSpPr>
        <p:spPr/>
        <p:txBody>
          <a:bodyPr/>
          <a:lstStyle/>
          <a:p>
            <a:pPr>
              <a:defRPr/>
            </a:pPr>
            <a:r>
              <a:rPr lang="en-US"/>
              <a:t>T. Mayooran</a:t>
            </a:r>
          </a:p>
        </p:txBody>
      </p:sp>
      <p:sp>
        <p:nvSpPr>
          <p:cNvPr id="7" name="TextBox 6">
            <a:extLst>
              <a:ext uri="{FF2B5EF4-FFF2-40B4-BE49-F238E27FC236}">
                <a16:creationId xmlns:a16="http://schemas.microsoft.com/office/drawing/2014/main" id="{A6A3C5F8-DB06-CFA5-5BA2-4A979EFFBE45}"/>
              </a:ext>
            </a:extLst>
          </p:cNvPr>
          <p:cNvSpPr txBox="1"/>
          <p:nvPr/>
        </p:nvSpPr>
        <p:spPr>
          <a:xfrm>
            <a:off x="838200" y="2133600"/>
            <a:ext cx="7696200" cy="2677656"/>
          </a:xfrm>
          <a:prstGeom prst="rect">
            <a:avLst/>
          </a:prstGeom>
          <a:noFill/>
        </p:spPr>
        <p:txBody>
          <a:bodyPr wrap="square" rtlCol="0">
            <a:spAutoFit/>
          </a:bodyPr>
          <a:lstStyle/>
          <a:p>
            <a:pPr algn="just"/>
            <a:r>
              <a:rPr lang="en-US" sz="2400" dirty="0">
                <a:latin typeface="Corbel" panose="020B0503020204020204" pitchFamily="34" charset="0"/>
              </a:rPr>
              <a:t>Please visit the course page for Week 2 and complete the exercises listed in the "Practice" section under the title </a:t>
            </a:r>
            <a:r>
              <a:rPr lang="en-US" sz="2400" b="1" dirty="0">
                <a:latin typeface="Corbel" panose="020B0503020204020204" pitchFamily="34" charset="0"/>
              </a:rPr>
              <a:t>"Practice Problems.“</a:t>
            </a:r>
          </a:p>
          <a:p>
            <a:pPr algn="just"/>
            <a:endParaRPr lang="en-US" sz="2400" dirty="0">
              <a:latin typeface="Corbel" panose="020B0503020204020204" pitchFamily="34" charset="0"/>
            </a:endParaRPr>
          </a:p>
          <a:p>
            <a:pPr algn="just"/>
            <a:r>
              <a:rPr lang="en-US" sz="2400" dirty="0">
                <a:latin typeface="Corbel" panose="020B0503020204020204" pitchFamily="34" charset="0"/>
              </a:rPr>
              <a:t>You can find them here: </a:t>
            </a:r>
          </a:p>
          <a:p>
            <a:pPr algn="just"/>
            <a:r>
              <a:rPr lang="en-US" sz="2400" dirty="0">
                <a:latin typeface="Corbel" panose="020B0503020204020204" pitchFamily="34" charset="0"/>
                <a:hlinkClick r:id="rId2"/>
              </a:rPr>
              <a:t>https://mayooran1987.github.io/MC3020_E24/weeks/week-2.html</a:t>
            </a:r>
            <a:endParaRPr lang="en-US" sz="2400" dirty="0">
              <a:latin typeface="Corbel" panose="020B0503020204020204" pitchFamily="34" charset="0"/>
            </a:endParaRPr>
          </a:p>
        </p:txBody>
      </p:sp>
    </p:spTree>
    <p:extLst>
      <p:ext uri="{BB962C8B-B14F-4D97-AF65-F5344CB8AC3E}">
        <p14:creationId xmlns:p14="http://schemas.microsoft.com/office/powerpoint/2010/main" val="1129781313"/>
      </p:ext>
    </p:extLst>
  </p:cSld>
  <p:clrMapOvr>
    <a:masterClrMapping/>
  </p:clrMapOvr>
  <p:transition spd="slow">
    <p:wipe dir="r"/>
  </p:transition>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14404" y="2362204"/>
            <a:ext cx="7158037" cy="1412875"/>
          </a:xfrm>
        </p:spPr>
        <p:txBody>
          <a:bodyPr/>
          <a:lstStyle/>
          <a:p>
            <a:r>
              <a:rPr lang="en-GB" sz="5000" b="1" dirty="0">
                <a:solidFill>
                  <a:srgbClr val="C0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Mean or Expected Value</a:t>
            </a:r>
            <a:endParaRPr lang="en-GB" sz="5000" dirty="0">
              <a:solidFill>
                <a:srgbClr val="C0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endParaRPr>
          </a:p>
        </p:txBody>
      </p:sp>
      <p:sp>
        <p:nvSpPr>
          <p:cNvPr id="4" name="Slide Number Placeholder 3"/>
          <p:cNvSpPr>
            <a:spLocks noGrp="1"/>
          </p:cNvSpPr>
          <p:nvPr>
            <p:ph type="sldNum" sz="quarter" idx="12"/>
          </p:nvPr>
        </p:nvSpPr>
        <p:spPr/>
        <p:txBody>
          <a:bodyPr/>
          <a:lstStyle/>
          <a:p>
            <a:pPr>
              <a:defRPr/>
            </a:pPr>
            <a:fld id="{645ED874-4033-4CEE-AE69-D7CB222F48E6}" type="slidenum">
              <a:rPr lang="en-US" smtClean="0"/>
              <a:pPr>
                <a:defRPr/>
              </a:pPr>
              <a:t>47</a:t>
            </a:fld>
            <a:endParaRPr lang="en-US"/>
          </a:p>
        </p:txBody>
      </p:sp>
      <p:sp>
        <p:nvSpPr>
          <p:cNvPr id="3" name="Date Placeholder 2">
            <a:extLst>
              <a:ext uri="{FF2B5EF4-FFF2-40B4-BE49-F238E27FC236}">
                <a16:creationId xmlns:a16="http://schemas.microsoft.com/office/drawing/2014/main" id="{2B1AE8FD-479E-447E-88AA-FA542585682E}"/>
              </a:ext>
            </a:extLst>
          </p:cNvPr>
          <p:cNvSpPr>
            <a:spLocks noGrp="1"/>
          </p:cNvSpPr>
          <p:nvPr>
            <p:ph type="dt" sz="half" idx="10"/>
          </p:nvPr>
        </p:nvSpPr>
        <p:spPr/>
        <p:txBody>
          <a:bodyPr/>
          <a:lstStyle/>
          <a:p>
            <a:pPr>
              <a:defRPr/>
            </a:pPr>
            <a:fld id="{7C5C2DBB-6B56-42CD-916A-3425A3F1F19D}" type="datetime3">
              <a:rPr lang="en-US" smtClean="0"/>
              <a:t>16 December 2025</a:t>
            </a:fld>
            <a:endParaRPr lang="en-US"/>
          </a:p>
        </p:txBody>
      </p:sp>
      <p:sp>
        <p:nvSpPr>
          <p:cNvPr id="5" name="Footer Placeholder 4">
            <a:extLst>
              <a:ext uri="{FF2B5EF4-FFF2-40B4-BE49-F238E27FC236}">
                <a16:creationId xmlns:a16="http://schemas.microsoft.com/office/drawing/2014/main" id="{EE0C2DEA-CBEC-4337-8633-775670655637}"/>
              </a:ext>
            </a:extLst>
          </p:cNvPr>
          <p:cNvSpPr>
            <a:spLocks noGrp="1"/>
          </p:cNvSpPr>
          <p:nvPr>
            <p:ph type="ftr" sz="quarter" idx="11"/>
          </p:nvPr>
        </p:nvSpPr>
        <p:spPr/>
        <p:txBody>
          <a:bodyPr/>
          <a:lstStyle/>
          <a:p>
            <a:pPr>
              <a:defRPr/>
            </a:pPr>
            <a:r>
              <a:rPr lang="en-US"/>
              <a:t>T. Mayooran</a:t>
            </a:r>
          </a:p>
        </p:txBody>
      </p:sp>
    </p:spTree>
    <p:extLst>
      <p:ext uri="{BB962C8B-B14F-4D97-AF65-F5344CB8AC3E}">
        <p14:creationId xmlns:p14="http://schemas.microsoft.com/office/powerpoint/2010/main" val="2016640802"/>
      </p:ext>
    </p:extLst>
  </p:cSld>
  <p:clrMapOvr>
    <a:masterClrMapping/>
  </p:clrMapOvr>
  <p:transition spd="slow">
    <p:wipe dir="r"/>
  </p:transition>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685804" y="1600200"/>
            <a:ext cx="8118475" cy="4343400"/>
          </a:xfrm>
        </p:spPr>
        <p:txBody>
          <a:bodyPr/>
          <a:lstStyle/>
          <a:p>
            <a:pPr marL="0" indent="0" algn="just">
              <a:buNone/>
            </a:pPr>
            <a:r>
              <a:rPr lang="en-IN" dirty="0">
                <a:latin typeface="Times New Roman" panose="02020603050405020304" pitchFamily="18" charset="0"/>
                <a:cs typeface="Times New Roman" panose="02020603050405020304" pitchFamily="18" charset="0"/>
              </a:rPr>
              <a:t>The population mean or the expected value for a discrete random variable can be computed as:</a:t>
            </a:r>
          </a:p>
          <a:p>
            <a:pPr marL="0" indent="0" algn="just">
              <a:buNone/>
            </a:pPr>
            <a:endParaRPr lang="en-IN" dirty="0">
              <a:latin typeface="Times New Roman" panose="02020603050405020304" pitchFamily="18" charset="0"/>
              <a:cs typeface="Times New Roman" panose="02020603050405020304" pitchFamily="18" charset="0"/>
            </a:endParaRPr>
          </a:p>
          <a:p>
            <a:pPr marL="0" indent="0" algn="just">
              <a:buNone/>
            </a:pPr>
            <a:endParaRPr lang="en-IN" dirty="0">
              <a:solidFill>
                <a:srgbClr val="FF0000"/>
              </a:solidFill>
              <a:latin typeface="Times New Roman" panose="02020603050405020304" pitchFamily="18" charset="0"/>
              <a:cs typeface="Times New Roman" panose="02020603050405020304" pitchFamily="18" charset="0"/>
            </a:endParaRPr>
          </a:p>
          <a:p>
            <a:pPr marL="0" indent="0" algn="just">
              <a:buNone/>
            </a:pPr>
            <a:r>
              <a:rPr lang="en-IN" dirty="0">
                <a:solidFill>
                  <a:srgbClr val="FF0000"/>
                </a:solidFill>
                <a:latin typeface="Times New Roman" panose="02020603050405020304" pitchFamily="18" charset="0"/>
                <a:cs typeface="Times New Roman" panose="02020603050405020304" pitchFamily="18" charset="0"/>
              </a:rPr>
              <a:t>Example: </a:t>
            </a:r>
            <a:r>
              <a:rPr lang="en-IN" dirty="0">
                <a:latin typeface="Times New Roman" panose="02020603050405020304" pitchFamily="18" charset="0"/>
                <a:cs typeface="Times New Roman" panose="02020603050405020304" pitchFamily="18" charset="0"/>
              </a:rPr>
              <a:t>The population mean of the grade distribution in Example 1 is</a:t>
            </a:r>
          </a:p>
          <a:p>
            <a:pPr marL="0" indent="0" algn="just">
              <a:buNone/>
            </a:pPr>
            <a:endParaRPr lang="en-IN" dirty="0">
              <a:latin typeface="Times New Roman" panose="02020603050405020304" pitchFamily="18" charset="0"/>
              <a:cs typeface="Times New Roman" panose="02020603050405020304" pitchFamily="18" charset="0"/>
            </a:endParaRPr>
          </a:p>
          <a:p>
            <a:pPr marL="0" indent="0" algn="just">
              <a:buNone/>
            </a:pPr>
            <a:endParaRPr lang="en-GB" dirty="0">
              <a:latin typeface="Times New Roman" panose="02020603050405020304" pitchFamily="18" charset="0"/>
              <a:cs typeface="Times New Roman" panose="02020603050405020304" pitchFamily="18" charset="0"/>
            </a:endParaRPr>
          </a:p>
        </p:txBody>
      </p:sp>
      <p:sp>
        <p:nvSpPr>
          <p:cNvPr id="7" name="Title 1"/>
          <p:cNvSpPr>
            <a:spLocks noGrp="1"/>
          </p:cNvSpPr>
          <p:nvPr>
            <p:ph type="title"/>
          </p:nvPr>
        </p:nvSpPr>
        <p:spPr>
          <a:xfrm>
            <a:off x="931867" y="96842"/>
            <a:ext cx="7158037" cy="1412875"/>
          </a:xfrm>
        </p:spPr>
        <p:txBody>
          <a:bodyPr/>
          <a:lstStyle/>
          <a:p>
            <a:r>
              <a:rPr lang="en-GB" dirty="0">
                <a:solidFill>
                  <a:srgbClr val="C0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Mean or Expected Value</a:t>
            </a:r>
          </a:p>
        </p:txBody>
      </p:sp>
      <mc:AlternateContent xmlns:mc="http://schemas.openxmlformats.org/markup-compatibility/2006" xmlns:a14="http://schemas.microsoft.com/office/drawing/2010/main">
        <mc:Choice Requires="a14">
          <p:sp>
            <p:nvSpPr>
              <p:cNvPr id="8" name="Object 7"/>
              <p:cNvSpPr txBox="1"/>
              <p:nvPr/>
            </p:nvSpPr>
            <p:spPr>
              <a:xfrm>
                <a:off x="3276600" y="2778125"/>
                <a:ext cx="3200400" cy="787400"/>
              </a:xfrm>
              <a:prstGeom prst="rect">
                <a:avLst/>
              </a:prstGeom>
              <a:solidFill>
                <a:schemeClr val="accent1">
                  <a:lumMod val="20000"/>
                  <a:lumOff val="80000"/>
                </a:schemeClr>
              </a:solidFill>
              <a:ln>
                <a:solidFill>
                  <a:schemeClr val="tx2"/>
                </a:solidFill>
              </a:ln>
            </p:spPr>
            <p:txBody>
              <a:bodyPr>
                <a:normAutofit fontScale="92500"/>
              </a:bodyPr>
              <a:lstStyle/>
              <a:p>
                <a:pPr/>
                <a14:m>
                  <m:oMathPara xmlns:m="http://schemas.openxmlformats.org/officeDocument/2006/math">
                    <m:oMathParaPr>
                      <m:jc m:val="left"/>
                    </m:oMathParaPr>
                    <m:oMath xmlns:m="http://schemas.openxmlformats.org/officeDocument/2006/math">
                      <m:r>
                        <a:rPr lang="en-NZ" i="1">
                          <a:solidFill>
                            <a:srgbClr val="000000"/>
                          </a:solidFill>
                          <a:latin typeface="Cambria Math" panose="02040503050406030204" pitchFamily="18" charset="0"/>
                        </a:rPr>
                        <m:t>𝜇</m:t>
                      </m:r>
                      <m:r>
                        <a:rPr lang="en-NZ" i="1">
                          <a:solidFill>
                            <a:srgbClr val="000000"/>
                          </a:solidFill>
                          <a:latin typeface="Cambria Math" panose="02040503050406030204" pitchFamily="18" charset="0"/>
                        </a:rPr>
                        <m:t>=</m:t>
                      </m:r>
                      <m:r>
                        <a:rPr lang="en-NZ" i="1">
                          <a:solidFill>
                            <a:srgbClr val="000000"/>
                          </a:solidFill>
                          <a:latin typeface="Cambria Math" panose="02040503050406030204" pitchFamily="18" charset="0"/>
                        </a:rPr>
                        <m:t>𝐸</m:t>
                      </m:r>
                      <m:r>
                        <a:rPr lang="en-NZ" i="1">
                          <a:solidFill>
                            <a:srgbClr val="000000"/>
                          </a:solidFill>
                          <a:latin typeface="Cambria Math" panose="02040503050406030204" pitchFamily="18" charset="0"/>
                        </a:rPr>
                        <m:t>(</m:t>
                      </m:r>
                      <m:r>
                        <a:rPr lang="en-NZ" i="1">
                          <a:solidFill>
                            <a:srgbClr val="000000"/>
                          </a:solidFill>
                          <a:latin typeface="Cambria Math" panose="02040503050406030204" pitchFamily="18" charset="0"/>
                        </a:rPr>
                        <m:t>𝑋</m:t>
                      </m:r>
                      <m:r>
                        <a:rPr lang="en-NZ" i="1">
                          <a:solidFill>
                            <a:srgbClr val="000000"/>
                          </a:solidFill>
                          <a:latin typeface="Cambria Math" panose="02040503050406030204" pitchFamily="18" charset="0"/>
                        </a:rPr>
                        <m:t>)=</m:t>
                      </m:r>
                      <m:nary>
                        <m:naryPr>
                          <m:chr m:val="∑"/>
                          <m:supHide m:val="on"/>
                          <m:ctrlPr>
                            <a:rPr lang="en-NZ" i="1">
                              <a:solidFill>
                                <a:srgbClr val="000000"/>
                              </a:solidFill>
                              <a:latin typeface="Cambria Math" panose="02040503050406030204" pitchFamily="18" charset="0"/>
                            </a:rPr>
                          </m:ctrlPr>
                        </m:naryPr>
                        <m:sub>
                          <m:r>
                            <a:rPr lang="en-NZ" i="1">
                              <a:solidFill>
                                <a:srgbClr val="000000"/>
                              </a:solidFill>
                              <a:latin typeface="Cambria Math" panose="02040503050406030204" pitchFamily="18" charset="0"/>
                            </a:rPr>
                            <m:t>𝑓</m:t>
                          </m:r>
                          <m:r>
                            <m:rPr>
                              <m:nor/>
                            </m:rPr>
                            <a:rPr lang="en-NZ" i="0">
                              <a:solidFill>
                                <a:srgbClr val="000000"/>
                              </a:solidFill>
                              <a:latin typeface="Cambria Math" panose="02040503050406030204" pitchFamily="18" charset="0"/>
                            </a:rPr>
                            <m:t>or</m:t>
                          </m:r>
                          <m:r>
                            <m:rPr>
                              <m:nor/>
                            </m:rPr>
                            <a:rPr lang="en-NZ" i="0">
                              <a:solidFill>
                                <a:srgbClr val="000000"/>
                              </a:solidFill>
                              <a:latin typeface="Cambria Math" panose="02040503050406030204" pitchFamily="18" charset="0"/>
                            </a:rPr>
                            <m:t> </m:t>
                          </m:r>
                          <m:r>
                            <m:rPr>
                              <m:nor/>
                            </m:rPr>
                            <a:rPr lang="en-NZ" i="0">
                              <a:solidFill>
                                <a:srgbClr val="000000"/>
                              </a:solidFill>
                              <a:latin typeface="Cambria Math" panose="02040503050406030204" pitchFamily="18" charset="0"/>
                            </a:rPr>
                            <m:t>all</m:t>
                          </m:r>
                          <m:r>
                            <m:rPr>
                              <m:nor/>
                            </m:rPr>
                            <a:rPr lang="en-NZ" i="0">
                              <a:solidFill>
                                <a:srgbClr val="000000"/>
                              </a:solidFill>
                              <a:latin typeface="Cambria Math" panose="02040503050406030204" pitchFamily="18" charset="0"/>
                            </a:rPr>
                            <m:t> </m:t>
                          </m:r>
                          <m:r>
                            <m:rPr>
                              <m:nor/>
                            </m:rPr>
                            <a:rPr lang="en-NZ" i="0">
                              <a:solidFill>
                                <a:srgbClr val="000000"/>
                              </a:solidFill>
                              <a:latin typeface="Cambria Math" panose="02040503050406030204" pitchFamily="18" charset="0"/>
                            </a:rPr>
                            <m:t>x</m:t>
                          </m:r>
                        </m:sub>
                        <m:sup/>
                        <m:e>
                          <m:r>
                            <a:rPr lang="en-NZ" i="1">
                              <a:solidFill>
                                <a:srgbClr val="000000"/>
                              </a:solidFill>
                              <a:latin typeface="Cambria Math" panose="02040503050406030204" pitchFamily="18" charset="0"/>
                            </a:rPr>
                            <m:t>𝑥</m:t>
                          </m:r>
                          <m:r>
                            <a:rPr lang="en-NZ" i="1">
                              <a:solidFill>
                                <a:srgbClr val="000000"/>
                              </a:solidFill>
                              <a:latin typeface="Cambria Math" panose="02040503050406030204" pitchFamily="18" charset="0"/>
                            </a:rPr>
                            <m:t>.</m:t>
                          </m:r>
                          <m:r>
                            <a:rPr lang="en-NZ" i="1">
                              <a:solidFill>
                                <a:srgbClr val="000000"/>
                              </a:solidFill>
                              <a:latin typeface="Cambria Math" panose="02040503050406030204" pitchFamily="18" charset="0"/>
                            </a:rPr>
                            <m:t>𝑃</m:t>
                          </m:r>
                          <m:r>
                            <a:rPr lang="en-NZ" i="1">
                              <a:solidFill>
                                <a:srgbClr val="000000"/>
                              </a:solidFill>
                              <a:latin typeface="Cambria Math" panose="02040503050406030204" pitchFamily="18" charset="0"/>
                            </a:rPr>
                            <m:t>(</m:t>
                          </m:r>
                          <m:r>
                            <a:rPr lang="en-NZ" i="1">
                              <a:solidFill>
                                <a:srgbClr val="000000"/>
                              </a:solidFill>
                              <a:latin typeface="Cambria Math" panose="02040503050406030204" pitchFamily="18" charset="0"/>
                            </a:rPr>
                            <m:t>𝑋</m:t>
                          </m:r>
                          <m:r>
                            <a:rPr lang="en-NZ" i="1">
                              <a:solidFill>
                                <a:srgbClr val="000000"/>
                              </a:solidFill>
                              <a:latin typeface="Cambria Math" panose="02040503050406030204" pitchFamily="18" charset="0"/>
                            </a:rPr>
                            <m:t>=</m:t>
                          </m:r>
                          <m:r>
                            <a:rPr lang="en-NZ" i="1">
                              <a:solidFill>
                                <a:srgbClr val="000000"/>
                              </a:solidFill>
                              <a:latin typeface="Cambria Math" panose="02040503050406030204" pitchFamily="18" charset="0"/>
                            </a:rPr>
                            <m:t>𝑥</m:t>
                          </m:r>
                          <m:r>
                            <a:rPr lang="en-NZ" i="1">
                              <a:solidFill>
                                <a:srgbClr val="000000"/>
                              </a:solidFill>
                              <a:latin typeface="Cambria Math" panose="02040503050406030204" pitchFamily="18" charset="0"/>
                            </a:rPr>
                            <m:t>)</m:t>
                          </m:r>
                        </m:e>
                      </m:nary>
                    </m:oMath>
                  </m:oMathPara>
                </a14:m>
                <a:endParaRPr lang="en-NZ" dirty="0"/>
              </a:p>
            </p:txBody>
          </p:sp>
        </mc:Choice>
        <mc:Fallback xmlns="">
          <p:sp>
            <p:nvSpPr>
              <p:cNvPr id="8" name="Object 7"/>
              <p:cNvSpPr txBox="1">
                <a:spLocks noRot="1" noChangeAspect="1" noMove="1" noResize="1" noEditPoints="1" noAdjustHandles="1" noChangeArrowheads="1" noChangeShapeType="1" noTextEdit="1"/>
              </p:cNvSpPr>
              <p:nvPr/>
            </p:nvSpPr>
            <p:spPr>
              <a:xfrm>
                <a:off x="3276600" y="2778125"/>
                <a:ext cx="3200400" cy="787400"/>
              </a:xfrm>
              <a:prstGeom prst="rect">
                <a:avLst/>
              </a:prstGeom>
              <a:blipFill>
                <a:blip r:embed="rId2"/>
                <a:stretch>
                  <a:fillRect/>
                </a:stretch>
              </a:blipFill>
              <a:ln>
                <a:solidFill>
                  <a:schemeClr val="tx2"/>
                </a:solidFill>
              </a:ln>
            </p:spPr>
            <p:txBody>
              <a:bodyPr/>
              <a:lstStyle/>
              <a:p>
                <a:r>
                  <a:rPr lang="en-NZ">
                    <a:noFill/>
                  </a:rPr>
                  <a:t> </a:t>
                </a:r>
              </a:p>
            </p:txBody>
          </p:sp>
        </mc:Fallback>
      </mc:AlternateContent>
      <mc:AlternateContent xmlns:mc="http://schemas.openxmlformats.org/markup-compatibility/2006" xmlns:a14="http://schemas.microsoft.com/office/drawing/2010/main">
        <mc:Choice Requires="a14">
          <p:sp>
            <p:nvSpPr>
              <p:cNvPr id="9" name="Object 8"/>
              <p:cNvSpPr txBox="1"/>
              <p:nvPr/>
            </p:nvSpPr>
            <p:spPr>
              <a:xfrm>
                <a:off x="958850" y="4743450"/>
                <a:ext cx="7104063" cy="1504950"/>
              </a:xfrm>
              <a:prstGeom prst="rect">
                <a:avLst/>
              </a:prstGeom>
            </p:spPr>
            <p:txBody>
              <a:bodyPr>
                <a:normAutofit/>
              </a:bodyPr>
              <a:lstStyle/>
              <a:p>
                <a:pPr/>
                <a14:m>
                  <m:oMathPara xmlns:m="http://schemas.openxmlformats.org/officeDocument/2006/math">
                    <m:oMathParaPr>
                      <m:jc m:val="left"/>
                    </m:oMathParaPr>
                    <m:oMath xmlns:m="http://schemas.openxmlformats.org/officeDocument/2006/math">
                      <m:r>
                        <a:rPr lang="en-NZ" i="1" smtClean="0">
                          <a:solidFill>
                            <a:srgbClr val="000000"/>
                          </a:solidFill>
                          <a:latin typeface="Cambria Math" panose="02040503050406030204" pitchFamily="18" charset="0"/>
                        </a:rPr>
                        <m:t>𝐸</m:t>
                      </m:r>
                      <m:r>
                        <a:rPr lang="en-NZ" i="1" smtClean="0">
                          <a:solidFill>
                            <a:srgbClr val="000000"/>
                          </a:solidFill>
                          <a:latin typeface="Cambria Math" panose="02040503050406030204" pitchFamily="18" charset="0"/>
                        </a:rPr>
                        <m:t>(</m:t>
                      </m:r>
                      <m:r>
                        <a:rPr lang="en-NZ" i="1" smtClean="0">
                          <a:solidFill>
                            <a:srgbClr val="000000"/>
                          </a:solidFill>
                          <a:latin typeface="Cambria Math" panose="02040503050406030204" pitchFamily="18" charset="0"/>
                        </a:rPr>
                        <m:t>𝑋</m:t>
                      </m:r>
                      <m:r>
                        <a:rPr lang="en-NZ" i="1" smtClean="0">
                          <a:solidFill>
                            <a:srgbClr val="000000"/>
                          </a:solidFill>
                          <a:latin typeface="Cambria Math" panose="02040503050406030204" pitchFamily="18" charset="0"/>
                        </a:rPr>
                        <m:t>)=</m:t>
                      </m:r>
                      <m:nary>
                        <m:naryPr>
                          <m:chr m:val="∑"/>
                          <m:supHide m:val="on"/>
                          <m:ctrlPr>
                            <a:rPr lang="en-NZ" i="1">
                              <a:solidFill>
                                <a:srgbClr val="000000"/>
                              </a:solidFill>
                              <a:latin typeface="Cambria Math" panose="02040503050406030204" pitchFamily="18" charset="0"/>
                            </a:rPr>
                          </m:ctrlPr>
                        </m:naryPr>
                        <m:sub>
                          <m:r>
                            <m:rPr>
                              <m:nor/>
                            </m:rPr>
                            <a:rPr lang="en-NZ" i="0">
                              <a:solidFill>
                                <a:srgbClr val="000000"/>
                              </a:solidFill>
                              <a:latin typeface="Cambria Math" panose="02040503050406030204" pitchFamily="18" charset="0"/>
                            </a:rPr>
                            <m:t>for</m:t>
                          </m:r>
                          <m:r>
                            <m:rPr>
                              <m:nor/>
                            </m:rPr>
                            <a:rPr lang="en-NZ" i="0">
                              <a:solidFill>
                                <a:srgbClr val="000000"/>
                              </a:solidFill>
                              <a:latin typeface="Cambria Math" panose="02040503050406030204" pitchFamily="18" charset="0"/>
                            </a:rPr>
                            <m:t> </m:t>
                          </m:r>
                          <m:r>
                            <m:rPr>
                              <m:nor/>
                            </m:rPr>
                            <a:rPr lang="en-NZ" i="0">
                              <a:solidFill>
                                <a:srgbClr val="000000"/>
                              </a:solidFill>
                              <a:latin typeface="Cambria Math" panose="02040503050406030204" pitchFamily="18" charset="0"/>
                            </a:rPr>
                            <m:t>all</m:t>
                          </m:r>
                          <m:r>
                            <m:rPr>
                              <m:nor/>
                            </m:rPr>
                            <a:rPr lang="en-NZ" i="0">
                              <a:solidFill>
                                <a:srgbClr val="000000"/>
                              </a:solidFill>
                              <a:latin typeface="Cambria Math" panose="02040503050406030204" pitchFamily="18" charset="0"/>
                            </a:rPr>
                            <m:t> </m:t>
                          </m:r>
                          <m:r>
                            <m:rPr>
                              <m:nor/>
                            </m:rPr>
                            <a:rPr lang="en-NZ" i="0">
                              <a:solidFill>
                                <a:srgbClr val="000000"/>
                              </a:solidFill>
                              <a:latin typeface="Cambria Math" panose="02040503050406030204" pitchFamily="18" charset="0"/>
                            </a:rPr>
                            <m:t>x</m:t>
                          </m:r>
                        </m:sub>
                        <m:sup/>
                        <m:e>
                          <m:r>
                            <a:rPr lang="en-NZ" i="1">
                              <a:solidFill>
                                <a:srgbClr val="000000"/>
                              </a:solidFill>
                              <a:latin typeface="Cambria Math" panose="02040503050406030204" pitchFamily="18" charset="0"/>
                            </a:rPr>
                            <m:t>𝑥</m:t>
                          </m:r>
                          <m:r>
                            <a:rPr lang="en-NZ" i="1">
                              <a:solidFill>
                                <a:srgbClr val="000000"/>
                              </a:solidFill>
                              <a:latin typeface="Cambria Math" panose="02040503050406030204" pitchFamily="18" charset="0"/>
                            </a:rPr>
                            <m:t>.</m:t>
                          </m:r>
                          <m:r>
                            <a:rPr lang="en-US" b="0" i="1" smtClean="0">
                              <a:solidFill>
                                <a:srgbClr val="000000"/>
                              </a:solidFill>
                              <a:latin typeface="Cambria Math" panose="02040503050406030204" pitchFamily="18" charset="0"/>
                            </a:rPr>
                            <m:t>𝑃</m:t>
                          </m:r>
                          <m:r>
                            <a:rPr lang="en-NZ" i="1">
                              <a:solidFill>
                                <a:srgbClr val="000000"/>
                              </a:solidFill>
                              <a:latin typeface="Cambria Math" panose="02040503050406030204" pitchFamily="18" charset="0"/>
                            </a:rPr>
                            <m:t>(</m:t>
                          </m:r>
                          <m:r>
                            <a:rPr lang="en-US" b="0" i="1" smtClean="0">
                              <a:solidFill>
                                <a:srgbClr val="000000"/>
                              </a:solidFill>
                              <a:latin typeface="Cambria Math" panose="02040503050406030204" pitchFamily="18" charset="0"/>
                            </a:rPr>
                            <m:t>𝑋</m:t>
                          </m:r>
                          <m:r>
                            <a:rPr lang="en-US" b="0" i="1" smtClean="0">
                              <a:solidFill>
                                <a:srgbClr val="000000"/>
                              </a:solidFill>
                              <a:latin typeface="Cambria Math" panose="02040503050406030204" pitchFamily="18" charset="0"/>
                            </a:rPr>
                            <m:t>=</m:t>
                          </m:r>
                          <m:r>
                            <a:rPr lang="en-NZ" i="1">
                              <a:solidFill>
                                <a:srgbClr val="000000"/>
                              </a:solidFill>
                              <a:latin typeface="Cambria Math" panose="02040503050406030204" pitchFamily="18" charset="0"/>
                            </a:rPr>
                            <m:t>𝑥</m:t>
                          </m:r>
                          <m:r>
                            <a:rPr lang="en-NZ" i="1">
                              <a:solidFill>
                                <a:srgbClr val="000000"/>
                              </a:solidFill>
                              <a:latin typeface="Cambria Math" panose="02040503050406030204" pitchFamily="18" charset="0"/>
                            </a:rPr>
                            <m:t>)</m:t>
                          </m:r>
                        </m:e>
                      </m:nary>
                    </m:oMath>
                    <m:oMath xmlns:m="http://schemas.openxmlformats.org/officeDocument/2006/math">
                      <m:r>
                        <a:rPr lang="en-NZ" i="1">
                          <a:solidFill>
                            <a:srgbClr val="000000"/>
                          </a:solidFill>
                          <a:latin typeface="Cambria Math" panose="02040503050406030204" pitchFamily="18" charset="0"/>
                        </a:rPr>
                        <m:t>=4(0.1253)+3(0.3419)+2(0.4218)+1(0.0812)+0(0.0298)</m:t>
                      </m:r>
                    </m:oMath>
                    <m:oMath xmlns:m="http://schemas.openxmlformats.org/officeDocument/2006/math">
                      <m:r>
                        <a:rPr lang="en-NZ" i="1">
                          <a:solidFill>
                            <a:srgbClr val="000000"/>
                          </a:solidFill>
                          <a:latin typeface="Cambria Math" panose="02040503050406030204" pitchFamily="18" charset="0"/>
                        </a:rPr>
                        <m:t>=2.4517</m:t>
                      </m:r>
                    </m:oMath>
                  </m:oMathPara>
                </a14:m>
                <a:endParaRPr lang="en-NZ" dirty="0"/>
              </a:p>
            </p:txBody>
          </p:sp>
        </mc:Choice>
        <mc:Fallback xmlns="">
          <p:sp>
            <p:nvSpPr>
              <p:cNvPr id="9" name="Object 8"/>
              <p:cNvSpPr txBox="1">
                <a:spLocks noRot="1" noChangeAspect="1" noMove="1" noResize="1" noEditPoints="1" noAdjustHandles="1" noChangeArrowheads="1" noChangeShapeType="1" noTextEdit="1"/>
              </p:cNvSpPr>
              <p:nvPr/>
            </p:nvSpPr>
            <p:spPr>
              <a:xfrm>
                <a:off x="958850" y="4743450"/>
                <a:ext cx="7104063" cy="1504950"/>
              </a:xfrm>
              <a:prstGeom prst="rect">
                <a:avLst/>
              </a:prstGeom>
              <a:blipFill>
                <a:blip r:embed="rId3"/>
                <a:stretch>
                  <a:fillRect/>
                </a:stretch>
              </a:blipFill>
            </p:spPr>
            <p:txBody>
              <a:bodyPr/>
              <a:lstStyle/>
              <a:p>
                <a:r>
                  <a:rPr lang="en-NZ">
                    <a:noFill/>
                  </a:rPr>
                  <a:t> </a:t>
                </a:r>
              </a:p>
            </p:txBody>
          </p:sp>
        </mc:Fallback>
      </mc:AlternateContent>
      <p:sp>
        <p:nvSpPr>
          <p:cNvPr id="4" name="Slide Number Placeholder 3"/>
          <p:cNvSpPr>
            <a:spLocks noGrp="1"/>
          </p:cNvSpPr>
          <p:nvPr>
            <p:ph type="sldNum" sz="quarter" idx="12"/>
          </p:nvPr>
        </p:nvSpPr>
        <p:spPr/>
        <p:txBody>
          <a:bodyPr/>
          <a:lstStyle/>
          <a:p>
            <a:pPr>
              <a:defRPr/>
            </a:pPr>
            <a:fld id="{645ED874-4033-4CEE-AE69-D7CB222F48E6}" type="slidenum">
              <a:rPr lang="en-US" smtClean="0"/>
              <a:pPr>
                <a:defRPr/>
              </a:pPr>
              <a:t>48</a:t>
            </a:fld>
            <a:endParaRPr lang="en-US"/>
          </a:p>
        </p:txBody>
      </p:sp>
      <p:sp>
        <p:nvSpPr>
          <p:cNvPr id="2" name="Date Placeholder 1">
            <a:extLst>
              <a:ext uri="{FF2B5EF4-FFF2-40B4-BE49-F238E27FC236}">
                <a16:creationId xmlns:a16="http://schemas.microsoft.com/office/drawing/2014/main" id="{C698A3EF-C5B8-4664-A0B4-B3E4E1C80314}"/>
              </a:ext>
            </a:extLst>
          </p:cNvPr>
          <p:cNvSpPr>
            <a:spLocks noGrp="1"/>
          </p:cNvSpPr>
          <p:nvPr>
            <p:ph type="dt" sz="half" idx="10"/>
          </p:nvPr>
        </p:nvSpPr>
        <p:spPr/>
        <p:txBody>
          <a:bodyPr/>
          <a:lstStyle/>
          <a:p>
            <a:pPr>
              <a:defRPr/>
            </a:pPr>
            <a:fld id="{BF23377F-D136-4709-9F5F-D22F5476FF57}" type="datetime3">
              <a:rPr lang="en-US" smtClean="0"/>
              <a:t>16 December 2025</a:t>
            </a:fld>
            <a:endParaRPr lang="en-US"/>
          </a:p>
        </p:txBody>
      </p:sp>
      <p:sp>
        <p:nvSpPr>
          <p:cNvPr id="5" name="Footer Placeholder 4">
            <a:extLst>
              <a:ext uri="{FF2B5EF4-FFF2-40B4-BE49-F238E27FC236}">
                <a16:creationId xmlns:a16="http://schemas.microsoft.com/office/drawing/2014/main" id="{D1AA0F59-1C85-4382-8DF0-18F18E76B9A9}"/>
              </a:ext>
            </a:extLst>
          </p:cNvPr>
          <p:cNvSpPr>
            <a:spLocks noGrp="1"/>
          </p:cNvSpPr>
          <p:nvPr>
            <p:ph type="ftr" sz="quarter" idx="11"/>
          </p:nvPr>
        </p:nvSpPr>
        <p:spPr/>
        <p:txBody>
          <a:bodyPr/>
          <a:lstStyle/>
          <a:p>
            <a:pPr>
              <a:defRPr/>
            </a:pPr>
            <a:r>
              <a:rPr lang="en-US"/>
              <a:t>T. Mayooran</a:t>
            </a:r>
          </a:p>
        </p:txBody>
      </p:sp>
    </p:spTree>
    <p:extLst>
      <p:ext uri="{BB962C8B-B14F-4D97-AF65-F5344CB8AC3E}">
        <p14:creationId xmlns:p14="http://schemas.microsoft.com/office/powerpoint/2010/main" val="1297333958"/>
      </p:ext>
    </p:extLst>
  </p:cSld>
  <p:clrMapOvr>
    <a:masterClrMapping/>
  </p:clrMapOvr>
  <p:transition spd="slow">
    <p:wipe dir="r"/>
  </p:transition>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solidFill>
                  <a:srgbClr val="C0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Mean or Expected Value</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762004" y="2133600"/>
                <a:ext cx="7661275" cy="4114800"/>
              </a:xfrm>
            </p:spPr>
            <p:txBody>
              <a:bodyPr/>
              <a:lstStyle/>
              <a:p>
                <a:pPr algn="just">
                  <a:buClrTx/>
                  <a:buFont typeface="Wingdings" panose="05000000000000000000" pitchFamily="2" charset="2"/>
                  <a:buChar char="v"/>
                </a:pPr>
                <a:r>
                  <a:rPr lang="en-IN" dirty="0">
                    <a:latin typeface="Times New Roman" panose="02020603050405020304" pitchFamily="18" charset="0"/>
                    <a:cs typeface="Times New Roman" panose="02020603050405020304" pitchFamily="18" charset="0"/>
                  </a:rPr>
                  <a:t>The mean of the </a:t>
                </a:r>
                <a:r>
                  <a:rPr lang="en-IN" dirty="0">
                    <a:solidFill>
                      <a:srgbClr val="FF0000"/>
                    </a:solidFill>
                    <a:latin typeface="Times New Roman" panose="02020603050405020304" pitchFamily="18" charset="0"/>
                    <a:cs typeface="Times New Roman" panose="02020603050405020304" pitchFamily="18" charset="0"/>
                  </a:rPr>
                  <a:t>Bernoulli</a:t>
                </a:r>
                <a:r>
                  <a:rPr lang="en-IN" dirty="0">
                    <a:latin typeface="Times New Roman" panose="02020603050405020304" pitchFamily="18" charset="0"/>
                    <a:cs typeface="Times New Roman" panose="02020603050405020304" pitchFamily="18" charset="0"/>
                  </a:rPr>
                  <a:t> distribution is </a:t>
                </a:r>
                <a14:m>
                  <m:oMath xmlns:m="http://schemas.openxmlformats.org/officeDocument/2006/math">
                    <m:r>
                      <a:rPr lang="en-IN" i="1" dirty="0" smtClean="0">
                        <a:solidFill>
                          <a:srgbClr val="FF0000"/>
                        </a:solidFill>
                        <a:latin typeface="Cambria Math" panose="02040503050406030204" pitchFamily="18" charset="0"/>
                        <a:cs typeface="Times New Roman" panose="02020603050405020304" pitchFamily="18" charset="0"/>
                      </a:rPr>
                      <m:t>𝑝</m:t>
                    </m:r>
                  </m:oMath>
                </a14:m>
                <a:r>
                  <a:rPr lang="en-IN" dirty="0">
                    <a:latin typeface="Times New Roman" panose="02020603050405020304" pitchFamily="18" charset="0"/>
                    <a:cs typeface="Times New Roman" panose="02020603050405020304" pitchFamily="18" charset="0"/>
                  </a:rPr>
                  <a:t>.</a:t>
                </a:r>
              </a:p>
              <a:p>
                <a:pPr algn="just">
                  <a:buClrTx/>
                  <a:buFont typeface="Wingdings" panose="05000000000000000000" pitchFamily="2" charset="2"/>
                  <a:buChar char="v"/>
                </a:pPr>
                <a:r>
                  <a:rPr lang="en-IN" dirty="0">
                    <a:latin typeface="Times New Roman" panose="02020603050405020304" pitchFamily="18" charset="0"/>
                    <a:cs typeface="Times New Roman" panose="02020603050405020304" pitchFamily="18" charset="0"/>
                  </a:rPr>
                  <a:t>The mean for the </a:t>
                </a:r>
                <a:r>
                  <a:rPr lang="en-IN" dirty="0">
                    <a:solidFill>
                      <a:srgbClr val="FF0000"/>
                    </a:solidFill>
                    <a:latin typeface="Times New Roman" panose="02020603050405020304" pitchFamily="18" charset="0"/>
                    <a:cs typeface="Times New Roman" panose="02020603050405020304" pitchFamily="18" charset="0"/>
                  </a:rPr>
                  <a:t>Binomial</a:t>
                </a:r>
                <a:r>
                  <a:rPr lang="en-IN" dirty="0">
                    <a:latin typeface="Times New Roman" panose="02020603050405020304" pitchFamily="18" charset="0"/>
                    <a:cs typeface="Times New Roman" panose="02020603050405020304" pitchFamily="18" charset="0"/>
                  </a:rPr>
                  <a:t> distribution is </a:t>
                </a:r>
                <a14:m>
                  <m:oMath xmlns:m="http://schemas.openxmlformats.org/officeDocument/2006/math">
                    <m:r>
                      <a:rPr lang="en-IN" i="1" dirty="0" smtClean="0">
                        <a:solidFill>
                          <a:srgbClr val="FF0000"/>
                        </a:solidFill>
                        <a:latin typeface="Cambria Math" panose="02040503050406030204" pitchFamily="18" charset="0"/>
                        <a:cs typeface="Times New Roman" panose="02020603050405020304" pitchFamily="18" charset="0"/>
                      </a:rPr>
                      <m:t>𝑛𝑝</m:t>
                    </m:r>
                  </m:oMath>
                </a14:m>
                <a:r>
                  <a:rPr lang="en-IN" dirty="0">
                    <a:latin typeface="Times New Roman" panose="02020603050405020304" pitchFamily="18" charset="0"/>
                    <a:cs typeface="Times New Roman" panose="02020603050405020304" pitchFamily="18" charset="0"/>
                  </a:rPr>
                  <a:t> </a:t>
                </a:r>
              </a:p>
              <a:p>
                <a:pPr algn="just">
                  <a:buClrTx/>
                  <a:buFont typeface="Wingdings" panose="05000000000000000000" pitchFamily="2" charset="2"/>
                  <a:buChar char="v"/>
                </a:pPr>
                <a:r>
                  <a:rPr lang="en-IN" dirty="0">
                    <a:latin typeface="Times New Roman" panose="02020603050405020304" pitchFamily="18" charset="0"/>
                    <a:cs typeface="Times New Roman" panose="02020603050405020304" pitchFamily="18" charset="0"/>
                  </a:rPr>
                  <a:t>The mean for the </a:t>
                </a:r>
                <a:r>
                  <a:rPr lang="en-IN" dirty="0">
                    <a:solidFill>
                      <a:srgbClr val="FF0000"/>
                    </a:solidFill>
                    <a:latin typeface="Times New Roman" panose="02020603050405020304" pitchFamily="18" charset="0"/>
                    <a:cs typeface="Times New Roman" panose="02020603050405020304" pitchFamily="18" charset="0"/>
                  </a:rPr>
                  <a:t>Poisson</a:t>
                </a:r>
                <a:r>
                  <a:rPr lang="en-IN" dirty="0">
                    <a:latin typeface="Times New Roman" panose="02020603050405020304" pitchFamily="18" charset="0"/>
                    <a:cs typeface="Times New Roman" panose="02020603050405020304" pitchFamily="18" charset="0"/>
                  </a:rPr>
                  <a:t> distribution is</a:t>
                </a:r>
                <a14:m>
                  <m:oMath xmlns:m="http://schemas.openxmlformats.org/officeDocument/2006/math">
                    <m:r>
                      <a:rPr lang="en-GB" b="0" i="0" smtClean="0">
                        <a:latin typeface="Cambria Math" panose="02040503050406030204" pitchFamily="18" charset="0"/>
                        <a:ea typeface="Cambria Math" panose="02040503050406030204" pitchFamily="18" charset="0"/>
                        <a:cs typeface="Times New Roman" panose="02020603050405020304" pitchFamily="18" charset="0"/>
                      </a:rPr>
                      <m:t> </m:t>
                    </m:r>
                    <m:r>
                      <a:rPr lang="en-IN" i="1" smtClean="0">
                        <a:solidFill>
                          <a:srgbClr val="FF0000"/>
                        </a:solidFill>
                        <a:latin typeface="Cambria Math" panose="02040503050406030204" pitchFamily="18" charset="0"/>
                        <a:ea typeface="Cambria Math" panose="02040503050406030204" pitchFamily="18" charset="0"/>
                        <a:cs typeface="Times New Roman" panose="02020603050405020304" pitchFamily="18" charset="0"/>
                      </a:rPr>
                      <m:t>𝜆</m:t>
                    </m:r>
                  </m:oMath>
                </a14:m>
                <a:endParaRPr lang="en-GB" dirty="0">
                  <a:solidFill>
                    <a:srgbClr val="FF0000"/>
                  </a:solidFill>
                  <a:latin typeface="Times New Roman" panose="02020603050405020304" pitchFamily="18" charset="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762004" y="2133600"/>
                <a:ext cx="7661275" cy="4114800"/>
              </a:xfrm>
              <a:blipFill>
                <a:blip r:embed="rId2"/>
                <a:stretch>
                  <a:fillRect l="-875" t="-2074" r="-1989"/>
                </a:stretch>
              </a:blipFill>
            </p:spPr>
            <p:txBody>
              <a:bodyPr/>
              <a:lstStyle/>
              <a:p>
                <a:r>
                  <a:rPr lang="en-NZ">
                    <a:noFill/>
                  </a:rPr>
                  <a:t> </a:t>
                </a:r>
              </a:p>
            </p:txBody>
          </p:sp>
        </mc:Fallback>
      </mc:AlternateContent>
      <p:sp>
        <p:nvSpPr>
          <p:cNvPr id="6" name="Slide Number Placeholder 5"/>
          <p:cNvSpPr>
            <a:spLocks noGrp="1"/>
          </p:cNvSpPr>
          <p:nvPr>
            <p:ph type="sldNum" sz="quarter" idx="12"/>
          </p:nvPr>
        </p:nvSpPr>
        <p:spPr/>
        <p:txBody>
          <a:bodyPr/>
          <a:lstStyle/>
          <a:p>
            <a:pPr>
              <a:defRPr/>
            </a:pPr>
            <a:fld id="{645ED874-4033-4CEE-AE69-D7CB222F48E6}" type="slidenum">
              <a:rPr lang="en-US" smtClean="0"/>
              <a:pPr>
                <a:defRPr/>
              </a:pPr>
              <a:t>49</a:t>
            </a:fld>
            <a:endParaRPr lang="en-US"/>
          </a:p>
        </p:txBody>
      </p:sp>
      <p:sp>
        <p:nvSpPr>
          <p:cNvPr id="4" name="Date Placeholder 3">
            <a:extLst>
              <a:ext uri="{FF2B5EF4-FFF2-40B4-BE49-F238E27FC236}">
                <a16:creationId xmlns:a16="http://schemas.microsoft.com/office/drawing/2014/main" id="{AF17A51A-E182-45B3-99D6-1223D5731363}"/>
              </a:ext>
            </a:extLst>
          </p:cNvPr>
          <p:cNvSpPr>
            <a:spLocks noGrp="1"/>
          </p:cNvSpPr>
          <p:nvPr>
            <p:ph type="dt" sz="half" idx="10"/>
          </p:nvPr>
        </p:nvSpPr>
        <p:spPr/>
        <p:txBody>
          <a:bodyPr/>
          <a:lstStyle/>
          <a:p>
            <a:pPr>
              <a:defRPr/>
            </a:pPr>
            <a:fld id="{1DB100C2-340C-49A5-BBEB-11104182BC52}" type="datetime3">
              <a:rPr lang="en-US" smtClean="0"/>
              <a:t>16 December 2025</a:t>
            </a:fld>
            <a:endParaRPr lang="en-US"/>
          </a:p>
        </p:txBody>
      </p:sp>
      <p:sp>
        <p:nvSpPr>
          <p:cNvPr id="5" name="Footer Placeholder 4">
            <a:extLst>
              <a:ext uri="{FF2B5EF4-FFF2-40B4-BE49-F238E27FC236}">
                <a16:creationId xmlns:a16="http://schemas.microsoft.com/office/drawing/2014/main" id="{721C4A7D-4072-4F20-933B-A07723D005D8}"/>
              </a:ext>
            </a:extLst>
          </p:cNvPr>
          <p:cNvSpPr>
            <a:spLocks noGrp="1"/>
          </p:cNvSpPr>
          <p:nvPr>
            <p:ph type="ftr" sz="quarter" idx="11"/>
          </p:nvPr>
        </p:nvSpPr>
        <p:spPr/>
        <p:txBody>
          <a:bodyPr/>
          <a:lstStyle/>
          <a:p>
            <a:pPr>
              <a:defRPr/>
            </a:pPr>
            <a:r>
              <a:rPr lang="en-US"/>
              <a:t>T. Mayooran</a:t>
            </a:r>
          </a:p>
        </p:txBody>
      </p:sp>
    </p:spTree>
    <p:extLst>
      <p:ext uri="{BB962C8B-B14F-4D97-AF65-F5344CB8AC3E}">
        <p14:creationId xmlns:p14="http://schemas.microsoft.com/office/powerpoint/2010/main" val="996037710"/>
      </p:ext>
    </p:extLst>
  </p:cSld>
  <p:clrMapOvr>
    <a:masterClrMapping/>
  </p:clrMapOvr>
  <p:transition spd="slow">
    <p:wipe dir="r"/>
  </p:transition>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2590804"/>
            <a:ext cx="7924800" cy="1412875"/>
          </a:xfrm>
        </p:spPr>
        <p:txBody>
          <a:bodyPr/>
          <a:lstStyle/>
          <a:p>
            <a:pPr algn="ctr"/>
            <a:r>
              <a:rPr lang="en-GB" sz="4500" dirty="0">
                <a:solidFill>
                  <a:srgbClr val="C0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Variance and Standard Deviation</a:t>
            </a:r>
          </a:p>
        </p:txBody>
      </p:sp>
      <p:sp>
        <p:nvSpPr>
          <p:cNvPr id="4" name="Slide Number Placeholder 3"/>
          <p:cNvSpPr>
            <a:spLocks noGrp="1"/>
          </p:cNvSpPr>
          <p:nvPr>
            <p:ph type="sldNum" sz="quarter" idx="12"/>
          </p:nvPr>
        </p:nvSpPr>
        <p:spPr/>
        <p:txBody>
          <a:bodyPr/>
          <a:lstStyle/>
          <a:p>
            <a:pPr>
              <a:defRPr/>
            </a:pPr>
            <a:fld id="{645ED874-4033-4CEE-AE69-D7CB222F48E6}" type="slidenum">
              <a:rPr lang="en-US" smtClean="0"/>
              <a:pPr>
                <a:defRPr/>
              </a:pPr>
              <a:t>50</a:t>
            </a:fld>
            <a:endParaRPr lang="en-US"/>
          </a:p>
        </p:txBody>
      </p:sp>
      <p:sp>
        <p:nvSpPr>
          <p:cNvPr id="3" name="Date Placeholder 2">
            <a:extLst>
              <a:ext uri="{FF2B5EF4-FFF2-40B4-BE49-F238E27FC236}">
                <a16:creationId xmlns:a16="http://schemas.microsoft.com/office/drawing/2014/main" id="{7D59DB3D-F206-4890-A8AE-1BBA6C4C8264}"/>
              </a:ext>
            </a:extLst>
          </p:cNvPr>
          <p:cNvSpPr>
            <a:spLocks noGrp="1"/>
          </p:cNvSpPr>
          <p:nvPr>
            <p:ph type="dt" sz="half" idx="10"/>
          </p:nvPr>
        </p:nvSpPr>
        <p:spPr/>
        <p:txBody>
          <a:bodyPr/>
          <a:lstStyle/>
          <a:p>
            <a:pPr>
              <a:defRPr/>
            </a:pPr>
            <a:fld id="{5859AEBA-F6AB-49EE-8780-913E8CDDEBD0}" type="datetime3">
              <a:rPr lang="en-US" smtClean="0"/>
              <a:t>16 December 2025</a:t>
            </a:fld>
            <a:endParaRPr lang="en-US"/>
          </a:p>
        </p:txBody>
      </p:sp>
      <p:sp>
        <p:nvSpPr>
          <p:cNvPr id="5" name="Footer Placeholder 4">
            <a:extLst>
              <a:ext uri="{FF2B5EF4-FFF2-40B4-BE49-F238E27FC236}">
                <a16:creationId xmlns:a16="http://schemas.microsoft.com/office/drawing/2014/main" id="{ECCB14A3-0A60-40B4-AF65-F529715C15A8}"/>
              </a:ext>
            </a:extLst>
          </p:cNvPr>
          <p:cNvSpPr>
            <a:spLocks noGrp="1"/>
          </p:cNvSpPr>
          <p:nvPr>
            <p:ph type="ftr" sz="quarter" idx="11"/>
          </p:nvPr>
        </p:nvSpPr>
        <p:spPr/>
        <p:txBody>
          <a:bodyPr/>
          <a:lstStyle/>
          <a:p>
            <a:pPr>
              <a:defRPr/>
            </a:pPr>
            <a:r>
              <a:rPr lang="en-US"/>
              <a:t>T. Mayooran</a:t>
            </a:r>
          </a:p>
        </p:txBody>
      </p:sp>
    </p:spTree>
    <p:extLst>
      <p:ext uri="{BB962C8B-B14F-4D97-AF65-F5344CB8AC3E}">
        <p14:creationId xmlns:p14="http://schemas.microsoft.com/office/powerpoint/2010/main" val="1509808749"/>
      </p:ext>
    </p:extLst>
  </p:cSld>
  <p:clrMapOvr>
    <a:masterClrMapping/>
  </p:clrMapOvr>
  <p:transition spd="slow">
    <p:wipe dir="r"/>
  </p:transition>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solidFill>
                  <a:srgbClr val="C0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Variance</a:t>
            </a:r>
            <a:endParaRPr lang="en-GB" dirty="0"/>
          </a:p>
        </p:txBody>
      </p:sp>
      <p:sp>
        <p:nvSpPr>
          <p:cNvPr id="3" name="Content Placeholder 2"/>
          <p:cNvSpPr>
            <a:spLocks noGrp="1"/>
          </p:cNvSpPr>
          <p:nvPr>
            <p:ph idx="1"/>
          </p:nvPr>
        </p:nvSpPr>
        <p:spPr>
          <a:xfrm>
            <a:off x="838204" y="1752600"/>
            <a:ext cx="7661275" cy="4114800"/>
          </a:xfrm>
        </p:spPr>
        <p:txBody>
          <a:bodyPr/>
          <a:lstStyle/>
          <a:p>
            <a:pPr marL="0" indent="0" algn="just">
              <a:buNone/>
            </a:pPr>
            <a:r>
              <a:rPr lang="en-IN" dirty="0">
                <a:latin typeface="Times New Roman" panose="02020603050405020304" pitchFamily="18" charset="0"/>
                <a:cs typeface="Times New Roman" panose="02020603050405020304" pitchFamily="18" charset="0"/>
              </a:rPr>
              <a:t>The population variance for a discrete Random variable is</a:t>
            </a:r>
          </a:p>
          <a:p>
            <a:pPr marL="0" indent="0">
              <a:buNone/>
            </a:pPr>
            <a:endParaRPr lang="en-IN" dirty="0">
              <a:latin typeface="Times New Roman" panose="02020603050405020304" pitchFamily="18" charset="0"/>
              <a:cs typeface="Times New Roman" panose="02020603050405020304" pitchFamily="18" charset="0"/>
            </a:endParaRPr>
          </a:p>
          <a:p>
            <a:pPr marL="0" indent="0">
              <a:buNone/>
            </a:pPr>
            <a:endParaRPr lang="en-IN" dirty="0">
              <a:latin typeface="Times New Roman" panose="02020603050405020304" pitchFamily="18" charset="0"/>
              <a:cs typeface="Times New Roman" panose="02020603050405020304" pitchFamily="18" charset="0"/>
            </a:endParaRPr>
          </a:p>
          <a:p>
            <a:pPr marL="0" indent="0">
              <a:buNone/>
            </a:pPr>
            <a:endParaRPr lang="en-IN" dirty="0">
              <a:latin typeface="Times New Roman" panose="02020603050405020304" pitchFamily="18" charset="0"/>
              <a:cs typeface="Times New Roman" panose="02020603050405020304" pitchFamily="18" charset="0"/>
            </a:endParaRPr>
          </a:p>
          <a:p>
            <a:pPr marL="0" indent="0">
              <a:buNone/>
            </a:pPr>
            <a:endParaRPr lang="en-IN"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6" name="Object 5"/>
              <p:cNvSpPr txBox="1"/>
              <p:nvPr/>
            </p:nvSpPr>
            <p:spPr>
              <a:xfrm>
                <a:off x="1074742" y="2757488"/>
                <a:ext cx="7189787" cy="3352800"/>
              </a:xfrm>
              <a:prstGeom prst="rect">
                <a:avLst/>
              </a:prstGeom>
              <a:solidFill>
                <a:schemeClr val="accent1">
                  <a:lumMod val="20000"/>
                  <a:lumOff val="80000"/>
                </a:schemeClr>
              </a:solidFill>
              <a:ln>
                <a:solidFill>
                  <a:schemeClr val="tx2"/>
                </a:solidFill>
              </a:ln>
            </p:spPr>
            <p:txBody>
              <a:bodyPr>
                <a:normAutofit/>
              </a:bodyPr>
              <a:lstStyle/>
              <a:p>
                <a:pPr/>
                <a14:m>
                  <m:oMathPara xmlns:m="http://schemas.openxmlformats.org/officeDocument/2006/math">
                    <m:oMathParaPr>
                      <m:jc m:val="left"/>
                    </m:oMathParaPr>
                    <m:oMath xmlns:m="http://schemas.openxmlformats.org/officeDocument/2006/math">
                      <m:r>
                        <a:rPr lang="en-NZ" sz="2200" i="1" smtClean="0">
                          <a:solidFill>
                            <a:srgbClr val="000000"/>
                          </a:solidFill>
                          <a:latin typeface="Cambria Math" panose="02040503050406030204" pitchFamily="18" charset="0"/>
                        </a:rPr>
                        <m:t>𝑉𝑎𝑟</m:t>
                      </m:r>
                      <m:r>
                        <a:rPr lang="en-NZ" sz="2200" i="1" smtClean="0">
                          <a:solidFill>
                            <a:srgbClr val="000000"/>
                          </a:solidFill>
                          <a:latin typeface="Cambria Math" panose="02040503050406030204" pitchFamily="18" charset="0"/>
                        </a:rPr>
                        <m:t>(</m:t>
                      </m:r>
                      <m:r>
                        <a:rPr lang="en-NZ" sz="2200" i="1" smtClean="0">
                          <a:solidFill>
                            <a:srgbClr val="000000"/>
                          </a:solidFill>
                          <a:latin typeface="Cambria Math" panose="02040503050406030204" pitchFamily="18" charset="0"/>
                        </a:rPr>
                        <m:t>𝑋</m:t>
                      </m:r>
                      <m:r>
                        <a:rPr lang="en-NZ" sz="2200" i="1" smtClean="0">
                          <a:solidFill>
                            <a:srgbClr val="000000"/>
                          </a:solidFill>
                          <a:latin typeface="Cambria Math" panose="02040503050406030204" pitchFamily="18" charset="0"/>
                        </a:rPr>
                        <m:t>)=</m:t>
                      </m:r>
                      <m:sSup>
                        <m:sSupPr>
                          <m:ctrlPr>
                            <a:rPr lang="en-NZ" sz="2200" i="1">
                              <a:solidFill>
                                <a:srgbClr val="000000"/>
                              </a:solidFill>
                              <a:latin typeface="Cambria Math" panose="02040503050406030204" pitchFamily="18" charset="0"/>
                            </a:rPr>
                          </m:ctrlPr>
                        </m:sSupPr>
                        <m:e>
                          <m:r>
                            <a:rPr lang="en-NZ" sz="2200" i="1">
                              <a:solidFill>
                                <a:srgbClr val="000000"/>
                              </a:solidFill>
                              <a:latin typeface="Cambria Math" panose="02040503050406030204" pitchFamily="18" charset="0"/>
                            </a:rPr>
                            <m:t>𝜎</m:t>
                          </m:r>
                        </m:e>
                        <m:sup>
                          <m:r>
                            <a:rPr lang="en-NZ" sz="2200" i="1">
                              <a:solidFill>
                                <a:srgbClr val="000000"/>
                              </a:solidFill>
                              <a:latin typeface="Cambria Math" panose="02040503050406030204" pitchFamily="18" charset="0"/>
                            </a:rPr>
                            <m:t>2</m:t>
                          </m:r>
                        </m:sup>
                      </m:sSup>
                      <m:r>
                        <a:rPr lang="en-NZ" sz="2200" i="1">
                          <a:solidFill>
                            <a:srgbClr val="000000"/>
                          </a:solidFill>
                          <a:latin typeface="Cambria Math" panose="02040503050406030204" pitchFamily="18" charset="0"/>
                        </a:rPr>
                        <m:t>=</m:t>
                      </m:r>
                      <m:r>
                        <a:rPr lang="en-NZ" sz="2200" i="1">
                          <a:solidFill>
                            <a:srgbClr val="000000"/>
                          </a:solidFill>
                          <a:latin typeface="Cambria Math" panose="02040503050406030204" pitchFamily="18" charset="0"/>
                        </a:rPr>
                        <m:t>𝐸</m:t>
                      </m:r>
                      <m:r>
                        <a:rPr lang="en-NZ" sz="2200" i="1">
                          <a:solidFill>
                            <a:srgbClr val="000000"/>
                          </a:solidFill>
                          <a:latin typeface="Cambria Math" panose="02040503050406030204" pitchFamily="18" charset="0"/>
                        </a:rPr>
                        <m:t>(</m:t>
                      </m:r>
                      <m:r>
                        <a:rPr lang="en-NZ" sz="2200" i="1">
                          <a:solidFill>
                            <a:srgbClr val="000000"/>
                          </a:solidFill>
                          <a:latin typeface="Cambria Math" panose="02040503050406030204" pitchFamily="18" charset="0"/>
                        </a:rPr>
                        <m:t>𝑋</m:t>
                      </m:r>
                      <m:r>
                        <a:rPr lang="en-NZ" sz="2200" i="1">
                          <a:solidFill>
                            <a:srgbClr val="000000"/>
                          </a:solidFill>
                          <a:latin typeface="Cambria Math" panose="02040503050406030204" pitchFamily="18" charset="0"/>
                        </a:rPr>
                        <m:t>−</m:t>
                      </m:r>
                      <m:r>
                        <a:rPr lang="en-NZ" sz="2200" i="1">
                          <a:solidFill>
                            <a:srgbClr val="000000"/>
                          </a:solidFill>
                          <a:latin typeface="Cambria Math" panose="02040503050406030204" pitchFamily="18" charset="0"/>
                        </a:rPr>
                        <m:t>𝜇</m:t>
                      </m:r>
                      <m:sSup>
                        <m:sSupPr>
                          <m:ctrlPr>
                            <a:rPr lang="en-NZ" sz="2200" i="1">
                              <a:solidFill>
                                <a:srgbClr val="000000"/>
                              </a:solidFill>
                              <a:latin typeface="Cambria Math" panose="02040503050406030204" pitchFamily="18" charset="0"/>
                            </a:rPr>
                          </m:ctrlPr>
                        </m:sSupPr>
                        <m:e>
                          <m:r>
                            <a:rPr lang="en-NZ" sz="2200" i="1">
                              <a:solidFill>
                                <a:srgbClr val="000000"/>
                              </a:solidFill>
                              <a:latin typeface="Cambria Math" panose="02040503050406030204" pitchFamily="18" charset="0"/>
                            </a:rPr>
                            <m:t>)</m:t>
                          </m:r>
                        </m:e>
                        <m:sup>
                          <m:r>
                            <a:rPr lang="en-NZ" sz="2200" i="1">
                              <a:solidFill>
                                <a:srgbClr val="000000"/>
                              </a:solidFill>
                              <a:latin typeface="Cambria Math" panose="02040503050406030204" pitchFamily="18" charset="0"/>
                            </a:rPr>
                            <m:t>2</m:t>
                          </m:r>
                        </m:sup>
                      </m:sSup>
                      <m:r>
                        <a:rPr lang="en-NZ" sz="2200" i="1">
                          <a:solidFill>
                            <a:srgbClr val="000000"/>
                          </a:solidFill>
                          <a:latin typeface="Cambria Math" panose="02040503050406030204" pitchFamily="18" charset="0"/>
                        </a:rPr>
                        <m:t>=</m:t>
                      </m:r>
                      <m:nary>
                        <m:naryPr>
                          <m:chr m:val="∑"/>
                          <m:supHide m:val="on"/>
                          <m:ctrlPr>
                            <a:rPr lang="en-NZ" sz="2200" i="1">
                              <a:solidFill>
                                <a:srgbClr val="000000"/>
                              </a:solidFill>
                              <a:latin typeface="Cambria Math" panose="02040503050406030204" pitchFamily="18" charset="0"/>
                            </a:rPr>
                          </m:ctrlPr>
                        </m:naryPr>
                        <m:sub>
                          <m:r>
                            <m:rPr>
                              <m:nor/>
                            </m:rPr>
                            <a:rPr lang="en-NZ" sz="2200" i="0">
                              <a:solidFill>
                                <a:srgbClr val="000000"/>
                              </a:solidFill>
                              <a:latin typeface="Cambria Math" panose="02040503050406030204" pitchFamily="18" charset="0"/>
                            </a:rPr>
                            <m:t>for</m:t>
                          </m:r>
                          <m:r>
                            <m:rPr>
                              <m:nor/>
                            </m:rPr>
                            <a:rPr lang="en-NZ" sz="2200" i="0">
                              <a:solidFill>
                                <a:srgbClr val="000000"/>
                              </a:solidFill>
                              <a:latin typeface="Cambria Math" panose="02040503050406030204" pitchFamily="18" charset="0"/>
                            </a:rPr>
                            <m:t> </m:t>
                          </m:r>
                          <m:r>
                            <m:rPr>
                              <m:nor/>
                            </m:rPr>
                            <a:rPr lang="en-NZ" sz="2200" i="0">
                              <a:solidFill>
                                <a:srgbClr val="000000"/>
                              </a:solidFill>
                              <a:latin typeface="Cambria Math" panose="02040503050406030204" pitchFamily="18" charset="0"/>
                            </a:rPr>
                            <m:t>all</m:t>
                          </m:r>
                          <m:r>
                            <m:rPr>
                              <m:nor/>
                            </m:rPr>
                            <a:rPr lang="en-NZ" sz="2200" i="0">
                              <a:solidFill>
                                <a:srgbClr val="000000"/>
                              </a:solidFill>
                              <a:latin typeface="Cambria Math" panose="02040503050406030204" pitchFamily="18" charset="0"/>
                            </a:rPr>
                            <m:t> </m:t>
                          </m:r>
                          <m:r>
                            <m:rPr>
                              <m:nor/>
                            </m:rPr>
                            <a:rPr lang="en-NZ" sz="2200" i="0">
                              <a:solidFill>
                                <a:srgbClr val="000000"/>
                              </a:solidFill>
                              <a:latin typeface="Cambria Math" panose="02040503050406030204" pitchFamily="18" charset="0"/>
                            </a:rPr>
                            <m:t>x</m:t>
                          </m:r>
                        </m:sub>
                        <m:sup/>
                        <m:e>
                          <m:r>
                            <a:rPr lang="en-NZ" sz="2200" i="1">
                              <a:solidFill>
                                <a:srgbClr val="000000"/>
                              </a:solidFill>
                              <a:latin typeface="Cambria Math" panose="02040503050406030204" pitchFamily="18" charset="0"/>
                            </a:rPr>
                            <m:t>(</m:t>
                          </m:r>
                          <m:r>
                            <a:rPr lang="en-NZ" sz="2200" i="1">
                              <a:solidFill>
                                <a:srgbClr val="000000"/>
                              </a:solidFill>
                              <a:latin typeface="Cambria Math" panose="02040503050406030204" pitchFamily="18" charset="0"/>
                            </a:rPr>
                            <m:t>𝑥</m:t>
                          </m:r>
                          <m:r>
                            <a:rPr lang="en-NZ" sz="2200" i="1">
                              <a:solidFill>
                                <a:srgbClr val="000000"/>
                              </a:solidFill>
                              <a:latin typeface="Cambria Math" panose="02040503050406030204" pitchFamily="18" charset="0"/>
                            </a:rPr>
                            <m:t>−</m:t>
                          </m:r>
                          <m:r>
                            <a:rPr lang="en-NZ" sz="2200" i="1">
                              <a:solidFill>
                                <a:srgbClr val="000000"/>
                              </a:solidFill>
                              <a:latin typeface="Cambria Math" panose="02040503050406030204" pitchFamily="18" charset="0"/>
                            </a:rPr>
                            <m:t>𝜇</m:t>
                          </m:r>
                          <m:sSup>
                            <m:sSupPr>
                              <m:ctrlPr>
                                <a:rPr lang="en-NZ" sz="2200" i="1">
                                  <a:solidFill>
                                    <a:srgbClr val="000000"/>
                                  </a:solidFill>
                                  <a:latin typeface="Cambria Math" panose="02040503050406030204" pitchFamily="18" charset="0"/>
                                </a:rPr>
                              </m:ctrlPr>
                            </m:sSupPr>
                            <m:e>
                              <m:r>
                                <a:rPr lang="en-NZ" sz="2200" i="1">
                                  <a:solidFill>
                                    <a:srgbClr val="000000"/>
                                  </a:solidFill>
                                  <a:latin typeface="Cambria Math" panose="02040503050406030204" pitchFamily="18" charset="0"/>
                                </a:rPr>
                                <m:t>)</m:t>
                              </m:r>
                            </m:e>
                            <m:sup>
                              <m:r>
                                <a:rPr lang="en-NZ" sz="2200" i="1">
                                  <a:solidFill>
                                    <a:srgbClr val="000000"/>
                                  </a:solidFill>
                                  <a:latin typeface="Cambria Math" panose="02040503050406030204" pitchFamily="18" charset="0"/>
                                </a:rPr>
                                <m:t>2</m:t>
                              </m:r>
                            </m:sup>
                          </m:sSup>
                          <m:r>
                            <a:rPr lang="en-NZ" sz="2200" i="1">
                              <a:solidFill>
                                <a:srgbClr val="000000"/>
                              </a:solidFill>
                              <a:latin typeface="Cambria Math" panose="02040503050406030204" pitchFamily="18" charset="0"/>
                            </a:rPr>
                            <m:t>.</m:t>
                          </m:r>
                          <m:r>
                            <a:rPr lang="en-US" sz="2200" b="0" i="1" smtClean="0">
                              <a:solidFill>
                                <a:srgbClr val="000000"/>
                              </a:solidFill>
                              <a:latin typeface="Cambria Math" panose="02040503050406030204" pitchFamily="18" charset="0"/>
                            </a:rPr>
                            <m:t>𝑃</m:t>
                          </m:r>
                          <m:r>
                            <a:rPr lang="en-NZ" sz="2200" i="1">
                              <a:solidFill>
                                <a:srgbClr val="000000"/>
                              </a:solidFill>
                              <a:latin typeface="Cambria Math" panose="02040503050406030204" pitchFamily="18" charset="0"/>
                            </a:rPr>
                            <m:t>(</m:t>
                          </m:r>
                          <m:r>
                            <a:rPr lang="en-US" sz="2200" b="0" i="1" smtClean="0">
                              <a:solidFill>
                                <a:srgbClr val="000000"/>
                              </a:solidFill>
                              <a:latin typeface="Cambria Math" panose="02040503050406030204" pitchFamily="18" charset="0"/>
                            </a:rPr>
                            <m:t>𝑋</m:t>
                          </m:r>
                          <m:r>
                            <a:rPr lang="en-US" sz="2200" b="0" i="1" smtClean="0">
                              <a:solidFill>
                                <a:srgbClr val="000000"/>
                              </a:solidFill>
                              <a:latin typeface="Cambria Math" panose="02040503050406030204" pitchFamily="18" charset="0"/>
                            </a:rPr>
                            <m:t>=</m:t>
                          </m:r>
                          <m:r>
                            <a:rPr lang="en-NZ" sz="2200" i="1">
                              <a:solidFill>
                                <a:srgbClr val="000000"/>
                              </a:solidFill>
                              <a:latin typeface="Cambria Math" panose="02040503050406030204" pitchFamily="18" charset="0"/>
                            </a:rPr>
                            <m:t>𝑥</m:t>
                          </m:r>
                          <m:r>
                            <a:rPr lang="en-NZ" sz="2200" i="1">
                              <a:solidFill>
                                <a:srgbClr val="000000"/>
                              </a:solidFill>
                              <a:latin typeface="Cambria Math" panose="02040503050406030204" pitchFamily="18" charset="0"/>
                            </a:rPr>
                            <m:t>)</m:t>
                          </m:r>
                        </m:e>
                      </m:nary>
                    </m:oMath>
                  </m:oMathPara>
                </a14:m>
                <a:br>
                  <a:rPr lang="en-NZ" sz="2200" i="1" dirty="0">
                    <a:solidFill>
                      <a:srgbClr val="000000"/>
                    </a:solidFill>
                    <a:latin typeface="Cambria Math" panose="02040503050406030204" pitchFamily="18" charset="0"/>
                  </a:rPr>
                </a:br>
                <a:endParaRPr lang="en-NZ" sz="2200" i="1" dirty="0">
                  <a:solidFill>
                    <a:srgbClr val="000000"/>
                  </a:solidFill>
                  <a:latin typeface="Cambria Math" panose="02040503050406030204" pitchFamily="18" charset="0"/>
                </a:endParaRPr>
              </a:p>
              <a:p>
                <a:endParaRPr lang="en-NZ" sz="2200" b="1" i="1" dirty="0">
                  <a:solidFill>
                    <a:srgbClr val="000000"/>
                  </a:solidFill>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a:rPr lang="en-US" sz="2200" b="1" i="0" smtClean="0">
                          <a:solidFill>
                            <a:srgbClr val="000000"/>
                          </a:solidFill>
                          <a:latin typeface="Cambria Math" panose="02040503050406030204" pitchFamily="18" charset="0"/>
                        </a:rPr>
                        <m:t>                                  </m:t>
                      </m:r>
                      <m:r>
                        <a:rPr lang="en-NZ" sz="2200" b="1" i="0">
                          <a:solidFill>
                            <a:srgbClr val="000000"/>
                          </a:solidFill>
                          <a:latin typeface="Cambria Math" panose="02040503050406030204" pitchFamily="18" charset="0"/>
                        </a:rPr>
                        <m:t>𝐨𝐫</m:t>
                      </m:r>
                    </m:oMath>
                  </m:oMathPara>
                </a14:m>
                <a:endParaRPr lang="en-NZ" sz="2200" i="1" dirty="0">
                  <a:solidFill>
                    <a:srgbClr val="000000"/>
                  </a:solidFill>
                  <a:latin typeface="Cambria Math" panose="02040503050406030204" pitchFamily="18" charset="0"/>
                </a:endParaRPr>
              </a:p>
              <a:p>
                <a:pPr/>
                <a:br>
                  <a:rPr lang="en-NZ" sz="2200" i="1" dirty="0">
                    <a:solidFill>
                      <a:srgbClr val="000000"/>
                    </a:solidFill>
                    <a:latin typeface="Cambria Math" panose="02040503050406030204" pitchFamily="18" charset="0"/>
                  </a:rPr>
                </a:br>
                <a14:m>
                  <m:oMathPara xmlns:m="http://schemas.openxmlformats.org/officeDocument/2006/math">
                    <m:oMathParaPr>
                      <m:jc m:val="left"/>
                    </m:oMathParaPr>
                    <m:oMath xmlns:m="http://schemas.openxmlformats.org/officeDocument/2006/math">
                      <m:r>
                        <a:rPr lang="en-NZ" sz="2200" i="1">
                          <a:solidFill>
                            <a:srgbClr val="000000"/>
                          </a:solidFill>
                          <a:latin typeface="Cambria Math" panose="02040503050406030204" pitchFamily="18" charset="0"/>
                        </a:rPr>
                        <m:t>𝑉𝑎𝑟</m:t>
                      </m:r>
                      <m:r>
                        <a:rPr lang="en-NZ" sz="2200" i="1">
                          <a:solidFill>
                            <a:srgbClr val="000000"/>
                          </a:solidFill>
                          <a:latin typeface="Cambria Math" panose="02040503050406030204" pitchFamily="18" charset="0"/>
                        </a:rPr>
                        <m:t>(</m:t>
                      </m:r>
                      <m:r>
                        <a:rPr lang="en-NZ" sz="2200" i="1">
                          <a:solidFill>
                            <a:srgbClr val="000000"/>
                          </a:solidFill>
                          <a:latin typeface="Cambria Math" panose="02040503050406030204" pitchFamily="18" charset="0"/>
                        </a:rPr>
                        <m:t>𝑋</m:t>
                      </m:r>
                      <m:r>
                        <a:rPr lang="en-NZ" sz="2200" i="1">
                          <a:solidFill>
                            <a:srgbClr val="000000"/>
                          </a:solidFill>
                          <a:latin typeface="Cambria Math" panose="02040503050406030204" pitchFamily="18" charset="0"/>
                        </a:rPr>
                        <m:t>)=</m:t>
                      </m:r>
                      <m:sSup>
                        <m:sSupPr>
                          <m:ctrlPr>
                            <a:rPr lang="en-NZ" sz="2200" i="1">
                              <a:solidFill>
                                <a:srgbClr val="000000"/>
                              </a:solidFill>
                              <a:latin typeface="Cambria Math" panose="02040503050406030204" pitchFamily="18" charset="0"/>
                            </a:rPr>
                          </m:ctrlPr>
                        </m:sSupPr>
                        <m:e>
                          <m:r>
                            <a:rPr lang="en-NZ" sz="2200" i="1">
                              <a:solidFill>
                                <a:srgbClr val="000000"/>
                              </a:solidFill>
                              <a:latin typeface="Cambria Math" panose="02040503050406030204" pitchFamily="18" charset="0"/>
                            </a:rPr>
                            <m:t>𝜎</m:t>
                          </m:r>
                        </m:e>
                        <m:sup>
                          <m:r>
                            <a:rPr lang="en-NZ" sz="2200" i="1">
                              <a:solidFill>
                                <a:srgbClr val="000000"/>
                              </a:solidFill>
                              <a:latin typeface="Cambria Math" panose="02040503050406030204" pitchFamily="18" charset="0"/>
                            </a:rPr>
                            <m:t>2</m:t>
                          </m:r>
                        </m:sup>
                      </m:sSup>
                      <m:r>
                        <a:rPr lang="en-NZ" sz="2200" i="1">
                          <a:solidFill>
                            <a:srgbClr val="000000"/>
                          </a:solidFill>
                          <a:latin typeface="Cambria Math" panose="02040503050406030204" pitchFamily="18" charset="0"/>
                        </a:rPr>
                        <m:t>=</m:t>
                      </m:r>
                      <m:r>
                        <a:rPr lang="en-NZ" sz="2200" i="1">
                          <a:solidFill>
                            <a:srgbClr val="000000"/>
                          </a:solidFill>
                          <a:latin typeface="Cambria Math" panose="02040503050406030204" pitchFamily="18" charset="0"/>
                        </a:rPr>
                        <m:t>𝐸</m:t>
                      </m:r>
                      <m:r>
                        <a:rPr lang="en-NZ" sz="2200" i="1">
                          <a:solidFill>
                            <a:srgbClr val="000000"/>
                          </a:solidFill>
                          <a:latin typeface="Cambria Math" panose="02040503050406030204" pitchFamily="18" charset="0"/>
                        </a:rPr>
                        <m:t>(</m:t>
                      </m:r>
                      <m:sSup>
                        <m:sSupPr>
                          <m:ctrlPr>
                            <a:rPr lang="en-NZ" sz="2200" i="1">
                              <a:solidFill>
                                <a:srgbClr val="000000"/>
                              </a:solidFill>
                              <a:latin typeface="Cambria Math" panose="02040503050406030204" pitchFamily="18" charset="0"/>
                            </a:rPr>
                          </m:ctrlPr>
                        </m:sSupPr>
                        <m:e>
                          <m:r>
                            <a:rPr lang="en-NZ" sz="2200" i="1">
                              <a:solidFill>
                                <a:srgbClr val="000000"/>
                              </a:solidFill>
                              <a:latin typeface="Cambria Math" panose="02040503050406030204" pitchFamily="18" charset="0"/>
                            </a:rPr>
                            <m:t>𝑋</m:t>
                          </m:r>
                        </m:e>
                        <m:sup>
                          <m:r>
                            <a:rPr lang="en-NZ" sz="2200" i="1">
                              <a:solidFill>
                                <a:srgbClr val="000000"/>
                              </a:solidFill>
                              <a:latin typeface="Cambria Math" panose="02040503050406030204" pitchFamily="18" charset="0"/>
                            </a:rPr>
                            <m:t>2</m:t>
                          </m:r>
                        </m:sup>
                      </m:sSup>
                      <m:r>
                        <a:rPr lang="en-NZ" sz="2200" i="1">
                          <a:solidFill>
                            <a:srgbClr val="000000"/>
                          </a:solidFill>
                          <a:latin typeface="Cambria Math" panose="02040503050406030204" pitchFamily="18" charset="0"/>
                        </a:rPr>
                        <m:t>)−(</m:t>
                      </m:r>
                      <m:r>
                        <a:rPr lang="en-NZ" sz="2200" i="1">
                          <a:solidFill>
                            <a:srgbClr val="000000"/>
                          </a:solidFill>
                          <a:latin typeface="Cambria Math" panose="02040503050406030204" pitchFamily="18" charset="0"/>
                        </a:rPr>
                        <m:t>𝐸</m:t>
                      </m:r>
                      <m:r>
                        <a:rPr lang="en-NZ" sz="2200" i="1">
                          <a:solidFill>
                            <a:srgbClr val="000000"/>
                          </a:solidFill>
                          <a:latin typeface="Cambria Math" panose="02040503050406030204" pitchFamily="18" charset="0"/>
                        </a:rPr>
                        <m:t>(</m:t>
                      </m:r>
                      <m:r>
                        <a:rPr lang="en-NZ" sz="2200" i="1">
                          <a:solidFill>
                            <a:srgbClr val="000000"/>
                          </a:solidFill>
                          <a:latin typeface="Cambria Math" panose="02040503050406030204" pitchFamily="18" charset="0"/>
                        </a:rPr>
                        <m:t>𝑋</m:t>
                      </m:r>
                      <m:r>
                        <a:rPr lang="en-NZ" sz="2200" i="1">
                          <a:solidFill>
                            <a:srgbClr val="000000"/>
                          </a:solidFill>
                          <a:latin typeface="Cambria Math" panose="02040503050406030204" pitchFamily="18" charset="0"/>
                        </a:rPr>
                        <m:t>)</m:t>
                      </m:r>
                      <m:sSup>
                        <m:sSupPr>
                          <m:ctrlPr>
                            <a:rPr lang="en-NZ" sz="2200" i="1">
                              <a:solidFill>
                                <a:srgbClr val="000000"/>
                              </a:solidFill>
                              <a:latin typeface="Cambria Math" panose="02040503050406030204" pitchFamily="18" charset="0"/>
                            </a:rPr>
                          </m:ctrlPr>
                        </m:sSupPr>
                        <m:e>
                          <m:r>
                            <a:rPr lang="en-NZ" sz="2200" i="1">
                              <a:solidFill>
                                <a:srgbClr val="000000"/>
                              </a:solidFill>
                              <a:latin typeface="Cambria Math" panose="02040503050406030204" pitchFamily="18" charset="0"/>
                            </a:rPr>
                            <m:t>)</m:t>
                          </m:r>
                        </m:e>
                        <m:sup>
                          <m:r>
                            <a:rPr lang="en-NZ" sz="2200" i="1">
                              <a:solidFill>
                                <a:srgbClr val="000000"/>
                              </a:solidFill>
                              <a:latin typeface="Cambria Math" panose="02040503050406030204" pitchFamily="18" charset="0"/>
                            </a:rPr>
                            <m:t>2</m:t>
                          </m:r>
                        </m:sup>
                      </m:sSup>
                    </m:oMath>
                    <m:oMath xmlns:m="http://schemas.openxmlformats.org/officeDocument/2006/math">
                      <m:r>
                        <a:rPr lang="en-NZ" sz="2200" i="1">
                          <a:solidFill>
                            <a:srgbClr val="000000"/>
                          </a:solidFill>
                          <a:latin typeface="Cambria Math" panose="02040503050406030204" pitchFamily="18" charset="0"/>
                        </a:rPr>
                        <m:t>=</m:t>
                      </m:r>
                      <m:nary>
                        <m:naryPr>
                          <m:chr m:val="∑"/>
                          <m:supHide m:val="on"/>
                          <m:ctrlPr>
                            <a:rPr lang="en-NZ" sz="2200" i="1">
                              <a:solidFill>
                                <a:srgbClr val="000000"/>
                              </a:solidFill>
                              <a:latin typeface="Cambria Math" panose="02040503050406030204" pitchFamily="18" charset="0"/>
                            </a:rPr>
                          </m:ctrlPr>
                        </m:naryPr>
                        <m:sub>
                          <m:r>
                            <m:rPr>
                              <m:nor/>
                            </m:rPr>
                            <a:rPr lang="en-NZ" sz="2200" i="0">
                              <a:solidFill>
                                <a:srgbClr val="000000"/>
                              </a:solidFill>
                              <a:latin typeface="Cambria Math" panose="02040503050406030204" pitchFamily="18" charset="0"/>
                            </a:rPr>
                            <m:t>for</m:t>
                          </m:r>
                          <m:r>
                            <m:rPr>
                              <m:nor/>
                            </m:rPr>
                            <a:rPr lang="en-NZ" sz="2200" i="0">
                              <a:solidFill>
                                <a:srgbClr val="000000"/>
                              </a:solidFill>
                              <a:latin typeface="Cambria Math" panose="02040503050406030204" pitchFamily="18" charset="0"/>
                            </a:rPr>
                            <m:t> </m:t>
                          </m:r>
                          <m:r>
                            <m:rPr>
                              <m:nor/>
                            </m:rPr>
                            <a:rPr lang="en-NZ" sz="2200" i="0">
                              <a:solidFill>
                                <a:srgbClr val="000000"/>
                              </a:solidFill>
                              <a:latin typeface="Cambria Math" panose="02040503050406030204" pitchFamily="18" charset="0"/>
                            </a:rPr>
                            <m:t>all</m:t>
                          </m:r>
                          <m:r>
                            <m:rPr>
                              <m:nor/>
                            </m:rPr>
                            <a:rPr lang="en-NZ" sz="2200" i="0">
                              <a:solidFill>
                                <a:srgbClr val="000000"/>
                              </a:solidFill>
                              <a:latin typeface="Cambria Math" panose="02040503050406030204" pitchFamily="18" charset="0"/>
                            </a:rPr>
                            <m:t> </m:t>
                          </m:r>
                          <m:r>
                            <m:rPr>
                              <m:nor/>
                            </m:rPr>
                            <a:rPr lang="en-NZ" sz="2200" i="0">
                              <a:solidFill>
                                <a:srgbClr val="000000"/>
                              </a:solidFill>
                              <a:latin typeface="Cambria Math" panose="02040503050406030204" pitchFamily="18" charset="0"/>
                            </a:rPr>
                            <m:t>x</m:t>
                          </m:r>
                        </m:sub>
                        <m:sup/>
                        <m:e>
                          <m:sSup>
                            <m:sSupPr>
                              <m:ctrlPr>
                                <a:rPr lang="en-NZ" sz="2200" i="1">
                                  <a:solidFill>
                                    <a:srgbClr val="000000"/>
                                  </a:solidFill>
                                  <a:latin typeface="Cambria Math" panose="02040503050406030204" pitchFamily="18" charset="0"/>
                                </a:rPr>
                              </m:ctrlPr>
                            </m:sSupPr>
                            <m:e>
                              <m:r>
                                <a:rPr lang="en-NZ" sz="2200" i="1">
                                  <a:solidFill>
                                    <a:srgbClr val="000000"/>
                                  </a:solidFill>
                                  <a:latin typeface="Cambria Math" panose="02040503050406030204" pitchFamily="18" charset="0"/>
                                </a:rPr>
                                <m:t>𝑥</m:t>
                              </m:r>
                            </m:e>
                            <m:sup>
                              <m:r>
                                <a:rPr lang="en-NZ" sz="2200" i="1">
                                  <a:solidFill>
                                    <a:srgbClr val="000000"/>
                                  </a:solidFill>
                                  <a:latin typeface="Cambria Math" panose="02040503050406030204" pitchFamily="18" charset="0"/>
                                </a:rPr>
                                <m:t>2</m:t>
                              </m:r>
                            </m:sup>
                          </m:sSup>
                          <m:r>
                            <a:rPr lang="en-NZ" sz="2200" i="1">
                              <a:solidFill>
                                <a:srgbClr val="000000"/>
                              </a:solidFill>
                              <a:latin typeface="Cambria Math" panose="02040503050406030204" pitchFamily="18" charset="0"/>
                            </a:rPr>
                            <m:t>.</m:t>
                          </m:r>
                          <m:r>
                            <a:rPr lang="en-US" sz="2200" i="1">
                              <a:solidFill>
                                <a:srgbClr val="000000"/>
                              </a:solidFill>
                              <a:latin typeface="Cambria Math" panose="02040503050406030204" pitchFamily="18" charset="0"/>
                            </a:rPr>
                            <m:t>𝑃</m:t>
                          </m:r>
                          <m:r>
                            <a:rPr lang="en-NZ" sz="2200" i="1">
                              <a:solidFill>
                                <a:srgbClr val="000000"/>
                              </a:solidFill>
                              <a:latin typeface="Cambria Math" panose="02040503050406030204" pitchFamily="18" charset="0"/>
                            </a:rPr>
                            <m:t>(</m:t>
                          </m:r>
                          <m:r>
                            <a:rPr lang="en-US" sz="2200" i="1">
                              <a:solidFill>
                                <a:srgbClr val="000000"/>
                              </a:solidFill>
                              <a:latin typeface="Cambria Math" panose="02040503050406030204" pitchFamily="18" charset="0"/>
                            </a:rPr>
                            <m:t>𝑋</m:t>
                          </m:r>
                          <m:r>
                            <a:rPr lang="en-US" sz="2200" i="1">
                              <a:solidFill>
                                <a:srgbClr val="000000"/>
                              </a:solidFill>
                              <a:latin typeface="Cambria Math" panose="02040503050406030204" pitchFamily="18" charset="0"/>
                            </a:rPr>
                            <m:t>=</m:t>
                          </m:r>
                          <m:r>
                            <a:rPr lang="en-NZ" sz="2200" i="1">
                              <a:solidFill>
                                <a:srgbClr val="000000"/>
                              </a:solidFill>
                              <a:latin typeface="Cambria Math" panose="02040503050406030204" pitchFamily="18" charset="0"/>
                            </a:rPr>
                            <m:t>𝑥</m:t>
                          </m:r>
                          <m:r>
                            <a:rPr lang="en-NZ" sz="2200" i="1">
                              <a:solidFill>
                                <a:srgbClr val="000000"/>
                              </a:solidFill>
                              <a:latin typeface="Cambria Math" panose="02040503050406030204" pitchFamily="18" charset="0"/>
                            </a:rPr>
                            <m:t>)</m:t>
                          </m:r>
                        </m:e>
                      </m:nary>
                      <m:r>
                        <a:rPr lang="en-NZ" sz="2200" i="1">
                          <a:solidFill>
                            <a:srgbClr val="000000"/>
                          </a:solidFill>
                          <a:latin typeface="Cambria Math" panose="02040503050406030204" pitchFamily="18" charset="0"/>
                        </a:rPr>
                        <m:t>−</m:t>
                      </m:r>
                      <m:sSup>
                        <m:sSupPr>
                          <m:ctrlPr>
                            <a:rPr lang="en-NZ" sz="2200" i="1">
                              <a:solidFill>
                                <a:srgbClr val="000000"/>
                              </a:solidFill>
                              <a:latin typeface="Cambria Math" panose="02040503050406030204" pitchFamily="18" charset="0"/>
                            </a:rPr>
                          </m:ctrlPr>
                        </m:sSupPr>
                        <m:e>
                          <m:d>
                            <m:dPr>
                              <m:ctrlPr>
                                <a:rPr lang="en-NZ" sz="2200" i="1">
                                  <a:solidFill>
                                    <a:srgbClr val="000000"/>
                                  </a:solidFill>
                                  <a:latin typeface="Cambria Math" panose="02040503050406030204" pitchFamily="18" charset="0"/>
                                </a:rPr>
                              </m:ctrlPr>
                            </m:dPr>
                            <m:e>
                              <m:nary>
                                <m:naryPr>
                                  <m:chr m:val="∑"/>
                                  <m:supHide m:val="on"/>
                                  <m:ctrlPr>
                                    <a:rPr lang="en-NZ" sz="2200" i="1">
                                      <a:solidFill>
                                        <a:srgbClr val="000000"/>
                                      </a:solidFill>
                                      <a:latin typeface="Cambria Math" panose="02040503050406030204" pitchFamily="18" charset="0"/>
                                    </a:rPr>
                                  </m:ctrlPr>
                                </m:naryPr>
                                <m:sub>
                                  <m:r>
                                    <m:rPr>
                                      <m:nor/>
                                    </m:rPr>
                                    <a:rPr lang="en-NZ" sz="2200" i="0">
                                      <a:solidFill>
                                        <a:srgbClr val="000000"/>
                                      </a:solidFill>
                                      <a:latin typeface="Cambria Math" panose="02040503050406030204" pitchFamily="18" charset="0"/>
                                    </a:rPr>
                                    <m:t>for</m:t>
                                  </m:r>
                                  <m:r>
                                    <m:rPr>
                                      <m:nor/>
                                    </m:rPr>
                                    <a:rPr lang="en-NZ" sz="2200" i="0">
                                      <a:solidFill>
                                        <a:srgbClr val="000000"/>
                                      </a:solidFill>
                                      <a:latin typeface="Cambria Math" panose="02040503050406030204" pitchFamily="18" charset="0"/>
                                    </a:rPr>
                                    <m:t> </m:t>
                                  </m:r>
                                  <m:r>
                                    <m:rPr>
                                      <m:nor/>
                                    </m:rPr>
                                    <a:rPr lang="en-NZ" sz="2200" i="0">
                                      <a:solidFill>
                                        <a:srgbClr val="000000"/>
                                      </a:solidFill>
                                      <a:latin typeface="Cambria Math" panose="02040503050406030204" pitchFamily="18" charset="0"/>
                                    </a:rPr>
                                    <m:t>all</m:t>
                                  </m:r>
                                  <m:r>
                                    <m:rPr>
                                      <m:nor/>
                                    </m:rPr>
                                    <a:rPr lang="en-NZ" sz="2200" i="0">
                                      <a:solidFill>
                                        <a:srgbClr val="000000"/>
                                      </a:solidFill>
                                      <a:latin typeface="Cambria Math" panose="02040503050406030204" pitchFamily="18" charset="0"/>
                                    </a:rPr>
                                    <m:t> </m:t>
                                  </m:r>
                                  <m:r>
                                    <m:rPr>
                                      <m:nor/>
                                    </m:rPr>
                                    <a:rPr lang="en-NZ" sz="2200" i="0">
                                      <a:solidFill>
                                        <a:srgbClr val="000000"/>
                                      </a:solidFill>
                                      <a:latin typeface="Cambria Math" panose="02040503050406030204" pitchFamily="18" charset="0"/>
                                    </a:rPr>
                                    <m:t>x</m:t>
                                  </m:r>
                                </m:sub>
                                <m:sup/>
                                <m:e>
                                  <m:r>
                                    <a:rPr lang="en-NZ" sz="2200" i="1">
                                      <a:solidFill>
                                        <a:srgbClr val="000000"/>
                                      </a:solidFill>
                                      <a:latin typeface="Cambria Math" panose="02040503050406030204" pitchFamily="18" charset="0"/>
                                    </a:rPr>
                                    <m:t>𝑥</m:t>
                                  </m:r>
                                  <m:r>
                                    <a:rPr lang="en-NZ" sz="2200" i="1">
                                      <a:solidFill>
                                        <a:srgbClr val="000000"/>
                                      </a:solidFill>
                                      <a:latin typeface="Cambria Math" panose="02040503050406030204" pitchFamily="18" charset="0"/>
                                    </a:rPr>
                                    <m:t>.</m:t>
                                  </m:r>
                                  <m:r>
                                    <a:rPr lang="en-US" sz="2200" i="1">
                                      <a:solidFill>
                                        <a:srgbClr val="000000"/>
                                      </a:solidFill>
                                      <a:latin typeface="Cambria Math" panose="02040503050406030204" pitchFamily="18" charset="0"/>
                                    </a:rPr>
                                    <m:t>𝑃</m:t>
                                  </m:r>
                                  <m:r>
                                    <a:rPr lang="en-NZ" sz="2200" i="1">
                                      <a:solidFill>
                                        <a:srgbClr val="000000"/>
                                      </a:solidFill>
                                      <a:latin typeface="Cambria Math" panose="02040503050406030204" pitchFamily="18" charset="0"/>
                                    </a:rPr>
                                    <m:t>(</m:t>
                                  </m:r>
                                  <m:r>
                                    <a:rPr lang="en-US" sz="2200" i="1">
                                      <a:solidFill>
                                        <a:srgbClr val="000000"/>
                                      </a:solidFill>
                                      <a:latin typeface="Cambria Math" panose="02040503050406030204" pitchFamily="18" charset="0"/>
                                    </a:rPr>
                                    <m:t>𝑋</m:t>
                                  </m:r>
                                  <m:r>
                                    <a:rPr lang="en-US" sz="2200" i="1">
                                      <a:solidFill>
                                        <a:srgbClr val="000000"/>
                                      </a:solidFill>
                                      <a:latin typeface="Cambria Math" panose="02040503050406030204" pitchFamily="18" charset="0"/>
                                    </a:rPr>
                                    <m:t>=</m:t>
                                  </m:r>
                                  <m:r>
                                    <a:rPr lang="en-NZ" sz="2200" i="1">
                                      <a:solidFill>
                                        <a:srgbClr val="000000"/>
                                      </a:solidFill>
                                      <a:latin typeface="Cambria Math" panose="02040503050406030204" pitchFamily="18" charset="0"/>
                                    </a:rPr>
                                    <m:t>𝑥</m:t>
                                  </m:r>
                                  <m:r>
                                    <a:rPr lang="en-NZ" sz="2200" i="1">
                                      <a:solidFill>
                                        <a:srgbClr val="000000"/>
                                      </a:solidFill>
                                      <a:latin typeface="Cambria Math" panose="02040503050406030204" pitchFamily="18" charset="0"/>
                                    </a:rPr>
                                    <m:t>)</m:t>
                                  </m:r>
                                </m:e>
                              </m:nary>
                            </m:e>
                          </m:d>
                        </m:e>
                        <m:sup>
                          <m:r>
                            <a:rPr lang="en-NZ" sz="2200" i="1">
                              <a:solidFill>
                                <a:srgbClr val="000000"/>
                              </a:solidFill>
                              <a:latin typeface="Cambria Math" panose="02040503050406030204" pitchFamily="18" charset="0"/>
                            </a:rPr>
                            <m:t>2</m:t>
                          </m:r>
                        </m:sup>
                      </m:sSup>
                    </m:oMath>
                  </m:oMathPara>
                </a14:m>
                <a:endParaRPr lang="en-NZ" sz="2200" dirty="0"/>
              </a:p>
            </p:txBody>
          </p:sp>
        </mc:Choice>
        <mc:Fallback xmlns="">
          <p:sp>
            <p:nvSpPr>
              <p:cNvPr id="6" name="Object 5"/>
              <p:cNvSpPr txBox="1">
                <a:spLocks noRot="1" noChangeAspect="1" noMove="1" noResize="1" noEditPoints="1" noAdjustHandles="1" noChangeArrowheads="1" noChangeShapeType="1" noTextEdit="1"/>
              </p:cNvSpPr>
              <p:nvPr/>
            </p:nvSpPr>
            <p:spPr>
              <a:xfrm>
                <a:off x="1074742" y="2757488"/>
                <a:ext cx="7189787" cy="3352800"/>
              </a:xfrm>
              <a:prstGeom prst="rect">
                <a:avLst/>
              </a:prstGeom>
              <a:blipFill>
                <a:blip r:embed="rId2"/>
                <a:stretch>
                  <a:fillRect/>
                </a:stretch>
              </a:blipFill>
              <a:ln>
                <a:solidFill>
                  <a:schemeClr val="tx2"/>
                </a:solidFill>
              </a:ln>
            </p:spPr>
            <p:txBody>
              <a:bodyPr/>
              <a:lstStyle/>
              <a:p>
                <a:r>
                  <a:rPr lang="en-NZ">
                    <a:noFill/>
                  </a:rPr>
                  <a:t> </a:t>
                </a:r>
              </a:p>
            </p:txBody>
          </p:sp>
        </mc:Fallback>
      </mc:AlternateContent>
      <p:sp>
        <p:nvSpPr>
          <p:cNvPr id="7" name="Slide Number Placeholder 6"/>
          <p:cNvSpPr>
            <a:spLocks noGrp="1"/>
          </p:cNvSpPr>
          <p:nvPr>
            <p:ph type="sldNum" sz="quarter" idx="12"/>
          </p:nvPr>
        </p:nvSpPr>
        <p:spPr/>
        <p:txBody>
          <a:bodyPr/>
          <a:lstStyle/>
          <a:p>
            <a:pPr>
              <a:defRPr/>
            </a:pPr>
            <a:fld id="{645ED874-4033-4CEE-AE69-D7CB222F48E6}" type="slidenum">
              <a:rPr lang="en-US" smtClean="0"/>
              <a:pPr>
                <a:defRPr/>
              </a:pPr>
              <a:t>51</a:t>
            </a:fld>
            <a:endParaRPr lang="en-US"/>
          </a:p>
        </p:txBody>
      </p:sp>
      <p:sp>
        <p:nvSpPr>
          <p:cNvPr id="4" name="Date Placeholder 3">
            <a:extLst>
              <a:ext uri="{FF2B5EF4-FFF2-40B4-BE49-F238E27FC236}">
                <a16:creationId xmlns:a16="http://schemas.microsoft.com/office/drawing/2014/main" id="{5DF097D0-7AB7-4F65-B668-57A2BB420E31}"/>
              </a:ext>
            </a:extLst>
          </p:cNvPr>
          <p:cNvSpPr>
            <a:spLocks noGrp="1"/>
          </p:cNvSpPr>
          <p:nvPr>
            <p:ph type="dt" sz="half" idx="10"/>
          </p:nvPr>
        </p:nvSpPr>
        <p:spPr/>
        <p:txBody>
          <a:bodyPr/>
          <a:lstStyle/>
          <a:p>
            <a:pPr>
              <a:defRPr/>
            </a:pPr>
            <a:fld id="{6C663D29-D2DE-4479-9FDF-4B368715B6AE}" type="datetime3">
              <a:rPr lang="en-US" smtClean="0"/>
              <a:t>16 December 2025</a:t>
            </a:fld>
            <a:endParaRPr lang="en-US"/>
          </a:p>
        </p:txBody>
      </p:sp>
      <p:sp>
        <p:nvSpPr>
          <p:cNvPr id="5" name="Footer Placeholder 4">
            <a:extLst>
              <a:ext uri="{FF2B5EF4-FFF2-40B4-BE49-F238E27FC236}">
                <a16:creationId xmlns:a16="http://schemas.microsoft.com/office/drawing/2014/main" id="{45789F9D-0638-4F68-8EC2-50D469D0E17E}"/>
              </a:ext>
            </a:extLst>
          </p:cNvPr>
          <p:cNvSpPr>
            <a:spLocks noGrp="1"/>
          </p:cNvSpPr>
          <p:nvPr>
            <p:ph type="ftr" sz="quarter" idx="11"/>
          </p:nvPr>
        </p:nvSpPr>
        <p:spPr/>
        <p:txBody>
          <a:bodyPr/>
          <a:lstStyle/>
          <a:p>
            <a:pPr>
              <a:defRPr/>
            </a:pPr>
            <a:r>
              <a:rPr lang="en-US"/>
              <a:t>T. Mayooran</a:t>
            </a:r>
          </a:p>
        </p:txBody>
      </p:sp>
    </p:spTree>
    <p:extLst>
      <p:ext uri="{BB962C8B-B14F-4D97-AF65-F5344CB8AC3E}">
        <p14:creationId xmlns:p14="http://schemas.microsoft.com/office/powerpoint/2010/main" val="3123853899"/>
      </p:ext>
    </p:extLst>
  </p:cSld>
  <p:clrMapOvr>
    <a:masterClrMapping/>
  </p:clrMapOvr>
  <p:transition spd="slow">
    <p:wipe dir="r"/>
  </p:transition>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solidFill>
                  <a:srgbClr val="C0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Standard Deviation</a:t>
            </a:r>
            <a:endParaRPr lang="en-GB" dirty="0"/>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762004" y="1600200"/>
                <a:ext cx="7661275" cy="4114800"/>
              </a:xfrm>
            </p:spPr>
            <p:txBody>
              <a:bodyPr/>
              <a:lstStyle/>
              <a:p>
                <a:pPr marL="0" indent="0" algn="just">
                  <a:buNone/>
                </a:pPr>
                <a:r>
                  <a:rPr lang="en-IN" dirty="0">
                    <a:latin typeface="Times New Roman" panose="02020603050405020304" pitchFamily="18" charset="0"/>
                    <a:cs typeface="Times New Roman" panose="02020603050405020304" pitchFamily="18" charset="0"/>
                  </a:rPr>
                  <a:t>The population standard deviation </a:t>
                </a:r>
                <a14:m>
                  <m:oMath xmlns:m="http://schemas.openxmlformats.org/officeDocument/2006/math">
                    <m:r>
                      <a:rPr lang="en-IN" i="1" smtClean="0">
                        <a:latin typeface="Cambria Math" panose="02040503050406030204" pitchFamily="18" charset="0"/>
                        <a:ea typeface="Cambria Math" panose="02040503050406030204" pitchFamily="18" charset="0"/>
                        <a:cs typeface="Times New Roman" panose="02020603050405020304" pitchFamily="18" charset="0"/>
                      </a:rPr>
                      <m:t>𝜎</m:t>
                    </m:r>
                  </m:oMath>
                </a14:m>
                <a:r>
                  <a:rPr lang="en-IN" dirty="0">
                    <a:latin typeface="Times New Roman" panose="02020603050405020304" pitchFamily="18" charset="0"/>
                    <a:cs typeface="Times New Roman" panose="02020603050405020304" pitchFamily="18" charset="0"/>
                  </a:rPr>
                  <a:t> is given by,</a:t>
                </a:r>
              </a:p>
              <a:p>
                <a:pPr marL="0" indent="0" algn="just">
                  <a:buNone/>
                </a:pPr>
                <a:endParaRPr lang="en-IN" dirty="0">
                  <a:latin typeface="Times New Roman" panose="02020603050405020304" pitchFamily="18" charset="0"/>
                  <a:cs typeface="Times New Roman" panose="02020603050405020304" pitchFamily="18" charset="0"/>
                </a:endParaRPr>
              </a:p>
              <a:p>
                <a:pPr marL="0" indent="0" algn="just">
                  <a:buNone/>
                </a:pPr>
                <a:r>
                  <a:rPr lang="en-IN" dirty="0">
                    <a:solidFill>
                      <a:srgbClr val="FF0000"/>
                    </a:solidFill>
                    <a:latin typeface="Times New Roman" panose="02020603050405020304" pitchFamily="18" charset="0"/>
                    <a:cs typeface="Times New Roman" panose="02020603050405020304" pitchFamily="18" charset="0"/>
                  </a:rPr>
                  <a:t>Example : </a:t>
                </a:r>
                <a:r>
                  <a:rPr lang="en-IN" dirty="0">
                    <a:latin typeface="Times New Roman" panose="02020603050405020304" pitchFamily="18" charset="0"/>
                    <a:cs typeface="Times New Roman" panose="02020603050405020304" pitchFamily="18" charset="0"/>
                  </a:rPr>
                  <a:t>The population variance of the grade distribution in Example 1 is,</a:t>
                </a:r>
              </a:p>
              <a:p>
                <a:pPr marL="0" indent="0" algn="just">
                  <a:buNone/>
                </a:pPr>
                <a:endParaRPr lang="en-GB" dirty="0">
                  <a:latin typeface="Times New Roman" panose="02020603050405020304" pitchFamily="18" charset="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762004" y="1600200"/>
                <a:ext cx="7661275" cy="4114800"/>
              </a:xfrm>
              <a:blipFill>
                <a:blip r:embed="rId3"/>
                <a:stretch>
                  <a:fillRect l="-1989" t="-2074" r="-1989"/>
                </a:stretch>
              </a:blipFill>
            </p:spPr>
            <p:txBody>
              <a:bodyPr/>
              <a:lstStyle/>
              <a:p>
                <a:r>
                  <a:rPr lang="en-NZ">
                    <a:noFill/>
                  </a:rPr>
                  <a:t> </a:t>
                </a:r>
              </a:p>
            </p:txBody>
          </p:sp>
        </mc:Fallback>
      </mc:AlternateContent>
      <p:graphicFrame>
        <p:nvGraphicFramePr>
          <p:cNvPr id="6" name="Object 5"/>
          <p:cNvGraphicFramePr>
            <a:graphicFrameLocks noChangeAspect="1"/>
          </p:cNvGraphicFramePr>
          <p:nvPr>
            <p:extLst>
              <p:ext uri="{D42A27DB-BD31-4B8C-83A1-F6EECF244321}">
                <p14:modId xmlns:p14="http://schemas.microsoft.com/office/powerpoint/2010/main" val="1881954021"/>
              </p:ext>
            </p:extLst>
          </p:nvPr>
        </p:nvGraphicFramePr>
        <p:xfrm>
          <a:off x="1752600" y="2209800"/>
          <a:ext cx="4383088" cy="927100"/>
        </p:xfrm>
        <a:graphic>
          <a:graphicData uri="http://schemas.openxmlformats.org/presentationml/2006/ole">
            <mc:AlternateContent xmlns:mc="http://schemas.openxmlformats.org/markup-compatibility/2006">
              <mc:Choice xmlns:v="urn:schemas-microsoft-com:vml" Requires="v">
                <p:oleObj name="Equation" r:id="rId4" imgW="1320480" imgH="279360" progId="Equation.3">
                  <p:embed/>
                </p:oleObj>
              </mc:Choice>
              <mc:Fallback>
                <p:oleObj name="Equation" r:id="rId4" imgW="1320480" imgH="279360" progId="Equation.3">
                  <p:embed/>
                  <p:pic>
                    <p:nvPicPr>
                      <p:cNvPr id="6" name="Object 5"/>
                      <p:cNvPicPr/>
                      <p:nvPr/>
                    </p:nvPicPr>
                    <p:blipFill>
                      <a:blip r:embed="rId5"/>
                      <a:stretch>
                        <a:fillRect/>
                      </a:stretch>
                    </p:blipFill>
                    <p:spPr>
                      <a:xfrm>
                        <a:off x="1752600" y="2209800"/>
                        <a:ext cx="4383088" cy="927100"/>
                      </a:xfrm>
                      <a:prstGeom prst="rect">
                        <a:avLst/>
                      </a:prstGeom>
                      <a:solidFill>
                        <a:schemeClr val="accent1">
                          <a:lumMod val="20000"/>
                          <a:lumOff val="80000"/>
                        </a:schemeClr>
                      </a:solidFill>
                      <a:ln>
                        <a:solidFill>
                          <a:schemeClr val="tx2"/>
                        </a:solidFill>
                      </a:ln>
                    </p:spPr>
                  </p:pic>
                </p:oleObj>
              </mc:Fallback>
            </mc:AlternateContent>
          </a:graphicData>
        </a:graphic>
      </p:graphicFrame>
      <p:graphicFrame>
        <p:nvGraphicFramePr>
          <p:cNvPr id="7" name="Object 6"/>
          <p:cNvGraphicFramePr>
            <a:graphicFrameLocks noChangeAspect="1"/>
          </p:cNvGraphicFramePr>
          <p:nvPr>
            <p:extLst>
              <p:ext uri="{D42A27DB-BD31-4B8C-83A1-F6EECF244321}">
                <p14:modId xmlns:p14="http://schemas.microsoft.com/office/powerpoint/2010/main" val="3162475677"/>
              </p:ext>
            </p:extLst>
          </p:nvPr>
        </p:nvGraphicFramePr>
        <p:xfrm>
          <a:off x="992678" y="4191000"/>
          <a:ext cx="7335839" cy="1988398"/>
        </p:xfrm>
        <a:graphic>
          <a:graphicData uri="http://schemas.openxmlformats.org/presentationml/2006/ole">
            <mc:AlternateContent xmlns:mc="http://schemas.openxmlformats.org/markup-compatibility/2006">
              <mc:Choice xmlns:v="urn:schemas-microsoft-com:vml" Requires="v">
                <p:oleObj name="Equation" r:id="rId6" imgW="3746160" imgH="1015920" progId="Equation.3">
                  <p:embed/>
                </p:oleObj>
              </mc:Choice>
              <mc:Fallback>
                <p:oleObj name="Equation" r:id="rId6" imgW="3746160" imgH="1015920" progId="Equation.3">
                  <p:embed/>
                  <p:pic>
                    <p:nvPicPr>
                      <p:cNvPr id="7" name="Object 6"/>
                      <p:cNvPicPr/>
                      <p:nvPr/>
                    </p:nvPicPr>
                    <p:blipFill>
                      <a:blip r:embed="rId7"/>
                      <a:stretch>
                        <a:fillRect/>
                      </a:stretch>
                    </p:blipFill>
                    <p:spPr>
                      <a:xfrm>
                        <a:off x="992678" y="4191000"/>
                        <a:ext cx="7335839" cy="1988398"/>
                      </a:xfrm>
                      <a:prstGeom prst="rect">
                        <a:avLst/>
                      </a:prstGeom>
                    </p:spPr>
                  </p:pic>
                </p:oleObj>
              </mc:Fallback>
            </mc:AlternateContent>
          </a:graphicData>
        </a:graphic>
      </p:graphicFrame>
      <p:sp>
        <p:nvSpPr>
          <p:cNvPr id="8" name="Slide Number Placeholder 7"/>
          <p:cNvSpPr>
            <a:spLocks noGrp="1"/>
          </p:cNvSpPr>
          <p:nvPr>
            <p:ph type="sldNum" sz="quarter" idx="12"/>
          </p:nvPr>
        </p:nvSpPr>
        <p:spPr/>
        <p:txBody>
          <a:bodyPr/>
          <a:lstStyle/>
          <a:p>
            <a:pPr>
              <a:defRPr/>
            </a:pPr>
            <a:fld id="{645ED874-4033-4CEE-AE69-D7CB222F48E6}" type="slidenum">
              <a:rPr lang="en-US" smtClean="0"/>
              <a:pPr>
                <a:defRPr/>
              </a:pPr>
              <a:t>52</a:t>
            </a:fld>
            <a:endParaRPr lang="en-US"/>
          </a:p>
        </p:txBody>
      </p:sp>
      <p:sp>
        <p:nvSpPr>
          <p:cNvPr id="4" name="Date Placeholder 3">
            <a:extLst>
              <a:ext uri="{FF2B5EF4-FFF2-40B4-BE49-F238E27FC236}">
                <a16:creationId xmlns:a16="http://schemas.microsoft.com/office/drawing/2014/main" id="{C728CA85-08E5-49D0-838C-369370A2BA34}"/>
              </a:ext>
            </a:extLst>
          </p:cNvPr>
          <p:cNvSpPr>
            <a:spLocks noGrp="1"/>
          </p:cNvSpPr>
          <p:nvPr>
            <p:ph type="dt" sz="half" idx="10"/>
          </p:nvPr>
        </p:nvSpPr>
        <p:spPr/>
        <p:txBody>
          <a:bodyPr/>
          <a:lstStyle/>
          <a:p>
            <a:pPr>
              <a:defRPr/>
            </a:pPr>
            <a:fld id="{B0E3FDB2-5DD5-4821-98FB-ECA873B556B4}" type="datetime3">
              <a:rPr lang="en-US" smtClean="0"/>
              <a:t>16 December 2025</a:t>
            </a:fld>
            <a:endParaRPr lang="en-US"/>
          </a:p>
        </p:txBody>
      </p:sp>
      <p:sp>
        <p:nvSpPr>
          <p:cNvPr id="5" name="Footer Placeholder 4">
            <a:extLst>
              <a:ext uri="{FF2B5EF4-FFF2-40B4-BE49-F238E27FC236}">
                <a16:creationId xmlns:a16="http://schemas.microsoft.com/office/drawing/2014/main" id="{E67E67B2-6C08-4BF8-AE99-895820B8FC9B}"/>
              </a:ext>
            </a:extLst>
          </p:cNvPr>
          <p:cNvSpPr>
            <a:spLocks noGrp="1"/>
          </p:cNvSpPr>
          <p:nvPr>
            <p:ph type="ftr" sz="quarter" idx="11"/>
          </p:nvPr>
        </p:nvSpPr>
        <p:spPr/>
        <p:txBody>
          <a:bodyPr/>
          <a:lstStyle/>
          <a:p>
            <a:pPr>
              <a:defRPr/>
            </a:pPr>
            <a:r>
              <a:rPr lang="en-US"/>
              <a:t>T. Mayooran</a:t>
            </a:r>
          </a:p>
        </p:txBody>
      </p:sp>
    </p:spTree>
    <p:extLst>
      <p:ext uri="{BB962C8B-B14F-4D97-AF65-F5344CB8AC3E}">
        <p14:creationId xmlns:p14="http://schemas.microsoft.com/office/powerpoint/2010/main" val="1853376481"/>
      </p:ext>
    </p:extLst>
  </p:cSld>
  <p:clrMapOvr>
    <a:masterClrMapping/>
  </p:clrMapOvr>
  <p:transition spd="slow">
    <p:wipe dir="r"/>
  </p:transition>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0" y="1600200"/>
                <a:ext cx="7467600" cy="4343400"/>
              </a:xfrm>
            </p:spPr>
            <p:txBody>
              <a:bodyPr/>
              <a:lstStyle/>
              <a:p>
                <a:pPr marL="0" indent="0" algn="just">
                  <a:buNone/>
                </a:pPr>
                <a:r>
                  <a:rPr lang="en-IN" sz="2800" dirty="0">
                    <a:latin typeface="Times New Roman" panose="02020603050405020304" pitchFamily="18" charset="0"/>
                    <a:cs typeface="Times New Roman" panose="02020603050405020304" pitchFamily="18" charset="0"/>
                  </a:rPr>
                  <a:t>The variance for the </a:t>
                </a:r>
                <a:r>
                  <a:rPr lang="en-IN" sz="2800" dirty="0">
                    <a:solidFill>
                      <a:srgbClr val="FF0000"/>
                    </a:solidFill>
                    <a:latin typeface="Times New Roman" panose="02020603050405020304" pitchFamily="18" charset="0"/>
                    <a:cs typeface="Times New Roman" panose="02020603050405020304" pitchFamily="18" charset="0"/>
                  </a:rPr>
                  <a:t>Bernoulli Distribution </a:t>
                </a:r>
                <a:r>
                  <a:rPr lang="en-IN" sz="2800" dirty="0">
                    <a:latin typeface="Times New Roman" panose="02020603050405020304" pitchFamily="18" charset="0"/>
                    <a:cs typeface="Times New Roman" panose="02020603050405020304" pitchFamily="18" charset="0"/>
                  </a:rPr>
                  <a:t>is </a:t>
                </a:r>
                <a14:m>
                  <m:oMath xmlns:m="http://schemas.openxmlformats.org/officeDocument/2006/math">
                    <m:r>
                      <a:rPr lang="en-GB" sz="2800" i="1">
                        <a:solidFill>
                          <a:srgbClr val="FF0000"/>
                        </a:solidFill>
                        <a:latin typeface="Cambria Math" panose="02040503050406030204" pitchFamily="18" charset="0"/>
                        <a:cs typeface="Times New Roman" panose="02020603050405020304" pitchFamily="18" charset="0"/>
                      </a:rPr>
                      <m:t>𝑝</m:t>
                    </m:r>
                    <m:d>
                      <m:dPr>
                        <m:ctrlPr>
                          <a:rPr lang="en-GB" sz="2800" i="1">
                            <a:solidFill>
                              <a:srgbClr val="FF0000"/>
                            </a:solidFill>
                            <a:latin typeface="Cambria Math" panose="02040503050406030204" pitchFamily="18" charset="0"/>
                            <a:cs typeface="Times New Roman" panose="02020603050405020304" pitchFamily="18" charset="0"/>
                          </a:rPr>
                        </m:ctrlPr>
                      </m:dPr>
                      <m:e>
                        <m:r>
                          <a:rPr lang="en-GB" sz="2800" i="1">
                            <a:solidFill>
                              <a:srgbClr val="FF0000"/>
                            </a:solidFill>
                            <a:latin typeface="Cambria Math" panose="02040503050406030204" pitchFamily="18" charset="0"/>
                            <a:cs typeface="Times New Roman" panose="02020603050405020304" pitchFamily="18" charset="0"/>
                          </a:rPr>
                          <m:t>1−</m:t>
                        </m:r>
                        <m:r>
                          <a:rPr lang="en-GB" sz="2800" i="1">
                            <a:solidFill>
                              <a:srgbClr val="FF0000"/>
                            </a:solidFill>
                            <a:latin typeface="Cambria Math" panose="02040503050406030204" pitchFamily="18" charset="0"/>
                            <a:cs typeface="Times New Roman" panose="02020603050405020304" pitchFamily="18" charset="0"/>
                          </a:rPr>
                          <m:t>𝑝</m:t>
                        </m:r>
                      </m:e>
                    </m:d>
                    <m:r>
                      <a:rPr lang="en-GB" sz="2800" i="1">
                        <a:latin typeface="Cambria Math" panose="02040503050406030204" pitchFamily="18" charset="0"/>
                        <a:cs typeface="Times New Roman" panose="02020603050405020304" pitchFamily="18" charset="0"/>
                      </a:rPr>
                      <m:t> </m:t>
                    </m:r>
                  </m:oMath>
                </a14:m>
                <a:r>
                  <a:rPr lang="en-IN" sz="2800" dirty="0">
                    <a:latin typeface="Times New Roman" panose="02020603050405020304" pitchFamily="18" charset="0"/>
                    <a:cs typeface="Times New Roman" panose="02020603050405020304" pitchFamily="18" charset="0"/>
                  </a:rPr>
                  <a:t>and the standard deviation is </a:t>
                </a:r>
                <a14:m>
                  <m:oMath xmlns:m="http://schemas.openxmlformats.org/officeDocument/2006/math">
                    <m:rad>
                      <m:radPr>
                        <m:degHide m:val="on"/>
                        <m:ctrlPr>
                          <a:rPr lang="en-IN" sz="2800" i="1">
                            <a:latin typeface="Cambria Math" panose="02040503050406030204" pitchFamily="18" charset="0"/>
                            <a:cs typeface="Times New Roman" panose="02020603050405020304" pitchFamily="18" charset="0"/>
                          </a:rPr>
                        </m:ctrlPr>
                      </m:radPr>
                      <m:deg/>
                      <m:e>
                        <m:r>
                          <a:rPr lang="en-GB" sz="2800" i="1">
                            <a:latin typeface="Cambria Math" panose="02040503050406030204" pitchFamily="18" charset="0"/>
                            <a:cs typeface="Times New Roman" panose="02020603050405020304" pitchFamily="18" charset="0"/>
                          </a:rPr>
                          <m:t>𝑝</m:t>
                        </m:r>
                        <m:d>
                          <m:dPr>
                            <m:ctrlPr>
                              <a:rPr lang="en-GB" sz="2800" i="1">
                                <a:latin typeface="Cambria Math" panose="02040503050406030204" pitchFamily="18" charset="0"/>
                                <a:cs typeface="Times New Roman" panose="02020603050405020304" pitchFamily="18" charset="0"/>
                              </a:rPr>
                            </m:ctrlPr>
                          </m:dPr>
                          <m:e>
                            <m:r>
                              <a:rPr lang="en-GB" sz="2800" i="1">
                                <a:latin typeface="Cambria Math" panose="02040503050406030204" pitchFamily="18" charset="0"/>
                                <a:cs typeface="Times New Roman" panose="02020603050405020304" pitchFamily="18" charset="0"/>
                              </a:rPr>
                              <m:t>1−</m:t>
                            </m:r>
                            <m:r>
                              <a:rPr lang="en-GB" sz="2800" i="1">
                                <a:latin typeface="Cambria Math" panose="02040503050406030204" pitchFamily="18" charset="0"/>
                                <a:cs typeface="Times New Roman" panose="02020603050405020304" pitchFamily="18" charset="0"/>
                              </a:rPr>
                              <m:t>𝑝</m:t>
                            </m:r>
                          </m:e>
                        </m:d>
                      </m:e>
                    </m:rad>
                  </m:oMath>
                </a14:m>
                <a:r>
                  <a:rPr lang="en-IN" sz="2800" dirty="0">
                    <a:latin typeface="Times New Roman" panose="02020603050405020304" pitchFamily="18" charset="0"/>
                    <a:cs typeface="Times New Roman" panose="02020603050405020304" pitchFamily="18" charset="0"/>
                  </a:rPr>
                  <a:t>.</a:t>
                </a:r>
              </a:p>
              <a:p>
                <a:pPr marL="0" indent="0" algn="just">
                  <a:buNone/>
                </a:pPr>
                <a:endParaRPr lang="en-IN" sz="2800" dirty="0">
                  <a:latin typeface="Times New Roman" panose="02020603050405020304" pitchFamily="18" charset="0"/>
                  <a:cs typeface="Times New Roman" panose="02020603050405020304" pitchFamily="18" charset="0"/>
                </a:endParaRPr>
              </a:p>
              <a:p>
                <a:pPr marL="0" indent="0" algn="just">
                  <a:buNone/>
                </a:pPr>
                <a:r>
                  <a:rPr lang="en-IN" sz="2800" dirty="0">
                    <a:latin typeface="Times New Roman" panose="02020603050405020304" pitchFamily="18" charset="0"/>
                    <a:cs typeface="Times New Roman" panose="02020603050405020304" pitchFamily="18" charset="0"/>
                  </a:rPr>
                  <a:t>The variance for the </a:t>
                </a:r>
                <a:r>
                  <a:rPr lang="en-IN" sz="2800" dirty="0">
                    <a:solidFill>
                      <a:srgbClr val="FF0000"/>
                    </a:solidFill>
                    <a:latin typeface="Times New Roman" panose="02020603050405020304" pitchFamily="18" charset="0"/>
                    <a:cs typeface="Times New Roman" panose="02020603050405020304" pitchFamily="18" charset="0"/>
                  </a:rPr>
                  <a:t>Binomial Distribution </a:t>
                </a:r>
                <a:r>
                  <a:rPr lang="en-IN" sz="2800" dirty="0">
                    <a:latin typeface="Times New Roman" panose="02020603050405020304" pitchFamily="18" charset="0"/>
                    <a:cs typeface="Times New Roman" panose="02020603050405020304" pitchFamily="18" charset="0"/>
                  </a:rPr>
                  <a:t>is </a:t>
                </a:r>
                <a14:m>
                  <m:oMath xmlns:m="http://schemas.openxmlformats.org/officeDocument/2006/math">
                    <m:r>
                      <a:rPr lang="en-GB" sz="2800" i="1">
                        <a:solidFill>
                          <a:srgbClr val="FF0000"/>
                        </a:solidFill>
                        <a:latin typeface="Cambria Math" panose="02040503050406030204" pitchFamily="18" charset="0"/>
                        <a:cs typeface="Times New Roman" panose="02020603050405020304" pitchFamily="18" charset="0"/>
                      </a:rPr>
                      <m:t>𝑛𝑝</m:t>
                    </m:r>
                    <m:r>
                      <a:rPr lang="en-GB" sz="2800" i="1">
                        <a:solidFill>
                          <a:srgbClr val="FF0000"/>
                        </a:solidFill>
                        <a:latin typeface="Cambria Math" panose="02040503050406030204" pitchFamily="18" charset="0"/>
                        <a:cs typeface="Times New Roman" panose="02020603050405020304" pitchFamily="18" charset="0"/>
                      </a:rPr>
                      <m:t>(1−</m:t>
                    </m:r>
                    <m:r>
                      <a:rPr lang="en-GB" sz="2800" i="1">
                        <a:solidFill>
                          <a:srgbClr val="FF0000"/>
                        </a:solidFill>
                        <a:latin typeface="Cambria Math" panose="02040503050406030204" pitchFamily="18" charset="0"/>
                        <a:cs typeface="Times New Roman" panose="02020603050405020304" pitchFamily="18" charset="0"/>
                      </a:rPr>
                      <m:t>𝑝</m:t>
                    </m:r>
                    <m:r>
                      <a:rPr lang="en-GB" sz="2800" i="1">
                        <a:solidFill>
                          <a:srgbClr val="FF0000"/>
                        </a:solidFill>
                        <a:latin typeface="Cambria Math" panose="02040503050406030204" pitchFamily="18" charset="0"/>
                        <a:cs typeface="Times New Roman" panose="02020603050405020304" pitchFamily="18" charset="0"/>
                      </a:rPr>
                      <m:t>)</m:t>
                    </m:r>
                  </m:oMath>
                </a14:m>
                <a:r>
                  <a:rPr lang="en-IN" sz="2800" dirty="0">
                    <a:latin typeface="Times New Roman" panose="02020603050405020304" pitchFamily="18" charset="0"/>
                    <a:cs typeface="Times New Roman" panose="02020603050405020304" pitchFamily="18" charset="0"/>
                  </a:rPr>
                  <a:t> and the standard deviation is </a:t>
                </a:r>
                <a14:m>
                  <m:oMath xmlns:m="http://schemas.openxmlformats.org/officeDocument/2006/math">
                    <m:rad>
                      <m:radPr>
                        <m:degHide m:val="on"/>
                        <m:ctrlPr>
                          <a:rPr lang="en-IN" sz="2800" i="1">
                            <a:latin typeface="Cambria Math" panose="02040503050406030204" pitchFamily="18" charset="0"/>
                            <a:cs typeface="Times New Roman" panose="02020603050405020304" pitchFamily="18" charset="0"/>
                          </a:rPr>
                        </m:ctrlPr>
                      </m:radPr>
                      <m:deg/>
                      <m:e>
                        <m:r>
                          <a:rPr lang="en-GB" sz="2800" i="1">
                            <a:latin typeface="Cambria Math" panose="02040503050406030204" pitchFamily="18" charset="0"/>
                            <a:cs typeface="Times New Roman" panose="02020603050405020304" pitchFamily="18" charset="0"/>
                          </a:rPr>
                          <m:t>𝑛𝑝</m:t>
                        </m:r>
                        <m:r>
                          <a:rPr lang="en-GB" sz="2800" i="1">
                            <a:latin typeface="Cambria Math" panose="02040503050406030204" pitchFamily="18" charset="0"/>
                            <a:cs typeface="Times New Roman" panose="02020603050405020304" pitchFamily="18" charset="0"/>
                          </a:rPr>
                          <m:t>(1−</m:t>
                        </m:r>
                        <m:r>
                          <a:rPr lang="en-GB" sz="2800" i="1">
                            <a:latin typeface="Cambria Math" panose="02040503050406030204" pitchFamily="18" charset="0"/>
                            <a:cs typeface="Times New Roman" panose="02020603050405020304" pitchFamily="18" charset="0"/>
                          </a:rPr>
                          <m:t>𝑝</m:t>
                        </m:r>
                        <m:r>
                          <a:rPr lang="en-GB" sz="2800" i="1">
                            <a:latin typeface="Cambria Math" panose="02040503050406030204" pitchFamily="18" charset="0"/>
                            <a:cs typeface="Times New Roman" panose="02020603050405020304" pitchFamily="18" charset="0"/>
                          </a:rPr>
                          <m:t>)</m:t>
                        </m:r>
                      </m:e>
                    </m:rad>
                  </m:oMath>
                </a14:m>
                <a:endParaRPr lang="en-IN" sz="2800" dirty="0">
                  <a:latin typeface="Times New Roman" panose="02020603050405020304" pitchFamily="18" charset="0"/>
                  <a:cs typeface="Times New Roman" panose="02020603050405020304" pitchFamily="18" charset="0"/>
                </a:endParaRPr>
              </a:p>
              <a:p>
                <a:pPr marL="0" indent="0" algn="just">
                  <a:buNone/>
                </a:pPr>
                <a:endParaRPr lang="en-IN" sz="2800" dirty="0">
                  <a:latin typeface="Times New Roman" panose="02020603050405020304" pitchFamily="18" charset="0"/>
                  <a:cs typeface="Times New Roman" panose="02020603050405020304" pitchFamily="18" charset="0"/>
                </a:endParaRPr>
              </a:p>
              <a:p>
                <a:pPr marL="0" indent="0" algn="just">
                  <a:buNone/>
                </a:pPr>
                <a:r>
                  <a:rPr lang="en-IN" sz="2800" dirty="0">
                    <a:latin typeface="Times New Roman" panose="02020603050405020304" pitchFamily="18" charset="0"/>
                    <a:cs typeface="Times New Roman" panose="02020603050405020304" pitchFamily="18" charset="0"/>
                  </a:rPr>
                  <a:t>The variance for the </a:t>
                </a:r>
                <a:r>
                  <a:rPr lang="en-IN" sz="2800" dirty="0">
                    <a:solidFill>
                      <a:srgbClr val="FF0000"/>
                    </a:solidFill>
                    <a:latin typeface="Times New Roman" panose="02020603050405020304" pitchFamily="18" charset="0"/>
                    <a:cs typeface="Times New Roman" panose="02020603050405020304" pitchFamily="18" charset="0"/>
                  </a:rPr>
                  <a:t>Poisson Distribution </a:t>
                </a:r>
                <a:r>
                  <a:rPr lang="en-IN" sz="2800" dirty="0">
                    <a:latin typeface="Times New Roman" panose="02020603050405020304" pitchFamily="18" charset="0"/>
                    <a:cs typeface="Times New Roman" panose="02020603050405020304" pitchFamily="18" charset="0"/>
                  </a:rPr>
                  <a:t>is </a:t>
                </a:r>
                <a14:m>
                  <m:oMath xmlns:m="http://schemas.openxmlformats.org/officeDocument/2006/math">
                    <m:r>
                      <a:rPr lang="en-IN" sz="2800" i="1">
                        <a:solidFill>
                          <a:srgbClr val="FF0000"/>
                        </a:solidFill>
                        <a:latin typeface="Cambria Math" panose="02040503050406030204" pitchFamily="18" charset="0"/>
                        <a:ea typeface="Cambria Math" panose="02040503050406030204" pitchFamily="18" charset="0"/>
                        <a:cs typeface="Times New Roman" panose="02020603050405020304" pitchFamily="18" charset="0"/>
                      </a:rPr>
                      <m:t>𝜆</m:t>
                    </m:r>
                    <m:r>
                      <a:rPr lang="en-GB" sz="2800" i="1">
                        <a:latin typeface="Cambria Math" panose="02040503050406030204" pitchFamily="18" charset="0"/>
                        <a:ea typeface="Cambria Math" panose="02040503050406030204" pitchFamily="18" charset="0"/>
                        <a:cs typeface="Times New Roman" panose="02020603050405020304" pitchFamily="18" charset="0"/>
                      </a:rPr>
                      <m:t> </m:t>
                    </m:r>
                  </m:oMath>
                </a14:m>
                <a:r>
                  <a:rPr lang="en-IN" sz="2800" dirty="0">
                    <a:latin typeface="Times New Roman" panose="02020603050405020304" pitchFamily="18" charset="0"/>
                    <a:cs typeface="Times New Roman" panose="02020603050405020304" pitchFamily="18" charset="0"/>
                  </a:rPr>
                  <a:t> and the standard deviation is </a:t>
                </a:r>
                <a14:m>
                  <m:oMath xmlns:m="http://schemas.openxmlformats.org/officeDocument/2006/math">
                    <m:rad>
                      <m:radPr>
                        <m:degHide m:val="on"/>
                        <m:ctrlPr>
                          <a:rPr lang="en-IN" sz="2800" i="1">
                            <a:latin typeface="Cambria Math" panose="02040503050406030204" pitchFamily="18" charset="0"/>
                            <a:cs typeface="Times New Roman" panose="02020603050405020304" pitchFamily="18" charset="0"/>
                          </a:rPr>
                        </m:ctrlPr>
                      </m:radPr>
                      <m:deg/>
                      <m:e>
                        <m:r>
                          <a:rPr lang="en-IN" sz="2800" i="1">
                            <a:latin typeface="Cambria Math" panose="02040503050406030204" pitchFamily="18" charset="0"/>
                            <a:ea typeface="Cambria Math" panose="02040503050406030204" pitchFamily="18" charset="0"/>
                            <a:cs typeface="Times New Roman" panose="02020603050405020304" pitchFamily="18" charset="0"/>
                          </a:rPr>
                          <m:t>𝜆</m:t>
                        </m:r>
                      </m:e>
                    </m:rad>
                  </m:oMath>
                </a14:m>
                <a:endParaRPr lang="en-GB" sz="2800" dirty="0">
                  <a:latin typeface="Times New Roman" panose="02020603050405020304" pitchFamily="18" charset="0"/>
                  <a:cs typeface="Times New Roman" panose="02020603050405020304" pitchFamily="18"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0" y="1600200"/>
                <a:ext cx="7467600" cy="4343400"/>
              </a:xfrm>
              <a:blipFill>
                <a:blip r:embed="rId2"/>
                <a:stretch>
                  <a:fillRect l="-1714" t="-1545" r="-1633" b="-7444"/>
                </a:stretch>
              </a:blipFill>
            </p:spPr>
            <p:txBody>
              <a:bodyPr/>
              <a:lstStyle/>
              <a:p>
                <a:r>
                  <a:rPr lang="en-NZ">
                    <a:noFill/>
                  </a:rPr>
                  <a:t> </a:t>
                </a:r>
              </a:p>
            </p:txBody>
          </p:sp>
        </mc:Fallback>
      </mc:AlternateContent>
      <p:sp>
        <p:nvSpPr>
          <p:cNvPr id="4" name="Slide Number Placeholder 3"/>
          <p:cNvSpPr>
            <a:spLocks noGrp="1"/>
          </p:cNvSpPr>
          <p:nvPr>
            <p:ph type="sldNum" sz="quarter" idx="12"/>
          </p:nvPr>
        </p:nvSpPr>
        <p:spPr/>
        <p:txBody>
          <a:bodyPr/>
          <a:lstStyle/>
          <a:p>
            <a:pPr>
              <a:defRPr/>
            </a:pPr>
            <a:fld id="{645ED874-4033-4CEE-AE69-D7CB222F48E6}" type="slidenum">
              <a:rPr lang="en-US" smtClean="0"/>
              <a:pPr>
                <a:defRPr/>
              </a:pPr>
              <a:t>53</a:t>
            </a:fld>
            <a:endParaRPr lang="en-US"/>
          </a:p>
        </p:txBody>
      </p:sp>
      <p:sp>
        <p:nvSpPr>
          <p:cNvPr id="2" name="Date Placeholder 1">
            <a:extLst>
              <a:ext uri="{FF2B5EF4-FFF2-40B4-BE49-F238E27FC236}">
                <a16:creationId xmlns:a16="http://schemas.microsoft.com/office/drawing/2014/main" id="{6B8A42CF-4832-44CA-BFED-C7D46B81C158}"/>
              </a:ext>
            </a:extLst>
          </p:cNvPr>
          <p:cNvSpPr>
            <a:spLocks noGrp="1"/>
          </p:cNvSpPr>
          <p:nvPr>
            <p:ph type="dt" sz="half" idx="10"/>
          </p:nvPr>
        </p:nvSpPr>
        <p:spPr/>
        <p:txBody>
          <a:bodyPr/>
          <a:lstStyle/>
          <a:p>
            <a:pPr>
              <a:defRPr/>
            </a:pPr>
            <a:fld id="{16B337EE-166F-461B-A566-D134E32B6B92}" type="datetime3">
              <a:rPr lang="en-US" smtClean="0"/>
              <a:t>16 December 2025</a:t>
            </a:fld>
            <a:endParaRPr lang="en-US"/>
          </a:p>
        </p:txBody>
      </p:sp>
      <p:sp>
        <p:nvSpPr>
          <p:cNvPr id="5" name="Footer Placeholder 4">
            <a:extLst>
              <a:ext uri="{FF2B5EF4-FFF2-40B4-BE49-F238E27FC236}">
                <a16:creationId xmlns:a16="http://schemas.microsoft.com/office/drawing/2014/main" id="{99E60F31-D963-470E-B3C4-4AA8BE57085B}"/>
              </a:ext>
            </a:extLst>
          </p:cNvPr>
          <p:cNvSpPr>
            <a:spLocks noGrp="1"/>
          </p:cNvSpPr>
          <p:nvPr>
            <p:ph type="ftr" sz="quarter" idx="11"/>
          </p:nvPr>
        </p:nvSpPr>
        <p:spPr/>
        <p:txBody>
          <a:bodyPr/>
          <a:lstStyle/>
          <a:p>
            <a:pPr>
              <a:defRPr/>
            </a:pPr>
            <a:r>
              <a:rPr lang="en-US"/>
              <a:t>T. Mayooran</a:t>
            </a:r>
          </a:p>
        </p:txBody>
      </p:sp>
    </p:spTree>
    <p:extLst>
      <p:ext uri="{BB962C8B-B14F-4D97-AF65-F5344CB8AC3E}">
        <p14:creationId xmlns:p14="http://schemas.microsoft.com/office/powerpoint/2010/main" val="83412843"/>
      </p:ext>
    </p:extLst>
  </p:cSld>
  <p:clrMapOvr>
    <a:masterClrMapping/>
  </p:clrMapOvr>
  <p:transition spd="slow">
    <p:wipe dir="r"/>
  </p:transition>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solidFill>
                  <a:srgbClr val="C0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Example 13 : </a:t>
            </a:r>
          </a:p>
        </p:txBody>
      </p:sp>
      <p:sp>
        <p:nvSpPr>
          <p:cNvPr id="3" name="Content Placeholder 2"/>
          <p:cNvSpPr>
            <a:spLocks noGrp="1"/>
          </p:cNvSpPr>
          <p:nvPr>
            <p:ph idx="1"/>
          </p:nvPr>
        </p:nvSpPr>
        <p:spPr>
          <a:xfrm>
            <a:off x="680247" y="1676400"/>
            <a:ext cx="7661275" cy="4114800"/>
          </a:xfrm>
        </p:spPr>
        <p:txBody>
          <a:bodyPr/>
          <a:lstStyle/>
          <a:p>
            <a:pPr marL="0" indent="0" algn="just">
              <a:buNone/>
            </a:pPr>
            <a:r>
              <a:rPr lang="en-IN" dirty="0">
                <a:latin typeface="Times New Roman" panose="02020603050405020304" pitchFamily="18" charset="0"/>
                <a:cs typeface="Times New Roman" panose="02020603050405020304" pitchFamily="18" charset="0"/>
              </a:rPr>
              <a:t>There are six people in an office. Each shows independently for a picture with probability 0.9. Let X be the number of people that show up. What is the expected number of people that show up? What is the standard deviation of the number of people that show up?</a:t>
            </a:r>
            <a:endParaRPr lang="en-GB" dirty="0">
              <a:latin typeface="Times New Roman" panose="02020603050405020304" pitchFamily="18" charset="0"/>
              <a:cs typeface="Times New Roman" panose="02020603050405020304" pitchFamily="18" charset="0"/>
            </a:endParaRPr>
          </a:p>
        </p:txBody>
      </p:sp>
      <p:pic>
        <p:nvPicPr>
          <p:cNvPr id="20482" name="Picture 2" descr="http://images.clipartpanda.com/clipart-people-9czbnybcE.jpe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83300" y="282133"/>
            <a:ext cx="2006600" cy="1042284"/>
          </a:xfrm>
          <a:prstGeom prst="rect">
            <a:avLst/>
          </a:prstGeom>
          <a:noFill/>
          <a:extLst>
            <a:ext uri="{909E8E84-426E-40DD-AFC4-6F175D3DCCD1}">
              <a14:hiddenFill xmlns:a14="http://schemas.microsoft.com/office/drawing/2010/main">
                <a:solidFill>
                  <a:srgbClr val="FFFFFF"/>
                </a:solidFill>
              </a14:hiddenFill>
            </a:ext>
          </a:extLst>
        </p:spPr>
      </p:pic>
      <p:sp>
        <p:nvSpPr>
          <p:cNvPr id="6" name="Slide Number Placeholder 5"/>
          <p:cNvSpPr>
            <a:spLocks noGrp="1"/>
          </p:cNvSpPr>
          <p:nvPr>
            <p:ph type="sldNum" sz="quarter" idx="12"/>
          </p:nvPr>
        </p:nvSpPr>
        <p:spPr/>
        <p:txBody>
          <a:bodyPr/>
          <a:lstStyle/>
          <a:p>
            <a:pPr>
              <a:defRPr/>
            </a:pPr>
            <a:fld id="{645ED874-4033-4CEE-AE69-D7CB222F48E6}" type="slidenum">
              <a:rPr lang="en-US" smtClean="0"/>
              <a:pPr>
                <a:defRPr/>
              </a:pPr>
              <a:t>54</a:t>
            </a:fld>
            <a:endParaRPr lang="en-US"/>
          </a:p>
        </p:txBody>
      </p:sp>
      <p:sp>
        <p:nvSpPr>
          <p:cNvPr id="4" name="Date Placeholder 3">
            <a:extLst>
              <a:ext uri="{FF2B5EF4-FFF2-40B4-BE49-F238E27FC236}">
                <a16:creationId xmlns:a16="http://schemas.microsoft.com/office/drawing/2014/main" id="{1A5A6C29-92B0-4CDB-B4E4-F50DB4A04B70}"/>
              </a:ext>
            </a:extLst>
          </p:cNvPr>
          <p:cNvSpPr>
            <a:spLocks noGrp="1"/>
          </p:cNvSpPr>
          <p:nvPr>
            <p:ph type="dt" sz="half" idx="10"/>
          </p:nvPr>
        </p:nvSpPr>
        <p:spPr/>
        <p:txBody>
          <a:bodyPr/>
          <a:lstStyle/>
          <a:p>
            <a:pPr>
              <a:defRPr/>
            </a:pPr>
            <a:fld id="{545D380C-110E-4655-8835-703B86B52DC9}" type="datetime3">
              <a:rPr lang="en-US" smtClean="0"/>
              <a:t>16 December 2025</a:t>
            </a:fld>
            <a:endParaRPr lang="en-US"/>
          </a:p>
        </p:txBody>
      </p:sp>
      <p:sp>
        <p:nvSpPr>
          <p:cNvPr id="5" name="Footer Placeholder 4">
            <a:extLst>
              <a:ext uri="{FF2B5EF4-FFF2-40B4-BE49-F238E27FC236}">
                <a16:creationId xmlns:a16="http://schemas.microsoft.com/office/drawing/2014/main" id="{348BFCD5-0F51-4E3A-A483-FBF741A609E9}"/>
              </a:ext>
            </a:extLst>
          </p:cNvPr>
          <p:cNvSpPr>
            <a:spLocks noGrp="1"/>
          </p:cNvSpPr>
          <p:nvPr>
            <p:ph type="ftr" sz="quarter" idx="11"/>
          </p:nvPr>
        </p:nvSpPr>
        <p:spPr/>
        <p:txBody>
          <a:bodyPr/>
          <a:lstStyle/>
          <a:p>
            <a:pPr>
              <a:defRPr/>
            </a:pPr>
            <a:r>
              <a:rPr lang="en-US"/>
              <a:t>T. Mayooran</a:t>
            </a:r>
          </a:p>
        </p:txBody>
      </p:sp>
    </p:spTree>
    <p:extLst>
      <p:ext uri="{BB962C8B-B14F-4D97-AF65-F5344CB8AC3E}">
        <p14:creationId xmlns:p14="http://schemas.microsoft.com/office/powerpoint/2010/main" val="1614491436"/>
      </p:ext>
    </p:extLst>
  </p:cSld>
  <p:clrMapOvr>
    <a:masterClrMapping/>
  </p:clrMapOvr>
  <p:transition spd="slow">
    <p:wipe dir="r"/>
  </p:transition>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sz="4500" dirty="0">
                <a:solidFill>
                  <a:srgbClr val="C0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Solution: </a:t>
            </a:r>
          </a:p>
        </p:txBody>
      </p:sp>
      <p:sp>
        <p:nvSpPr>
          <p:cNvPr id="3" name="Content Placeholder 2"/>
          <p:cNvSpPr>
            <a:spLocks noGrp="1"/>
          </p:cNvSpPr>
          <p:nvPr>
            <p:ph idx="1"/>
          </p:nvPr>
        </p:nvSpPr>
        <p:spPr>
          <a:xfrm>
            <a:off x="796929" y="1600200"/>
            <a:ext cx="7661275" cy="4114800"/>
          </a:xfrm>
        </p:spPr>
        <p:txBody>
          <a:bodyPr/>
          <a:lstStyle/>
          <a:p>
            <a:pPr marL="0" indent="0" algn="just">
              <a:buNone/>
            </a:pPr>
            <a:r>
              <a:rPr lang="en-IN" dirty="0">
                <a:latin typeface="Times New Roman" panose="02020603050405020304" pitchFamily="18" charset="0"/>
                <a:cs typeface="Times New Roman" panose="02020603050405020304" pitchFamily="18" charset="0"/>
              </a:rPr>
              <a:t>The expected number of people that show up is, </a:t>
            </a:r>
          </a:p>
          <a:p>
            <a:pPr marL="0" indent="0" algn="just">
              <a:buNone/>
            </a:pPr>
            <a:endParaRPr lang="en-IN" dirty="0">
              <a:latin typeface="Times New Roman" panose="02020603050405020304" pitchFamily="18" charset="0"/>
              <a:cs typeface="Times New Roman" panose="02020603050405020304" pitchFamily="18" charset="0"/>
            </a:endParaRPr>
          </a:p>
          <a:p>
            <a:pPr marL="0" indent="0" algn="just">
              <a:buNone/>
            </a:pPr>
            <a:r>
              <a:rPr lang="en-IN" dirty="0">
                <a:latin typeface="Times New Roman" panose="02020603050405020304" pitchFamily="18" charset="0"/>
                <a:cs typeface="Times New Roman" panose="02020603050405020304" pitchFamily="18" charset="0"/>
              </a:rPr>
              <a:t>and the standard deviation of the number of people that show up is,</a:t>
            </a:r>
          </a:p>
          <a:p>
            <a:pPr marL="0" indent="0" algn="just">
              <a:buNone/>
            </a:pPr>
            <a:endParaRPr lang="en-GB" dirty="0">
              <a:latin typeface="Times New Roman" panose="02020603050405020304" pitchFamily="18" charset="0"/>
              <a:cs typeface="Times New Roman" panose="02020603050405020304" pitchFamily="18" charset="0"/>
            </a:endParaRPr>
          </a:p>
        </p:txBody>
      </p:sp>
      <p:graphicFrame>
        <p:nvGraphicFramePr>
          <p:cNvPr id="6" name="Object 5"/>
          <p:cNvGraphicFramePr>
            <a:graphicFrameLocks noChangeAspect="1"/>
          </p:cNvGraphicFramePr>
          <p:nvPr>
            <p:extLst>
              <p:ext uri="{D42A27DB-BD31-4B8C-83A1-F6EECF244321}">
                <p14:modId xmlns:p14="http://schemas.microsoft.com/office/powerpoint/2010/main" val="1061673345"/>
              </p:ext>
            </p:extLst>
          </p:nvPr>
        </p:nvGraphicFramePr>
        <p:xfrm>
          <a:off x="1828800" y="2514604"/>
          <a:ext cx="2667000" cy="484909"/>
        </p:xfrm>
        <a:graphic>
          <a:graphicData uri="http://schemas.openxmlformats.org/presentationml/2006/ole">
            <mc:AlternateContent xmlns:mc="http://schemas.openxmlformats.org/markup-compatibility/2006">
              <mc:Choice xmlns:v="urn:schemas-microsoft-com:vml" Requires="v">
                <p:oleObj name="Equation" r:id="rId2" imgW="1117440" imgH="203040" progId="Equation.3">
                  <p:embed/>
                </p:oleObj>
              </mc:Choice>
              <mc:Fallback>
                <p:oleObj name="Equation" r:id="rId2" imgW="1117440" imgH="203040" progId="Equation.3">
                  <p:embed/>
                  <p:pic>
                    <p:nvPicPr>
                      <p:cNvPr id="6" name="Object 5"/>
                      <p:cNvPicPr/>
                      <p:nvPr/>
                    </p:nvPicPr>
                    <p:blipFill>
                      <a:blip r:embed="rId3"/>
                      <a:stretch>
                        <a:fillRect/>
                      </a:stretch>
                    </p:blipFill>
                    <p:spPr>
                      <a:xfrm>
                        <a:off x="1828800" y="2514604"/>
                        <a:ext cx="2667000" cy="484909"/>
                      </a:xfrm>
                      <a:prstGeom prst="rect">
                        <a:avLst/>
                      </a:prstGeom>
                    </p:spPr>
                  </p:pic>
                </p:oleObj>
              </mc:Fallback>
            </mc:AlternateContent>
          </a:graphicData>
        </a:graphic>
      </p:graphicFrame>
      <p:graphicFrame>
        <p:nvGraphicFramePr>
          <p:cNvPr id="7" name="Object 6"/>
          <p:cNvGraphicFramePr>
            <a:graphicFrameLocks noChangeAspect="1"/>
          </p:cNvGraphicFramePr>
          <p:nvPr>
            <p:extLst>
              <p:ext uri="{D42A27DB-BD31-4B8C-83A1-F6EECF244321}">
                <p14:modId xmlns:p14="http://schemas.microsoft.com/office/powerpoint/2010/main" val="2570684854"/>
              </p:ext>
            </p:extLst>
          </p:nvPr>
        </p:nvGraphicFramePr>
        <p:xfrm>
          <a:off x="1600204" y="4648204"/>
          <a:ext cx="5595257" cy="614863"/>
        </p:xfrm>
        <a:graphic>
          <a:graphicData uri="http://schemas.openxmlformats.org/presentationml/2006/ole">
            <mc:AlternateContent xmlns:mc="http://schemas.openxmlformats.org/markup-compatibility/2006">
              <mc:Choice xmlns:v="urn:schemas-microsoft-com:vml" Requires="v">
                <p:oleObj name="Equation" r:id="rId4" imgW="2311200" imgH="253800" progId="Equation.3">
                  <p:embed/>
                </p:oleObj>
              </mc:Choice>
              <mc:Fallback>
                <p:oleObj name="Equation" r:id="rId4" imgW="2311200" imgH="253800" progId="Equation.3">
                  <p:embed/>
                  <p:pic>
                    <p:nvPicPr>
                      <p:cNvPr id="7" name="Object 6"/>
                      <p:cNvPicPr/>
                      <p:nvPr/>
                    </p:nvPicPr>
                    <p:blipFill>
                      <a:blip r:embed="rId5"/>
                      <a:stretch>
                        <a:fillRect/>
                      </a:stretch>
                    </p:blipFill>
                    <p:spPr>
                      <a:xfrm>
                        <a:off x="1600204" y="4648204"/>
                        <a:ext cx="5595257" cy="614863"/>
                      </a:xfrm>
                      <a:prstGeom prst="rect">
                        <a:avLst/>
                      </a:prstGeom>
                    </p:spPr>
                  </p:pic>
                </p:oleObj>
              </mc:Fallback>
            </mc:AlternateContent>
          </a:graphicData>
        </a:graphic>
      </p:graphicFrame>
      <p:sp>
        <p:nvSpPr>
          <p:cNvPr id="8" name="Slide Number Placeholder 7"/>
          <p:cNvSpPr>
            <a:spLocks noGrp="1"/>
          </p:cNvSpPr>
          <p:nvPr>
            <p:ph type="sldNum" sz="quarter" idx="12"/>
          </p:nvPr>
        </p:nvSpPr>
        <p:spPr/>
        <p:txBody>
          <a:bodyPr/>
          <a:lstStyle/>
          <a:p>
            <a:pPr>
              <a:defRPr/>
            </a:pPr>
            <a:fld id="{645ED874-4033-4CEE-AE69-D7CB222F48E6}" type="slidenum">
              <a:rPr lang="en-US" smtClean="0"/>
              <a:pPr>
                <a:defRPr/>
              </a:pPr>
              <a:t>55</a:t>
            </a:fld>
            <a:endParaRPr lang="en-US"/>
          </a:p>
        </p:txBody>
      </p:sp>
      <p:sp>
        <p:nvSpPr>
          <p:cNvPr id="4" name="Date Placeholder 3">
            <a:extLst>
              <a:ext uri="{FF2B5EF4-FFF2-40B4-BE49-F238E27FC236}">
                <a16:creationId xmlns:a16="http://schemas.microsoft.com/office/drawing/2014/main" id="{44D6D92B-127B-44FD-BF58-637E417F6E85}"/>
              </a:ext>
            </a:extLst>
          </p:cNvPr>
          <p:cNvSpPr>
            <a:spLocks noGrp="1"/>
          </p:cNvSpPr>
          <p:nvPr>
            <p:ph type="dt" sz="half" idx="10"/>
          </p:nvPr>
        </p:nvSpPr>
        <p:spPr/>
        <p:txBody>
          <a:bodyPr/>
          <a:lstStyle/>
          <a:p>
            <a:pPr>
              <a:defRPr/>
            </a:pPr>
            <a:fld id="{C76C4506-18BB-4DC3-9963-5B6B5D2C312A}" type="datetime3">
              <a:rPr lang="en-US" smtClean="0"/>
              <a:t>16 December 2025</a:t>
            </a:fld>
            <a:endParaRPr lang="en-US"/>
          </a:p>
        </p:txBody>
      </p:sp>
      <p:sp>
        <p:nvSpPr>
          <p:cNvPr id="5" name="Footer Placeholder 4">
            <a:extLst>
              <a:ext uri="{FF2B5EF4-FFF2-40B4-BE49-F238E27FC236}">
                <a16:creationId xmlns:a16="http://schemas.microsoft.com/office/drawing/2014/main" id="{C93D5B86-B955-4199-8FFA-8B3763515B19}"/>
              </a:ext>
            </a:extLst>
          </p:cNvPr>
          <p:cNvSpPr>
            <a:spLocks noGrp="1"/>
          </p:cNvSpPr>
          <p:nvPr>
            <p:ph type="ftr" sz="quarter" idx="11"/>
          </p:nvPr>
        </p:nvSpPr>
        <p:spPr/>
        <p:txBody>
          <a:bodyPr/>
          <a:lstStyle/>
          <a:p>
            <a:pPr>
              <a:defRPr/>
            </a:pPr>
            <a:r>
              <a:rPr lang="en-US"/>
              <a:t>T. Mayooran</a:t>
            </a:r>
          </a:p>
        </p:txBody>
      </p:sp>
    </p:spTree>
    <p:extLst>
      <p:ext uri="{BB962C8B-B14F-4D97-AF65-F5344CB8AC3E}">
        <p14:creationId xmlns:p14="http://schemas.microsoft.com/office/powerpoint/2010/main" val="2977292866"/>
      </p:ext>
    </p:extLst>
  </p:cSld>
  <p:clrMapOvr>
    <a:masterClrMapping/>
  </p:clrMapOvr>
  <p:transition spd="slow">
    <p:wipe dir="r"/>
  </p:transition>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31867" y="609604"/>
            <a:ext cx="7158037" cy="900113"/>
          </a:xfrm>
        </p:spPr>
        <p:txBody>
          <a:bodyPr/>
          <a:lstStyle/>
          <a:p>
            <a:r>
              <a:rPr lang="en-IN" sz="4500" dirty="0">
                <a:solidFill>
                  <a:srgbClr val="C0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Example 14 :</a:t>
            </a:r>
            <a:endParaRPr lang="en-GB" sz="4500" dirty="0">
              <a:solidFill>
                <a:srgbClr val="C00000"/>
              </a:solidFill>
              <a:effectLst>
                <a:outerShdw blurRad="38100" dist="38100" dir="2700000" algn="tl">
                  <a:srgbClr val="000000">
                    <a:alpha val="43137"/>
                  </a:srgbClr>
                </a:outerShdw>
              </a:effectLst>
            </a:endParaRPr>
          </a:p>
        </p:txBody>
      </p:sp>
      <p:sp>
        <p:nvSpPr>
          <p:cNvPr id="3" name="Content Placeholder 2"/>
          <p:cNvSpPr>
            <a:spLocks noGrp="1"/>
          </p:cNvSpPr>
          <p:nvPr>
            <p:ph idx="1"/>
          </p:nvPr>
        </p:nvSpPr>
        <p:spPr>
          <a:xfrm>
            <a:off x="762004" y="1600200"/>
            <a:ext cx="7661275" cy="4114800"/>
          </a:xfrm>
        </p:spPr>
        <p:txBody>
          <a:bodyPr/>
          <a:lstStyle/>
          <a:p>
            <a:pPr marL="0" indent="0" algn="just">
              <a:buNone/>
            </a:pPr>
            <a:r>
              <a:rPr lang="en-IN" sz="2400" dirty="0">
                <a:latin typeface="Times New Roman" panose="02020603050405020304" pitchFamily="18" charset="0"/>
                <a:cs typeface="Times New Roman" panose="02020603050405020304" pitchFamily="18" charset="0"/>
              </a:rPr>
              <a:t>On an average in 2010, there were 842 traffic crashes occurred on Jaffna roadways (</a:t>
            </a:r>
            <a:r>
              <a:rPr lang="en-US" sz="2400" dirty="0">
                <a:latin typeface="Times New Roman" panose="02020603050405020304" pitchFamily="18" charset="0"/>
                <a:cs typeface="Times New Roman" panose="02020603050405020304" pitchFamily="18" charset="0"/>
              </a:rPr>
              <a:t>Road Accident Data by Vehicle type – 2010, http://www.data.gov.lk</a:t>
            </a:r>
            <a:r>
              <a:rPr lang="en-IN" sz="2400" dirty="0">
                <a:latin typeface="Times New Roman" panose="02020603050405020304" pitchFamily="18" charset="0"/>
                <a:cs typeface="Times New Roman" panose="02020603050405020304" pitchFamily="18" charset="0"/>
              </a:rPr>
              <a:t>). </a:t>
            </a:r>
            <a:r>
              <a:rPr lang="en-US" sz="1400" dirty="0">
                <a:solidFill>
                  <a:srgbClr val="003399"/>
                </a:solidFill>
              </a:rPr>
              <a:t>(</a:t>
            </a:r>
            <a:r>
              <a:rPr lang="en-US" sz="2400" dirty="0">
                <a:solidFill>
                  <a:srgbClr val="003399"/>
                </a:solidFill>
                <a:latin typeface="Times New Roman" panose="02020603050405020304" pitchFamily="18" charset="0"/>
                <a:cs typeface="Times New Roman" panose="02020603050405020304" pitchFamily="18" charset="0"/>
              </a:rPr>
              <a:t>there are 365 days in 2010)</a:t>
            </a:r>
            <a:endParaRPr lang="en-IN" sz="2400" dirty="0">
              <a:latin typeface="Times New Roman" panose="02020603050405020304" pitchFamily="18" charset="0"/>
              <a:cs typeface="Times New Roman" panose="02020603050405020304" pitchFamily="18" charset="0"/>
            </a:endParaRPr>
          </a:p>
          <a:p>
            <a:pPr marL="514350" indent="-514350" algn="just">
              <a:buFont typeface="+mj-lt"/>
              <a:buAutoNum type="alphaLcParenR"/>
            </a:pPr>
            <a:r>
              <a:rPr lang="en-IN" sz="2400" dirty="0">
                <a:latin typeface="Times New Roman" panose="02020603050405020304" pitchFamily="18" charset="0"/>
                <a:cs typeface="Times New Roman" panose="02020603050405020304" pitchFamily="18" charset="0"/>
              </a:rPr>
              <a:t>What is the expected number of traffic crashes on any given day of 2010? </a:t>
            </a:r>
          </a:p>
          <a:p>
            <a:pPr marL="514350" indent="-514350" algn="just">
              <a:buFont typeface="+mj-lt"/>
              <a:buAutoNum type="alphaLcParenR"/>
            </a:pPr>
            <a:r>
              <a:rPr lang="en-IN" sz="2400" dirty="0">
                <a:latin typeface="Times New Roman" panose="02020603050405020304" pitchFamily="18" charset="0"/>
                <a:cs typeface="Times New Roman" panose="02020603050405020304" pitchFamily="18" charset="0"/>
              </a:rPr>
              <a:t>What is the standard deviation of the number of the traffic crashes occurred on Jaffna roadways on any given day of 2010?</a:t>
            </a:r>
          </a:p>
          <a:p>
            <a:pPr marL="514350" indent="-514350" algn="just">
              <a:buFont typeface="+mj-lt"/>
              <a:buAutoNum type="alphaLcParenR"/>
            </a:pPr>
            <a:r>
              <a:rPr lang="en-US" sz="2400" dirty="0">
                <a:latin typeface="Times New Roman" panose="02020603050405020304" pitchFamily="18" charset="0"/>
                <a:cs typeface="Times New Roman" panose="02020603050405020304" pitchFamily="18" charset="0"/>
              </a:rPr>
              <a:t>What is the probability that there were exactly 200 traffic crashes on </a:t>
            </a:r>
            <a:r>
              <a:rPr lang="en-IN" sz="2400" dirty="0">
                <a:latin typeface="Times New Roman" panose="02020603050405020304" pitchFamily="18" charset="0"/>
                <a:cs typeface="Times New Roman" panose="02020603050405020304" pitchFamily="18" charset="0"/>
              </a:rPr>
              <a:t>Jaffna</a:t>
            </a:r>
            <a:r>
              <a:rPr lang="en-US" sz="2400" dirty="0">
                <a:latin typeface="Times New Roman" panose="02020603050405020304" pitchFamily="18" charset="0"/>
                <a:cs typeface="Times New Roman" panose="02020603050405020304" pitchFamily="18" charset="0"/>
              </a:rPr>
              <a:t> roadways in any given day of 2010?</a:t>
            </a:r>
          </a:p>
        </p:txBody>
      </p:sp>
      <p:pic>
        <p:nvPicPr>
          <p:cNvPr id="7" name="Picture 6"/>
          <p:cNvPicPr>
            <a:picLocks noChangeAspect="1"/>
          </p:cNvPicPr>
          <p:nvPr/>
        </p:nvPicPr>
        <p:blipFill rotWithShape="1">
          <a:blip r:embed="rId2"/>
          <a:srcRect b="10350"/>
          <a:stretch/>
        </p:blipFill>
        <p:spPr>
          <a:xfrm>
            <a:off x="5867400" y="145007"/>
            <a:ext cx="1981200" cy="1353820"/>
          </a:xfrm>
          <a:prstGeom prst="rect">
            <a:avLst/>
          </a:prstGeom>
        </p:spPr>
      </p:pic>
      <p:sp>
        <p:nvSpPr>
          <p:cNvPr id="6" name="Slide Number Placeholder 5"/>
          <p:cNvSpPr>
            <a:spLocks noGrp="1"/>
          </p:cNvSpPr>
          <p:nvPr>
            <p:ph type="sldNum" sz="quarter" idx="12"/>
          </p:nvPr>
        </p:nvSpPr>
        <p:spPr/>
        <p:txBody>
          <a:bodyPr/>
          <a:lstStyle/>
          <a:p>
            <a:pPr>
              <a:defRPr/>
            </a:pPr>
            <a:fld id="{645ED874-4033-4CEE-AE69-D7CB222F48E6}" type="slidenum">
              <a:rPr lang="en-US" smtClean="0"/>
              <a:pPr>
                <a:defRPr/>
              </a:pPr>
              <a:t>56</a:t>
            </a:fld>
            <a:endParaRPr lang="en-US"/>
          </a:p>
        </p:txBody>
      </p:sp>
      <p:sp>
        <p:nvSpPr>
          <p:cNvPr id="4" name="Date Placeholder 3">
            <a:extLst>
              <a:ext uri="{FF2B5EF4-FFF2-40B4-BE49-F238E27FC236}">
                <a16:creationId xmlns:a16="http://schemas.microsoft.com/office/drawing/2014/main" id="{FE80F0CF-3509-4B46-8C04-E3AE0B2298F3}"/>
              </a:ext>
            </a:extLst>
          </p:cNvPr>
          <p:cNvSpPr>
            <a:spLocks noGrp="1"/>
          </p:cNvSpPr>
          <p:nvPr>
            <p:ph type="dt" sz="half" idx="10"/>
          </p:nvPr>
        </p:nvSpPr>
        <p:spPr/>
        <p:txBody>
          <a:bodyPr/>
          <a:lstStyle/>
          <a:p>
            <a:pPr>
              <a:defRPr/>
            </a:pPr>
            <a:fld id="{7AF4293D-23FF-4BF9-B63D-5A2BD8C98BA0}" type="datetime3">
              <a:rPr lang="en-US" smtClean="0"/>
              <a:t>16 December 2025</a:t>
            </a:fld>
            <a:endParaRPr lang="en-US"/>
          </a:p>
        </p:txBody>
      </p:sp>
      <p:sp>
        <p:nvSpPr>
          <p:cNvPr id="5" name="Footer Placeholder 4">
            <a:extLst>
              <a:ext uri="{FF2B5EF4-FFF2-40B4-BE49-F238E27FC236}">
                <a16:creationId xmlns:a16="http://schemas.microsoft.com/office/drawing/2014/main" id="{B5971E0A-A649-4760-A855-21C60D63CE14}"/>
              </a:ext>
            </a:extLst>
          </p:cNvPr>
          <p:cNvSpPr>
            <a:spLocks noGrp="1"/>
          </p:cNvSpPr>
          <p:nvPr>
            <p:ph type="ftr" sz="quarter" idx="11"/>
          </p:nvPr>
        </p:nvSpPr>
        <p:spPr/>
        <p:txBody>
          <a:bodyPr/>
          <a:lstStyle/>
          <a:p>
            <a:pPr>
              <a:defRPr/>
            </a:pPr>
            <a:r>
              <a:rPr lang="en-US" dirty="0"/>
              <a:t>T. Mayooran</a:t>
            </a:r>
          </a:p>
        </p:txBody>
      </p:sp>
    </p:spTree>
    <p:extLst>
      <p:ext uri="{BB962C8B-B14F-4D97-AF65-F5344CB8AC3E}">
        <p14:creationId xmlns:p14="http://schemas.microsoft.com/office/powerpoint/2010/main" val="4128619233"/>
      </p:ext>
    </p:extLst>
  </p:cSld>
  <p:clrMapOvr>
    <a:masterClrMapping/>
  </p:clrMapOvr>
  <p:transition spd="slow">
    <p:wipe dir="r"/>
  </p:transition>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AB6D2B-B596-C006-3988-3F4D91479590}"/>
              </a:ext>
            </a:extLst>
          </p:cNvPr>
          <p:cNvSpPr>
            <a:spLocks noGrp="1"/>
          </p:cNvSpPr>
          <p:nvPr>
            <p:ph type="title"/>
          </p:nvPr>
        </p:nvSpPr>
        <p:spPr/>
        <p:txBody>
          <a:bodyPr/>
          <a:lstStyle/>
          <a:p>
            <a:r>
              <a:rPr lang="en-NZ" dirty="0">
                <a:latin typeface="Times New Roman" panose="02020603050405020304" pitchFamily="18" charset="0"/>
                <a:cs typeface="Times New Roman" panose="02020603050405020304" pitchFamily="18" charset="0"/>
              </a:rPr>
              <a:t>Solutions</a:t>
            </a:r>
          </a:p>
        </p:txBody>
      </p:sp>
      <p:sp>
        <p:nvSpPr>
          <p:cNvPr id="4" name="Date Placeholder 3">
            <a:extLst>
              <a:ext uri="{FF2B5EF4-FFF2-40B4-BE49-F238E27FC236}">
                <a16:creationId xmlns:a16="http://schemas.microsoft.com/office/drawing/2014/main" id="{43DD1CE0-DEBA-9915-9929-59273983C80B}"/>
              </a:ext>
            </a:extLst>
          </p:cNvPr>
          <p:cNvSpPr>
            <a:spLocks noGrp="1"/>
          </p:cNvSpPr>
          <p:nvPr>
            <p:ph type="dt" sz="half" idx="10"/>
          </p:nvPr>
        </p:nvSpPr>
        <p:spPr/>
        <p:txBody>
          <a:bodyPr/>
          <a:lstStyle/>
          <a:p>
            <a:pPr>
              <a:defRPr/>
            </a:pPr>
            <a:fld id="{E84513CC-386E-465A-BA6A-30F6981BE159}" type="datetime3">
              <a:rPr lang="en-US" smtClean="0"/>
              <a:t>16 December 2025</a:t>
            </a:fld>
            <a:endParaRPr lang="en-US"/>
          </a:p>
        </p:txBody>
      </p:sp>
      <p:sp>
        <p:nvSpPr>
          <p:cNvPr id="5" name="Footer Placeholder 4">
            <a:extLst>
              <a:ext uri="{FF2B5EF4-FFF2-40B4-BE49-F238E27FC236}">
                <a16:creationId xmlns:a16="http://schemas.microsoft.com/office/drawing/2014/main" id="{89DB5E40-9EC3-1EB9-7E05-BD5865F026AA}"/>
              </a:ext>
            </a:extLst>
          </p:cNvPr>
          <p:cNvSpPr>
            <a:spLocks noGrp="1"/>
          </p:cNvSpPr>
          <p:nvPr>
            <p:ph type="ftr" sz="quarter" idx="11"/>
          </p:nvPr>
        </p:nvSpPr>
        <p:spPr/>
        <p:txBody>
          <a:bodyPr/>
          <a:lstStyle/>
          <a:p>
            <a:pPr>
              <a:defRPr/>
            </a:pPr>
            <a:r>
              <a:rPr lang="en-US"/>
              <a:t>T. Mayooran</a:t>
            </a:r>
          </a:p>
        </p:txBody>
      </p:sp>
      <p:sp>
        <p:nvSpPr>
          <p:cNvPr id="6" name="Slide Number Placeholder 5">
            <a:extLst>
              <a:ext uri="{FF2B5EF4-FFF2-40B4-BE49-F238E27FC236}">
                <a16:creationId xmlns:a16="http://schemas.microsoft.com/office/drawing/2014/main" id="{67497AE1-89DD-C52E-B5CB-0F9CC0B1C116}"/>
              </a:ext>
            </a:extLst>
          </p:cNvPr>
          <p:cNvSpPr>
            <a:spLocks noGrp="1"/>
          </p:cNvSpPr>
          <p:nvPr>
            <p:ph type="sldNum" sz="quarter" idx="12"/>
          </p:nvPr>
        </p:nvSpPr>
        <p:spPr/>
        <p:txBody>
          <a:bodyPr/>
          <a:lstStyle/>
          <a:p>
            <a:pPr>
              <a:defRPr/>
            </a:pPr>
            <a:fld id="{645ED874-4033-4CEE-AE69-D7CB222F48E6}" type="slidenum">
              <a:rPr lang="en-US" smtClean="0"/>
              <a:pPr>
                <a:defRPr/>
              </a:pPr>
              <a:t>57</a:t>
            </a:fld>
            <a:endParaRPr lang="en-US"/>
          </a:p>
        </p:txBody>
      </p:sp>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BF8FAD9A-D9B4-891D-A12A-6E697BB6C1CE}"/>
                  </a:ext>
                </a:extLst>
              </p:cNvPr>
              <p:cNvSpPr txBox="1"/>
              <p:nvPr/>
            </p:nvSpPr>
            <p:spPr>
              <a:xfrm>
                <a:off x="533400" y="1779687"/>
                <a:ext cx="8458200" cy="4202369"/>
              </a:xfrm>
              <a:prstGeom prst="rect">
                <a:avLst/>
              </a:prstGeom>
              <a:noFill/>
            </p:spPr>
            <p:txBody>
              <a:bodyPr wrap="square">
                <a:spAutoFit/>
              </a:bodyPr>
              <a:lstStyle/>
              <a:p>
                <a:pPr marL="342900" indent="-342900" algn="just">
                  <a:buFont typeface="+mj-lt"/>
                  <a:buAutoNum type="alphaLcParenR"/>
                </a:pPr>
                <a:r>
                  <a:rPr lang="en-US" sz="1900" b="0" i="0" dirty="0">
                    <a:solidFill>
                      <a:schemeClr val="tx1"/>
                    </a:solidFill>
                    <a:effectLst/>
                    <a:latin typeface="Times New Roman" panose="02020603050405020304" pitchFamily="18" charset="0"/>
                    <a:cs typeface="Times New Roman" panose="02020603050405020304" pitchFamily="18" charset="0"/>
                  </a:rPr>
                  <a:t>Expected number of traffic crashes on any given day = 842/365 ≈ 2.307</a:t>
                </a:r>
              </a:p>
              <a:p>
                <a:pPr algn="just"/>
                <a:r>
                  <a:rPr lang="en-US" sz="1900" b="0" i="0" dirty="0">
                    <a:solidFill>
                      <a:schemeClr val="tx1"/>
                    </a:solidFill>
                    <a:effectLst/>
                    <a:latin typeface="Times New Roman" panose="02020603050405020304" pitchFamily="18" charset="0"/>
                    <a:cs typeface="Times New Roman" panose="02020603050405020304" pitchFamily="18" charset="0"/>
                  </a:rPr>
                  <a:t>Therefore, we can expect an average of 2.307 traffic crashes on any given day in 2010.</a:t>
                </a:r>
              </a:p>
              <a:p>
                <a:pPr algn="just"/>
                <a:endParaRPr lang="en-US" sz="1900" b="0" i="0" dirty="0">
                  <a:solidFill>
                    <a:schemeClr val="tx1"/>
                  </a:solidFill>
                  <a:effectLst/>
                  <a:latin typeface="Times New Roman" panose="02020603050405020304" pitchFamily="18" charset="0"/>
                  <a:cs typeface="Times New Roman" panose="02020603050405020304" pitchFamily="18" charset="0"/>
                </a:endParaRPr>
              </a:p>
              <a:p>
                <a:pPr algn="just"/>
                <a:r>
                  <a:rPr lang="en-US" sz="1900" dirty="0">
                    <a:solidFill>
                      <a:schemeClr val="tx1"/>
                    </a:solidFill>
                    <a:latin typeface="Times New Roman" panose="02020603050405020304" pitchFamily="18" charset="0"/>
                    <a:cs typeface="Times New Roman" panose="02020603050405020304" pitchFamily="18" charset="0"/>
                  </a:rPr>
                  <a:t>b) </a:t>
                </a:r>
                <a:r>
                  <a:rPr lang="en-US" sz="1900" b="0" i="0" dirty="0">
                    <a:solidFill>
                      <a:schemeClr val="tx1"/>
                    </a:solidFill>
                    <a:effectLst/>
                    <a:latin typeface="Times New Roman" panose="02020603050405020304" pitchFamily="18" charset="0"/>
                    <a:cs typeface="Times New Roman" panose="02020603050405020304" pitchFamily="18" charset="0"/>
                  </a:rPr>
                  <a:t>The standard deviation of the Poisson distribution is equal to the square root of the mean or expected value, so:</a:t>
                </a:r>
              </a:p>
              <a:p>
                <a:pPr algn="just"/>
                <a:r>
                  <a:rPr lang="en-US" sz="1900" b="0" i="0" dirty="0">
                    <a:solidFill>
                      <a:schemeClr val="tx1"/>
                    </a:solidFill>
                    <a:effectLst/>
                    <a:latin typeface="Times New Roman" panose="02020603050405020304" pitchFamily="18" charset="0"/>
                    <a:cs typeface="Times New Roman" panose="02020603050405020304" pitchFamily="18" charset="0"/>
                  </a:rPr>
                  <a:t>Standard deviation = sqrt(expected number of traffic crashes) = sqrt(2.307) ≈ 1.519</a:t>
                </a:r>
              </a:p>
              <a:p>
                <a:pPr algn="just"/>
                <a:r>
                  <a:rPr lang="en-US" sz="1900" b="0" i="0" dirty="0">
                    <a:solidFill>
                      <a:schemeClr val="tx1"/>
                    </a:solidFill>
                    <a:effectLst/>
                    <a:latin typeface="Times New Roman" panose="02020603050405020304" pitchFamily="18" charset="0"/>
                    <a:cs typeface="Times New Roman" panose="02020603050405020304" pitchFamily="18" charset="0"/>
                  </a:rPr>
                  <a:t>Therefore, the standard deviation of the number of traffic crashes on Jaffna roadways on any given day of 2010 is approximately 1.519.</a:t>
                </a:r>
              </a:p>
              <a:p>
                <a:pPr algn="just"/>
                <a:endParaRPr lang="en-US" sz="1900" dirty="0">
                  <a:solidFill>
                    <a:schemeClr val="tx1"/>
                  </a:solidFill>
                  <a:latin typeface="Times New Roman" panose="02020603050405020304" pitchFamily="18" charset="0"/>
                  <a:cs typeface="Times New Roman" panose="02020603050405020304" pitchFamily="18" charset="0"/>
                </a:endParaRPr>
              </a:p>
              <a:p>
                <a:pPr algn="just"/>
                <a:r>
                  <a:rPr lang="en-US" sz="1900" b="0" i="0" dirty="0">
                    <a:solidFill>
                      <a:schemeClr val="tx1"/>
                    </a:solidFill>
                    <a:effectLst/>
                    <a:latin typeface="Times New Roman" panose="02020603050405020304" pitchFamily="18" charset="0"/>
                    <a:cs typeface="Times New Roman" panose="02020603050405020304" pitchFamily="18" charset="0"/>
                  </a:rPr>
                  <a:t>c)Probability of exactly 200 traffic crashes on Jaffna roadways in any given day of 2010: Using the Poisson distribution, the probability mass function is given by</a:t>
                </a:r>
              </a:p>
              <a:p>
                <a:pPr algn="just"/>
                <a14:m>
                  <m:oMathPara xmlns:m="http://schemas.openxmlformats.org/officeDocument/2006/math">
                    <m:oMathParaPr>
                      <m:jc m:val="centerGroup"/>
                    </m:oMathParaPr>
                    <m:oMath xmlns:m="http://schemas.openxmlformats.org/officeDocument/2006/math">
                      <m:r>
                        <a:rPr lang="en-NZ" sz="1900" b="0" i="1" smtClean="0">
                          <a:solidFill>
                            <a:schemeClr val="tx1"/>
                          </a:solidFill>
                          <a:effectLst/>
                          <a:latin typeface="Cambria Math" panose="02040503050406030204" pitchFamily="18" charset="0"/>
                        </a:rPr>
                        <m:t>𝑃</m:t>
                      </m:r>
                      <m:d>
                        <m:dPr>
                          <m:ctrlPr>
                            <a:rPr lang="en-NZ" sz="1900" b="0" i="1" smtClean="0">
                              <a:solidFill>
                                <a:schemeClr val="tx1"/>
                              </a:solidFill>
                              <a:effectLst/>
                              <a:latin typeface="Cambria Math" panose="02040503050406030204" pitchFamily="18" charset="0"/>
                            </a:rPr>
                          </m:ctrlPr>
                        </m:dPr>
                        <m:e>
                          <m:r>
                            <a:rPr lang="en-NZ" sz="1900" b="0" i="1" smtClean="0">
                              <a:solidFill>
                                <a:schemeClr val="tx1"/>
                              </a:solidFill>
                              <a:effectLst/>
                              <a:latin typeface="Cambria Math" panose="02040503050406030204" pitchFamily="18" charset="0"/>
                            </a:rPr>
                            <m:t>𝑋</m:t>
                          </m:r>
                          <m:r>
                            <a:rPr lang="en-NZ" sz="1900" b="0" i="1" smtClean="0">
                              <a:solidFill>
                                <a:schemeClr val="tx1"/>
                              </a:solidFill>
                              <a:effectLst/>
                              <a:latin typeface="Cambria Math" panose="02040503050406030204" pitchFamily="18" charset="0"/>
                            </a:rPr>
                            <m:t>=</m:t>
                          </m:r>
                          <m:r>
                            <a:rPr lang="en-NZ" sz="1900" b="0" i="1" smtClean="0">
                              <a:solidFill>
                                <a:schemeClr val="tx1"/>
                              </a:solidFill>
                              <a:effectLst/>
                              <a:latin typeface="Cambria Math" panose="02040503050406030204" pitchFamily="18" charset="0"/>
                            </a:rPr>
                            <m:t>𝑥</m:t>
                          </m:r>
                        </m:e>
                      </m:d>
                      <m:r>
                        <a:rPr lang="en-US" sz="1900" b="0" i="1" smtClean="0">
                          <a:solidFill>
                            <a:schemeClr val="tx1"/>
                          </a:solidFill>
                          <a:effectLst/>
                          <a:latin typeface="Cambria Math" panose="02040503050406030204" pitchFamily="18" charset="0"/>
                        </a:rPr>
                        <m:t>=</m:t>
                      </m:r>
                      <m:f>
                        <m:fPr>
                          <m:ctrlPr>
                            <a:rPr lang="en-US" sz="1900" b="0" i="1" smtClean="0">
                              <a:solidFill>
                                <a:schemeClr val="tx1"/>
                              </a:solidFill>
                              <a:effectLst/>
                              <a:latin typeface="Cambria Math" panose="02040503050406030204" pitchFamily="18" charset="0"/>
                            </a:rPr>
                          </m:ctrlPr>
                        </m:fPr>
                        <m:num>
                          <m:sSup>
                            <m:sSupPr>
                              <m:ctrlPr>
                                <a:rPr lang="en-US" sz="1900" b="0" i="1" smtClean="0">
                                  <a:solidFill>
                                    <a:schemeClr val="tx1"/>
                                  </a:solidFill>
                                  <a:effectLst/>
                                  <a:latin typeface="Cambria Math" panose="02040503050406030204" pitchFamily="18" charset="0"/>
                                </a:rPr>
                              </m:ctrlPr>
                            </m:sSupPr>
                            <m:e>
                              <m:r>
                                <a:rPr lang="en-NZ" sz="1900" b="0" i="1" smtClean="0">
                                  <a:solidFill>
                                    <a:schemeClr val="tx1"/>
                                  </a:solidFill>
                                  <a:effectLst/>
                                  <a:latin typeface="Cambria Math" panose="02040503050406030204" pitchFamily="18" charset="0"/>
                                </a:rPr>
                                <m:t>𝑒</m:t>
                              </m:r>
                            </m:e>
                            <m:sup>
                              <m:r>
                                <a:rPr lang="en-US" sz="1900" b="0" i="1" smtClean="0">
                                  <a:solidFill>
                                    <a:schemeClr val="tx1"/>
                                  </a:solidFill>
                                  <a:effectLst/>
                                  <a:latin typeface="Cambria Math" panose="02040503050406030204" pitchFamily="18" charset="0"/>
                                  <a:ea typeface="Cambria Math" panose="02040503050406030204" pitchFamily="18" charset="0"/>
                                </a:rPr>
                                <m:t>𝜆</m:t>
                              </m:r>
                            </m:sup>
                          </m:sSup>
                          <m:sSup>
                            <m:sSupPr>
                              <m:ctrlPr>
                                <a:rPr lang="en-US" sz="1900" b="0" i="1" smtClean="0">
                                  <a:solidFill>
                                    <a:schemeClr val="tx1"/>
                                  </a:solidFill>
                                  <a:effectLst/>
                                  <a:latin typeface="Cambria Math" panose="02040503050406030204" pitchFamily="18" charset="0"/>
                                </a:rPr>
                              </m:ctrlPr>
                            </m:sSupPr>
                            <m:e>
                              <m:r>
                                <a:rPr lang="en-US" sz="1900" b="0" i="1" smtClean="0">
                                  <a:solidFill>
                                    <a:schemeClr val="tx1"/>
                                  </a:solidFill>
                                  <a:effectLst/>
                                  <a:latin typeface="Cambria Math" panose="02040503050406030204" pitchFamily="18" charset="0"/>
                                  <a:ea typeface="Cambria Math" panose="02040503050406030204" pitchFamily="18" charset="0"/>
                                </a:rPr>
                                <m:t>𝜆</m:t>
                              </m:r>
                            </m:e>
                            <m:sup>
                              <m:r>
                                <a:rPr lang="en-NZ" sz="1900" b="0" i="1" smtClean="0">
                                  <a:solidFill>
                                    <a:schemeClr val="tx1"/>
                                  </a:solidFill>
                                  <a:effectLst/>
                                  <a:latin typeface="Cambria Math" panose="02040503050406030204" pitchFamily="18" charset="0"/>
                                </a:rPr>
                                <m:t>𝑥</m:t>
                              </m:r>
                            </m:sup>
                          </m:sSup>
                        </m:num>
                        <m:den>
                          <m:r>
                            <a:rPr lang="en-NZ" sz="1900" b="0" i="1" smtClean="0">
                              <a:solidFill>
                                <a:schemeClr val="tx1"/>
                              </a:solidFill>
                              <a:effectLst/>
                              <a:latin typeface="Cambria Math" panose="02040503050406030204" pitchFamily="18" charset="0"/>
                            </a:rPr>
                            <m:t>𝑥</m:t>
                          </m:r>
                          <m:r>
                            <a:rPr lang="en-NZ" sz="1900" b="0" i="1" smtClean="0">
                              <a:solidFill>
                                <a:schemeClr val="tx1"/>
                              </a:solidFill>
                              <a:effectLst/>
                              <a:latin typeface="Cambria Math" panose="02040503050406030204" pitchFamily="18" charset="0"/>
                            </a:rPr>
                            <m:t>!</m:t>
                          </m:r>
                        </m:den>
                      </m:f>
                      <m:r>
                        <a:rPr lang="en-NZ" sz="1900" b="0" i="1" smtClean="0">
                          <a:solidFill>
                            <a:schemeClr val="tx1"/>
                          </a:solidFill>
                          <a:effectLst/>
                          <a:latin typeface="Cambria Math" panose="02040503050406030204" pitchFamily="18" charset="0"/>
                        </a:rPr>
                        <m:t>  ;</m:t>
                      </m:r>
                      <m:r>
                        <a:rPr lang="en-NZ" sz="1900" b="0" i="1" smtClean="0">
                          <a:solidFill>
                            <a:schemeClr val="tx1"/>
                          </a:solidFill>
                          <a:effectLst/>
                          <a:latin typeface="Cambria Math" panose="02040503050406030204" pitchFamily="18" charset="0"/>
                        </a:rPr>
                        <m:t>𝑥</m:t>
                      </m:r>
                      <m:r>
                        <a:rPr lang="en-NZ" sz="1900" b="0" i="1" smtClean="0">
                          <a:solidFill>
                            <a:schemeClr val="tx1"/>
                          </a:solidFill>
                          <a:effectLst/>
                          <a:latin typeface="Cambria Math" panose="02040503050406030204" pitchFamily="18" charset="0"/>
                        </a:rPr>
                        <m:t>=0,1,2,……</m:t>
                      </m:r>
                    </m:oMath>
                  </m:oMathPara>
                </a14:m>
                <a:endParaRPr lang="en-US" sz="1900" b="0" i="0" dirty="0">
                  <a:solidFill>
                    <a:schemeClr val="tx1"/>
                  </a:solidFill>
                  <a:effectLst/>
                  <a:latin typeface="Times New Roman" panose="02020603050405020304" pitchFamily="18" charset="0"/>
                  <a:cs typeface="Times New Roman" panose="02020603050405020304" pitchFamily="18" charset="0"/>
                </a:endParaRPr>
              </a:p>
            </p:txBody>
          </p:sp>
        </mc:Choice>
        <mc:Fallback xmlns="">
          <p:sp>
            <p:nvSpPr>
              <p:cNvPr id="8" name="TextBox 7">
                <a:extLst>
                  <a:ext uri="{FF2B5EF4-FFF2-40B4-BE49-F238E27FC236}">
                    <a16:creationId xmlns:a16="http://schemas.microsoft.com/office/drawing/2014/main" id="{BF8FAD9A-D9B4-891D-A12A-6E697BB6C1CE}"/>
                  </a:ext>
                </a:extLst>
              </p:cNvPr>
              <p:cNvSpPr txBox="1">
                <a:spLocks noRot="1" noChangeAspect="1" noMove="1" noResize="1" noEditPoints="1" noAdjustHandles="1" noChangeArrowheads="1" noChangeShapeType="1" noTextEdit="1"/>
              </p:cNvSpPr>
              <p:nvPr/>
            </p:nvSpPr>
            <p:spPr>
              <a:xfrm>
                <a:off x="533400" y="1779687"/>
                <a:ext cx="8458200" cy="4202369"/>
              </a:xfrm>
              <a:prstGeom prst="rect">
                <a:avLst/>
              </a:prstGeom>
              <a:blipFill>
                <a:blip r:embed="rId2"/>
                <a:stretch>
                  <a:fillRect l="-721" t="-726" r="-649"/>
                </a:stretch>
              </a:blipFill>
            </p:spPr>
            <p:txBody>
              <a:bodyPr/>
              <a:lstStyle/>
              <a:p>
                <a:r>
                  <a:rPr lang="en-NZ">
                    <a:noFill/>
                  </a:rPr>
                  <a:t> </a:t>
                </a:r>
              </a:p>
            </p:txBody>
          </p:sp>
        </mc:Fallback>
      </mc:AlternateContent>
    </p:spTree>
    <p:extLst>
      <p:ext uri="{BB962C8B-B14F-4D97-AF65-F5344CB8AC3E}">
        <p14:creationId xmlns:p14="http://schemas.microsoft.com/office/powerpoint/2010/main" val="1053818958"/>
      </p:ext>
    </p:extLst>
  </p:cSld>
  <p:clrMapOvr>
    <a:masterClrMapping/>
  </p:clrMapOvr>
  <p:transition spd="slow">
    <p:wipe dir="r"/>
  </p:transition>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D2D224B8-DDCA-9D5A-0F57-E4A046A9B58C}"/>
              </a:ext>
            </a:extLst>
          </p:cNvPr>
          <p:cNvSpPr>
            <a:spLocks noGrp="1"/>
          </p:cNvSpPr>
          <p:nvPr>
            <p:ph type="dt" sz="half" idx="10"/>
          </p:nvPr>
        </p:nvSpPr>
        <p:spPr/>
        <p:txBody>
          <a:bodyPr/>
          <a:lstStyle/>
          <a:p>
            <a:pPr>
              <a:defRPr/>
            </a:pPr>
            <a:fld id="{E84513CC-386E-465A-BA6A-30F6981BE159}" type="datetime3">
              <a:rPr lang="en-US" smtClean="0"/>
              <a:t>16 December 2025</a:t>
            </a:fld>
            <a:endParaRPr lang="en-US"/>
          </a:p>
        </p:txBody>
      </p:sp>
      <p:sp>
        <p:nvSpPr>
          <p:cNvPr id="5" name="Footer Placeholder 4">
            <a:extLst>
              <a:ext uri="{FF2B5EF4-FFF2-40B4-BE49-F238E27FC236}">
                <a16:creationId xmlns:a16="http://schemas.microsoft.com/office/drawing/2014/main" id="{48238C6D-BA7A-2897-22E3-96EB6B4809EE}"/>
              </a:ext>
            </a:extLst>
          </p:cNvPr>
          <p:cNvSpPr>
            <a:spLocks noGrp="1"/>
          </p:cNvSpPr>
          <p:nvPr>
            <p:ph type="ftr" sz="quarter" idx="11"/>
          </p:nvPr>
        </p:nvSpPr>
        <p:spPr/>
        <p:txBody>
          <a:bodyPr/>
          <a:lstStyle/>
          <a:p>
            <a:pPr>
              <a:defRPr/>
            </a:pPr>
            <a:r>
              <a:rPr lang="en-US"/>
              <a:t>T. Mayooran</a:t>
            </a:r>
          </a:p>
        </p:txBody>
      </p:sp>
      <p:sp>
        <p:nvSpPr>
          <p:cNvPr id="6" name="Slide Number Placeholder 5">
            <a:extLst>
              <a:ext uri="{FF2B5EF4-FFF2-40B4-BE49-F238E27FC236}">
                <a16:creationId xmlns:a16="http://schemas.microsoft.com/office/drawing/2014/main" id="{B304648E-92B3-7540-BBA0-35424CB63BF0}"/>
              </a:ext>
            </a:extLst>
          </p:cNvPr>
          <p:cNvSpPr>
            <a:spLocks noGrp="1"/>
          </p:cNvSpPr>
          <p:nvPr>
            <p:ph type="sldNum" sz="quarter" idx="12"/>
          </p:nvPr>
        </p:nvSpPr>
        <p:spPr/>
        <p:txBody>
          <a:bodyPr/>
          <a:lstStyle/>
          <a:p>
            <a:pPr>
              <a:defRPr/>
            </a:pPr>
            <a:fld id="{645ED874-4033-4CEE-AE69-D7CB222F48E6}" type="slidenum">
              <a:rPr lang="en-US" smtClean="0"/>
              <a:pPr>
                <a:defRPr/>
              </a:pPr>
              <a:t>58</a:t>
            </a:fld>
            <a:endParaRPr lang="en-US"/>
          </a:p>
        </p:txBody>
      </p:sp>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B8E317FF-11CA-CE7E-C983-6BC041DBB0F4}"/>
                  </a:ext>
                </a:extLst>
              </p:cNvPr>
              <p:cNvSpPr txBox="1"/>
              <p:nvPr/>
            </p:nvSpPr>
            <p:spPr>
              <a:xfrm>
                <a:off x="685800" y="1674674"/>
                <a:ext cx="7772400" cy="2740430"/>
              </a:xfrm>
              <a:prstGeom prst="rect">
                <a:avLst/>
              </a:prstGeom>
              <a:noFill/>
            </p:spPr>
            <p:txBody>
              <a:bodyPr wrap="square">
                <a:spAutoFit/>
              </a:bodyPr>
              <a:lstStyle/>
              <a:p>
                <a:pPr algn="just"/>
                <a:r>
                  <a:rPr lang="en-US" sz="1900" b="0" i="0" dirty="0">
                    <a:solidFill>
                      <a:schemeClr val="tx1"/>
                    </a:solidFill>
                    <a:effectLst/>
                    <a:latin typeface="Times New Roman" panose="02020603050405020304" pitchFamily="18" charset="0"/>
                    <a:cs typeface="Times New Roman" panose="02020603050405020304" pitchFamily="18" charset="0"/>
                  </a:rPr>
                  <a:t>We can calculate the probability of exactly 200 traffic crashes on Jaffna roadways in any given day of 2010 as:</a:t>
                </a:r>
              </a:p>
              <a:p>
                <a:pPr algn="just"/>
                <a14:m>
                  <m:oMathPara xmlns:m="http://schemas.openxmlformats.org/officeDocument/2006/math">
                    <m:oMathParaPr>
                      <m:jc m:val="centerGroup"/>
                    </m:oMathParaPr>
                    <m:oMath xmlns:m="http://schemas.openxmlformats.org/officeDocument/2006/math">
                      <m:r>
                        <a:rPr lang="en-NZ" sz="1900" b="0" i="1" smtClean="0">
                          <a:solidFill>
                            <a:schemeClr val="tx1"/>
                          </a:solidFill>
                          <a:effectLst/>
                          <a:latin typeface="Cambria Math" panose="02040503050406030204" pitchFamily="18" charset="0"/>
                        </a:rPr>
                        <m:t>𝑃</m:t>
                      </m:r>
                      <m:d>
                        <m:dPr>
                          <m:ctrlPr>
                            <a:rPr lang="en-NZ" sz="1900" b="0" i="1" smtClean="0">
                              <a:solidFill>
                                <a:schemeClr val="tx1"/>
                              </a:solidFill>
                              <a:effectLst/>
                              <a:latin typeface="Cambria Math" panose="02040503050406030204" pitchFamily="18" charset="0"/>
                            </a:rPr>
                          </m:ctrlPr>
                        </m:dPr>
                        <m:e>
                          <m:r>
                            <a:rPr lang="en-NZ" sz="1900" b="0" i="1" smtClean="0">
                              <a:solidFill>
                                <a:schemeClr val="tx1"/>
                              </a:solidFill>
                              <a:effectLst/>
                              <a:latin typeface="Cambria Math" panose="02040503050406030204" pitchFamily="18" charset="0"/>
                            </a:rPr>
                            <m:t>𝑋</m:t>
                          </m:r>
                          <m:r>
                            <a:rPr lang="en-NZ" sz="1900" b="0" i="1" smtClean="0">
                              <a:solidFill>
                                <a:schemeClr val="tx1"/>
                              </a:solidFill>
                              <a:effectLst/>
                              <a:latin typeface="Cambria Math" panose="02040503050406030204" pitchFamily="18" charset="0"/>
                            </a:rPr>
                            <m:t>=200</m:t>
                          </m:r>
                        </m:e>
                      </m:d>
                      <m:r>
                        <a:rPr lang="en-US" sz="1900" b="0" i="1" smtClean="0">
                          <a:solidFill>
                            <a:schemeClr val="tx1"/>
                          </a:solidFill>
                          <a:effectLst/>
                          <a:latin typeface="Cambria Math" panose="02040503050406030204" pitchFamily="18" charset="0"/>
                        </a:rPr>
                        <m:t>=</m:t>
                      </m:r>
                      <m:f>
                        <m:fPr>
                          <m:ctrlPr>
                            <a:rPr lang="en-US" sz="1900" b="0" i="1" smtClean="0">
                              <a:solidFill>
                                <a:schemeClr val="tx1"/>
                              </a:solidFill>
                              <a:effectLst/>
                              <a:latin typeface="Cambria Math" panose="02040503050406030204" pitchFamily="18" charset="0"/>
                            </a:rPr>
                          </m:ctrlPr>
                        </m:fPr>
                        <m:num>
                          <m:sSup>
                            <m:sSupPr>
                              <m:ctrlPr>
                                <a:rPr lang="en-US" sz="1900" b="0" i="1" smtClean="0">
                                  <a:solidFill>
                                    <a:schemeClr val="tx1"/>
                                  </a:solidFill>
                                  <a:effectLst/>
                                  <a:latin typeface="Cambria Math" panose="02040503050406030204" pitchFamily="18" charset="0"/>
                                </a:rPr>
                              </m:ctrlPr>
                            </m:sSupPr>
                            <m:e>
                              <m:r>
                                <a:rPr lang="en-NZ" sz="1900" b="0" i="1" smtClean="0">
                                  <a:solidFill>
                                    <a:schemeClr val="tx1"/>
                                  </a:solidFill>
                                  <a:effectLst/>
                                  <a:latin typeface="Cambria Math" panose="02040503050406030204" pitchFamily="18" charset="0"/>
                                </a:rPr>
                                <m:t>𝑒</m:t>
                              </m:r>
                            </m:e>
                            <m:sup>
                              <m:r>
                                <a:rPr lang="en-NZ" sz="1900" b="0" i="1" smtClean="0">
                                  <a:solidFill>
                                    <a:schemeClr val="tx1"/>
                                  </a:solidFill>
                                  <a:effectLst/>
                                  <a:latin typeface="Cambria Math" panose="02040503050406030204" pitchFamily="18" charset="0"/>
                                </a:rPr>
                                <m:t>−2.307</m:t>
                              </m:r>
                            </m:sup>
                          </m:sSup>
                          <m:sSup>
                            <m:sSupPr>
                              <m:ctrlPr>
                                <a:rPr lang="en-US" sz="1900" b="0" i="1" smtClean="0">
                                  <a:solidFill>
                                    <a:schemeClr val="tx1"/>
                                  </a:solidFill>
                                  <a:effectLst/>
                                  <a:latin typeface="Cambria Math" panose="02040503050406030204" pitchFamily="18" charset="0"/>
                                </a:rPr>
                              </m:ctrlPr>
                            </m:sSupPr>
                            <m:e>
                              <m:r>
                                <a:rPr lang="en-NZ" sz="1900" b="0" i="1" smtClean="0">
                                  <a:solidFill>
                                    <a:schemeClr val="tx1"/>
                                  </a:solidFill>
                                  <a:effectLst/>
                                  <a:latin typeface="Cambria Math" panose="02040503050406030204" pitchFamily="18" charset="0"/>
                                </a:rPr>
                                <m:t>2.307</m:t>
                              </m:r>
                            </m:e>
                            <m:sup>
                              <m:r>
                                <a:rPr lang="en-NZ" sz="1900" b="0" i="1" smtClean="0">
                                  <a:solidFill>
                                    <a:schemeClr val="tx1"/>
                                  </a:solidFill>
                                  <a:effectLst/>
                                  <a:latin typeface="Cambria Math" panose="02040503050406030204" pitchFamily="18" charset="0"/>
                                  <a:ea typeface="Cambria Math" panose="02040503050406030204" pitchFamily="18" charset="0"/>
                                </a:rPr>
                                <m:t>200</m:t>
                              </m:r>
                            </m:sup>
                          </m:sSup>
                        </m:num>
                        <m:den>
                          <m:r>
                            <a:rPr lang="en-NZ" sz="1900" b="0" i="1" smtClean="0">
                              <a:solidFill>
                                <a:schemeClr val="tx1"/>
                              </a:solidFill>
                              <a:effectLst/>
                              <a:latin typeface="Cambria Math" panose="02040503050406030204" pitchFamily="18" charset="0"/>
                            </a:rPr>
                            <m:t>200!</m:t>
                          </m:r>
                        </m:den>
                      </m:f>
                    </m:oMath>
                  </m:oMathPara>
                </a14:m>
                <a:endParaRPr lang="en-US" sz="1900" b="0" i="0" dirty="0">
                  <a:solidFill>
                    <a:schemeClr val="tx1"/>
                  </a:solidFill>
                  <a:effectLst/>
                  <a:latin typeface="Times New Roman" panose="02020603050405020304" pitchFamily="18" charset="0"/>
                  <a:cs typeface="Times New Roman" panose="02020603050405020304" pitchFamily="18" charset="0"/>
                </a:endParaRPr>
              </a:p>
              <a:p>
                <a:pPr algn="just"/>
                <a:r>
                  <a:rPr lang="en-US" sz="1900" b="0" i="0" dirty="0">
                    <a:solidFill>
                      <a:schemeClr val="tx1"/>
                    </a:solidFill>
                    <a:effectLst/>
                    <a:latin typeface="Times New Roman" panose="02020603050405020304" pitchFamily="18" charset="0"/>
                    <a:cs typeface="Times New Roman" panose="02020603050405020304" pitchFamily="18" charset="0"/>
                  </a:rPr>
                  <a:t>P(x = 200) = (e^-2.307 * 2.307^200) / 200! ≈ 0</a:t>
                </a:r>
              </a:p>
              <a:p>
                <a:pPr algn="just"/>
                <a:endParaRPr lang="en-US" sz="1900" b="0" i="0" dirty="0">
                  <a:solidFill>
                    <a:schemeClr val="tx1"/>
                  </a:solidFill>
                  <a:effectLst/>
                  <a:latin typeface="Times New Roman" panose="02020603050405020304" pitchFamily="18" charset="0"/>
                  <a:cs typeface="Times New Roman" panose="02020603050405020304" pitchFamily="18" charset="0"/>
                </a:endParaRPr>
              </a:p>
              <a:p>
                <a:pPr algn="just"/>
                <a:r>
                  <a:rPr lang="en-US" sz="1900" b="0" i="0" dirty="0">
                    <a:solidFill>
                      <a:schemeClr val="tx1"/>
                    </a:solidFill>
                    <a:effectLst/>
                    <a:latin typeface="Times New Roman" panose="02020603050405020304" pitchFamily="18" charset="0"/>
                    <a:cs typeface="Times New Roman" panose="02020603050405020304" pitchFamily="18" charset="0"/>
                  </a:rPr>
                  <a:t>The probability is practically zero because it’s extremely unlikely to have such a high number of traffic crashes in a single day, given the expected average of 2.307 crashes per day.</a:t>
                </a:r>
              </a:p>
            </p:txBody>
          </p:sp>
        </mc:Choice>
        <mc:Fallback xmlns="">
          <p:sp>
            <p:nvSpPr>
              <p:cNvPr id="8" name="TextBox 7">
                <a:extLst>
                  <a:ext uri="{FF2B5EF4-FFF2-40B4-BE49-F238E27FC236}">
                    <a16:creationId xmlns:a16="http://schemas.microsoft.com/office/drawing/2014/main" id="{B8E317FF-11CA-CE7E-C983-6BC041DBB0F4}"/>
                  </a:ext>
                </a:extLst>
              </p:cNvPr>
              <p:cNvSpPr txBox="1">
                <a:spLocks noRot="1" noChangeAspect="1" noMove="1" noResize="1" noEditPoints="1" noAdjustHandles="1" noChangeArrowheads="1" noChangeShapeType="1" noTextEdit="1"/>
              </p:cNvSpPr>
              <p:nvPr/>
            </p:nvSpPr>
            <p:spPr>
              <a:xfrm>
                <a:off x="685800" y="1674674"/>
                <a:ext cx="7772400" cy="2740430"/>
              </a:xfrm>
              <a:prstGeom prst="rect">
                <a:avLst/>
              </a:prstGeom>
              <a:blipFill>
                <a:blip r:embed="rId2"/>
                <a:stretch>
                  <a:fillRect l="-784" t="-1114" r="-706" b="-2673"/>
                </a:stretch>
              </a:blipFill>
            </p:spPr>
            <p:txBody>
              <a:bodyPr/>
              <a:lstStyle/>
              <a:p>
                <a:r>
                  <a:rPr lang="en-NZ">
                    <a:noFill/>
                  </a:rPr>
                  <a:t> </a:t>
                </a:r>
              </a:p>
            </p:txBody>
          </p:sp>
        </mc:Fallback>
      </mc:AlternateContent>
    </p:spTree>
    <p:extLst>
      <p:ext uri="{BB962C8B-B14F-4D97-AF65-F5344CB8AC3E}">
        <p14:creationId xmlns:p14="http://schemas.microsoft.com/office/powerpoint/2010/main" val="2869367934"/>
      </p:ext>
    </p:extLst>
  </p:cSld>
  <p:clrMapOvr>
    <a:masterClrMapping/>
  </p:clrMapOvr>
  <p:transition spd="slow">
    <p:wipe dir="r"/>
  </p:transition>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solidFill>
                  <a:srgbClr val="C0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Additional examples:</a:t>
            </a:r>
          </a:p>
        </p:txBody>
      </p:sp>
      <p:sp>
        <p:nvSpPr>
          <p:cNvPr id="3" name="Content Placeholder 2"/>
          <p:cNvSpPr>
            <a:spLocks noGrp="1"/>
          </p:cNvSpPr>
          <p:nvPr>
            <p:ph idx="1"/>
          </p:nvPr>
        </p:nvSpPr>
        <p:spPr>
          <a:xfrm>
            <a:off x="838204" y="1600200"/>
            <a:ext cx="7661275" cy="4343400"/>
          </a:xfrm>
        </p:spPr>
        <p:txBody>
          <a:bodyPr/>
          <a:lstStyle/>
          <a:p>
            <a:pPr marL="0" indent="0" algn="just">
              <a:buNone/>
            </a:pPr>
            <a:r>
              <a:rPr lang="en-IN" sz="2000" dirty="0">
                <a:latin typeface="Times New Roman" panose="02020603050405020304" pitchFamily="18" charset="0"/>
                <a:cs typeface="Times New Roman" panose="02020603050405020304" pitchFamily="18" charset="0"/>
              </a:rPr>
              <a:t>In the following probability distribution, the random variable   represents the number of activities the mother of a 5th grade student is involved in:</a:t>
            </a:r>
          </a:p>
          <a:p>
            <a:pPr marL="0" indent="0" algn="just">
              <a:buNone/>
            </a:pPr>
            <a:endParaRPr lang="en-GB" sz="2000" dirty="0">
              <a:latin typeface="Times New Roman" panose="02020603050405020304" pitchFamily="18" charset="0"/>
              <a:cs typeface="Times New Roman" panose="02020603050405020304" pitchFamily="18" charset="0"/>
            </a:endParaRPr>
          </a:p>
          <a:p>
            <a:pPr marL="0" indent="0" algn="just">
              <a:buNone/>
            </a:pPr>
            <a:endParaRPr lang="en-GB" sz="2000" dirty="0">
              <a:latin typeface="Times New Roman" panose="02020603050405020304" pitchFamily="18" charset="0"/>
              <a:cs typeface="Times New Roman" panose="02020603050405020304" pitchFamily="18" charset="0"/>
            </a:endParaRPr>
          </a:p>
          <a:p>
            <a:pPr marL="0" indent="0" algn="just">
              <a:buNone/>
            </a:pPr>
            <a:endParaRPr lang="en-GB" sz="2000" dirty="0">
              <a:latin typeface="Times New Roman" panose="02020603050405020304" pitchFamily="18" charset="0"/>
              <a:cs typeface="Times New Roman" panose="02020603050405020304" pitchFamily="18" charset="0"/>
            </a:endParaRPr>
          </a:p>
          <a:p>
            <a:pPr marL="0" indent="0" algn="just">
              <a:buNone/>
            </a:pPr>
            <a:endParaRPr lang="en-GB" sz="2000" dirty="0">
              <a:latin typeface="Times New Roman" panose="02020603050405020304" pitchFamily="18" charset="0"/>
              <a:cs typeface="Times New Roman" panose="02020603050405020304" pitchFamily="18" charset="0"/>
            </a:endParaRPr>
          </a:p>
          <a:p>
            <a:pPr marL="0" indent="0" algn="just">
              <a:buNone/>
            </a:pPr>
            <a:endParaRPr lang="en-GB" sz="2000" dirty="0">
              <a:latin typeface="Times New Roman" panose="02020603050405020304" pitchFamily="18" charset="0"/>
              <a:cs typeface="Times New Roman" panose="02020603050405020304" pitchFamily="18" charset="0"/>
            </a:endParaRPr>
          </a:p>
          <a:p>
            <a:pPr marL="457200" indent="-457200" algn="just">
              <a:buClrTx/>
              <a:buFont typeface="+mj-lt"/>
              <a:buAutoNum type="alphaLcParenR"/>
            </a:pPr>
            <a:r>
              <a:rPr lang="en-IN" sz="2000" dirty="0">
                <a:latin typeface="Times New Roman" panose="02020603050405020304" pitchFamily="18" charset="0"/>
                <a:cs typeface="Times New Roman" panose="02020603050405020304" pitchFamily="18" charset="0"/>
              </a:rPr>
              <a:t>Determine the value of C?</a:t>
            </a:r>
          </a:p>
          <a:p>
            <a:pPr marL="457200" indent="-457200" algn="just">
              <a:buClrTx/>
              <a:buFont typeface="+mj-lt"/>
              <a:buAutoNum type="alphaLcParenR"/>
            </a:pPr>
            <a:r>
              <a:rPr lang="en-IN" sz="2000" dirty="0">
                <a:latin typeface="Times New Roman" panose="02020603050405020304" pitchFamily="18" charset="0"/>
                <a:cs typeface="Times New Roman" panose="02020603050405020304" pitchFamily="18" charset="0"/>
              </a:rPr>
              <a:t>Compute the mean and standard deviation of the random variable  X?</a:t>
            </a:r>
          </a:p>
          <a:p>
            <a:pPr marL="457200" indent="-457200" algn="just">
              <a:buClrTx/>
              <a:buFont typeface="+mj-lt"/>
              <a:buAutoNum type="alphaLcParenR"/>
            </a:pPr>
            <a:r>
              <a:rPr lang="en-US" sz="2000" dirty="0">
                <a:latin typeface="Times New Roman" panose="02020603050405020304" pitchFamily="18" charset="0"/>
                <a:cs typeface="Times New Roman" panose="02020603050405020304" pitchFamily="18" charset="0"/>
              </a:rPr>
              <a:t>What is the probability that a randomly selected mother is involved in at least two activities? </a:t>
            </a:r>
            <a:endParaRPr lang="en-GB" sz="2000" dirty="0">
              <a:latin typeface="Times New Roman" panose="02020603050405020304" pitchFamily="18" charset="0"/>
              <a:cs typeface="Times New Roman" panose="02020603050405020304" pitchFamily="18" charset="0"/>
            </a:endParaRPr>
          </a:p>
        </p:txBody>
      </p:sp>
      <p:sp>
        <p:nvSpPr>
          <p:cNvPr id="10" name="Rectangle 9"/>
          <p:cNvSpPr/>
          <p:nvPr/>
        </p:nvSpPr>
        <p:spPr>
          <a:xfrm>
            <a:off x="1524000" y="2362200"/>
            <a:ext cx="2133600" cy="1754326"/>
          </a:xfrm>
          <a:prstGeom prst="rect">
            <a:avLst/>
          </a:prstGeom>
        </p:spPr>
        <p:txBody>
          <a:bodyPr wrap="square">
            <a:spAutoFit/>
          </a:bodyPr>
          <a:lstStyle/>
          <a:p>
            <a:r>
              <a:rPr lang="en-GB" u="sng" dirty="0">
                <a:latin typeface="Times New Roman" panose="02020603050405020304" pitchFamily="18" charset="0"/>
                <a:cs typeface="Times New Roman" panose="02020603050405020304" pitchFamily="18" charset="0"/>
              </a:rPr>
              <a:t>x             P(X=x)</a:t>
            </a:r>
          </a:p>
          <a:p>
            <a:r>
              <a:rPr lang="en-GB" dirty="0">
                <a:latin typeface="Times New Roman" panose="02020603050405020304" pitchFamily="18" charset="0"/>
                <a:cs typeface="Times New Roman" panose="02020603050405020304" pitchFamily="18" charset="0"/>
              </a:rPr>
              <a:t>0	C</a:t>
            </a:r>
          </a:p>
          <a:p>
            <a:r>
              <a:rPr lang="en-GB" dirty="0">
                <a:latin typeface="Times New Roman" panose="02020603050405020304" pitchFamily="18" charset="0"/>
                <a:cs typeface="Times New Roman" panose="02020603050405020304" pitchFamily="18" charset="0"/>
              </a:rPr>
              <a:t>1	0.083</a:t>
            </a:r>
          </a:p>
          <a:p>
            <a:r>
              <a:rPr lang="en-GB" dirty="0">
                <a:latin typeface="Times New Roman" panose="02020603050405020304" pitchFamily="18" charset="0"/>
                <a:cs typeface="Times New Roman" panose="02020603050405020304" pitchFamily="18" charset="0"/>
              </a:rPr>
              <a:t>2	0.210</a:t>
            </a:r>
          </a:p>
          <a:p>
            <a:r>
              <a:rPr lang="en-GB" dirty="0">
                <a:latin typeface="Times New Roman" panose="02020603050405020304" pitchFamily="18" charset="0"/>
                <a:cs typeface="Times New Roman" panose="02020603050405020304" pitchFamily="18" charset="0"/>
              </a:rPr>
              <a:t>3	0.325</a:t>
            </a:r>
          </a:p>
          <a:p>
            <a:r>
              <a:rPr lang="en-GB" dirty="0">
                <a:latin typeface="Times New Roman" panose="02020603050405020304" pitchFamily="18" charset="0"/>
                <a:cs typeface="Times New Roman" panose="02020603050405020304" pitchFamily="18" charset="0"/>
              </a:rPr>
              <a:t>4	0.332</a:t>
            </a:r>
          </a:p>
        </p:txBody>
      </p:sp>
      <p:sp>
        <p:nvSpPr>
          <p:cNvPr id="6" name="Slide Number Placeholder 5"/>
          <p:cNvSpPr>
            <a:spLocks noGrp="1"/>
          </p:cNvSpPr>
          <p:nvPr>
            <p:ph type="sldNum" sz="quarter" idx="12"/>
          </p:nvPr>
        </p:nvSpPr>
        <p:spPr/>
        <p:txBody>
          <a:bodyPr/>
          <a:lstStyle/>
          <a:p>
            <a:pPr>
              <a:defRPr/>
            </a:pPr>
            <a:fld id="{645ED874-4033-4CEE-AE69-D7CB222F48E6}" type="slidenum">
              <a:rPr lang="en-US" smtClean="0"/>
              <a:pPr>
                <a:defRPr/>
              </a:pPr>
              <a:t>59</a:t>
            </a:fld>
            <a:endParaRPr lang="en-US"/>
          </a:p>
        </p:txBody>
      </p:sp>
      <p:sp>
        <p:nvSpPr>
          <p:cNvPr id="4" name="Date Placeholder 3">
            <a:extLst>
              <a:ext uri="{FF2B5EF4-FFF2-40B4-BE49-F238E27FC236}">
                <a16:creationId xmlns:a16="http://schemas.microsoft.com/office/drawing/2014/main" id="{DE647005-4F15-4E40-A139-D937E290E5ED}"/>
              </a:ext>
            </a:extLst>
          </p:cNvPr>
          <p:cNvSpPr>
            <a:spLocks noGrp="1"/>
          </p:cNvSpPr>
          <p:nvPr>
            <p:ph type="dt" sz="half" idx="10"/>
          </p:nvPr>
        </p:nvSpPr>
        <p:spPr/>
        <p:txBody>
          <a:bodyPr/>
          <a:lstStyle/>
          <a:p>
            <a:pPr>
              <a:defRPr/>
            </a:pPr>
            <a:fld id="{A135E72B-EC67-440E-B701-D870B3AE9BEA}" type="datetime3">
              <a:rPr lang="en-US" smtClean="0"/>
              <a:t>16 December 2025</a:t>
            </a:fld>
            <a:endParaRPr lang="en-US"/>
          </a:p>
        </p:txBody>
      </p:sp>
      <p:sp>
        <p:nvSpPr>
          <p:cNvPr id="5" name="Footer Placeholder 4">
            <a:extLst>
              <a:ext uri="{FF2B5EF4-FFF2-40B4-BE49-F238E27FC236}">
                <a16:creationId xmlns:a16="http://schemas.microsoft.com/office/drawing/2014/main" id="{7CB57709-CDDF-4B2D-8A90-79930343A5C5}"/>
              </a:ext>
            </a:extLst>
          </p:cNvPr>
          <p:cNvSpPr>
            <a:spLocks noGrp="1"/>
          </p:cNvSpPr>
          <p:nvPr>
            <p:ph type="ftr" sz="quarter" idx="11"/>
          </p:nvPr>
        </p:nvSpPr>
        <p:spPr/>
        <p:txBody>
          <a:bodyPr/>
          <a:lstStyle/>
          <a:p>
            <a:pPr>
              <a:defRPr/>
            </a:pPr>
            <a:r>
              <a:rPr lang="en-US"/>
              <a:t>T. Mayooran</a:t>
            </a:r>
          </a:p>
        </p:txBody>
      </p:sp>
    </p:spTree>
    <p:extLst>
      <p:ext uri="{BB962C8B-B14F-4D97-AF65-F5344CB8AC3E}">
        <p14:creationId xmlns:p14="http://schemas.microsoft.com/office/powerpoint/2010/main" val="3959245720"/>
      </p:ext>
    </p:extLst>
  </p:cSld>
  <p:clrMapOvr>
    <a:masterClrMapping/>
  </p:clrMapOvr>
  <p:transition spd="slow">
    <p:wipe dir="r"/>
  </p:transition>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solidFill>
                  <a:srgbClr val="C00000"/>
                </a:solidFill>
                <a:effectLst>
                  <a:outerShdw blurRad="38100" dist="38100" dir="2700000" algn="tl">
                    <a:srgbClr val="000000">
                      <a:alpha val="43137"/>
                    </a:srgbClr>
                  </a:outerShdw>
                </a:effectLst>
                <a:latin typeface="Times New Roman" pitchFamily="18" charset="0"/>
                <a:cs typeface="Times New Roman" pitchFamily="18" charset="0"/>
              </a:rPr>
              <a:t>Exercises:</a:t>
            </a:r>
            <a:endParaRPr lang="en-GB" dirty="0"/>
          </a:p>
        </p:txBody>
      </p:sp>
      <p:sp>
        <p:nvSpPr>
          <p:cNvPr id="6" name="Content Placeholder 2"/>
          <p:cNvSpPr>
            <a:spLocks noGrp="1"/>
          </p:cNvSpPr>
          <p:nvPr>
            <p:ph idx="1"/>
          </p:nvPr>
        </p:nvSpPr>
        <p:spPr>
          <a:xfrm>
            <a:off x="796929" y="1676400"/>
            <a:ext cx="7661275" cy="4114800"/>
          </a:xfrm>
        </p:spPr>
        <p:txBody>
          <a:bodyPr/>
          <a:lstStyle/>
          <a:p>
            <a:pPr marL="0" indent="0">
              <a:buNone/>
            </a:pPr>
            <a:r>
              <a:rPr lang="en-GB" sz="3500" dirty="0">
                <a:latin typeface="Times New Roman" pitchFamily="18" charset="0"/>
                <a:cs typeface="Times New Roman" pitchFamily="18" charset="0"/>
              </a:rPr>
              <a:t>Will be updated soon!</a:t>
            </a:r>
          </a:p>
        </p:txBody>
      </p:sp>
      <p:sp>
        <p:nvSpPr>
          <p:cNvPr id="4" name="Slide Number Placeholder 3"/>
          <p:cNvSpPr>
            <a:spLocks noGrp="1"/>
          </p:cNvSpPr>
          <p:nvPr>
            <p:ph type="sldNum" sz="quarter" idx="12"/>
          </p:nvPr>
        </p:nvSpPr>
        <p:spPr/>
        <p:txBody>
          <a:bodyPr/>
          <a:lstStyle/>
          <a:p>
            <a:pPr>
              <a:defRPr/>
            </a:pPr>
            <a:fld id="{645ED874-4033-4CEE-AE69-D7CB222F48E6}" type="slidenum">
              <a:rPr lang="en-US" smtClean="0"/>
              <a:pPr>
                <a:defRPr/>
              </a:pPr>
              <a:t>60</a:t>
            </a:fld>
            <a:endParaRPr lang="en-US"/>
          </a:p>
        </p:txBody>
      </p:sp>
      <p:sp>
        <p:nvSpPr>
          <p:cNvPr id="3" name="Date Placeholder 2">
            <a:extLst>
              <a:ext uri="{FF2B5EF4-FFF2-40B4-BE49-F238E27FC236}">
                <a16:creationId xmlns:a16="http://schemas.microsoft.com/office/drawing/2014/main" id="{3B0D652A-A07B-48C4-ACF3-975E58EC8B2F}"/>
              </a:ext>
            </a:extLst>
          </p:cNvPr>
          <p:cNvSpPr>
            <a:spLocks noGrp="1"/>
          </p:cNvSpPr>
          <p:nvPr>
            <p:ph type="dt" sz="half" idx="10"/>
          </p:nvPr>
        </p:nvSpPr>
        <p:spPr/>
        <p:txBody>
          <a:bodyPr/>
          <a:lstStyle/>
          <a:p>
            <a:pPr>
              <a:defRPr/>
            </a:pPr>
            <a:fld id="{F6931E58-3720-4433-BCC0-93EF419A61F9}" type="datetime3">
              <a:rPr lang="en-US" smtClean="0"/>
              <a:t>16 December 2025</a:t>
            </a:fld>
            <a:endParaRPr lang="en-US"/>
          </a:p>
        </p:txBody>
      </p:sp>
      <p:sp>
        <p:nvSpPr>
          <p:cNvPr id="5" name="Footer Placeholder 4">
            <a:extLst>
              <a:ext uri="{FF2B5EF4-FFF2-40B4-BE49-F238E27FC236}">
                <a16:creationId xmlns:a16="http://schemas.microsoft.com/office/drawing/2014/main" id="{FB963F53-B588-469B-8D51-07E13057D2E7}"/>
              </a:ext>
            </a:extLst>
          </p:cNvPr>
          <p:cNvSpPr>
            <a:spLocks noGrp="1"/>
          </p:cNvSpPr>
          <p:nvPr>
            <p:ph type="ftr" sz="quarter" idx="11"/>
          </p:nvPr>
        </p:nvSpPr>
        <p:spPr/>
        <p:txBody>
          <a:bodyPr/>
          <a:lstStyle/>
          <a:p>
            <a:pPr>
              <a:defRPr/>
            </a:pPr>
            <a:r>
              <a:rPr lang="en-US"/>
              <a:t>T. Mayooran</a:t>
            </a:r>
          </a:p>
        </p:txBody>
      </p:sp>
    </p:spTree>
    <p:extLst>
      <p:ext uri="{BB962C8B-B14F-4D97-AF65-F5344CB8AC3E}">
        <p14:creationId xmlns:p14="http://schemas.microsoft.com/office/powerpoint/2010/main" val="1997271014"/>
      </p:ext>
    </p:extLst>
  </p:cSld>
  <p:clrMapOvr>
    <a:masterClrMapping/>
  </p:clrMapOvr>
  <p:transition spd="slow">
    <p:wipe dir="r"/>
  </p:transition>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114" name="Date Placeholder 3">
            <a:extLst>
              <a:ext uri="{FF2B5EF4-FFF2-40B4-BE49-F238E27FC236}">
                <a16:creationId xmlns:a16="http://schemas.microsoft.com/office/drawing/2014/main" id="{D9ACE885-E5F3-CE2C-25B9-950ABCF1B628}"/>
              </a:ext>
            </a:extLst>
          </p:cNvPr>
          <p:cNvSpPr>
            <a:spLocks noGrp="1" noChangeArrowheads="1"/>
          </p:cNvSpPr>
          <p:nvPr>
            <p:ph type="dt" sz="quarter" idx="10"/>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1440" tIns="45720" rIns="91440" bIns="45720" numCol="1" anchor="t" anchorCtr="0" compatLnSpc="1">
            <a:prstTxWarp prst="textNoShape">
              <a:avLst/>
            </a:prstTxWarp>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fld id="{7553CC87-BBB7-47F7-9F16-FCE151BEE5BD}" type="datetime2">
              <a:rPr lang="en-US" altLang="en-US" sz="1400">
                <a:solidFill>
                  <a:srgbClr val="FFFFFF"/>
                </a:solidFill>
              </a:rPr>
              <a:pPr/>
              <a:t>Tuesday, December 16, 2025</a:t>
            </a:fld>
            <a:endParaRPr lang="en-US" altLang="en-US" sz="1400">
              <a:solidFill>
                <a:srgbClr val="FFFFFF"/>
              </a:solidFill>
            </a:endParaRPr>
          </a:p>
        </p:txBody>
      </p:sp>
      <p:sp>
        <p:nvSpPr>
          <p:cNvPr id="5" name="Slide Number Placeholder 4">
            <a:extLst>
              <a:ext uri="{FF2B5EF4-FFF2-40B4-BE49-F238E27FC236}">
                <a16:creationId xmlns:a16="http://schemas.microsoft.com/office/drawing/2014/main" id="{AF29BF66-CCFA-5B0C-BA97-728221FF60D3}"/>
              </a:ext>
            </a:extLst>
          </p:cNvPr>
          <p:cNvSpPr>
            <a:spLocks noGrp="1"/>
          </p:cNvSpPr>
          <p:nvPr>
            <p:ph type="sldNum" sz="quarter" idx="12"/>
          </p:nvPr>
        </p:nvSpPr>
        <p:spPr/>
        <p:txBody>
          <a:bodyPr/>
          <a:lstStyle/>
          <a:p>
            <a:pPr>
              <a:defRPr/>
            </a:pPr>
            <a:fld id="{39DD50EE-8851-4B42-A4D3-0A5F7FE914BD}" type="slidenum">
              <a:rPr lang="en-US" smtClean="0"/>
              <a:pPr>
                <a:defRPr/>
              </a:pPr>
              <a:t>61</a:t>
            </a:fld>
            <a:endParaRPr lang="en-US"/>
          </a:p>
        </p:txBody>
      </p:sp>
      <p:sp>
        <p:nvSpPr>
          <p:cNvPr id="90117" name="Footer Placeholder 5">
            <a:extLst>
              <a:ext uri="{FF2B5EF4-FFF2-40B4-BE49-F238E27FC236}">
                <a16:creationId xmlns:a16="http://schemas.microsoft.com/office/drawing/2014/main" id="{37EA34B7-B87A-1787-8CA5-44DA159E14E7}"/>
              </a:ext>
            </a:extLst>
          </p:cNvPr>
          <p:cNvSpPr>
            <a:spLocks noGrp="1" noChangeArrowheads="1"/>
          </p:cNvSpPr>
          <p:nvPr>
            <p:ph type="ftr" sz="quarter" idx="11"/>
          </p:nvPr>
        </p:nvSpPr>
        <p:spPr bwMode="auto">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91440" tIns="45720" rIns="91440" bIns="45720" numCol="1" anchor="t" anchorCtr="0" compatLnSpc="1">
            <a:prstTxWarp prst="textNoShape">
              <a:avLst/>
            </a:prstTxWarp>
          </a:bodyPr>
          <a:lstStyle>
            <a:lvl1pPr>
              <a:defRPr sz="2400">
                <a:solidFill>
                  <a:schemeClr val="tx1"/>
                </a:solidFill>
                <a:latin typeface="Times New Roman" panose="02020603050405020304" pitchFamily="18" charset="0"/>
              </a:defRPr>
            </a:lvl1pPr>
            <a:lvl2pPr marL="742950" indent="-285750">
              <a:defRPr sz="2400">
                <a:solidFill>
                  <a:schemeClr val="tx1"/>
                </a:solidFill>
                <a:latin typeface="Times New Roman" panose="02020603050405020304" pitchFamily="18" charset="0"/>
              </a:defRPr>
            </a:lvl2pPr>
            <a:lvl3pPr marL="1143000" indent="-228600">
              <a:defRPr sz="2400">
                <a:solidFill>
                  <a:schemeClr val="tx1"/>
                </a:solidFill>
                <a:latin typeface="Times New Roman" panose="02020603050405020304" pitchFamily="18" charset="0"/>
              </a:defRPr>
            </a:lvl3pPr>
            <a:lvl4pPr marL="1600200" indent="-228600">
              <a:defRPr sz="2400">
                <a:solidFill>
                  <a:schemeClr val="tx1"/>
                </a:solidFill>
                <a:latin typeface="Times New Roman" panose="02020603050405020304" pitchFamily="18" charset="0"/>
              </a:defRPr>
            </a:lvl4pPr>
            <a:lvl5pPr marL="2057400" indent="-228600">
              <a:defRPr sz="2400">
                <a:solidFill>
                  <a:schemeClr val="tx1"/>
                </a:solidFill>
                <a:latin typeface="Times New Roman" panose="02020603050405020304" pitchFamily="18" charset="0"/>
              </a:defRPr>
            </a:lvl5pPr>
            <a:lvl6pPr marL="2514600" indent="-228600" eaLnBrk="0" fontAlgn="base" hangingPunct="0">
              <a:spcBef>
                <a:spcPct val="0"/>
              </a:spcBef>
              <a:spcAft>
                <a:spcPct val="0"/>
              </a:spcAft>
              <a:defRPr sz="2400">
                <a:solidFill>
                  <a:schemeClr val="tx1"/>
                </a:solidFill>
                <a:latin typeface="Times New Roman" panose="02020603050405020304" pitchFamily="18" charset="0"/>
              </a:defRPr>
            </a:lvl6pPr>
            <a:lvl7pPr marL="2971800" indent="-228600" eaLnBrk="0" fontAlgn="base" hangingPunct="0">
              <a:spcBef>
                <a:spcPct val="0"/>
              </a:spcBef>
              <a:spcAft>
                <a:spcPct val="0"/>
              </a:spcAft>
              <a:defRPr sz="2400">
                <a:solidFill>
                  <a:schemeClr val="tx1"/>
                </a:solidFill>
                <a:latin typeface="Times New Roman" panose="02020603050405020304" pitchFamily="18" charset="0"/>
              </a:defRPr>
            </a:lvl7pPr>
            <a:lvl8pPr marL="3429000" indent="-228600" eaLnBrk="0" fontAlgn="base" hangingPunct="0">
              <a:spcBef>
                <a:spcPct val="0"/>
              </a:spcBef>
              <a:spcAft>
                <a:spcPct val="0"/>
              </a:spcAft>
              <a:defRPr sz="2400">
                <a:solidFill>
                  <a:schemeClr val="tx1"/>
                </a:solidFill>
                <a:latin typeface="Times New Roman" panose="02020603050405020304" pitchFamily="18" charset="0"/>
              </a:defRPr>
            </a:lvl8pPr>
            <a:lvl9pPr marL="3886200" indent="-228600" eaLnBrk="0" fontAlgn="base" hangingPunct="0">
              <a:spcBef>
                <a:spcPct val="0"/>
              </a:spcBef>
              <a:spcAft>
                <a:spcPct val="0"/>
              </a:spcAft>
              <a:defRPr sz="2400">
                <a:solidFill>
                  <a:schemeClr val="tx1"/>
                </a:solidFill>
                <a:latin typeface="Times New Roman" panose="02020603050405020304" pitchFamily="18" charset="0"/>
              </a:defRPr>
            </a:lvl9pPr>
          </a:lstStyle>
          <a:p>
            <a:r>
              <a:rPr lang="en-US" altLang="en-US" sz="1200">
                <a:solidFill>
                  <a:srgbClr val="FFFFFF"/>
                </a:solidFill>
              </a:rPr>
              <a:t>MC3020</a:t>
            </a:r>
          </a:p>
        </p:txBody>
      </p:sp>
      <p:sp>
        <p:nvSpPr>
          <p:cNvPr id="3" name="TextBox 2">
            <a:extLst>
              <a:ext uri="{FF2B5EF4-FFF2-40B4-BE49-F238E27FC236}">
                <a16:creationId xmlns:a16="http://schemas.microsoft.com/office/drawing/2014/main" id="{5C86C50B-7B7B-66D7-95BB-6222A8749EE0}"/>
              </a:ext>
            </a:extLst>
          </p:cNvPr>
          <p:cNvSpPr txBox="1"/>
          <p:nvPr/>
        </p:nvSpPr>
        <p:spPr>
          <a:xfrm>
            <a:off x="152400" y="1468438"/>
            <a:ext cx="8763000" cy="4031873"/>
          </a:xfrm>
          <a:prstGeom prst="rect">
            <a:avLst/>
          </a:prstGeom>
          <a:noFill/>
        </p:spPr>
        <p:txBody>
          <a:bodyPr wrap="square">
            <a:spAutoFit/>
          </a:bodyPr>
          <a:lstStyle/>
          <a:p>
            <a:pPr algn="just"/>
            <a:r>
              <a:rPr lang="en-US" sz="3200" b="0" i="0" u="none" strike="noStrike" baseline="0" dirty="0">
                <a:solidFill>
                  <a:srgbClr val="000000"/>
                </a:solidFill>
                <a:cs typeface="Times New Roman" panose="02020603050405020304" pitchFamily="18" charset="0"/>
              </a:rPr>
              <a:t>Don’t hesitate to contact us if you have any questions about this course’s teaching contents. Also, don’t forget to check out the course page and Microsoft Team folder,</a:t>
            </a:r>
          </a:p>
          <a:p>
            <a:pPr marL="457200" indent="-457200">
              <a:buFont typeface="Arial" panose="020B0604020202020204" pitchFamily="34" charset="0"/>
              <a:buChar char="•"/>
            </a:pPr>
            <a:r>
              <a:rPr lang="fr-FR" sz="3200" b="0" i="0" u="none" strike="noStrike" baseline="0" dirty="0">
                <a:solidFill>
                  <a:srgbClr val="000000"/>
                </a:solidFill>
                <a:cs typeface="Times New Roman" panose="02020603050405020304" pitchFamily="18" charset="0"/>
              </a:rPr>
              <a:t>course page </a:t>
            </a:r>
            <a:r>
              <a:rPr lang="fr-FR" sz="3200" b="0" i="0" u="none" strike="noStrike" baseline="0" dirty="0">
                <a:solidFill>
                  <a:srgbClr val="0000FF"/>
                </a:solidFill>
                <a:cs typeface="Times New Roman" panose="02020603050405020304" pitchFamily="18" charset="0"/>
                <a:hlinkClick r:id="rId2"/>
              </a:rPr>
              <a:t>https://mayooran1987.github.io/MC3020/</a:t>
            </a:r>
            <a:endParaRPr lang="fr-FR" sz="3200" b="0" i="0" u="none" strike="noStrike" baseline="0" dirty="0">
              <a:solidFill>
                <a:srgbClr val="0000FF"/>
              </a:solidFill>
              <a:cs typeface="Times New Roman" panose="02020603050405020304" pitchFamily="18" charset="0"/>
            </a:endParaRPr>
          </a:p>
          <a:p>
            <a:pPr algn="just"/>
            <a:endParaRPr lang="fr-FR" sz="3200" b="0" i="0" u="none" strike="noStrike" baseline="0" dirty="0">
              <a:solidFill>
                <a:srgbClr val="0000FF"/>
              </a:solidFill>
              <a:cs typeface="Times New Roman" panose="02020603050405020304" pitchFamily="18" charset="0"/>
            </a:endParaRPr>
          </a:p>
          <a:p>
            <a:pPr marL="457200" indent="-457200" algn="just">
              <a:buFont typeface="Arial" panose="020B0604020202020204" pitchFamily="34" charset="0"/>
              <a:buChar char="•"/>
            </a:pPr>
            <a:r>
              <a:rPr lang="en-US" sz="3200" b="0" i="0" u="none" strike="noStrike" baseline="0" dirty="0">
                <a:solidFill>
                  <a:srgbClr val="000000"/>
                </a:solidFill>
                <a:cs typeface="Times New Roman" panose="02020603050405020304" pitchFamily="18" charset="0"/>
              </a:rPr>
              <a:t>Microsoft Team folder </a:t>
            </a:r>
            <a:r>
              <a:rPr lang="en-US" sz="3200" b="0" i="0" u="none" strike="noStrike" baseline="0" dirty="0">
                <a:solidFill>
                  <a:srgbClr val="0000FF"/>
                </a:solidFill>
                <a:cs typeface="Times New Roman" panose="02020603050405020304" pitchFamily="18" charset="0"/>
                <a:hlinkClick r:id="rId3"/>
              </a:rPr>
              <a:t>link</a:t>
            </a:r>
            <a:endParaRPr lang="en-US" sz="3200" dirty="0">
              <a:cs typeface="Times New Roman" panose="02020603050405020304" pitchFamily="18" charset="0"/>
            </a:endParaRPr>
          </a:p>
        </p:txBody>
      </p:sp>
      <p:pic>
        <p:nvPicPr>
          <p:cNvPr id="2" name="Picture 2">
            <a:extLst>
              <a:ext uri="{FF2B5EF4-FFF2-40B4-BE49-F238E27FC236}">
                <a16:creationId xmlns:a16="http://schemas.microsoft.com/office/drawing/2014/main" id="{6CBF706D-6077-BF0D-1F47-01E87F9E2E19}"/>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5816600" y="4452561"/>
            <a:ext cx="2394452" cy="17958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cSld>
  <p:clrMapOvr>
    <a:masterClrMapping/>
  </p:clrMapOvr>
  <p:transition spd="slow">
    <p:wipe dir="r"/>
  </p:transition>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2"/>
          <p:cNvSpPr>
            <a:spLocks noGrp="1" noChangeArrowheads="1"/>
          </p:cNvSpPr>
          <p:nvPr>
            <p:ph type="ctrTitle"/>
          </p:nvPr>
        </p:nvSpPr>
        <p:spPr>
          <a:xfrm>
            <a:off x="571500" y="2667000"/>
            <a:ext cx="8191500" cy="1981200"/>
          </a:xfrm>
        </p:spPr>
        <p:txBody>
          <a:bodyPr/>
          <a:lstStyle/>
          <a:p>
            <a:pPr eaLnBrk="1" hangingPunct="1"/>
            <a:r>
              <a:rPr lang="en-GB" sz="3200" dirty="0">
                <a:solidFill>
                  <a:srgbClr val="C00000"/>
                </a:solidFill>
                <a:latin typeface="Algerian" panose="04020705040A02060702" pitchFamily="82" charset="0"/>
              </a:rPr>
              <a:t>Continuous Probability Distributions</a:t>
            </a:r>
            <a:br>
              <a:rPr lang="en-GB" sz="3200" dirty="0">
                <a:solidFill>
                  <a:srgbClr val="C00000"/>
                </a:solidFill>
                <a:latin typeface="Algerian" panose="04020705040A02060702" pitchFamily="82" charset="0"/>
              </a:rPr>
            </a:br>
            <a:endParaRPr lang="en-US" altLang="en-US" sz="3200" dirty="0">
              <a:solidFill>
                <a:srgbClr val="C00000"/>
              </a:solidFill>
            </a:endParaRPr>
          </a:p>
        </p:txBody>
      </p:sp>
      <p:pic>
        <p:nvPicPr>
          <p:cNvPr id="4" name="Picture 3"/>
          <p:cNvPicPr>
            <a:picLocks noChangeAspect="1"/>
          </p:cNvPicPr>
          <p:nvPr/>
        </p:nvPicPr>
        <p:blipFill rotWithShape="1">
          <a:blip r:embed="rId2"/>
          <a:srcRect l="2961" t="3226" r="2426" b="-1"/>
          <a:stretch/>
        </p:blipFill>
        <p:spPr>
          <a:xfrm>
            <a:off x="5181600" y="4114800"/>
            <a:ext cx="2971800" cy="2286000"/>
          </a:xfrm>
          <a:prstGeom prst="rect">
            <a:avLst/>
          </a:prstGeom>
        </p:spPr>
      </p:pic>
      <p:sp>
        <p:nvSpPr>
          <p:cNvPr id="6" name="Rectangle 2">
            <a:extLst>
              <a:ext uri="{FF2B5EF4-FFF2-40B4-BE49-F238E27FC236}">
                <a16:creationId xmlns:a16="http://schemas.microsoft.com/office/drawing/2014/main" id="{AA76C75A-5791-4A3C-B903-0CEABC5E41B9}"/>
              </a:ext>
            </a:extLst>
          </p:cNvPr>
          <p:cNvSpPr txBox="1">
            <a:spLocks noChangeArrowheads="1"/>
          </p:cNvSpPr>
          <p:nvPr/>
        </p:nvSpPr>
        <p:spPr bwMode="auto">
          <a:xfrm>
            <a:off x="594591" y="1362074"/>
            <a:ext cx="8001000" cy="1981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lvl1pPr algn="l" rtl="0" eaLnBrk="0" fontAlgn="base" hangingPunct="0">
              <a:spcBef>
                <a:spcPct val="0"/>
              </a:spcBef>
              <a:spcAft>
                <a:spcPct val="0"/>
              </a:spcAft>
              <a:defRPr sz="4000">
                <a:solidFill>
                  <a:schemeClr val="tx2"/>
                </a:solidFill>
                <a:latin typeface="+mj-lt"/>
                <a:ea typeface="+mj-ea"/>
                <a:cs typeface="+mj-cs"/>
              </a:defRPr>
            </a:lvl1pPr>
            <a:lvl2pPr algn="l" rtl="0" eaLnBrk="0" fontAlgn="base" hangingPunct="0">
              <a:spcBef>
                <a:spcPct val="0"/>
              </a:spcBef>
              <a:spcAft>
                <a:spcPct val="0"/>
              </a:spcAft>
              <a:defRPr sz="4000">
                <a:solidFill>
                  <a:schemeClr val="tx2"/>
                </a:solidFill>
                <a:latin typeface="Arial" charset="0"/>
              </a:defRPr>
            </a:lvl2pPr>
            <a:lvl3pPr algn="l" rtl="0" eaLnBrk="0" fontAlgn="base" hangingPunct="0">
              <a:spcBef>
                <a:spcPct val="0"/>
              </a:spcBef>
              <a:spcAft>
                <a:spcPct val="0"/>
              </a:spcAft>
              <a:defRPr sz="4000">
                <a:solidFill>
                  <a:schemeClr val="tx2"/>
                </a:solidFill>
                <a:latin typeface="Arial" charset="0"/>
              </a:defRPr>
            </a:lvl3pPr>
            <a:lvl4pPr algn="l" rtl="0" eaLnBrk="0" fontAlgn="base" hangingPunct="0">
              <a:spcBef>
                <a:spcPct val="0"/>
              </a:spcBef>
              <a:spcAft>
                <a:spcPct val="0"/>
              </a:spcAft>
              <a:defRPr sz="4000">
                <a:solidFill>
                  <a:schemeClr val="tx2"/>
                </a:solidFill>
                <a:latin typeface="Arial" charset="0"/>
              </a:defRPr>
            </a:lvl4pPr>
            <a:lvl5pPr algn="l" rtl="0" eaLnBrk="0" fontAlgn="base" hangingPunct="0">
              <a:spcBef>
                <a:spcPct val="0"/>
              </a:spcBef>
              <a:spcAft>
                <a:spcPct val="0"/>
              </a:spcAft>
              <a:defRPr sz="4000">
                <a:solidFill>
                  <a:schemeClr val="tx2"/>
                </a:solidFill>
                <a:latin typeface="Arial" charset="0"/>
              </a:defRPr>
            </a:lvl5pPr>
            <a:lvl6pPr marL="457200" algn="l" rtl="0" fontAlgn="base">
              <a:spcBef>
                <a:spcPct val="0"/>
              </a:spcBef>
              <a:spcAft>
                <a:spcPct val="0"/>
              </a:spcAft>
              <a:defRPr sz="4000">
                <a:solidFill>
                  <a:schemeClr val="tx2"/>
                </a:solidFill>
                <a:latin typeface="Arial" charset="0"/>
              </a:defRPr>
            </a:lvl6pPr>
            <a:lvl7pPr marL="914400" algn="l" rtl="0" fontAlgn="base">
              <a:spcBef>
                <a:spcPct val="0"/>
              </a:spcBef>
              <a:spcAft>
                <a:spcPct val="0"/>
              </a:spcAft>
              <a:defRPr sz="4000">
                <a:solidFill>
                  <a:schemeClr val="tx2"/>
                </a:solidFill>
                <a:latin typeface="Arial" charset="0"/>
              </a:defRPr>
            </a:lvl7pPr>
            <a:lvl8pPr marL="1371600" algn="l" rtl="0" fontAlgn="base">
              <a:spcBef>
                <a:spcPct val="0"/>
              </a:spcBef>
              <a:spcAft>
                <a:spcPct val="0"/>
              </a:spcAft>
              <a:defRPr sz="4000">
                <a:solidFill>
                  <a:schemeClr val="tx2"/>
                </a:solidFill>
                <a:latin typeface="Arial" charset="0"/>
              </a:defRPr>
            </a:lvl8pPr>
            <a:lvl9pPr marL="1828800" algn="l" rtl="0" fontAlgn="base">
              <a:spcBef>
                <a:spcPct val="0"/>
              </a:spcBef>
              <a:spcAft>
                <a:spcPct val="0"/>
              </a:spcAft>
              <a:defRPr sz="4000">
                <a:solidFill>
                  <a:schemeClr val="tx2"/>
                </a:solidFill>
                <a:latin typeface="Arial" charset="0"/>
              </a:defRPr>
            </a:lvl9pPr>
          </a:lstStyle>
          <a:p>
            <a:pPr eaLnBrk="1" hangingPunct="1"/>
            <a:r>
              <a:rPr lang="en-GB" sz="4800" kern="0" dirty="0">
                <a:solidFill>
                  <a:srgbClr val="C00000"/>
                </a:solidFill>
                <a:latin typeface="Algerian" panose="04020705040A02060702" pitchFamily="82" charset="0"/>
              </a:rPr>
              <a:t>Next Section:</a:t>
            </a:r>
            <a:endParaRPr lang="en-US" altLang="en-US" sz="3600" kern="0" dirty="0">
              <a:solidFill>
                <a:srgbClr val="C00000"/>
              </a:solidFill>
            </a:endParaRPr>
          </a:p>
        </p:txBody>
      </p:sp>
    </p:spTree>
  </p:cSld>
  <p:clrMapOvr>
    <a:masterClrMapping/>
  </p:clrMapOvr>
  <mc:AlternateContent xmlns:mc="http://schemas.openxmlformats.org/markup-compatibility/2006" xmlns:p14="http://schemas.microsoft.com/office/powerpoint/2010/main">
    <mc:Choice Requires="p14">
      <p:transition spd="slow" p14:dur="1600">
        <p:blinds dir="vert"/>
      </p:transition>
    </mc:Choice>
    <mc:Fallback xmlns="">
      <p:transition spd="slow">
        <p:blinds dir="vert"/>
      </p:transition>
    </mc:Fallback>
  </mc:AlternateContent>
</p:sld>
</file>

<file path=ppt/theme/theme1.xml><?xml version="1.0" encoding="utf-8"?>
<a:theme xmlns:a="http://schemas.openxmlformats.org/drawingml/2006/main" name="Axis">
  <a:themeElements>
    <a:clrScheme name="Axis 8">
      <a:dk1>
        <a:srgbClr val="292929"/>
      </a:dk1>
      <a:lt1>
        <a:srgbClr val="FFFFFF"/>
      </a:lt1>
      <a:dk2>
        <a:srgbClr val="000000"/>
      </a:dk2>
      <a:lt2>
        <a:srgbClr val="808080"/>
      </a:lt2>
      <a:accent1>
        <a:srgbClr val="CC9900"/>
      </a:accent1>
      <a:accent2>
        <a:srgbClr val="CCCC99"/>
      </a:accent2>
      <a:accent3>
        <a:srgbClr val="FFFFFF"/>
      </a:accent3>
      <a:accent4>
        <a:srgbClr val="212121"/>
      </a:accent4>
      <a:accent5>
        <a:srgbClr val="E2CAAA"/>
      </a:accent5>
      <a:accent6>
        <a:srgbClr val="B9B98A"/>
      </a:accent6>
      <a:hlink>
        <a:srgbClr val="999933"/>
      </a:hlink>
      <a:folHlink>
        <a:srgbClr val="B2B2B2"/>
      </a:folHlink>
    </a:clrScheme>
    <a:fontScheme name="Axis">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1800" b="0" i="0" u="none" strike="noStrike" cap="none" normalizeH="0" baseline="0" smtClean="0">
            <a:ln>
              <a:noFill/>
            </a:ln>
            <a:solidFill>
              <a:schemeClr val="tx1"/>
            </a:solidFill>
            <a:effectLst/>
            <a:latin typeface="Arial"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1800" b="0" i="0" u="none" strike="noStrike" cap="none" normalizeH="0" baseline="0" smtClean="0">
            <a:ln>
              <a:noFill/>
            </a:ln>
            <a:solidFill>
              <a:schemeClr val="tx1"/>
            </a:solidFill>
            <a:effectLst/>
            <a:latin typeface="Arial" charset="0"/>
          </a:defRPr>
        </a:defPPr>
      </a:lstStyle>
    </a:lnDef>
  </a:objectDefaults>
  <a:extraClrSchemeLst>
    <a:extraClrScheme>
      <a:clrScheme name="Axis 1">
        <a:dk1>
          <a:srgbClr val="080808"/>
        </a:dk1>
        <a:lt1>
          <a:srgbClr val="F8F8F8"/>
        </a:lt1>
        <a:dk2>
          <a:srgbClr val="330000"/>
        </a:dk2>
        <a:lt2>
          <a:srgbClr val="FFFFFF"/>
        </a:lt2>
        <a:accent1>
          <a:srgbClr val="FF9900"/>
        </a:accent1>
        <a:accent2>
          <a:srgbClr val="CC3300"/>
        </a:accent2>
        <a:accent3>
          <a:srgbClr val="ADAAAA"/>
        </a:accent3>
        <a:accent4>
          <a:srgbClr val="D4D4D4"/>
        </a:accent4>
        <a:accent5>
          <a:srgbClr val="FFCAAA"/>
        </a:accent5>
        <a:accent6>
          <a:srgbClr val="B92D00"/>
        </a:accent6>
        <a:hlink>
          <a:srgbClr val="CC6600"/>
        </a:hlink>
        <a:folHlink>
          <a:srgbClr val="B2B282"/>
        </a:folHlink>
      </a:clrScheme>
      <a:clrMap bg1="dk2" tx1="lt1" bg2="dk1" tx2="lt2" accent1="accent1" accent2="accent2" accent3="accent3" accent4="accent4" accent5="accent5" accent6="accent6" hlink="hlink" folHlink="folHlink"/>
    </a:extraClrScheme>
    <a:extraClrScheme>
      <a:clrScheme name="Axis 2">
        <a:dk1>
          <a:srgbClr val="333333"/>
        </a:dk1>
        <a:lt1>
          <a:srgbClr val="F8F8F8"/>
        </a:lt1>
        <a:dk2>
          <a:srgbClr val="800000"/>
        </a:dk2>
        <a:lt2>
          <a:srgbClr val="FFFFFF"/>
        </a:lt2>
        <a:accent1>
          <a:srgbClr val="CC9900"/>
        </a:accent1>
        <a:accent2>
          <a:srgbClr val="666666"/>
        </a:accent2>
        <a:accent3>
          <a:srgbClr val="C0AAAA"/>
        </a:accent3>
        <a:accent4>
          <a:srgbClr val="D4D4D4"/>
        </a:accent4>
        <a:accent5>
          <a:srgbClr val="E2CAAA"/>
        </a:accent5>
        <a:accent6>
          <a:srgbClr val="5C5C5C"/>
        </a:accent6>
        <a:hlink>
          <a:srgbClr val="CC6600"/>
        </a:hlink>
        <a:folHlink>
          <a:srgbClr val="95A587"/>
        </a:folHlink>
      </a:clrScheme>
      <a:clrMap bg1="dk2" tx1="lt1" bg2="dk1" tx2="lt2" accent1="accent1" accent2="accent2" accent3="accent3" accent4="accent4" accent5="accent5" accent6="accent6" hlink="hlink" folHlink="folHlink"/>
    </a:extraClrScheme>
    <a:extraClrScheme>
      <a:clrScheme name="Axis 3">
        <a:dk1>
          <a:srgbClr val="5F5F5F"/>
        </a:dk1>
        <a:lt1>
          <a:srgbClr val="A4BEE0"/>
        </a:lt1>
        <a:dk2>
          <a:srgbClr val="013253"/>
        </a:dk2>
        <a:lt2>
          <a:srgbClr val="FFFFFF"/>
        </a:lt2>
        <a:accent1>
          <a:srgbClr val="588480"/>
        </a:accent1>
        <a:accent2>
          <a:srgbClr val="6600FF"/>
        </a:accent2>
        <a:accent3>
          <a:srgbClr val="AAADB3"/>
        </a:accent3>
        <a:accent4>
          <a:srgbClr val="8BA2BF"/>
        </a:accent4>
        <a:accent5>
          <a:srgbClr val="B4C2C0"/>
        </a:accent5>
        <a:accent6>
          <a:srgbClr val="5C00E7"/>
        </a:accent6>
        <a:hlink>
          <a:srgbClr val="CCCC00"/>
        </a:hlink>
        <a:folHlink>
          <a:srgbClr val="5F5F5F"/>
        </a:folHlink>
      </a:clrScheme>
      <a:clrMap bg1="dk2" tx1="lt1" bg2="dk1" tx2="lt2" accent1="accent1" accent2="accent2" accent3="accent3" accent4="accent4" accent5="accent5" accent6="accent6" hlink="hlink" folHlink="folHlink"/>
    </a:extraClrScheme>
    <a:extraClrScheme>
      <a:clrScheme name="Axis 4">
        <a:dk1>
          <a:srgbClr val="003300"/>
        </a:dk1>
        <a:lt1>
          <a:srgbClr val="F8F8F8"/>
        </a:lt1>
        <a:dk2>
          <a:srgbClr val="3D4A1C"/>
        </a:dk2>
        <a:lt2>
          <a:srgbClr val="FFFFFF"/>
        </a:lt2>
        <a:accent1>
          <a:srgbClr val="99CC00"/>
        </a:accent1>
        <a:accent2>
          <a:srgbClr val="669900"/>
        </a:accent2>
        <a:accent3>
          <a:srgbClr val="AFB1AB"/>
        </a:accent3>
        <a:accent4>
          <a:srgbClr val="D4D4D4"/>
        </a:accent4>
        <a:accent5>
          <a:srgbClr val="CAE2AA"/>
        </a:accent5>
        <a:accent6>
          <a:srgbClr val="5C8A00"/>
        </a:accent6>
        <a:hlink>
          <a:srgbClr val="CC9900"/>
        </a:hlink>
        <a:folHlink>
          <a:srgbClr val="B2B282"/>
        </a:folHlink>
      </a:clrScheme>
      <a:clrMap bg1="dk2" tx1="lt1" bg2="dk1" tx2="lt2" accent1="accent1" accent2="accent2" accent3="accent3" accent4="accent4" accent5="accent5" accent6="accent6" hlink="hlink" folHlink="folHlink"/>
    </a:extraClrScheme>
    <a:extraClrScheme>
      <a:clrScheme name="Axis 5">
        <a:dk1>
          <a:srgbClr val="333333"/>
        </a:dk1>
        <a:lt1>
          <a:srgbClr val="F8F8F8"/>
        </a:lt1>
        <a:dk2>
          <a:srgbClr val="005D8C"/>
        </a:dk2>
        <a:lt2>
          <a:srgbClr val="FFFFFF"/>
        </a:lt2>
        <a:accent1>
          <a:srgbClr val="00CC99"/>
        </a:accent1>
        <a:accent2>
          <a:srgbClr val="0099CC"/>
        </a:accent2>
        <a:accent3>
          <a:srgbClr val="AAB6C5"/>
        </a:accent3>
        <a:accent4>
          <a:srgbClr val="D4D4D4"/>
        </a:accent4>
        <a:accent5>
          <a:srgbClr val="AAE2CA"/>
        </a:accent5>
        <a:accent6>
          <a:srgbClr val="008AB9"/>
        </a:accent6>
        <a:hlink>
          <a:srgbClr val="FFCC00"/>
        </a:hlink>
        <a:folHlink>
          <a:srgbClr val="D8D48C"/>
        </a:folHlink>
      </a:clrScheme>
      <a:clrMap bg1="dk2" tx1="lt1" bg2="dk1" tx2="lt2" accent1="accent1" accent2="accent2" accent3="accent3" accent4="accent4" accent5="accent5" accent6="accent6" hlink="hlink" folHlink="folHlink"/>
    </a:extraClrScheme>
    <a:extraClrScheme>
      <a:clrScheme name="Axis 6">
        <a:dk1>
          <a:srgbClr val="000000"/>
        </a:dk1>
        <a:lt1>
          <a:srgbClr val="ECAE00"/>
        </a:lt1>
        <a:dk2>
          <a:srgbClr val="FFFFFF"/>
        </a:dk2>
        <a:lt2>
          <a:srgbClr val="333333"/>
        </a:lt2>
        <a:accent1>
          <a:srgbClr val="CC6600"/>
        </a:accent1>
        <a:accent2>
          <a:srgbClr val="BA6D10"/>
        </a:accent2>
        <a:accent3>
          <a:srgbClr val="F4D3AA"/>
        </a:accent3>
        <a:accent4>
          <a:srgbClr val="000000"/>
        </a:accent4>
        <a:accent5>
          <a:srgbClr val="E2B8AA"/>
        </a:accent5>
        <a:accent6>
          <a:srgbClr val="A8620D"/>
        </a:accent6>
        <a:hlink>
          <a:srgbClr val="666633"/>
        </a:hlink>
        <a:folHlink>
          <a:srgbClr val="8D996D"/>
        </a:folHlink>
      </a:clrScheme>
      <a:clrMap bg1="lt1" tx1="dk1" bg2="lt2" tx2="dk2" accent1="accent1" accent2="accent2" accent3="accent3" accent4="accent4" accent5="accent5" accent6="accent6" hlink="hlink" folHlink="folHlink"/>
    </a:extraClrScheme>
    <a:extraClrScheme>
      <a:clrScheme name="Axis 7">
        <a:dk1>
          <a:srgbClr val="000000"/>
        </a:dk1>
        <a:lt1>
          <a:srgbClr val="FFFFFF"/>
        </a:lt1>
        <a:dk2>
          <a:srgbClr val="372221"/>
        </a:dk2>
        <a:lt2>
          <a:srgbClr val="808080"/>
        </a:lt2>
        <a:accent1>
          <a:srgbClr val="009999"/>
        </a:accent1>
        <a:accent2>
          <a:srgbClr val="9AAC98"/>
        </a:accent2>
        <a:accent3>
          <a:srgbClr val="FFFFFF"/>
        </a:accent3>
        <a:accent4>
          <a:srgbClr val="000000"/>
        </a:accent4>
        <a:accent5>
          <a:srgbClr val="AACACA"/>
        </a:accent5>
        <a:accent6>
          <a:srgbClr val="8B9B89"/>
        </a:accent6>
        <a:hlink>
          <a:srgbClr val="666699"/>
        </a:hlink>
        <a:folHlink>
          <a:srgbClr val="B2B2B2"/>
        </a:folHlink>
      </a:clrScheme>
      <a:clrMap bg1="lt1" tx1="dk1" bg2="lt2" tx2="dk2" accent1="accent1" accent2="accent2" accent3="accent3" accent4="accent4" accent5="accent5" accent6="accent6" hlink="hlink" folHlink="folHlink"/>
    </a:extraClrScheme>
    <a:extraClrScheme>
      <a:clrScheme name="Axis 8">
        <a:dk1>
          <a:srgbClr val="292929"/>
        </a:dk1>
        <a:lt1>
          <a:srgbClr val="FFFFFF"/>
        </a:lt1>
        <a:dk2>
          <a:srgbClr val="000000"/>
        </a:dk2>
        <a:lt2>
          <a:srgbClr val="808080"/>
        </a:lt2>
        <a:accent1>
          <a:srgbClr val="CC9900"/>
        </a:accent1>
        <a:accent2>
          <a:srgbClr val="CCCC99"/>
        </a:accent2>
        <a:accent3>
          <a:srgbClr val="FFFFFF"/>
        </a:accent3>
        <a:accent4>
          <a:srgbClr val="212121"/>
        </a:accent4>
        <a:accent5>
          <a:srgbClr val="E2CAAA"/>
        </a:accent5>
        <a:accent6>
          <a:srgbClr val="B9B98A"/>
        </a:accent6>
        <a:hlink>
          <a:srgbClr val="999933"/>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Axis</Template>
  <TotalTime>3646</TotalTime>
  <Words>3503</Words>
  <Application>Microsoft Office PowerPoint</Application>
  <PresentationFormat>On-screen Show (4:3)</PresentationFormat>
  <Paragraphs>535</Paragraphs>
  <Slides>62</Slides>
  <Notes>11</Notes>
  <HiddenSlides>0</HiddenSlides>
  <MMClips>0</MMClips>
  <ScaleCrop>false</ScaleCrop>
  <HeadingPairs>
    <vt:vector size="8" baseType="variant">
      <vt:variant>
        <vt:lpstr>Fonts Used</vt:lpstr>
      </vt:variant>
      <vt:variant>
        <vt:i4>8</vt:i4>
      </vt:variant>
      <vt:variant>
        <vt:lpstr>Theme</vt:lpstr>
      </vt:variant>
      <vt:variant>
        <vt:i4>1</vt:i4>
      </vt:variant>
      <vt:variant>
        <vt:lpstr>Embedded OLE Servers</vt:lpstr>
      </vt:variant>
      <vt:variant>
        <vt:i4>1</vt:i4>
      </vt:variant>
      <vt:variant>
        <vt:lpstr>Slide Titles</vt:lpstr>
      </vt:variant>
      <vt:variant>
        <vt:i4>62</vt:i4>
      </vt:variant>
    </vt:vector>
  </HeadingPairs>
  <TitlesOfParts>
    <vt:vector size="72" baseType="lpstr">
      <vt:lpstr>Algerian</vt:lpstr>
      <vt:lpstr>Arial</vt:lpstr>
      <vt:lpstr>Bookman Old Style</vt:lpstr>
      <vt:lpstr>Calibri</vt:lpstr>
      <vt:lpstr>Cambria Math</vt:lpstr>
      <vt:lpstr>Corbel</vt:lpstr>
      <vt:lpstr>Times New Roman</vt:lpstr>
      <vt:lpstr>Wingdings</vt:lpstr>
      <vt:lpstr>Axis</vt:lpstr>
      <vt:lpstr>Equation</vt:lpstr>
      <vt:lpstr>Mc3020: Discrete Probability Distributions</vt:lpstr>
      <vt:lpstr>Discrete Probability Distributions</vt:lpstr>
      <vt:lpstr>Definitions</vt:lpstr>
      <vt:lpstr>Example:</vt:lpstr>
      <vt:lpstr>Example continue….</vt:lpstr>
      <vt:lpstr>Types of Random Variables Examples:</vt:lpstr>
      <vt:lpstr>Introduction to Probability Distributions</vt:lpstr>
      <vt:lpstr>Discrete Probability Distribution:</vt:lpstr>
      <vt:lpstr>Example 1:</vt:lpstr>
      <vt:lpstr>PowerPoint Presentation</vt:lpstr>
      <vt:lpstr>Bernoulli Distribution</vt:lpstr>
      <vt:lpstr>Bernoulli Distribution:</vt:lpstr>
      <vt:lpstr>Bernoulli Distribution continue….</vt:lpstr>
      <vt:lpstr>Bernoulli Distribution continue….</vt:lpstr>
      <vt:lpstr>Binomial Distribution</vt:lpstr>
      <vt:lpstr>Binomial Distribution:</vt:lpstr>
      <vt:lpstr>The acronym BINS can be used to help remember Binomial Distribution:</vt:lpstr>
      <vt:lpstr>Question</vt:lpstr>
      <vt:lpstr>Binomial Distribution continue…. </vt:lpstr>
      <vt:lpstr>Binomial Distribution continue…. </vt:lpstr>
      <vt:lpstr>Example:</vt:lpstr>
      <vt:lpstr>Example 3:</vt:lpstr>
      <vt:lpstr>Examples 4:</vt:lpstr>
      <vt:lpstr>Exercises:</vt:lpstr>
      <vt:lpstr>Poisson Distribution</vt:lpstr>
      <vt:lpstr>Poisson Distribution:</vt:lpstr>
      <vt:lpstr>PowerPoint Presentation</vt:lpstr>
      <vt:lpstr>Note:</vt:lpstr>
      <vt:lpstr>Poisson Distribution:</vt:lpstr>
      <vt:lpstr>Example 5 :</vt:lpstr>
      <vt:lpstr>Example 6 :</vt:lpstr>
      <vt:lpstr>Example 7 :</vt:lpstr>
      <vt:lpstr>Example 8 :</vt:lpstr>
      <vt:lpstr>Exercises:</vt:lpstr>
      <vt:lpstr>Hypergeometric Distribution</vt:lpstr>
      <vt:lpstr>The Hypergeometric Distribution</vt:lpstr>
      <vt:lpstr>The Hypergeometric Distribution</vt:lpstr>
      <vt:lpstr>The Hypergeometric Distribution</vt:lpstr>
      <vt:lpstr>Example 9 : </vt:lpstr>
      <vt:lpstr>Example 10 :</vt:lpstr>
      <vt:lpstr>Example 11 :</vt:lpstr>
      <vt:lpstr>PowerPoint Presentation</vt:lpstr>
      <vt:lpstr>PowerPoint Presentation</vt:lpstr>
      <vt:lpstr>Example 12 :</vt:lpstr>
      <vt:lpstr>PowerPoint Presentation</vt:lpstr>
      <vt:lpstr>Exercises:</vt:lpstr>
      <vt:lpstr>Mean or Expected Value</vt:lpstr>
      <vt:lpstr>Mean or Expected Value</vt:lpstr>
      <vt:lpstr>Mean or Expected Value</vt:lpstr>
      <vt:lpstr>Variance and Standard Deviation</vt:lpstr>
      <vt:lpstr>Variance</vt:lpstr>
      <vt:lpstr>Standard Deviation</vt:lpstr>
      <vt:lpstr>PowerPoint Presentation</vt:lpstr>
      <vt:lpstr>Example 13 : </vt:lpstr>
      <vt:lpstr>Solution: </vt:lpstr>
      <vt:lpstr>Example 14 :</vt:lpstr>
      <vt:lpstr>Solutions</vt:lpstr>
      <vt:lpstr>PowerPoint Presentation</vt:lpstr>
      <vt:lpstr>Additional examples:</vt:lpstr>
      <vt:lpstr>Exercises:</vt:lpstr>
      <vt:lpstr>PowerPoint Presentation</vt:lpstr>
      <vt:lpstr>Continuous Probability Distributions </vt:lpstr>
    </vt:vector>
  </TitlesOfParts>
  <Company>Muskingum Collge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Discrete Probability Distributions</dc:title>
  <dc:creator>thevaraja.mayooran@mnsu.edu</dc:creator>
  <cp:lastModifiedBy>Thevarajah Mayooran</cp:lastModifiedBy>
  <cp:revision>234</cp:revision>
  <dcterms:created xsi:type="dcterms:W3CDTF">2007-07-26T11:27:32Z</dcterms:created>
  <dcterms:modified xsi:type="dcterms:W3CDTF">2025-12-16T01:13:48Z</dcterms:modified>
</cp:coreProperties>
</file>
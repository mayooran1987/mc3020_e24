
<file path=[Content_Types].xml><?xml version="1.0" encoding="utf-8"?>
<Types xmlns="http://schemas.openxmlformats.org/package/2006/content-types">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256" r:id="rId2"/>
    <p:sldId id="261" r:id="rId3"/>
    <p:sldId id="262" r:id="rId4"/>
    <p:sldId id="259" r:id="rId5"/>
    <p:sldId id="263" r:id="rId6"/>
    <p:sldId id="264" r:id="rId7"/>
    <p:sldId id="265" r:id="rId8"/>
    <p:sldId id="266" r:id="rId9"/>
    <p:sldId id="267" r:id="rId10"/>
    <p:sldId id="268" r:id="rId11"/>
    <p:sldId id="430" r:id="rId12"/>
    <p:sldId id="292" r:id="rId13"/>
    <p:sldId id="293" r:id="rId14"/>
    <p:sldId id="269" r:id="rId15"/>
    <p:sldId id="270" r:id="rId16"/>
    <p:sldId id="271" r:id="rId17"/>
    <p:sldId id="272" r:id="rId18"/>
    <p:sldId id="274" r:id="rId19"/>
    <p:sldId id="275" r:id="rId20"/>
    <p:sldId id="276" r:id="rId21"/>
    <p:sldId id="277" r:id="rId22"/>
    <p:sldId id="278" r:id="rId23"/>
    <p:sldId id="279" r:id="rId24"/>
    <p:sldId id="280" r:id="rId25"/>
    <p:sldId id="284" r:id="rId26"/>
    <p:sldId id="287" r:id="rId27"/>
    <p:sldId id="288" r:id="rId28"/>
    <p:sldId id="285" r:id="rId29"/>
    <p:sldId id="286" r:id="rId30"/>
    <p:sldId id="281" r:id="rId31"/>
    <p:sldId id="282" r:id="rId32"/>
    <p:sldId id="329" r:id="rId33"/>
    <p:sldId id="431" r:id="rId34"/>
    <p:sldId id="283" r:id="rId35"/>
    <p:sldId id="330" r:id="rId36"/>
    <p:sldId id="331" r:id="rId37"/>
    <p:sldId id="307" r:id="rId38"/>
    <p:sldId id="294" r:id="rId39"/>
    <p:sldId id="295" r:id="rId40"/>
    <p:sldId id="296" r:id="rId41"/>
    <p:sldId id="297" r:id="rId42"/>
    <p:sldId id="308" r:id="rId43"/>
    <p:sldId id="298" r:id="rId44"/>
    <p:sldId id="299" r:id="rId45"/>
    <p:sldId id="300" r:id="rId46"/>
    <p:sldId id="301" r:id="rId47"/>
    <p:sldId id="302" r:id="rId48"/>
    <p:sldId id="303" r:id="rId49"/>
    <p:sldId id="304" r:id="rId50"/>
    <p:sldId id="305" r:id="rId51"/>
    <p:sldId id="328" r:id="rId52"/>
    <p:sldId id="432" r:id="rId53"/>
    <p:sldId id="289" r:id="rId54"/>
    <p:sldId id="315" r:id="rId55"/>
    <p:sldId id="312" r:id="rId56"/>
    <p:sldId id="314" r:id="rId57"/>
    <p:sldId id="313" r:id="rId58"/>
    <p:sldId id="311" r:id="rId59"/>
    <p:sldId id="309" r:id="rId60"/>
    <p:sldId id="310" r:id="rId61"/>
    <p:sldId id="316" r:id="rId62"/>
    <p:sldId id="317" r:id="rId63"/>
    <p:sldId id="318" r:id="rId64"/>
    <p:sldId id="433" r:id="rId65"/>
    <p:sldId id="379" r:id="rId66"/>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859679-00BF-4FE6-A608-7C8ADA78A679}" v="4" dt="2025-07-17T01:20:06.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31" autoAdjust="0"/>
    <p:restoredTop sz="94660"/>
  </p:normalViewPr>
  <p:slideViewPr>
    <p:cSldViewPr>
      <p:cViewPr varScale="1">
        <p:scale>
          <a:sx n="56" d="100"/>
          <a:sy n="56" d="100"/>
        </p:scale>
        <p:origin x="1854" y="2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C2859679-00BF-4FE6-A608-7C8ADA78A679}"/>
    <pc:docChg chg="modSld">
      <pc:chgData name="Thevarajah Mayooran" userId="028ced5d-c088-4edf-a4ff-720435ef9709" providerId="ADAL" clId="{C2859679-00BF-4FE6-A608-7C8ADA78A679}" dt="2025-07-17T01:20:06.212" v="3" actId="20577"/>
      <pc:docMkLst>
        <pc:docMk/>
      </pc:docMkLst>
      <pc:sldChg chg="modSp">
        <pc:chgData name="Thevarajah Mayooran" userId="028ced5d-c088-4edf-a4ff-720435ef9709" providerId="ADAL" clId="{C2859679-00BF-4FE6-A608-7C8ADA78A679}" dt="2025-07-17T01:20:06.212" v="3" actId="20577"/>
        <pc:sldMkLst>
          <pc:docMk/>
          <pc:sldMk cId="3365309235" sldId="286"/>
        </pc:sldMkLst>
        <pc:spChg chg="mod">
          <ac:chgData name="Thevarajah Mayooran" userId="028ced5d-c088-4edf-a4ff-720435ef9709" providerId="ADAL" clId="{C2859679-00BF-4FE6-A608-7C8ADA78A679}" dt="2025-07-17T01:20:06.212" v="3" actId="20577"/>
          <ac:spMkLst>
            <pc:docMk/>
            <pc:sldMk cId="3365309235" sldId="28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45008-5B08-46B4-8464-35DCE5B2B8C1}" type="datetimeFigureOut">
              <a:rPr lang="en-NZ" smtClean="0"/>
              <a:t>17/07/2025</a:t>
            </a:fld>
            <a:endParaRPr lang="en-NZ"/>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7577A-02B4-49DF-B379-97F6C297866F}" type="slidenum">
              <a:rPr lang="en-NZ" smtClean="0"/>
              <a:t>‹#›</a:t>
            </a:fld>
            <a:endParaRPr lang="en-NZ"/>
          </a:p>
        </p:txBody>
      </p:sp>
    </p:spTree>
    <p:extLst>
      <p:ext uri="{BB962C8B-B14F-4D97-AF65-F5344CB8AC3E}">
        <p14:creationId xmlns:p14="http://schemas.microsoft.com/office/powerpoint/2010/main" val="1489510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819B589-D09A-41AA-A114-805BE84BF1BD}" type="slidenum">
              <a:rPr lang="en-US" altLang="zh-CN" smtClean="0"/>
              <a:pPr>
                <a:defRPr/>
              </a:pPr>
              <a:t>8</a:t>
            </a:fld>
            <a:endParaRPr lang="en-US" altLang="zh-CN"/>
          </a:p>
        </p:txBody>
      </p:sp>
    </p:spTree>
    <p:extLst>
      <p:ext uri="{BB962C8B-B14F-4D97-AF65-F5344CB8AC3E}">
        <p14:creationId xmlns:p14="http://schemas.microsoft.com/office/powerpoint/2010/main" val="1212444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78EB-DCED-985F-53C7-A259C625831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E607736A-8CBC-C1A3-BC87-64520C528DC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54FD9B35-BD72-ED2F-E661-29563E3ED1DC}"/>
              </a:ext>
            </a:extLst>
          </p:cNvPr>
          <p:cNvSpPr>
            <a:spLocks noGrp="1"/>
          </p:cNvSpPr>
          <p:nvPr>
            <p:ph type="dt" sz="half" idx="10"/>
          </p:nvPr>
        </p:nvSpPr>
        <p:spPr/>
        <p:txBody>
          <a:bodyPr/>
          <a:lstStyle>
            <a:lvl1pPr>
              <a:defRPr/>
            </a:lvl1pPr>
          </a:lstStyle>
          <a:p>
            <a:fld id="{36E65E3B-DAC8-4D14-A12F-30614BB75BBD}" type="datetime1">
              <a:rPr lang="en-US" altLang="en-US" smtClean="0"/>
              <a:t>7/17/2025</a:t>
            </a:fld>
            <a:endParaRPr lang="es-ES" altLang="en-US"/>
          </a:p>
        </p:txBody>
      </p:sp>
      <p:sp>
        <p:nvSpPr>
          <p:cNvPr id="5" name="Footer Placeholder 4">
            <a:extLst>
              <a:ext uri="{FF2B5EF4-FFF2-40B4-BE49-F238E27FC236}">
                <a16:creationId xmlns:a16="http://schemas.microsoft.com/office/drawing/2014/main" id="{72865352-BFE6-12AC-AE9D-029BC16EC90D}"/>
              </a:ext>
            </a:extLst>
          </p:cNvPr>
          <p:cNvSpPr>
            <a:spLocks noGrp="1"/>
          </p:cNvSpPr>
          <p:nvPr>
            <p:ph type="ftr" sz="quarter" idx="11"/>
          </p:nvPr>
        </p:nvSpPr>
        <p:spPr/>
        <p:txBody>
          <a:bodyPr/>
          <a:lstStyle>
            <a:lvl1pPr>
              <a:defRPr/>
            </a:lvl1pPr>
          </a:lstStyle>
          <a:p>
            <a:r>
              <a:rPr lang="es-ES" altLang="en-US"/>
              <a:t>MC3020</a:t>
            </a:r>
          </a:p>
        </p:txBody>
      </p:sp>
      <p:sp>
        <p:nvSpPr>
          <p:cNvPr id="6" name="Slide Number Placeholder 5">
            <a:extLst>
              <a:ext uri="{FF2B5EF4-FFF2-40B4-BE49-F238E27FC236}">
                <a16:creationId xmlns:a16="http://schemas.microsoft.com/office/drawing/2014/main" id="{FB9D7447-6F3F-EA28-23DE-B39CB4DB7A4B}"/>
              </a:ext>
            </a:extLst>
          </p:cNvPr>
          <p:cNvSpPr>
            <a:spLocks noGrp="1"/>
          </p:cNvSpPr>
          <p:nvPr>
            <p:ph type="sldNum" sz="quarter" idx="12"/>
          </p:nvPr>
        </p:nvSpPr>
        <p:spPr/>
        <p:txBody>
          <a:bodyPr/>
          <a:lstStyle>
            <a:lvl1pPr>
              <a:defRPr/>
            </a:lvl1pPr>
          </a:lstStyle>
          <a:p>
            <a:fld id="{8D245AF1-F2C3-4878-B877-83B960926C25}" type="slidenum">
              <a:rPr lang="es-ES" altLang="en-US"/>
              <a:pPr/>
              <a:t>‹#›</a:t>
            </a:fld>
            <a:endParaRPr lang="es-ES" altLang="en-US"/>
          </a:p>
        </p:txBody>
      </p:sp>
    </p:spTree>
    <p:extLst>
      <p:ext uri="{BB962C8B-B14F-4D97-AF65-F5344CB8AC3E}">
        <p14:creationId xmlns:p14="http://schemas.microsoft.com/office/powerpoint/2010/main" val="281836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159E-4021-B807-3DDC-0A7F1B264819}"/>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373CD372-294C-0AE0-7458-9A9FBD1FA0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19242C8-D9D7-9A25-ABF2-8ED5E766334B}"/>
              </a:ext>
            </a:extLst>
          </p:cNvPr>
          <p:cNvSpPr>
            <a:spLocks noGrp="1"/>
          </p:cNvSpPr>
          <p:nvPr>
            <p:ph type="dt" sz="half" idx="10"/>
          </p:nvPr>
        </p:nvSpPr>
        <p:spPr/>
        <p:txBody>
          <a:bodyPr/>
          <a:lstStyle>
            <a:lvl1pPr>
              <a:defRPr/>
            </a:lvl1pPr>
          </a:lstStyle>
          <a:p>
            <a:fld id="{41DA34FE-5498-4D7A-B2B9-BB5A13EF9509}" type="datetime1">
              <a:rPr lang="en-US" altLang="en-US" smtClean="0"/>
              <a:t>7/17/2025</a:t>
            </a:fld>
            <a:endParaRPr lang="es-ES" altLang="en-US"/>
          </a:p>
        </p:txBody>
      </p:sp>
      <p:sp>
        <p:nvSpPr>
          <p:cNvPr id="5" name="Footer Placeholder 4">
            <a:extLst>
              <a:ext uri="{FF2B5EF4-FFF2-40B4-BE49-F238E27FC236}">
                <a16:creationId xmlns:a16="http://schemas.microsoft.com/office/drawing/2014/main" id="{FD1D44D2-DBBA-F16B-2018-E2F2B6C52D5E}"/>
              </a:ext>
            </a:extLst>
          </p:cNvPr>
          <p:cNvSpPr>
            <a:spLocks noGrp="1"/>
          </p:cNvSpPr>
          <p:nvPr>
            <p:ph type="ftr" sz="quarter" idx="11"/>
          </p:nvPr>
        </p:nvSpPr>
        <p:spPr/>
        <p:txBody>
          <a:bodyPr/>
          <a:lstStyle>
            <a:lvl1pPr>
              <a:defRPr/>
            </a:lvl1pPr>
          </a:lstStyle>
          <a:p>
            <a:r>
              <a:rPr lang="es-ES" altLang="en-US"/>
              <a:t>MC3020</a:t>
            </a:r>
          </a:p>
        </p:txBody>
      </p:sp>
      <p:sp>
        <p:nvSpPr>
          <p:cNvPr id="6" name="Slide Number Placeholder 5">
            <a:extLst>
              <a:ext uri="{FF2B5EF4-FFF2-40B4-BE49-F238E27FC236}">
                <a16:creationId xmlns:a16="http://schemas.microsoft.com/office/drawing/2014/main" id="{3488D66D-C41E-AC1A-78E1-D9B00AB7A506}"/>
              </a:ext>
            </a:extLst>
          </p:cNvPr>
          <p:cNvSpPr>
            <a:spLocks noGrp="1"/>
          </p:cNvSpPr>
          <p:nvPr>
            <p:ph type="sldNum" sz="quarter" idx="12"/>
          </p:nvPr>
        </p:nvSpPr>
        <p:spPr/>
        <p:txBody>
          <a:bodyPr/>
          <a:lstStyle>
            <a:lvl1pPr>
              <a:defRPr/>
            </a:lvl1pPr>
          </a:lstStyle>
          <a:p>
            <a:fld id="{2F8A1861-9E00-46F6-A719-9DBB27C74A07}" type="slidenum">
              <a:rPr lang="es-ES" altLang="en-US"/>
              <a:pPr/>
              <a:t>‹#›</a:t>
            </a:fld>
            <a:endParaRPr lang="es-ES" altLang="en-US"/>
          </a:p>
        </p:txBody>
      </p:sp>
    </p:spTree>
    <p:extLst>
      <p:ext uri="{BB962C8B-B14F-4D97-AF65-F5344CB8AC3E}">
        <p14:creationId xmlns:p14="http://schemas.microsoft.com/office/powerpoint/2010/main" val="546098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90FD-B932-CAC8-FB92-F809CD49C86A}"/>
              </a:ext>
            </a:extLst>
          </p:cNvPr>
          <p:cNvSpPr>
            <a:spLocks noGrp="1"/>
          </p:cNvSpPr>
          <p:nvPr>
            <p:ph type="title"/>
          </p:nvPr>
        </p:nvSpPr>
        <p:spPr>
          <a:xfrm>
            <a:off x="623888" y="1709740"/>
            <a:ext cx="78867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3D1CE84D-53DB-6557-4A41-B34E4D3FC434}"/>
              </a:ext>
            </a:extLst>
          </p:cNvPr>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3E5C1B28-2EA6-FA5A-1F65-FAC17B7B9900}"/>
              </a:ext>
            </a:extLst>
          </p:cNvPr>
          <p:cNvSpPr>
            <a:spLocks noGrp="1"/>
          </p:cNvSpPr>
          <p:nvPr>
            <p:ph type="dt" sz="half" idx="10"/>
          </p:nvPr>
        </p:nvSpPr>
        <p:spPr/>
        <p:txBody>
          <a:bodyPr/>
          <a:lstStyle>
            <a:lvl1pPr>
              <a:defRPr/>
            </a:lvl1pPr>
          </a:lstStyle>
          <a:p>
            <a:fld id="{9D2CC795-5351-4FC0-BBEC-7983B1BEA2B6}" type="datetime1">
              <a:rPr lang="en-US" altLang="en-US" smtClean="0"/>
              <a:t>7/17/2025</a:t>
            </a:fld>
            <a:endParaRPr lang="es-ES" altLang="en-US"/>
          </a:p>
        </p:txBody>
      </p:sp>
      <p:sp>
        <p:nvSpPr>
          <p:cNvPr id="5" name="Footer Placeholder 4">
            <a:extLst>
              <a:ext uri="{FF2B5EF4-FFF2-40B4-BE49-F238E27FC236}">
                <a16:creationId xmlns:a16="http://schemas.microsoft.com/office/drawing/2014/main" id="{D4E34AED-9044-E1E1-E7C5-EBAB1DDB63B1}"/>
              </a:ext>
            </a:extLst>
          </p:cNvPr>
          <p:cNvSpPr>
            <a:spLocks noGrp="1"/>
          </p:cNvSpPr>
          <p:nvPr>
            <p:ph type="ftr" sz="quarter" idx="11"/>
          </p:nvPr>
        </p:nvSpPr>
        <p:spPr/>
        <p:txBody>
          <a:bodyPr/>
          <a:lstStyle>
            <a:lvl1pPr>
              <a:defRPr/>
            </a:lvl1pPr>
          </a:lstStyle>
          <a:p>
            <a:r>
              <a:rPr lang="es-ES" altLang="en-US"/>
              <a:t>MC3020</a:t>
            </a:r>
          </a:p>
        </p:txBody>
      </p:sp>
      <p:sp>
        <p:nvSpPr>
          <p:cNvPr id="6" name="Slide Number Placeholder 5">
            <a:extLst>
              <a:ext uri="{FF2B5EF4-FFF2-40B4-BE49-F238E27FC236}">
                <a16:creationId xmlns:a16="http://schemas.microsoft.com/office/drawing/2014/main" id="{943DEE1A-CEFF-44F1-DE77-E8C92F2BC86F}"/>
              </a:ext>
            </a:extLst>
          </p:cNvPr>
          <p:cNvSpPr>
            <a:spLocks noGrp="1"/>
          </p:cNvSpPr>
          <p:nvPr>
            <p:ph type="sldNum" sz="quarter" idx="12"/>
          </p:nvPr>
        </p:nvSpPr>
        <p:spPr/>
        <p:txBody>
          <a:bodyPr/>
          <a:lstStyle>
            <a:lvl1pPr>
              <a:defRPr/>
            </a:lvl1pPr>
          </a:lstStyle>
          <a:p>
            <a:fld id="{3926D4B6-F142-433B-802D-6E26D00C1F89}" type="slidenum">
              <a:rPr lang="es-ES" altLang="en-US"/>
              <a:pPr/>
              <a:t>‹#›</a:t>
            </a:fld>
            <a:endParaRPr lang="es-ES" altLang="en-US"/>
          </a:p>
        </p:txBody>
      </p:sp>
    </p:spTree>
    <p:extLst>
      <p:ext uri="{BB962C8B-B14F-4D97-AF65-F5344CB8AC3E}">
        <p14:creationId xmlns:p14="http://schemas.microsoft.com/office/powerpoint/2010/main" val="3606938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BA4E8-BCB0-7853-FA40-931BA26798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ABD20D73-B07E-933B-A5C5-629CA34D3B41}"/>
              </a:ext>
            </a:extLst>
          </p:cNvPr>
          <p:cNvSpPr>
            <a:spLocks noGrp="1"/>
          </p:cNvSpPr>
          <p:nvPr>
            <p:ph sz="half" idx="1"/>
          </p:nvPr>
        </p:nvSpPr>
        <p:spPr>
          <a:xfrm>
            <a:off x="457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28E0A0A-63A4-D7C3-2047-EE3B9E853725}"/>
              </a:ext>
            </a:extLst>
          </p:cNvPr>
          <p:cNvSpPr>
            <a:spLocks noGrp="1"/>
          </p:cNvSpPr>
          <p:nvPr>
            <p:ph sz="half" idx="2"/>
          </p:nvPr>
        </p:nvSpPr>
        <p:spPr>
          <a:xfrm>
            <a:off x="4648200" y="1600202"/>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DE26D1AF-4861-8DF2-F498-331EA10DA320}"/>
              </a:ext>
            </a:extLst>
          </p:cNvPr>
          <p:cNvSpPr>
            <a:spLocks noGrp="1"/>
          </p:cNvSpPr>
          <p:nvPr>
            <p:ph type="dt" sz="half" idx="10"/>
          </p:nvPr>
        </p:nvSpPr>
        <p:spPr/>
        <p:txBody>
          <a:bodyPr/>
          <a:lstStyle>
            <a:lvl1pPr>
              <a:defRPr/>
            </a:lvl1pPr>
          </a:lstStyle>
          <a:p>
            <a:fld id="{26111B14-DD1E-4606-8696-65A99802915F}" type="datetime1">
              <a:rPr lang="en-US" altLang="en-US" smtClean="0"/>
              <a:t>7/17/2025</a:t>
            </a:fld>
            <a:endParaRPr lang="es-ES" altLang="en-US"/>
          </a:p>
        </p:txBody>
      </p:sp>
      <p:sp>
        <p:nvSpPr>
          <p:cNvPr id="6" name="Footer Placeholder 5">
            <a:extLst>
              <a:ext uri="{FF2B5EF4-FFF2-40B4-BE49-F238E27FC236}">
                <a16:creationId xmlns:a16="http://schemas.microsoft.com/office/drawing/2014/main" id="{4F841A31-ADE5-7F47-2309-B62C0E9C2DE9}"/>
              </a:ext>
            </a:extLst>
          </p:cNvPr>
          <p:cNvSpPr>
            <a:spLocks noGrp="1"/>
          </p:cNvSpPr>
          <p:nvPr>
            <p:ph type="ftr" sz="quarter" idx="11"/>
          </p:nvPr>
        </p:nvSpPr>
        <p:spPr/>
        <p:txBody>
          <a:bodyPr/>
          <a:lstStyle>
            <a:lvl1pPr>
              <a:defRPr/>
            </a:lvl1pPr>
          </a:lstStyle>
          <a:p>
            <a:r>
              <a:rPr lang="es-ES" altLang="en-US"/>
              <a:t>MC3020</a:t>
            </a:r>
          </a:p>
        </p:txBody>
      </p:sp>
      <p:sp>
        <p:nvSpPr>
          <p:cNvPr id="7" name="Slide Number Placeholder 6">
            <a:extLst>
              <a:ext uri="{FF2B5EF4-FFF2-40B4-BE49-F238E27FC236}">
                <a16:creationId xmlns:a16="http://schemas.microsoft.com/office/drawing/2014/main" id="{19BF9D9E-F41E-0EFD-A817-5F7BB62B86B1}"/>
              </a:ext>
            </a:extLst>
          </p:cNvPr>
          <p:cNvSpPr>
            <a:spLocks noGrp="1"/>
          </p:cNvSpPr>
          <p:nvPr>
            <p:ph type="sldNum" sz="quarter" idx="12"/>
          </p:nvPr>
        </p:nvSpPr>
        <p:spPr/>
        <p:txBody>
          <a:bodyPr/>
          <a:lstStyle>
            <a:lvl1pPr>
              <a:defRPr/>
            </a:lvl1pPr>
          </a:lstStyle>
          <a:p>
            <a:fld id="{D8664CB2-041D-40A0-ADCF-B7556972B154}" type="slidenum">
              <a:rPr lang="es-ES" altLang="en-US"/>
              <a:pPr/>
              <a:t>‹#›</a:t>
            </a:fld>
            <a:endParaRPr lang="es-ES" altLang="en-US"/>
          </a:p>
        </p:txBody>
      </p:sp>
    </p:spTree>
    <p:extLst>
      <p:ext uri="{BB962C8B-B14F-4D97-AF65-F5344CB8AC3E}">
        <p14:creationId xmlns:p14="http://schemas.microsoft.com/office/powerpoint/2010/main" val="123507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E7D5-FC85-AFEF-EB27-B0CA58788933}"/>
              </a:ext>
            </a:extLst>
          </p:cNvPr>
          <p:cNvSpPr>
            <a:spLocks noGrp="1"/>
          </p:cNvSpPr>
          <p:nvPr>
            <p:ph type="title"/>
          </p:nvPr>
        </p:nvSpPr>
        <p:spPr>
          <a:xfrm>
            <a:off x="630238" y="365127"/>
            <a:ext cx="78867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6341863-2F91-4BC6-693F-05D2D308CAFC}"/>
              </a:ext>
            </a:extLst>
          </p:cNvPr>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F36CEF-00F2-CA0D-7D98-1DCE3B8D9860}"/>
              </a:ext>
            </a:extLst>
          </p:cNvPr>
          <p:cNvSpPr>
            <a:spLocks noGrp="1"/>
          </p:cNvSpPr>
          <p:nvPr>
            <p:ph sz="half" idx="2"/>
          </p:nvPr>
        </p:nvSpPr>
        <p:spPr>
          <a:xfrm>
            <a:off x="630239"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B205B26D-1C09-BC49-A4E1-FD545A7FF45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90C808-3DA9-3A42-051D-9CBB182B6F2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82E056A5-30D8-7602-5E86-35094B2DEA36}"/>
              </a:ext>
            </a:extLst>
          </p:cNvPr>
          <p:cNvSpPr>
            <a:spLocks noGrp="1"/>
          </p:cNvSpPr>
          <p:nvPr>
            <p:ph type="dt" sz="half" idx="10"/>
          </p:nvPr>
        </p:nvSpPr>
        <p:spPr/>
        <p:txBody>
          <a:bodyPr/>
          <a:lstStyle>
            <a:lvl1pPr>
              <a:defRPr/>
            </a:lvl1pPr>
          </a:lstStyle>
          <a:p>
            <a:fld id="{2A0C7CF5-B86A-4779-AC47-91269DDED283}" type="datetime1">
              <a:rPr lang="en-US" altLang="en-US" smtClean="0"/>
              <a:t>7/17/2025</a:t>
            </a:fld>
            <a:endParaRPr lang="es-ES" altLang="en-US"/>
          </a:p>
        </p:txBody>
      </p:sp>
      <p:sp>
        <p:nvSpPr>
          <p:cNvPr id="8" name="Footer Placeholder 7">
            <a:extLst>
              <a:ext uri="{FF2B5EF4-FFF2-40B4-BE49-F238E27FC236}">
                <a16:creationId xmlns:a16="http://schemas.microsoft.com/office/drawing/2014/main" id="{39589605-5DE7-8EF0-2BC4-8DA6E4E39475}"/>
              </a:ext>
            </a:extLst>
          </p:cNvPr>
          <p:cNvSpPr>
            <a:spLocks noGrp="1"/>
          </p:cNvSpPr>
          <p:nvPr>
            <p:ph type="ftr" sz="quarter" idx="11"/>
          </p:nvPr>
        </p:nvSpPr>
        <p:spPr/>
        <p:txBody>
          <a:bodyPr/>
          <a:lstStyle>
            <a:lvl1pPr>
              <a:defRPr/>
            </a:lvl1pPr>
          </a:lstStyle>
          <a:p>
            <a:r>
              <a:rPr lang="es-ES" altLang="en-US"/>
              <a:t>MC3020</a:t>
            </a:r>
          </a:p>
        </p:txBody>
      </p:sp>
      <p:sp>
        <p:nvSpPr>
          <p:cNvPr id="9" name="Slide Number Placeholder 8">
            <a:extLst>
              <a:ext uri="{FF2B5EF4-FFF2-40B4-BE49-F238E27FC236}">
                <a16:creationId xmlns:a16="http://schemas.microsoft.com/office/drawing/2014/main" id="{31375CF0-2DC6-22A8-88D8-5F44A4FFDD73}"/>
              </a:ext>
            </a:extLst>
          </p:cNvPr>
          <p:cNvSpPr>
            <a:spLocks noGrp="1"/>
          </p:cNvSpPr>
          <p:nvPr>
            <p:ph type="sldNum" sz="quarter" idx="12"/>
          </p:nvPr>
        </p:nvSpPr>
        <p:spPr/>
        <p:txBody>
          <a:bodyPr/>
          <a:lstStyle>
            <a:lvl1pPr>
              <a:defRPr/>
            </a:lvl1pPr>
          </a:lstStyle>
          <a:p>
            <a:fld id="{E6E271E8-596C-48B1-878E-01F1EE2DDA56}" type="slidenum">
              <a:rPr lang="es-ES" altLang="en-US"/>
              <a:pPr/>
              <a:t>‹#›</a:t>
            </a:fld>
            <a:endParaRPr lang="es-ES" altLang="en-US"/>
          </a:p>
        </p:txBody>
      </p:sp>
    </p:spTree>
    <p:extLst>
      <p:ext uri="{BB962C8B-B14F-4D97-AF65-F5344CB8AC3E}">
        <p14:creationId xmlns:p14="http://schemas.microsoft.com/office/powerpoint/2010/main" val="2305977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28C76-272A-0A93-9659-ED50883D8102}"/>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6E4EAB4-1445-A75C-15A1-FE95FBCD428E}"/>
              </a:ext>
            </a:extLst>
          </p:cNvPr>
          <p:cNvSpPr>
            <a:spLocks noGrp="1"/>
          </p:cNvSpPr>
          <p:nvPr>
            <p:ph type="dt" sz="half" idx="10"/>
          </p:nvPr>
        </p:nvSpPr>
        <p:spPr/>
        <p:txBody>
          <a:bodyPr/>
          <a:lstStyle>
            <a:lvl1pPr>
              <a:defRPr/>
            </a:lvl1pPr>
          </a:lstStyle>
          <a:p>
            <a:fld id="{B861383A-383E-4702-9389-B67DCC9253D4}" type="datetime1">
              <a:rPr lang="en-US" altLang="en-US" smtClean="0"/>
              <a:t>7/17/2025</a:t>
            </a:fld>
            <a:endParaRPr lang="es-ES" altLang="en-US"/>
          </a:p>
        </p:txBody>
      </p:sp>
      <p:sp>
        <p:nvSpPr>
          <p:cNvPr id="4" name="Footer Placeholder 3">
            <a:extLst>
              <a:ext uri="{FF2B5EF4-FFF2-40B4-BE49-F238E27FC236}">
                <a16:creationId xmlns:a16="http://schemas.microsoft.com/office/drawing/2014/main" id="{9D2E35BD-2902-AEC6-5A8A-BD860DE852B4}"/>
              </a:ext>
            </a:extLst>
          </p:cNvPr>
          <p:cNvSpPr>
            <a:spLocks noGrp="1"/>
          </p:cNvSpPr>
          <p:nvPr>
            <p:ph type="ftr" sz="quarter" idx="11"/>
          </p:nvPr>
        </p:nvSpPr>
        <p:spPr/>
        <p:txBody>
          <a:bodyPr/>
          <a:lstStyle>
            <a:lvl1pPr>
              <a:defRPr/>
            </a:lvl1pPr>
          </a:lstStyle>
          <a:p>
            <a:r>
              <a:rPr lang="es-ES" altLang="en-US"/>
              <a:t>MC3020</a:t>
            </a:r>
          </a:p>
        </p:txBody>
      </p:sp>
      <p:sp>
        <p:nvSpPr>
          <p:cNvPr id="5" name="Slide Number Placeholder 4">
            <a:extLst>
              <a:ext uri="{FF2B5EF4-FFF2-40B4-BE49-F238E27FC236}">
                <a16:creationId xmlns:a16="http://schemas.microsoft.com/office/drawing/2014/main" id="{825CA23C-7EA2-C6C8-C05A-9C5629BA5D36}"/>
              </a:ext>
            </a:extLst>
          </p:cNvPr>
          <p:cNvSpPr>
            <a:spLocks noGrp="1"/>
          </p:cNvSpPr>
          <p:nvPr>
            <p:ph type="sldNum" sz="quarter" idx="12"/>
          </p:nvPr>
        </p:nvSpPr>
        <p:spPr/>
        <p:txBody>
          <a:bodyPr/>
          <a:lstStyle>
            <a:lvl1pPr>
              <a:defRPr/>
            </a:lvl1pPr>
          </a:lstStyle>
          <a:p>
            <a:fld id="{DCE6674B-38DF-4B98-9D48-CD1AC462BAB9}" type="slidenum">
              <a:rPr lang="es-ES" altLang="en-US"/>
              <a:pPr/>
              <a:t>‹#›</a:t>
            </a:fld>
            <a:endParaRPr lang="es-ES" altLang="en-US"/>
          </a:p>
        </p:txBody>
      </p:sp>
    </p:spTree>
    <p:extLst>
      <p:ext uri="{BB962C8B-B14F-4D97-AF65-F5344CB8AC3E}">
        <p14:creationId xmlns:p14="http://schemas.microsoft.com/office/powerpoint/2010/main" val="185081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C00411-CBA5-49AB-24BD-A44E94D7C5A3}"/>
              </a:ext>
            </a:extLst>
          </p:cNvPr>
          <p:cNvSpPr>
            <a:spLocks noGrp="1"/>
          </p:cNvSpPr>
          <p:nvPr>
            <p:ph type="dt" sz="half" idx="10"/>
          </p:nvPr>
        </p:nvSpPr>
        <p:spPr/>
        <p:txBody>
          <a:bodyPr/>
          <a:lstStyle>
            <a:lvl1pPr>
              <a:defRPr/>
            </a:lvl1pPr>
          </a:lstStyle>
          <a:p>
            <a:fld id="{81368630-C44F-4508-BA35-BCD2BD90839B}" type="datetime1">
              <a:rPr lang="en-US" altLang="en-US" smtClean="0"/>
              <a:t>7/17/2025</a:t>
            </a:fld>
            <a:endParaRPr lang="es-ES" altLang="en-US"/>
          </a:p>
        </p:txBody>
      </p:sp>
      <p:sp>
        <p:nvSpPr>
          <p:cNvPr id="3" name="Footer Placeholder 2">
            <a:extLst>
              <a:ext uri="{FF2B5EF4-FFF2-40B4-BE49-F238E27FC236}">
                <a16:creationId xmlns:a16="http://schemas.microsoft.com/office/drawing/2014/main" id="{61340C8A-8E9B-F177-913B-DD0807EBF6F9}"/>
              </a:ext>
            </a:extLst>
          </p:cNvPr>
          <p:cNvSpPr>
            <a:spLocks noGrp="1"/>
          </p:cNvSpPr>
          <p:nvPr>
            <p:ph type="ftr" sz="quarter" idx="11"/>
          </p:nvPr>
        </p:nvSpPr>
        <p:spPr/>
        <p:txBody>
          <a:bodyPr/>
          <a:lstStyle>
            <a:lvl1pPr>
              <a:defRPr/>
            </a:lvl1pPr>
          </a:lstStyle>
          <a:p>
            <a:r>
              <a:rPr lang="es-ES" altLang="en-US"/>
              <a:t>MC3020</a:t>
            </a:r>
          </a:p>
        </p:txBody>
      </p:sp>
      <p:sp>
        <p:nvSpPr>
          <p:cNvPr id="4" name="Slide Number Placeholder 3">
            <a:extLst>
              <a:ext uri="{FF2B5EF4-FFF2-40B4-BE49-F238E27FC236}">
                <a16:creationId xmlns:a16="http://schemas.microsoft.com/office/drawing/2014/main" id="{98DD2FAC-C2AA-705D-6940-7BED8352A4C4}"/>
              </a:ext>
            </a:extLst>
          </p:cNvPr>
          <p:cNvSpPr>
            <a:spLocks noGrp="1"/>
          </p:cNvSpPr>
          <p:nvPr>
            <p:ph type="sldNum" sz="quarter" idx="12"/>
          </p:nvPr>
        </p:nvSpPr>
        <p:spPr/>
        <p:txBody>
          <a:bodyPr/>
          <a:lstStyle>
            <a:lvl1pPr>
              <a:defRPr/>
            </a:lvl1pPr>
          </a:lstStyle>
          <a:p>
            <a:fld id="{9D64792B-E0FE-4477-BA86-1CE58B816D9F}" type="slidenum">
              <a:rPr lang="es-ES" altLang="en-US"/>
              <a:pPr/>
              <a:t>‹#›</a:t>
            </a:fld>
            <a:endParaRPr lang="es-ES" altLang="en-US"/>
          </a:p>
        </p:txBody>
      </p:sp>
    </p:spTree>
    <p:extLst>
      <p:ext uri="{BB962C8B-B14F-4D97-AF65-F5344CB8AC3E}">
        <p14:creationId xmlns:p14="http://schemas.microsoft.com/office/powerpoint/2010/main" val="1335656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AB493-DB29-41B3-5227-3F3A0AFC9CD3}"/>
              </a:ext>
            </a:extLst>
          </p:cNvPr>
          <p:cNvSpPr>
            <a:spLocks noGrp="1"/>
          </p:cNvSpPr>
          <p:nvPr>
            <p:ph type="title"/>
          </p:nvPr>
        </p:nvSpPr>
        <p:spPr>
          <a:xfrm>
            <a:off x="630239" y="457200"/>
            <a:ext cx="2949575"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EA63C132-FB3A-7094-451F-FEB0D42425F8}"/>
              </a:ext>
            </a:extLst>
          </p:cNvPr>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D5121ED7-6F41-3281-820B-118BD198762B}"/>
              </a:ext>
            </a:extLst>
          </p:cNvPr>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6F333-C8BC-50E5-C763-683845D02273}"/>
              </a:ext>
            </a:extLst>
          </p:cNvPr>
          <p:cNvSpPr>
            <a:spLocks noGrp="1"/>
          </p:cNvSpPr>
          <p:nvPr>
            <p:ph type="dt" sz="half" idx="10"/>
          </p:nvPr>
        </p:nvSpPr>
        <p:spPr/>
        <p:txBody>
          <a:bodyPr/>
          <a:lstStyle>
            <a:lvl1pPr>
              <a:defRPr/>
            </a:lvl1pPr>
          </a:lstStyle>
          <a:p>
            <a:fld id="{F89167D9-8317-476C-BD32-5F3A52D0C516}" type="datetime1">
              <a:rPr lang="en-US" altLang="en-US" smtClean="0"/>
              <a:t>7/17/2025</a:t>
            </a:fld>
            <a:endParaRPr lang="es-ES" altLang="en-US"/>
          </a:p>
        </p:txBody>
      </p:sp>
      <p:sp>
        <p:nvSpPr>
          <p:cNvPr id="6" name="Footer Placeholder 5">
            <a:extLst>
              <a:ext uri="{FF2B5EF4-FFF2-40B4-BE49-F238E27FC236}">
                <a16:creationId xmlns:a16="http://schemas.microsoft.com/office/drawing/2014/main" id="{FF760E39-2379-F380-0C21-EDBF1C8EC93D}"/>
              </a:ext>
            </a:extLst>
          </p:cNvPr>
          <p:cNvSpPr>
            <a:spLocks noGrp="1"/>
          </p:cNvSpPr>
          <p:nvPr>
            <p:ph type="ftr" sz="quarter" idx="11"/>
          </p:nvPr>
        </p:nvSpPr>
        <p:spPr/>
        <p:txBody>
          <a:bodyPr/>
          <a:lstStyle>
            <a:lvl1pPr>
              <a:defRPr/>
            </a:lvl1pPr>
          </a:lstStyle>
          <a:p>
            <a:r>
              <a:rPr lang="es-ES" altLang="en-US"/>
              <a:t>MC3020</a:t>
            </a:r>
          </a:p>
        </p:txBody>
      </p:sp>
      <p:sp>
        <p:nvSpPr>
          <p:cNvPr id="7" name="Slide Number Placeholder 6">
            <a:extLst>
              <a:ext uri="{FF2B5EF4-FFF2-40B4-BE49-F238E27FC236}">
                <a16:creationId xmlns:a16="http://schemas.microsoft.com/office/drawing/2014/main" id="{591E3170-C9C2-355E-CED8-C3227390FCF7}"/>
              </a:ext>
            </a:extLst>
          </p:cNvPr>
          <p:cNvSpPr>
            <a:spLocks noGrp="1"/>
          </p:cNvSpPr>
          <p:nvPr>
            <p:ph type="sldNum" sz="quarter" idx="12"/>
          </p:nvPr>
        </p:nvSpPr>
        <p:spPr/>
        <p:txBody>
          <a:bodyPr/>
          <a:lstStyle>
            <a:lvl1pPr>
              <a:defRPr/>
            </a:lvl1pPr>
          </a:lstStyle>
          <a:p>
            <a:fld id="{EC7B9825-648D-4939-9DBE-5FEBF1888E24}" type="slidenum">
              <a:rPr lang="es-ES" altLang="en-US"/>
              <a:pPr/>
              <a:t>‹#›</a:t>
            </a:fld>
            <a:endParaRPr lang="es-ES" altLang="en-US"/>
          </a:p>
        </p:txBody>
      </p:sp>
    </p:spTree>
    <p:extLst>
      <p:ext uri="{BB962C8B-B14F-4D97-AF65-F5344CB8AC3E}">
        <p14:creationId xmlns:p14="http://schemas.microsoft.com/office/powerpoint/2010/main" val="1208322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B7D3-29D6-BB45-49B4-6CA13218F68E}"/>
              </a:ext>
            </a:extLst>
          </p:cNvPr>
          <p:cNvSpPr>
            <a:spLocks noGrp="1"/>
          </p:cNvSpPr>
          <p:nvPr>
            <p:ph type="title"/>
          </p:nvPr>
        </p:nvSpPr>
        <p:spPr>
          <a:xfrm>
            <a:off x="630239" y="457200"/>
            <a:ext cx="2949575"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2501B582-E994-67C8-65EE-5A172F5798AF}"/>
              </a:ext>
            </a:extLst>
          </p:cNvPr>
          <p:cNvSpPr>
            <a:spLocks noGrp="1"/>
          </p:cNvSpPr>
          <p:nvPr>
            <p:ph type="pic" idx="1"/>
          </p:nvPr>
        </p:nvSpPr>
        <p:spPr>
          <a:xfrm>
            <a:off x="3887788" y="987427"/>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80A1364-8BA4-4C5E-F3C3-4854D75FB205}"/>
              </a:ext>
            </a:extLst>
          </p:cNvPr>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E60A0E-3125-BAE8-C53B-D16CDBCD266A}"/>
              </a:ext>
            </a:extLst>
          </p:cNvPr>
          <p:cNvSpPr>
            <a:spLocks noGrp="1"/>
          </p:cNvSpPr>
          <p:nvPr>
            <p:ph type="dt" sz="half" idx="10"/>
          </p:nvPr>
        </p:nvSpPr>
        <p:spPr/>
        <p:txBody>
          <a:bodyPr/>
          <a:lstStyle>
            <a:lvl1pPr>
              <a:defRPr/>
            </a:lvl1pPr>
          </a:lstStyle>
          <a:p>
            <a:fld id="{3B095790-CFFD-460D-B1F6-437FF7932D5A}" type="datetime1">
              <a:rPr lang="en-US" altLang="en-US" smtClean="0"/>
              <a:t>7/17/2025</a:t>
            </a:fld>
            <a:endParaRPr lang="es-ES" altLang="en-US"/>
          </a:p>
        </p:txBody>
      </p:sp>
      <p:sp>
        <p:nvSpPr>
          <p:cNvPr id="6" name="Footer Placeholder 5">
            <a:extLst>
              <a:ext uri="{FF2B5EF4-FFF2-40B4-BE49-F238E27FC236}">
                <a16:creationId xmlns:a16="http://schemas.microsoft.com/office/drawing/2014/main" id="{5822FE0E-C96B-28CE-4835-A7E186E5567A}"/>
              </a:ext>
            </a:extLst>
          </p:cNvPr>
          <p:cNvSpPr>
            <a:spLocks noGrp="1"/>
          </p:cNvSpPr>
          <p:nvPr>
            <p:ph type="ftr" sz="quarter" idx="11"/>
          </p:nvPr>
        </p:nvSpPr>
        <p:spPr/>
        <p:txBody>
          <a:bodyPr/>
          <a:lstStyle>
            <a:lvl1pPr>
              <a:defRPr/>
            </a:lvl1pPr>
          </a:lstStyle>
          <a:p>
            <a:r>
              <a:rPr lang="es-ES" altLang="en-US"/>
              <a:t>MC3020</a:t>
            </a:r>
          </a:p>
        </p:txBody>
      </p:sp>
      <p:sp>
        <p:nvSpPr>
          <p:cNvPr id="7" name="Slide Number Placeholder 6">
            <a:extLst>
              <a:ext uri="{FF2B5EF4-FFF2-40B4-BE49-F238E27FC236}">
                <a16:creationId xmlns:a16="http://schemas.microsoft.com/office/drawing/2014/main" id="{E0BD0F54-F61D-5E20-B767-E3DF7162F7A3}"/>
              </a:ext>
            </a:extLst>
          </p:cNvPr>
          <p:cNvSpPr>
            <a:spLocks noGrp="1"/>
          </p:cNvSpPr>
          <p:nvPr>
            <p:ph type="sldNum" sz="quarter" idx="12"/>
          </p:nvPr>
        </p:nvSpPr>
        <p:spPr/>
        <p:txBody>
          <a:bodyPr/>
          <a:lstStyle>
            <a:lvl1pPr>
              <a:defRPr/>
            </a:lvl1pPr>
          </a:lstStyle>
          <a:p>
            <a:fld id="{B146F06E-9BB5-41E5-A703-DC48B80FBF31}" type="slidenum">
              <a:rPr lang="es-ES" altLang="en-US"/>
              <a:pPr/>
              <a:t>‹#›</a:t>
            </a:fld>
            <a:endParaRPr lang="es-ES" altLang="en-US"/>
          </a:p>
        </p:txBody>
      </p:sp>
    </p:spTree>
    <p:extLst>
      <p:ext uri="{BB962C8B-B14F-4D97-AF65-F5344CB8AC3E}">
        <p14:creationId xmlns:p14="http://schemas.microsoft.com/office/powerpoint/2010/main" val="137262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961A2-3574-D922-FF79-5C927AA38084}"/>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9ED2B6C-8E8F-BB8A-C343-FCCF0F6E7B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41D6CBC-4DF5-703A-BEA1-7339C2E1010E}"/>
              </a:ext>
            </a:extLst>
          </p:cNvPr>
          <p:cNvSpPr>
            <a:spLocks noGrp="1"/>
          </p:cNvSpPr>
          <p:nvPr>
            <p:ph type="dt" sz="half" idx="10"/>
          </p:nvPr>
        </p:nvSpPr>
        <p:spPr/>
        <p:txBody>
          <a:bodyPr/>
          <a:lstStyle>
            <a:lvl1pPr>
              <a:defRPr/>
            </a:lvl1pPr>
          </a:lstStyle>
          <a:p>
            <a:fld id="{CF5FA64B-D9C7-4D6A-B3F0-1DA11391C3D9}" type="datetime1">
              <a:rPr lang="en-US" altLang="en-US" smtClean="0"/>
              <a:t>7/17/2025</a:t>
            </a:fld>
            <a:endParaRPr lang="es-ES" altLang="en-US"/>
          </a:p>
        </p:txBody>
      </p:sp>
      <p:sp>
        <p:nvSpPr>
          <p:cNvPr id="5" name="Footer Placeholder 4">
            <a:extLst>
              <a:ext uri="{FF2B5EF4-FFF2-40B4-BE49-F238E27FC236}">
                <a16:creationId xmlns:a16="http://schemas.microsoft.com/office/drawing/2014/main" id="{3D669493-C912-BB61-0B2D-9DA4F912F7DC}"/>
              </a:ext>
            </a:extLst>
          </p:cNvPr>
          <p:cNvSpPr>
            <a:spLocks noGrp="1"/>
          </p:cNvSpPr>
          <p:nvPr>
            <p:ph type="ftr" sz="quarter" idx="11"/>
          </p:nvPr>
        </p:nvSpPr>
        <p:spPr/>
        <p:txBody>
          <a:bodyPr/>
          <a:lstStyle>
            <a:lvl1pPr>
              <a:defRPr/>
            </a:lvl1pPr>
          </a:lstStyle>
          <a:p>
            <a:r>
              <a:rPr lang="es-ES" altLang="en-US"/>
              <a:t>MC3020</a:t>
            </a:r>
          </a:p>
        </p:txBody>
      </p:sp>
      <p:sp>
        <p:nvSpPr>
          <p:cNvPr id="6" name="Slide Number Placeholder 5">
            <a:extLst>
              <a:ext uri="{FF2B5EF4-FFF2-40B4-BE49-F238E27FC236}">
                <a16:creationId xmlns:a16="http://schemas.microsoft.com/office/drawing/2014/main" id="{C1377F37-99EC-C15D-DB30-ED42CFEC569E}"/>
              </a:ext>
            </a:extLst>
          </p:cNvPr>
          <p:cNvSpPr>
            <a:spLocks noGrp="1"/>
          </p:cNvSpPr>
          <p:nvPr>
            <p:ph type="sldNum" sz="quarter" idx="12"/>
          </p:nvPr>
        </p:nvSpPr>
        <p:spPr/>
        <p:txBody>
          <a:bodyPr/>
          <a:lstStyle>
            <a:lvl1pPr>
              <a:defRPr/>
            </a:lvl1pPr>
          </a:lstStyle>
          <a:p>
            <a:fld id="{DC189458-ABED-4CD8-88CB-DB3AA3B378FE}" type="slidenum">
              <a:rPr lang="es-ES" altLang="en-US"/>
              <a:pPr/>
              <a:t>‹#›</a:t>
            </a:fld>
            <a:endParaRPr lang="es-ES" altLang="en-US"/>
          </a:p>
        </p:txBody>
      </p:sp>
    </p:spTree>
    <p:extLst>
      <p:ext uri="{BB962C8B-B14F-4D97-AF65-F5344CB8AC3E}">
        <p14:creationId xmlns:p14="http://schemas.microsoft.com/office/powerpoint/2010/main" val="3331229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1CF8B8-43D5-C28E-8096-582DFA29D161}"/>
              </a:ext>
            </a:extLst>
          </p:cNvPr>
          <p:cNvSpPr>
            <a:spLocks noGrp="1"/>
          </p:cNvSpPr>
          <p:nvPr>
            <p:ph type="title" orient="vert"/>
          </p:nvPr>
        </p:nvSpPr>
        <p:spPr>
          <a:xfrm>
            <a:off x="6629400" y="274640"/>
            <a:ext cx="2057400" cy="5851525"/>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7376857-365A-4D72-DEB4-40C883D3F414}"/>
              </a:ext>
            </a:extLst>
          </p:cNvPr>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C3F5151-4A59-C01B-6A31-25D602F71466}"/>
              </a:ext>
            </a:extLst>
          </p:cNvPr>
          <p:cNvSpPr>
            <a:spLocks noGrp="1"/>
          </p:cNvSpPr>
          <p:nvPr>
            <p:ph type="dt" sz="half" idx="10"/>
          </p:nvPr>
        </p:nvSpPr>
        <p:spPr/>
        <p:txBody>
          <a:bodyPr/>
          <a:lstStyle>
            <a:lvl1pPr>
              <a:defRPr/>
            </a:lvl1pPr>
          </a:lstStyle>
          <a:p>
            <a:fld id="{922EA7DA-7A6E-459C-A6FA-4F09E96A7660}" type="datetime1">
              <a:rPr lang="en-US" altLang="en-US" smtClean="0"/>
              <a:t>7/17/2025</a:t>
            </a:fld>
            <a:endParaRPr lang="es-ES" altLang="en-US"/>
          </a:p>
        </p:txBody>
      </p:sp>
      <p:sp>
        <p:nvSpPr>
          <p:cNvPr id="5" name="Footer Placeholder 4">
            <a:extLst>
              <a:ext uri="{FF2B5EF4-FFF2-40B4-BE49-F238E27FC236}">
                <a16:creationId xmlns:a16="http://schemas.microsoft.com/office/drawing/2014/main" id="{2DC77262-08AF-2C64-CEA7-ADE677CA821A}"/>
              </a:ext>
            </a:extLst>
          </p:cNvPr>
          <p:cNvSpPr>
            <a:spLocks noGrp="1"/>
          </p:cNvSpPr>
          <p:nvPr>
            <p:ph type="ftr" sz="quarter" idx="11"/>
          </p:nvPr>
        </p:nvSpPr>
        <p:spPr/>
        <p:txBody>
          <a:bodyPr/>
          <a:lstStyle>
            <a:lvl1pPr>
              <a:defRPr/>
            </a:lvl1pPr>
          </a:lstStyle>
          <a:p>
            <a:r>
              <a:rPr lang="es-ES" altLang="en-US"/>
              <a:t>MC3020</a:t>
            </a:r>
          </a:p>
        </p:txBody>
      </p:sp>
      <p:sp>
        <p:nvSpPr>
          <p:cNvPr id="6" name="Slide Number Placeholder 5">
            <a:extLst>
              <a:ext uri="{FF2B5EF4-FFF2-40B4-BE49-F238E27FC236}">
                <a16:creationId xmlns:a16="http://schemas.microsoft.com/office/drawing/2014/main" id="{184ABB2A-B865-C435-E856-9CB3B26DA099}"/>
              </a:ext>
            </a:extLst>
          </p:cNvPr>
          <p:cNvSpPr>
            <a:spLocks noGrp="1"/>
          </p:cNvSpPr>
          <p:nvPr>
            <p:ph type="sldNum" sz="quarter" idx="12"/>
          </p:nvPr>
        </p:nvSpPr>
        <p:spPr/>
        <p:txBody>
          <a:bodyPr/>
          <a:lstStyle>
            <a:lvl1pPr>
              <a:defRPr/>
            </a:lvl1pPr>
          </a:lstStyle>
          <a:p>
            <a:fld id="{CBDEDF43-B680-47E1-A629-98FBF18B3810}" type="slidenum">
              <a:rPr lang="es-ES" altLang="en-US"/>
              <a:pPr/>
              <a:t>‹#›</a:t>
            </a:fld>
            <a:endParaRPr lang="es-ES" altLang="en-US"/>
          </a:p>
        </p:txBody>
      </p:sp>
    </p:spTree>
    <p:extLst>
      <p:ext uri="{BB962C8B-B14F-4D97-AF65-F5344CB8AC3E}">
        <p14:creationId xmlns:p14="http://schemas.microsoft.com/office/powerpoint/2010/main" val="1976270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5EF97E6-625C-12F8-3C13-D371CDD97AA5}"/>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n-US"/>
              <a:t>Haga clic para cambiar el estilo de título	</a:t>
            </a:r>
          </a:p>
        </p:txBody>
      </p:sp>
      <p:sp>
        <p:nvSpPr>
          <p:cNvPr id="1027" name="Rectangle 3">
            <a:extLst>
              <a:ext uri="{FF2B5EF4-FFF2-40B4-BE49-F238E27FC236}">
                <a16:creationId xmlns:a16="http://schemas.microsoft.com/office/drawing/2014/main" id="{9D6A12A6-C8A8-DE2D-7B92-EB2DDB49DC7D}"/>
              </a:ext>
            </a:extLst>
          </p:cNvPr>
          <p:cNvSpPr>
            <a:spLocks noGrp="1" noChangeArrowheads="1"/>
          </p:cNvSpPr>
          <p:nvPr>
            <p:ph type="body" idx="1"/>
          </p:nvPr>
        </p:nvSpPr>
        <p:spPr bwMode="auto">
          <a:xfrm>
            <a:off x="457200" y="1600202"/>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1028" name="Rectangle 4">
            <a:extLst>
              <a:ext uri="{FF2B5EF4-FFF2-40B4-BE49-F238E27FC236}">
                <a16:creationId xmlns:a16="http://schemas.microsoft.com/office/drawing/2014/main" id="{0A70F24C-77F1-B50E-7D41-986B6C13B41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fld id="{4CB251FA-1BA7-48B0-B940-3CC5772202DA}" type="datetime1">
              <a:rPr lang="en-US" altLang="en-US" smtClean="0"/>
              <a:t>7/17/2025</a:t>
            </a:fld>
            <a:endParaRPr lang="es-ES" altLang="en-US"/>
          </a:p>
        </p:txBody>
      </p:sp>
      <p:sp>
        <p:nvSpPr>
          <p:cNvPr id="1029" name="Rectangle 5">
            <a:extLst>
              <a:ext uri="{FF2B5EF4-FFF2-40B4-BE49-F238E27FC236}">
                <a16:creationId xmlns:a16="http://schemas.microsoft.com/office/drawing/2014/main" id="{78E423BC-4479-BEE3-0236-FA9461460DC8}"/>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s-ES" altLang="en-US"/>
              <a:t>MC3020</a:t>
            </a:r>
          </a:p>
        </p:txBody>
      </p:sp>
      <p:sp>
        <p:nvSpPr>
          <p:cNvPr id="1030" name="Rectangle 6">
            <a:extLst>
              <a:ext uri="{FF2B5EF4-FFF2-40B4-BE49-F238E27FC236}">
                <a16:creationId xmlns:a16="http://schemas.microsoft.com/office/drawing/2014/main" id="{E86AE094-1F01-C509-8EDF-7BEE515C5E88}"/>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C1102295-FEA5-492F-AF88-CB8C80A53299}" type="slidenum">
              <a:rPr lang="es-ES" altLang="en-US"/>
              <a:pPr/>
              <a:t>‹#›</a:t>
            </a:fld>
            <a:endParaRPr lang="es-E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mailto:mayooran@eng.jfn.ac.l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github.com/Mayooran1987/MC3020/raw/main/Statistical_table_MC3020.pdf"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mayooran1987.github.io/MC3020-E2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6505D2B-1413-2BC1-7AA1-0574B39BB3BB}"/>
              </a:ext>
            </a:extLst>
          </p:cNvPr>
          <p:cNvSpPr>
            <a:spLocks noGrp="1" noChangeArrowheads="1"/>
          </p:cNvSpPr>
          <p:nvPr>
            <p:ph type="ctrTitle"/>
          </p:nvPr>
        </p:nvSpPr>
        <p:spPr>
          <a:xfrm>
            <a:off x="1691680" y="2463035"/>
            <a:ext cx="7772400" cy="1470025"/>
          </a:xfrm>
        </p:spPr>
        <p:txBody>
          <a:bodyPr anchor="ctr"/>
          <a:lstStyle/>
          <a:p>
            <a:pPr algn="ctr"/>
            <a:r>
              <a:rPr lang="en-US" sz="4000" b="1" dirty="0">
                <a:solidFill>
                  <a:schemeClr val="bg1"/>
                </a:solidFill>
                <a:latin typeface="Times New Roman" panose="02020603050405020304" pitchFamily="18" charset="0"/>
                <a:cs typeface="Times New Roman" panose="02020603050405020304" pitchFamily="18" charset="0"/>
              </a:rPr>
              <a:t>MC3020 - Comparing Two Population Parameters</a:t>
            </a:r>
          </a:p>
        </p:txBody>
      </p:sp>
      <p:pic>
        <p:nvPicPr>
          <p:cNvPr id="4" name="Picture 2" descr="http://qrc.depaul.edu/djabon/ENV260_SDV360/Activities09/Activity7/TwoSampleDiagram.gif">
            <a:extLst>
              <a:ext uri="{FF2B5EF4-FFF2-40B4-BE49-F238E27FC236}">
                <a16:creationId xmlns:a16="http://schemas.microsoft.com/office/drawing/2014/main" id="{F54E8D4D-0936-6B9E-7E36-C4AFF4F32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4083" y="175981"/>
            <a:ext cx="3995841" cy="22870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Rectangle 13">
            <a:extLst>
              <a:ext uri="{FF2B5EF4-FFF2-40B4-BE49-F238E27FC236}">
                <a16:creationId xmlns:a16="http://schemas.microsoft.com/office/drawing/2014/main" id="{BB705D2E-4A80-0B4B-0A87-249263D4EF68}"/>
              </a:ext>
            </a:extLst>
          </p:cNvPr>
          <p:cNvSpPr>
            <a:spLocks noChangeArrowheads="1"/>
          </p:cNvSpPr>
          <p:nvPr/>
        </p:nvSpPr>
        <p:spPr bwMode="auto">
          <a:xfrm>
            <a:off x="1659861" y="3645028"/>
            <a:ext cx="6400800" cy="2530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200" b="1"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200" dirty="0">
                <a:latin typeface="Bookman Old Style" panose="02050604050505020204" pitchFamily="18" charset="0"/>
                <a:cs typeface="Arabic Typesetting" panose="03020402040406030203" pitchFamily="66" charset="-78"/>
              </a:rPr>
              <a:t> </a:t>
            </a:r>
          </a:p>
          <a:p>
            <a:pPr algn="ctr" eaLnBrk="1" hangingPunct="1">
              <a:spcBef>
                <a:spcPct val="0"/>
              </a:spcBef>
              <a:buFontTx/>
              <a:buNone/>
            </a:pPr>
            <a:r>
              <a:rPr lang="en-US" altLang="en-US" sz="2200" dirty="0">
                <a:latin typeface="Bookman Old Style" panose="02050604050505020204" pitchFamily="18" charset="0"/>
                <a:cs typeface="Arabic Typesetting" panose="03020402040406030203" pitchFamily="66" charset="-78"/>
              </a:rPr>
              <a:t>Dr T. Mayooran, </a:t>
            </a:r>
          </a:p>
          <a:p>
            <a:pPr algn="ctr" eaLnBrk="1" hangingPunct="1">
              <a:spcBef>
                <a:spcPct val="0"/>
              </a:spcBef>
              <a:buFontTx/>
              <a:buNone/>
            </a:pPr>
            <a:r>
              <a:rPr lang="en-US" altLang="en-US" sz="2200" dirty="0">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FontTx/>
              <a:buNone/>
            </a:pPr>
            <a:r>
              <a:rPr lang="en-US" altLang="en-US" sz="2200" dirty="0">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FontTx/>
              <a:buNone/>
            </a:pPr>
            <a:r>
              <a:rPr lang="en-US" altLang="en-US" sz="2200" dirty="0">
                <a:latin typeface="Bookman Old Style" panose="02050604050505020204" pitchFamily="18" charset="0"/>
                <a:cs typeface="Arabic Typesetting" panose="03020402040406030203" pitchFamily="66" charset="-78"/>
              </a:rPr>
              <a:t>University of Jaffna</a:t>
            </a:r>
            <a:r>
              <a:rPr lang="en-US" altLang="en-US" sz="2200" b="1" dirty="0">
                <a:latin typeface="Bookman Old Style" panose="02050604050505020204" pitchFamily="18" charset="0"/>
                <a:cs typeface="Arabic Typesetting" panose="03020402040406030203" pitchFamily="66" charset="-78"/>
              </a:rPr>
              <a:t>.</a:t>
            </a:r>
          </a:p>
          <a:p>
            <a:pPr algn="ctr" eaLnBrk="1" hangingPunct="1">
              <a:lnSpc>
                <a:spcPct val="110000"/>
              </a:lnSpc>
              <a:spcBef>
                <a:spcPct val="0"/>
              </a:spcBef>
              <a:buFontTx/>
              <a:buNone/>
            </a:pPr>
            <a:r>
              <a:rPr lang="en-US" altLang="en-US" sz="2200" dirty="0">
                <a:latin typeface="Bookman Old Style" panose="02050604050505020204" pitchFamily="18" charset="0"/>
                <a:cs typeface="Arabic Typesetting" panose="03020402040406030203" pitchFamily="66" charset="-78"/>
              </a:rPr>
              <a:t>Email: </a:t>
            </a:r>
            <a:r>
              <a:rPr lang="en-US" altLang="en-US" sz="2200" dirty="0">
                <a:latin typeface="Bookman Old Style" panose="02050604050505020204" pitchFamily="18" charset="0"/>
                <a:cs typeface="Arabic Typesetting" panose="03020402040406030203" pitchFamily="66" charset="-78"/>
                <a:hlinkClick r:id="rId4"/>
              </a:rPr>
              <a:t>mayooran@eng.jfn.ac.lk</a:t>
            </a:r>
            <a:endParaRPr lang="en-US" altLang="en-US" sz="2200"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200" b="1" dirty="0">
                <a:latin typeface="Bookman Old Style" panose="02050604050505020204" pitchFamily="18" charset="0"/>
                <a:cs typeface="Arabic Typesetting" panose="03020402040406030203" pitchFamily="66" charset="-78"/>
              </a:rPr>
              <a:t>	</a:t>
            </a:r>
            <a:r>
              <a:rPr lang="en-US" altLang="en-US" sz="2200" b="1" dirty="0">
                <a:latin typeface="Bookman Old Style" panose="02050604050505020204" pitchFamily="18" charset="0"/>
                <a:cs typeface="Tahoma" panose="020B0604030504040204"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olourful carved figures of humans">
            <a:extLst>
              <a:ext uri="{FF2B5EF4-FFF2-40B4-BE49-F238E27FC236}">
                <a16:creationId xmlns:a16="http://schemas.microsoft.com/office/drawing/2014/main" id="{76E49E16-BB83-3183-D18B-951BB6566ADC}"/>
              </a:ext>
            </a:extLst>
          </p:cNvPr>
          <p:cNvPicPr>
            <a:picLocks noChangeAspect="1"/>
          </p:cNvPicPr>
          <p:nvPr/>
        </p:nvPicPr>
        <p:blipFill rotWithShape="1">
          <a:blip r:embed="rId2">
            <a:duotone>
              <a:schemeClr val="bg2">
                <a:shade val="45000"/>
                <a:satMod val="135000"/>
              </a:schemeClr>
              <a:prstClr val="white"/>
            </a:duotone>
            <a:alphaModFix amt="40000"/>
          </a:blip>
          <a:srcRect l="2745" r="2254" b="-1"/>
          <a:stretch/>
        </p:blipFill>
        <p:spPr>
          <a:xfrm>
            <a:off x="20" y="10"/>
            <a:ext cx="9143980" cy="6857990"/>
          </a:xfrm>
          <a:prstGeom prst="rect">
            <a:avLst/>
          </a:prstGeom>
        </p:spPr>
      </p:pic>
      <p:sp>
        <p:nvSpPr>
          <p:cNvPr id="2" name="Title 1"/>
          <p:cNvSpPr>
            <a:spLocks noGrp="1"/>
          </p:cNvSpPr>
          <p:nvPr>
            <p:ph type="title"/>
          </p:nvPr>
        </p:nvSpPr>
        <p:spPr>
          <a:xfrm>
            <a:off x="983688" y="624110"/>
            <a:ext cx="7644775" cy="1280890"/>
          </a:xfrm>
        </p:spPr>
        <p:txBody>
          <a:bodyPr>
            <a:noAutofit/>
          </a:bodyPr>
          <a:lstStyle/>
          <a:p>
            <a:r>
              <a:rPr lang="en-US" sz="4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Comparing two population parameters</a:t>
            </a:r>
          </a:p>
        </p:txBody>
      </p:sp>
      <p:sp>
        <p:nvSpPr>
          <p:cNvPr id="4" name="Slide Number Placeholder 3"/>
          <p:cNvSpPr>
            <a:spLocks noGrp="1"/>
          </p:cNvSpPr>
          <p:nvPr>
            <p:ph type="sldNum" sz="quarter" idx="12"/>
          </p:nvPr>
        </p:nvSpPr>
        <p:spPr>
          <a:xfrm>
            <a:off x="398863" y="787786"/>
            <a:ext cx="584825" cy="365125"/>
          </a:xfrm>
        </p:spPr>
        <p:txBody>
          <a:bodyPr>
            <a:normAutofit/>
          </a:bodyPr>
          <a:lstStyle/>
          <a:p>
            <a:pPr>
              <a:lnSpc>
                <a:spcPct val="90000"/>
              </a:lnSpc>
              <a:spcAft>
                <a:spcPts val="600"/>
              </a:spcAft>
              <a:defRPr/>
            </a:pPr>
            <a:fld id="{22B24E0E-3D45-46C5-9A6B-C669808AED5A}" type="slidenum">
              <a:rPr lang="en-US" altLang="zh-CN" sz="1900"/>
              <a:pPr>
                <a:lnSpc>
                  <a:spcPct val="90000"/>
                </a:lnSpc>
                <a:spcAft>
                  <a:spcPts val="600"/>
                </a:spcAft>
                <a:defRPr/>
              </a:pPr>
              <a:t>2</a:t>
            </a:fld>
            <a:endParaRPr lang="en-US" altLang="zh-CN" sz="1900"/>
          </a:p>
        </p:txBody>
      </p:sp>
      <p:sp>
        <p:nvSpPr>
          <p:cNvPr id="3" name="Content Placeholder 2"/>
          <p:cNvSpPr>
            <a:spLocks noGrp="1"/>
          </p:cNvSpPr>
          <p:nvPr>
            <p:ph idx="1"/>
          </p:nvPr>
        </p:nvSpPr>
        <p:spPr>
          <a:xfrm>
            <a:off x="1259632" y="2133600"/>
            <a:ext cx="7560840" cy="3777622"/>
          </a:xfrm>
        </p:spPr>
        <p:txBody>
          <a:bodyPr>
            <a:normAutofit lnSpcReduction="1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Comparing Two </a:t>
            </a:r>
            <a:r>
              <a:rPr lang="en-US" u="sng" dirty="0">
                <a:latin typeface="Times New Roman" panose="02020603050405020304" pitchFamily="18" charset="0"/>
                <a:cs typeface="Times New Roman" panose="02020603050405020304" pitchFamily="18" charset="0"/>
              </a:rPr>
              <a:t>Population Proportions.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Comparing Two </a:t>
            </a:r>
            <a:r>
              <a:rPr lang="en-US" u="sng" dirty="0">
                <a:latin typeface="Times New Roman" panose="02020603050405020304" pitchFamily="18" charset="0"/>
                <a:cs typeface="Times New Roman" panose="02020603050405020304" pitchFamily="18" charset="0"/>
              </a:rPr>
              <a:t>Independent Population Means.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Comparing Two </a:t>
            </a:r>
            <a:r>
              <a:rPr lang="en-US" u="sng" dirty="0">
                <a:latin typeface="Times New Roman" panose="02020603050405020304" pitchFamily="18" charset="0"/>
                <a:cs typeface="Times New Roman" panose="02020603050405020304" pitchFamily="18" charset="0"/>
              </a:rPr>
              <a:t>Dependent or Matched Population Means.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Comparing Two Independent </a:t>
            </a:r>
            <a:r>
              <a:rPr lang="en-US" u="sng" dirty="0">
                <a:latin typeface="Times New Roman" panose="02020603050405020304" pitchFamily="18" charset="0"/>
                <a:cs typeface="Times New Roman" panose="02020603050405020304" pitchFamily="18" charset="0"/>
              </a:rPr>
              <a:t>Population Variances.</a:t>
            </a:r>
          </a:p>
        </p:txBody>
      </p:sp>
      <p:sp>
        <p:nvSpPr>
          <p:cNvPr id="5" name="Date Placeholder 4">
            <a:extLst>
              <a:ext uri="{FF2B5EF4-FFF2-40B4-BE49-F238E27FC236}">
                <a16:creationId xmlns:a16="http://schemas.microsoft.com/office/drawing/2014/main" id="{9D3A9FE5-D4F5-998F-344B-9FCB5071D004}"/>
              </a:ext>
            </a:extLst>
          </p:cNvPr>
          <p:cNvSpPr>
            <a:spLocks noGrp="1"/>
          </p:cNvSpPr>
          <p:nvPr>
            <p:ph type="dt" sz="half" idx="10"/>
          </p:nvPr>
        </p:nvSpPr>
        <p:spPr/>
        <p:txBody>
          <a:bodyPr/>
          <a:lstStyle/>
          <a:p>
            <a:fld id="{730C8D25-DDB0-4018-98D8-140B399E4A3C}" type="datetime1">
              <a:rPr lang="en-US" altLang="en-US" smtClean="0"/>
              <a:t>7/17/2025</a:t>
            </a:fld>
            <a:endParaRPr lang="es-ES" altLang="en-US"/>
          </a:p>
        </p:txBody>
      </p:sp>
      <p:sp>
        <p:nvSpPr>
          <p:cNvPr id="6" name="Footer Placeholder 5">
            <a:extLst>
              <a:ext uri="{FF2B5EF4-FFF2-40B4-BE49-F238E27FC236}">
                <a16:creationId xmlns:a16="http://schemas.microsoft.com/office/drawing/2014/main" id="{9DABA57E-4A3F-EA0E-B147-F6133F4DA45C}"/>
              </a:ext>
            </a:extLst>
          </p:cNvPr>
          <p:cNvSpPr>
            <a:spLocks noGrp="1"/>
          </p:cNvSpPr>
          <p:nvPr>
            <p:ph type="ftr" sz="quarter" idx="11"/>
          </p:nvPr>
        </p:nvSpPr>
        <p:spPr/>
        <p:txBody>
          <a:bodyPr/>
          <a:lstStyle/>
          <a:p>
            <a:r>
              <a:rPr lang="es-ES" altLang="en-US"/>
              <a:t>MC3020</a:t>
            </a:r>
          </a:p>
        </p:txBody>
      </p:sp>
    </p:spTree>
    <p:extLst>
      <p:ext uri="{BB962C8B-B14F-4D97-AF65-F5344CB8AC3E}">
        <p14:creationId xmlns:p14="http://schemas.microsoft.com/office/powerpoint/2010/main" val="279320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978025"/>
            <a:ext cx="8001000" cy="4267200"/>
          </a:xfrm>
        </p:spPr>
        <p:txBody>
          <a:bodyPr/>
          <a:lstStyle/>
          <a:p>
            <a:pPr marL="0" indent="0" algn="ctr">
              <a:buNone/>
            </a:pPr>
            <a:r>
              <a:rPr lang="en-US" sz="5000" dirty="0">
                <a:solidFill>
                  <a:srgbClr val="800000"/>
                </a:solidFill>
                <a:latin typeface="Times New Roman" panose="02020603050405020304" pitchFamily="18" charset="0"/>
                <a:cs typeface="Times New Roman" panose="02020603050405020304" pitchFamily="18" charset="0"/>
              </a:rPr>
              <a:t>Comparing Two Population</a:t>
            </a:r>
          </a:p>
          <a:p>
            <a:pPr marL="0" indent="0" algn="ctr">
              <a:buNone/>
            </a:pPr>
            <a:r>
              <a:rPr lang="en-US" sz="5000" dirty="0">
                <a:solidFill>
                  <a:srgbClr val="800000"/>
                </a:solidFill>
                <a:latin typeface="Times New Roman" panose="02020603050405020304" pitchFamily="18" charset="0"/>
                <a:cs typeface="Times New Roman" panose="02020603050405020304" pitchFamily="18" charset="0"/>
              </a:rPr>
              <a:t>Proportions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a:t>
            </a:fld>
            <a:endParaRPr lang="en-US" altLang="zh-CN"/>
          </a:p>
        </p:txBody>
      </p:sp>
      <p:sp>
        <p:nvSpPr>
          <p:cNvPr id="2" name="Date Placeholder 1"/>
          <p:cNvSpPr>
            <a:spLocks noGrp="1"/>
          </p:cNvSpPr>
          <p:nvPr>
            <p:ph type="dt" sz="half" idx="10"/>
          </p:nvPr>
        </p:nvSpPr>
        <p:spPr/>
        <p:txBody>
          <a:bodyPr/>
          <a:lstStyle/>
          <a:p>
            <a:pPr>
              <a:defRPr/>
            </a:pPr>
            <a:fld id="{E5FB485E-EA01-4EFB-82F9-05142B1F18BD}"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306184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94076" y="55871"/>
                <a:ext cx="8229600" cy="1143000"/>
              </a:xfrm>
            </p:spPr>
            <p:txBody>
              <a:bodyPr/>
              <a:lstStyle/>
              <a:p>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Confidence interval for </a:t>
                </a:r>
                <a14:m>
                  <m:oMath xmlns:m="http://schemas.openxmlformats.org/officeDocument/2006/math">
                    <m:sSub>
                      <m:sSubPr>
                        <m:ctrlP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Pr>
                      <m:e>
                        <m: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𝑝</m:t>
                        </m:r>
                      </m:e>
                      <m:sub>
                        <m: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1</m:t>
                        </m:r>
                      </m:sub>
                    </m:sSub>
                    <m: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sSub>
                      <m:sSubPr>
                        <m:ctrlP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Pr>
                      <m:e>
                        <m: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𝑝</m:t>
                        </m:r>
                      </m:e>
                      <m:sub>
                        <m:r>
                          <a:rPr lang="en-US" sz="4500" i="1">
                            <a:solidFill>
                              <a:srgbClr val="C0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2</m:t>
                        </m:r>
                      </m:sub>
                    </m:sSub>
                  </m:oMath>
                </a14:m>
                <a:endPar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94076" y="55871"/>
                <a:ext cx="8229600" cy="1143000"/>
              </a:xfrm>
              <a:blipFill>
                <a:blip r:embed="rId2"/>
                <a:stretch>
                  <a:fillRect b="-1436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31640" y="1166022"/>
                <a:ext cx="7560840" cy="4525963"/>
              </a:xfrm>
            </p:spPr>
            <p:txBody>
              <a:bodyPr/>
              <a:lstStyle/>
              <a:p>
                <a:pPr marL="0" indent="0">
                  <a:buNone/>
                </a:pPr>
                <a:r>
                  <a:rPr lang="en-US" dirty="0">
                    <a:latin typeface="Times New Roman" panose="02020603050405020304" pitchFamily="18" charset="0"/>
                    <a:cs typeface="Times New Roman" panose="02020603050405020304" pitchFamily="18" charset="0"/>
                  </a:rPr>
                  <a:t>Conditions:</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Let be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𝑋</m:t>
                        </m:r>
                      </m:e>
                      <m:sub>
                        <m:r>
                          <a:rPr lang="en-US" i="1">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the number of successes in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Bernoulli trials having proportion of success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𝑋</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be the number of successes in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Bernoulli trials having proportion of success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two experiments are independent.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31640" y="1166022"/>
                <a:ext cx="7560840" cy="4525963"/>
              </a:xfrm>
              <a:blipFill>
                <a:blip r:embed="rId3"/>
                <a:stretch>
                  <a:fillRect l="-2015" t="-1884" r="-2015"/>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a:t>
            </a:fld>
            <a:endParaRPr lang="en-US" altLang="zh-CN"/>
          </a:p>
        </p:txBody>
      </p:sp>
      <p:sp>
        <p:nvSpPr>
          <p:cNvPr id="5" name="Date Placeholder 4"/>
          <p:cNvSpPr>
            <a:spLocks noGrp="1"/>
          </p:cNvSpPr>
          <p:nvPr>
            <p:ph type="dt" sz="half" idx="10"/>
          </p:nvPr>
        </p:nvSpPr>
        <p:spPr/>
        <p:txBody>
          <a:bodyPr/>
          <a:lstStyle/>
          <a:p>
            <a:pPr>
              <a:defRPr/>
            </a:pPr>
            <a:fld id="{CE3546C8-2328-430A-9D0A-B443622C9920}"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457597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15616" y="1166018"/>
                <a:ext cx="8028384"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dirty="0">
                    <a:solidFill>
                      <a:srgbClr val="002060"/>
                    </a:solidFill>
                    <a:latin typeface="Times New Roman" panose="02020603050405020304" pitchFamily="18" charset="0"/>
                    <a:cs typeface="Times New Roman" panose="02020603050405020304" pitchFamily="18" charset="0"/>
                  </a:rPr>
                  <a:t>point estimate </a:t>
                </a:r>
                <a:r>
                  <a:rPr lang="en-US" dirty="0">
                    <a:latin typeface="Times New Roman" panose="02020603050405020304" pitchFamily="18" charset="0"/>
                    <a:cs typeface="Times New Roman" panose="02020603050405020304" pitchFamily="18" charset="0"/>
                  </a:rPr>
                  <a:t>for the difference between the proportions is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𝑋</m:t>
                              </m:r>
                            </m:e>
                            <m:sub>
                              <m:r>
                                <a:rPr lang="en-US" i="1">
                                  <a:latin typeface="Cambria Math" panose="02040503050406030204" pitchFamily="18" charset="0"/>
                                  <a:cs typeface="Times New Roman" panose="02020603050405020304" pitchFamily="18" charset="0"/>
                                </a:rPr>
                                <m:t>1</m:t>
                              </m:r>
                            </m:sub>
                          </m:sSub>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den>
                      </m:f>
                      <m:r>
                        <a:rPr lang="en-US" i="1">
                          <a:latin typeface="Cambria Math" panose="02040503050406030204" pitchFamily="18" charset="0"/>
                          <a:cs typeface="Times New Roman" panose="02020603050405020304" pitchFamily="18" charset="0"/>
                        </a:rPr>
                        <m:t> − </m:t>
                      </m:r>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𝑋</m:t>
                              </m:r>
                            </m:e>
                            <m:sub>
                              <m:r>
                                <a:rPr lang="en-US" i="1">
                                  <a:latin typeface="Cambria Math" panose="02040503050406030204" pitchFamily="18" charset="0"/>
                                  <a:cs typeface="Times New Roman" panose="02020603050405020304" pitchFamily="18" charset="0"/>
                                </a:rPr>
                                <m:t>2</m:t>
                              </m:r>
                            </m:sub>
                          </m:sSub>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den>
                      </m:f>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population mean of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is,</a:t>
                </a: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𝐸</m:t>
                          </m:r>
                          <m:r>
                            <a:rPr lang="en-US" i="1">
                              <a:latin typeface="Cambria Math" panose="02040503050406030204" pitchFamily="18" charset="0"/>
                              <a:cs typeface="Times New Roman" panose="02020603050405020304" pitchFamily="18" charset="0"/>
                            </a:rPr>
                            <m:t>(</m:t>
                          </m:r>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population variance of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is,</a:t>
                </a:r>
              </a:p>
              <a:p>
                <a:pPr marL="0" indent="0" algn="jus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den>
                      </m:f>
                      <m:r>
                        <a:rPr lang="en-US" i="1">
                          <a:latin typeface="Cambria Math" panose="02040503050406030204" pitchFamily="18" charset="0"/>
                          <a:cs typeface="Times New Roman" panose="02020603050405020304" pitchFamily="18" charset="0"/>
                        </a:rPr>
                        <m:t> − </m:t>
                      </m:r>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den>
                      </m:f>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15616" y="1166018"/>
                <a:ext cx="8028384" cy="4525963"/>
              </a:xfrm>
              <a:blipFill>
                <a:blip r:embed="rId2"/>
                <a:stretch>
                  <a:fillRect l="-1898" t="-1884" r="-1974" b="-3499"/>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a:t>
            </a:fld>
            <a:endParaRPr lang="en-US" altLang="zh-CN"/>
          </a:p>
        </p:txBody>
      </p:sp>
      <p:sp>
        <p:nvSpPr>
          <p:cNvPr id="2" name="Date Placeholder 1"/>
          <p:cNvSpPr>
            <a:spLocks noGrp="1"/>
          </p:cNvSpPr>
          <p:nvPr>
            <p:ph type="dt" sz="half" idx="10"/>
          </p:nvPr>
        </p:nvSpPr>
        <p:spPr/>
        <p:txBody>
          <a:bodyPr/>
          <a:lstStyle/>
          <a:p>
            <a:pPr>
              <a:defRPr/>
            </a:pPr>
            <a:fld id="{F372CA2F-3C1C-4A58-87CF-4253614934B2}"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20628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9003" y="692696"/>
                <a:ext cx="8003232"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By the central limit theorem, for large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has approximate normal distribution with mean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and variance </a:t>
                </a: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den>
                    </m:f>
                    <m:r>
                      <a:rPr lang="en-US" i="1">
                        <a:latin typeface="Cambria Math" panose="02040503050406030204" pitchFamily="18" charset="0"/>
                        <a:cs typeface="Times New Roman" panose="02020603050405020304" pitchFamily="18" charset="0"/>
                      </a:rPr>
                      <m:t> − </m:t>
                    </m:r>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den>
                    </m:f>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Then </a:t>
                </a:r>
                <a14:m>
                  <m:oMath xmlns:m="http://schemas.openxmlformats.org/officeDocument/2006/math">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1−</m:t>
                        </m:r>
                        <m:r>
                          <a:rPr lang="en-US" i="1">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US" dirty="0">
                    <a:latin typeface="Times New Roman" panose="02020603050405020304" pitchFamily="18" charset="0"/>
                    <a:cs typeface="Times New Roman" panose="02020603050405020304" pitchFamily="18" charset="0"/>
                  </a:rPr>
                  <a:t>*100% confidence interval estimate for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cs typeface="Times New Roman" panose="02020603050405020304" pitchFamily="18" charset="0"/>
                            </a:rPr>
                          </m:ctrlPr>
                        </m:dPr>
                        <m:e>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𝐸</m:t>
                          </m:r>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𝐸</m:t>
                          </m:r>
                        </m:e>
                      </m:d>
                    </m:oMath>
                  </m:oMathPara>
                </a14:m>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where,    </a:t>
                </a:r>
                <a14:m>
                  <m:oMath xmlns:m="http://schemas.openxmlformats.org/officeDocument/2006/math">
                    <m:r>
                      <a:rPr lang="en-US" i="1">
                        <a:latin typeface="Cambria Math" panose="02040503050406030204" pitchFamily="18" charset="0"/>
                        <a:cs typeface="Times New Roman" panose="02020603050405020304" pitchFamily="18" charset="0"/>
                      </a:rPr>
                      <m:t>𝐸</m:t>
                    </m:r>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𝑍</m:t>
                        </m:r>
                      </m:e>
                      <m:sub>
                        <m:f>
                          <m:fPr>
                            <m:type m:val="skw"/>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Cambria Math" panose="02040503050406030204" pitchFamily="18" charset="0"/>
                                <a:cs typeface="Times New Roman" panose="02020603050405020304" pitchFamily="18" charset="0"/>
                              </a:rPr>
                              <m:t>𝛼</m:t>
                            </m:r>
                          </m:num>
                          <m:den>
                            <m:r>
                              <a:rPr lang="en-US" i="1">
                                <a:latin typeface="Cambria Math" panose="02040503050406030204" pitchFamily="18" charset="0"/>
                                <a:cs typeface="Times New Roman" panose="02020603050405020304" pitchFamily="18" charset="0"/>
                              </a:rPr>
                              <m:t>2</m:t>
                            </m:r>
                          </m:den>
                        </m:f>
                      </m:sub>
                    </m:sSub>
                    <m:r>
                      <a:rPr lang="en-US" i="1">
                        <a:latin typeface="Cambria Math" panose="02040503050406030204" pitchFamily="18" charset="0"/>
                        <a:cs typeface="Times New Roman" panose="02020603050405020304" pitchFamily="18" charset="0"/>
                      </a:rPr>
                      <m:t>∗</m:t>
                    </m:r>
                    <m:rad>
                      <m:radPr>
                        <m:degHide m:val="on"/>
                        <m:ctrlPr>
                          <a:rPr lang="en-US" i="1">
                            <a:latin typeface="Cambria Math" panose="02040503050406030204" pitchFamily="18" charset="0"/>
                            <a:cs typeface="Times New Roman" panose="02020603050405020304" pitchFamily="18" charset="0"/>
                          </a:rPr>
                        </m:ctrlPr>
                      </m:radPr>
                      <m:deg/>
                      <m:e>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den>
                        </m:f>
                        <m:r>
                          <a:rPr lang="en-GB"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 </m:t>
                        </m:r>
                        <m:f>
                          <m:fPr>
                            <m:ctrlPr>
                              <a:rPr lang="en-US" i="1">
                                <a:latin typeface="Cambria Math" panose="02040503050406030204" pitchFamily="18" charset="0"/>
                                <a:cs typeface="Times New Roman" panose="02020603050405020304" pitchFamily="18" charset="0"/>
                              </a:rPr>
                            </m:ctrlPr>
                          </m:fPr>
                          <m:num>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(1−</m:t>
                            </m:r>
                            <m:sSub>
                              <m:sSubPr>
                                <m:ctrlPr>
                                  <a:rPr lang="en-US" i="1">
                                    <a:latin typeface="Cambria Math" panose="02040503050406030204" pitchFamily="18" charset="0"/>
                                    <a:cs typeface="Times New Roman" panose="02020603050405020304" pitchFamily="18" charset="0"/>
                                  </a:rPr>
                                </m:ctrlPr>
                              </m:sSubPr>
                              <m:e>
                                <m:acc>
                                  <m:accPr>
                                    <m:chr m:val="̂"/>
                                    <m:ctrlPr>
                                      <a:rPr lang="en-US" i="1">
                                        <a:latin typeface="Cambria Math" panose="02040503050406030204" pitchFamily="18" charset="0"/>
                                        <a:cs typeface="Times New Roman" panose="02020603050405020304" pitchFamily="18" charset="0"/>
                                      </a:rPr>
                                    </m:ctrlPr>
                                  </m:accPr>
                                  <m:e>
                                    <m:r>
                                      <a:rPr lang="en-US" i="1">
                                        <a:latin typeface="Cambria Math" panose="02040503050406030204" pitchFamily="18" charset="0"/>
                                        <a:cs typeface="Times New Roman" panose="02020603050405020304" pitchFamily="18" charset="0"/>
                                      </a:rPr>
                                      <m:t>𝑝</m:t>
                                    </m:r>
                                  </m:e>
                                </m:acc>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den>
                        </m:f>
                      </m:e>
                    </m:rad>
                  </m:oMath>
                </a14:m>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9003" y="692696"/>
                <a:ext cx="8003232" cy="4525963"/>
              </a:xfrm>
              <a:blipFill>
                <a:blip r:embed="rId2"/>
                <a:stretch>
                  <a:fillRect l="-1904" t="-1887" r="-1980" b="-1132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6</a:t>
            </a:fld>
            <a:endParaRPr lang="en-US" altLang="zh-CN"/>
          </a:p>
        </p:txBody>
      </p:sp>
      <p:sp>
        <p:nvSpPr>
          <p:cNvPr id="2" name="Date Placeholder 1"/>
          <p:cNvSpPr>
            <a:spLocks noGrp="1"/>
          </p:cNvSpPr>
          <p:nvPr>
            <p:ph type="dt" sz="half" idx="10"/>
          </p:nvPr>
        </p:nvSpPr>
        <p:spPr/>
        <p:txBody>
          <a:bodyPr/>
          <a:lstStyle/>
          <a:p>
            <a:pPr>
              <a:defRPr/>
            </a:pPr>
            <a:fld id="{5614400E-84CD-461E-A166-35B3C4902EF1}"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30205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297044"/>
            <a:ext cx="8229600" cy="1143000"/>
          </a:xfrm>
        </p:spPr>
        <p:txBody>
          <a:bodyPr/>
          <a:lstStyle/>
          <a:p>
            <a:pPr algn="l"/>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a:t>
            </a:r>
            <a:endParaRPr lang="en-US" sz="4500"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07504" y="1295400"/>
            <a:ext cx="8001000" cy="42672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It is claimed that in the 2008 Democratic Presidential Nomination Primaries in USA, Senator Barack Obama was preferred by the black voters. To test the claim, a research firm sampled 600 black democrats and found that 384 support the senator and in another sample of 720 non-black democrats 417 support the senator. Construct a 97% confidence interval for the difference between the two populations proportions.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7</a:t>
            </a:fld>
            <a:endParaRPr lang="en-US" altLang="zh-CN"/>
          </a:p>
        </p:txBody>
      </p:sp>
      <p:sp>
        <p:nvSpPr>
          <p:cNvPr id="5" name="Date Placeholder 4"/>
          <p:cNvSpPr>
            <a:spLocks noGrp="1"/>
          </p:cNvSpPr>
          <p:nvPr>
            <p:ph type="dt" sz="half" idx="10"/>
          </p:nvPr>
        </p:nvSpPr>
        <p:spPr/>
        <p:txBody>
          <a:bodyPr/>
          <a:lstStyle/>
          <a:p>
            <a:pPr>
              <a:defRPr/>
            </a:pPr>
            <a:fld id="{84C07FA7-A5AB-4720-8699-84098E40DDF3}"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74070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51136"/>
            <a:ext cx="8229600" cy="1143000"/>
          </a:xfrm>
        </p:spPr>
        <p:txBody>
          <a:bodyPr/>
          <a:lstStyle/>
          <a:p>
            <a:pPr algn="ctr"/>
            <a:r>
              <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Testing for the difference between two independent population proportions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00349" y="1844824"/>
                <a:ext cx="6923112"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00349" y="1844824"/>
                <a:ext cx="6923112" cy="4525963"/>
              </a:xfrm>
              <a:blipFill>
                <a:blip r:embed="rId3"/>
                <a:stretch>
                  <a:fillRect l="-2201" t="-188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8</a:t>
            </a:fld>
            <a:endParaRPr lang="en-US" altLang="zh-CN"/>
          </a:p>
        </p:txBody>
      </p:sp>
      <p:sp>
        <p:nvSpPr>
          <p:cNvPr id="5" name="Date Placeholder 4"/>
          <p:cNvSpPr>
            <a:spLocks noGrp="1"/>
          </p:cNvSpPr>
          <p:nvPr>
            <p:ph type="dt" sz="half" idx="10"/>
          </p:nvPr>
        </p:nvSpPr>
        <p:spPr/>
        <p:txBody>
          <a:bodyPr/>
          <a:lstStyle/>
          <a:p>
            <a:pPr>
              <a:defRPr/>
            </a:pPr>
            <a:fld id="{4E835DD5-5B4F-4903-9962-5521F38AB32E}"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068905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20688"/>
                <a:ext cx="7571184" cy="4267200"/>
              </a:xfrm>
            </p:spPr>
            <p:txBody>
              <a:bodyPr/>
              <a:lstStyle/>
              <a:p>
                <a:pPr marL="0" indent="0" algn="just">
                  <a:buNone/>
                </a:pPr>
                <a:r>
                  <a:rPr lang="en-US" sz="2600" dirty="0">
                    <a:latin typeface="Times New Roman" panose="02020603050405020304" pitchFamily="18" charset="0"/>
                    <a:cs typeface="Times New Roman" panose="02020603050405020304" pitchFamily="18" charset="0"/>
                  </a:rPr>
                  <a:t>The corresponding test statistic is</a:t>
                </a:r>
              </a:p>
              <a:p>
                <a:pPr marL="0" indent="0" algn="just">
                  <a:buNone/>
                </a:pPr>
                <a14:m>
                  <m:oMathPara xmlns:m="http://schemas.openxmlformats.org/officeDocument/2006/math">
                    <m:oMathParaPr>
                      <m:jc m:val="centerGroup"/>
                    </m:oMathParaPr>
                    <m:oMath xmlns:m="http://schemas.openxmlformats.org/officeDocument/2006/math">
                      <m:r>
                        <a:rPr lang="en-GB" sz="2600" i="1">
                          <a:latin typeface="Cambria Math" panose="02040503050406030204" pitchFamily="18" charset="0"/>
                          <a:cs typeface="Times New Roman" panose="02020603050405020304" pitchFamily="18" charset="0"/>
                        </a:rPr>
                        <m:t>𝑍</m:t>
                      </m:r>
                      <m:r>
                        <a:rPr lang="en-GB" sz="2600" i="1">
                          <a:latin typeface="Cambria Math" panose="02040503050406030204" pitchFamily="18" charset="0"/>
                          <a:cs typeface="Times New Roman" panose="02020603050405020304" pitchFamily="18" charset="0"/>
                        </a:rPr>
                        <m:t>= </m:t>
                      </m:r>
                      <m:f>
                        <m:fPr>
                          <m:ctrlPr>
                            <a:rPr lang="en-GB" sz="2600" i="1">
                              <a:latin typeface="Cambria Math" panose="02040503050406030204" pitchFamily="18" charset="0"/>
                              <a:cs typeface="Times New Roman" panose="02020603050405020304" pitchFamily="18" charset="0"/>
                            </a:rPr>
                          </m:ctrlPr>
                        </m:fPr>
                        <m:num>
                          <m:sSub>
                            <m:sSubPr>
                              <m:ctrlPr>
                                <a:rPr lang="en-US" sz="2600" i="1">
                                  <a:latin typeface="Cambria Math" panose="02040503050406030204" pitchFamily="18" charset="0"/>
                                  <a:cs typeface="Times New Roman" panose="02020603050405020304" pitchFamily="18" charset="0"/>
                                </a:rPr>
                              </m:ctrlPr>
                            </m:sSubPr>
                            <m:e>
                              <m:acc>
                                <m:accPr>
                                  <m:chr m:val="̂"/>
                                  <m:ctrlPr>
                                    <a:rPr lang="en-US" sz="2600" i="1">
                                      <a:latin typeface="Cambria Math" panose="02040503050406030204" pitchFamily="18" charset="0"/>
                                      <a:cs typeface="Times New Roman" panose="02020603050405020304" pitchFamily="18" charset="0"/>
                                    </a:rPr>
                                  </m:ctrlPr>
                                </m:accPr>
                                <m:e>
                                  <m:r>
                                    <a:rPr lang="en-US" sz="2600" i="1">
                                      <a:latin typeface="Cambria Math" panose="02040503050406030204" pitchFamily="18" charset="0"/>
                                      <a:cs typeface="Times New Roman" panose="02020603050405020304" pitchFamily="18" charset="0"/>
                                    </a:rPr>
                                    <m:t>𝑝</m:t>
                                  </m:r>
                                </m:e>
                              </m:acc>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cs typeface="Times New Roman" panose="02020603050405020304" pitchFamily="18" charset="0"/>
                                </a:rPr>
                              </m:ctrlPr>
                            </m:sSubPr>
                            <m:e>
                              <m:acc>
                                <m:accPr>
                                  <m:chr m:val="̂"/>
                                  <m:ctrlPr>
                                    <a:rPr lang="en-US" sz="2600" i="1">
                                      <a:latin typeface="Cambria Math" panose="02040503050406030204" pitchFamily="18" charset="0"/>
                                      <a:cs typeface="Times New Roman" panose="02020603050405020304" pitchFamily="18" charset="0"/>
                                    </a:rPr>
                                  </m:ctrlPr>
                                </m:accPr>
                                <m:e>
                                  <m:r>
                                    <a:rPr lang="en-US" sz="2600" i="1">
                                      <a:latin typeface="Cambria Math" panose="02040503050406030204" pitchFamily="18" charset="0"/>
                                      <a:cs typeface="Times New Roman" panose="02020603050405020304" pitchFamily="18" charset="0"/>
                                    </a:rPr>
                                    <m:t>𝑝</m:t>
                                  </m:r>
                                </m:e>
                              </m:acc>
                            </m:e>
                            <m:sub>
                              <m:r>
                                <a:rPr lang="en-US" sz="2600" i="1">
                                  <a:latin typeface="Cambria Math" panose="02040503050406030204" pitchFamily="18" charset="0"/>
                                  <a:cs typeface="Times New Roman" panose="02020603050405020304" pitchFamily="18" charset="0"/>
                                </a:rPr>
                                <m:t>2</m:t>
                              </m:r>
                            </m:sub>
                          </m:sSub>
                          <m:r>
                            <a:rPr lang="en-GB" sz="2600" i="1">
                              <a:latin typeface="Cambria Math" panose="02040503050406030204" pitchFamily="18" charset="0"/>
                              <a:cs typeface="Times New Roman" panose="02020603050405020304" pitchFamily="18" charset="0"/>
                            </a:rPr>
                            <m:t> −(</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𝑝</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𝑝</m:t>
                              </m:r>
                            </m:e>
                            <m:sub>
                              <m:r>
                                <a:rPr lang="en-US" sz="2600" i="1">
                                  <a:latin typeface="Cambria Math" panose="02040503050406030204" pitchFamily="18" charset="0"/>
                                  <a:cs typeface="Times New Roman" panose="02020603050405020304" pitchFamily="18" charset="0"/>
                                </a:rPr>
                                <m:t>2</m:t>
                              </m:r>
                            </m:sub>
                          </m:sSub>
                          <m:r>
                            <a:rPr lang="en-GB" sz="2600" i="1">
                              <a:latin typeface="Cambria Math" panose="02040503050406030204" pitchFamily="18" charset="0"/>
                              <a:cs typeface="Times New Roman" panose="02020603050405020304" pitchFamily="18" charset="0"/>
                            </a:rPr>
                            <m:t>) </m:t>
                          </m:r>
                        </m:num>
                        <m:den>
                          <m:rad>
                            <m:radPr>
                              <m:degHide m:val="on"/>
                              <m:ctrlPr>
                                <a:rPr lang="en-GB" sz="2600" i="1">
                                  <a:latin typeface="Cambria Math" panose="02040503050406030204" pitchFamily="18" charset="0"/>
                                  <a:cs typeface="Times New Roman" panose="02020603050405020304" pitchFamily="18" charset="0"/>
                                </a:rPr>
                              </m:ctrlPr>
                            </m:radPr>
                            <m:deg/>
                            <m:e>
                              <m:acc>
                                <m:accPr>
                                  <m:chr m:val="̅"/>
                                  <m:ctrlPr>
                                    <a:rPr lang="en-GB" sz="2600" i="1">
                                      <a:latin typeface="Cambria Math" panose="02040503050406030204" pitchFamily="18" charset="0"/>
                                      <a:cs typeface="Times New Roman" panose="02020603050405020304" pitchFamily="18" charset="0"/>
                                    </a:rPr>
                                  </m:ctrlPr>
                                </m:accPr>
                                <m:e>
                                  <m:r>
                                    <a:rPr lang="en-GB" sz="2600" i="1">
                                      <a:latin typeface="Cambria Math" panose="02040503050406030204" pitchFamily="18" charset="0"/>
                                      <a:cs typeface="Times New Roman" panose="02020603050405020304" pitchFamily="18" charset="0"/>
                                    </a:rPr>
                                    <m:t>𝑝</m:t>
                                  </m:r>
                                </m:e>
                              </m:acc>
                              <m:r>
                                <a:rPr lang="en-GB" sz="2600" i="1">
                                  <a:latin typeface="Cambria Math" panose="02040503050406030204" pitchFamily="18" charset="0"/>
                                  <a:cs typeface="Times New Roman" panose="02020603050405020304" pitchFamily="18" charset="0"/>
                                </a:rPr>
                                <m:t>(1−</m:t>
                              </m:r>
                              <m:acc>
                                <m:accPr>
                                  <m:chr m:val="̅"/>
                                  <m:ctrlPr>
                                    <a:rPr lang="en-GB" sz="2600" i="1">
                                      <a:latin typeface="Cambria Math" panose="02040503050406030204" pitchFamily="18" charset="0"/>
                                      <a:cs typeface="Times New Roman" panose="02020603050405020304" pitchFamily="18" charset="0"/>
                                    </a:rPr>
                                  </m:ctrlPr>
                                </m:accPr>
                                <m:e>
                                  <m:r>
                                    <a:rPr lang="en-GB" sz="2600" i="1">
                                      <a:latin typeface="Cambria Math" panose="02040503050406030204" pitchFamily="18" charset="0"/>
                                      <a:cs typeface="Times New Roman" panose="02020603050405020304" pitchFamily="18" charset="0"/>
                                    </a:rPr>
                                    <m:t>𝑝</m:t>
                                  </m:r>
                                </m:e>
                              </m:acc>
                              <m:r>
                                <a:rPr lang="en-GB" sz="2600" i="1">
                                  <a:latin typeface="Cambria Math" panose="02040503050406030204" pitchFamily="18" charset="0"/>
                                  <a:cs typeface="Times New Roman" panose="02020603050405020304" pitchFamily="18" charset="0"/>
                                </a:rPr>
                                <m:t>)</m:t>
                              </m:r>
                              <m:d>
                                <m:dPr>
                                  <m:ctrlPr>
                                    <a:rPr lang="en-GB" sz="2600" i="1">
                                      <a:latin typeface="Cambria Math" panose="02040503050406030204" pitchFamily="18" charset="0"/>
                                      <a:cs typeface="Times New Roman" panose="02020603050405020304" pitchFamily="18" charset="0"/>
                                    </a:rPr>
                                  </m:ctrlPr>
                                </m:dPr>
                                <m:e>
                                  <m:f>
                                    <m:fPr>
                                      <m:ctrlPr>
                                        <a:rPr lang="en-GB" sz="2600" i="1">
                                          <a:latin typeface="Cambria Math" panose="02040503050406030204" pitchFamily="18" charset="0"/>
                                          <a:cs typeface="Times New Roman" panose="02020603050405020304" pitchFamily="18" charset="0"/>
                                        </a:rPr>
                                      </m:ctrlPr>
                                    </m:fPr>
                                    <m:num>
                                      <m:r>
                                        <a:rPr lang="en-GB" sz="2600" i="1">
                                          <a:latin typeface="Cambria Math" panose="02040503050406030204" pitchFamily="18" charset="0"/>
                                          <a:cs typeface="Times New Roman" panose="02020603050405020304" pitchFamily="18" charset="0"/>
                                        </a:rPr>
                                        <m:t>1</m:t>
                                      </m:r>
                                    </m:num>
                                    <m:den>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𝑛</m:t>
                                          </m:r>
                                        </m:e>
                                        <m:sub>
                                          <m:r>
                                            <a:rPr lang="en-GB" sz="2600" i="1">
                                              <a:latin typeface="Cambria Math" panose="02040503050406030204" pitchFamily="18" charset="0"/>
                                              <a:cs typeface="Times New Roman" panose="02020603050405020304" pitchFamily="18" charset="0"/>
                                            </a:rPr>
                                            <m:t>1</m:t>
                                          </m:r>
                                        </m:sub>
                                      </m:sSub>
                                    </m:den>
                                  </m:f>
                                  <m:r>
                                    <a:rPr lang="en-GB" sz="2600" i="1">
                                      <a:latin typeface="Cambria Math" panose="02040503050406030204" pitchFamily="18" charset="0"/>
                                      <a:cs typeface="Times New Roman" panose="02020603050405020304" pitchFamily="18" charset="0"/>
                                    </a:rPr>
                                    <m:t>+ </m:t>
                                  </m:r>
                                  <m:f>
                                    <m:fPr>
                                      <m:ctrlPr>
                                        <a:rPr lang="en-GB" sz="2600" i="1">
                                          <a:latin typeface="Cambria Math" panose="02040503050406030204" pitchFamily="18" charset="0"/>
                                          <a:cs typeface="Times New Roman" panose="02020603050405020304" pitchFamily="18" charset="0"/>
                                        </a:rPr>
                                      </m:ctrlPr>
                                    </m:fPr>
                                    <m:num>
                                      <m:r>
                                        <a:rPr lang="en-GB" sz="2600" i="1">
                                          <a:latin typeface="Cambria Math" panose="02040503050406030204" pitchFamily="18" charset="0"/>
                                          <a:cs typeface="Times New Roman" panose="02020603050405020304" pitchFamily="18" charset="0"/>
                                        </a:rPr>
                                        <m:t>1</m:t>
                                      </m:r>
                                    </m:num>
                                    <m:den>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𝑛</m:t>
                                          </m:r>
                                        </m:e>
                                        <m:sub>
                                          <m:r>
                                            <a:rPr lang="en-GB" sz="2600" i="1">
                                              <a:latin typeface="Cambria Math" panose="02040503050406030204" pitchFamily="18" charset="0"/>
                                              <a:cs typeface="Times New Roman" panose="02020603050405020304" pitchFamily="18" charset="0"/>
                                            </a:rPr>
                                            <m:t>2</m:t>
                                          </m:r>
                                        </m:sub>
                                      </m:sSub>
                                    </m:den>
                                  </m:f>
                                </m:e>
                              </m:d>
                            </m:e>
                          </m:rad>
                        </m:den>
                      </m:f>
                    </m:oMath>
                  </m:oMathPara>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where </a:t>
                </a:r>
                <a14:m>
                  <m:oMath xmlns:m="http://schemas.openxmlformats.org/officeDocument/2006/math">
                    <m:acc>
                      <m:accPr>
                        <m:chr m:val="̅"/>
                        <m:ctrlPr>
                          <a:rPr lang="en-US" sz="2600" i="1">
                            <a:latin typeface="Cambria Math" panose="02040503050406030204" pitchFamily="18" charset="0"/>
                            <a:cs typeface="Times New Roman" panose="02020603050405020304" pitchFamily="18" charset="0"/>
                          </a:rPr>
                        </m:ctrlPr>
                      </m:accPr>
                      <m:e>
                        <m:r>
                          <a:rPr lang="en-GB" sz="2600" i="1">
                            <a:latin typeface="Cambria Math" panose="02040503050406030204" pitchFamily="18" charset="0"/>
                            <a:cs typeface="Times New Roman" panose="02020603050405020304" pitchFamily="18" charset="0"/>
                          </a:rPr>
                          <m:t>𝑝</m:t>
                        </m:r>
                      </m:e>
                    </m:acc>
                    <m:r>
                      <a:rPr lang="en-GB" sz="2600" i="1">
                        <a:latin typeface="Cambria Math" panose="02040503050406030204" pitchFamily="18" charset="0"/>
                        <a:cs typeface="Times New Roman" panose="02020603050405020304" pitchFamily="18" charset="0"/>
                      </a:rPr>
                      <m:t>= </m:t>
                    </m:r>
                    <m:f>
                      <m:fPr>
                        <m:ctrlPr>
                          <a:rPr lang="en-GB" sz="2600" i="1">
                            <a:latin typeface="Cambria Math" panose="02040503050406030204" pitchFamily="18" charset="0"/>
                            <a:cs typeface="Times New Roman" panose="02020603050405020304" pitchFamily="18" charset="0"/>
                          </a:rPr>
                        </m:ctrlPr>
                      </m:fPr>
                      <m:num>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𝑋</m:t>
                            </m:r>
                          </m:e>
                          <m:sub>
                            <m:r>
                              <a:rPr lang="en-GB" sz="2600" i="1">
                                <a:latin typeface="Cambria Math" panose="02040503050406030204" pitchFamily="18" charset="0"/>
                                <a:cs typeface="Times New Roman" panose="02020603050405020304" pitchFamily="18" charset="0"/>
                              </a:rPr>
                              <m:t>1</m:t>
                            </m:r>
                          </m:sub>
                        </m:sSub>
                        <m:r>
                          <a:rPr lang="en-GB" sz="2600" i="1">
                            <a:latin typeface="Cambria Math" panose="02040503050406030204" pitchFamily="18" charset="0"/>
                            <a:cs typeface="Times New Roman" panose="02020603050405020304" pitchFamily="18" charset="0"/>
                          </a:rPr>
                          <m:t>+ </m:t>
                        </m:r>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𝑋</m:t>
                            </m:r>
                          </m:e>
                          <m:sub>
                            <m:r>
                              <a:rPr lang="en-GB" sz="2600" i="1">
                                <a:latin typeface="Cambria Math" panose="02040503050406030204" pitchFamily="18" charset="0"/>
                                <a:cs typeface="Times New Roman" panose="02020603050405020304" pitchFamily="18" charset="0"/>
                              </a:rPr>
                              <m:t>2</m:t>
                            </m:r>
                          </m:sub>
                        </m:sSub>
                      </m:num>
                      <m:den>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𝑛</m:t>
                            </m:r>
                          </m:e>
                          <m:sub>
                            <m:r>
                              <a:rPr lang="en-GB" sz="2600" i="1">
                                <a:latin typeface="Cambria Math" panose="02040503050406030204" pitchFamily="18" charset="0"/>
                                <a:cs typeface="Times New Roman" panose="02020603050405020304" pitchFamily="18" charset="0"/>
                              </a:rPr>
                              <m:t>1</m:t>
                            </m:r>
                          </m:sub>
                        </m:sSub>
                        <m:r>
                          <a:rPr lang="en-GB" sz="2600" i="1">
                            <a:latin typeface="Cambria Math" panose="02040503050406030204" pitchFamily="18" charset="0"/>
                            <a:cs typeface="Times New Roman" panose="02020603050405020304" pitchFamily="18" charset="0"/>
                          </a:rPr>
                          <m:t>+ </m:t>
                        </m:r>
                        <m:sSub>
                          <m:sSubPr>
                            <m:ctrlPr>
                              <a:rPr lang="en-GB" sz="2600" i="1">
                                <a:latin typeface="Cambria Math" panose="02040503050406030204" pitchFamily="18" charset="0"/>
                                <a:cs typeface="Times New Roman" panose="02020603050405020304" pitchFamily="18" charset="0"/>
                              </a:rPr>
                            </m:ctrlPr>
                          </m:sSubPr>
                          <m:e>
                            <m:r>
                              <a:rPr lang="en-GB" sz="2600" i="1">
                                <a:latin typeface="Cambria Math" panose="02040503050406030204" pitchFamily="18" charset="0"/>
                                <a:cs typeface="Times New Roman" panose="02020603050405020304" pitchFamily="18" charset="0"/>
                              </a:rPr>
                              <m:t>𝑛</m:t>
                            </m:r>
                          </m:e>
                          <m:sub>
                            <m:r>
                              <a:rPr lang="en-GB" sz="2600" i="1">
                                <a:latin typeface="Cambria Math" panose="02040503050406030204" pitchFamily="18" charset="0"/>
                                <a:cs typeface="Times New Roman" panose="02020603050405020304" pitchFamily="18" charset="0"/>
                              </a:rPr>
                              <m:t>2</m:t>
                            </m:r>
                          </m:sub>
                        </m:sSub>
                      </m:den>
                    </m:f>
                  </m:oMath>
                </a14:m>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Note that </a:t>
                </a:r>
                <a14:m>
                  <m:oMath xmlns:m="http://schemas.openxmlformats.org/officeDocument/2006/math">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𝑝</m:t>
                        </m:r>
                      </m:e>
                      <m:sub>
                        <m:r>
                          <a:rPr lang="en-US" sz="2600" i="1">
                            <a:solidFill>
                              <a:srgbClr val="0070C0"/>
                            </a:solidFill>
                            <a:latin typeface="Cambria Math" panose="02040503050406030204" pitchFamily="18" charset="0"/>
                            <a:cs typeface="Times New Roman" panose="02020603050405020304" pitchFamily="18" charset="0"/>
                          </a:rPr>
                          <m:t>1</m:t>
                        </m:r>
                      </m:sub>
                    </m:sSub>
                    <m:r>
                      <a:rPr lang="en-US" sz="2600" i="1">
                        <a:solidFill>
                          <a:srgbClr val="0070C0"/>
                        </a:solidFill>
                        <a:latin typeface="Cambria Math" panose="02040503050406030204" pitchFamily="18" charset="0"/>
                        <a:cs typeface="Times New Roman" panose="02020603050405020304" pitchFamily="18" charset="0"/>
                      </a:rPr>
                      <m:t>−</m:t>
                    </m:r>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𝑝</m:t>
                        </m:r>
                      </m:e>
                      <m:sub>
                        <m:r>
                          <a:rPr lang="en-US" sz="2600" i="1">
                            <a:solidFill>
                              <a:srgbClr val="0070C0"/>
                            </a:solidFill>
                            <a:latin typeface="Cambria Math" panose="02040503050406030204" pitchFamily="18" charset="0"/>
                            <a:cs typeface="Times New Roman" panose="02020603050405020304" pitchFamily="18" charset="0"/>
                          </a:rPr>
                          <m:t>2</m:t>
                        </m:r>
                      </m:sub>
                    </m:sSub>
                  </m:oMath>
                </a14:m>
                <a:r>
                  <a:rPr lang="en-US" sz="2600" dirty="0">
                    <a:solidFill>
                      <a:srgbClr val="0070C0"/>
                    </a:solidFill>
                    <a:latin typeface="Times New Roman" panose="02020603050405020304" pitchFamily="18" charset="0"/>
                    <a:cs typeface="Times New Roman" panose="02020603050405020304" pitchFamily="18" charset="0"/>
                  </a:rPr>
                  <a:t>=0 in computations for all three cases above</a:t>
                </a:r>
                <a:r>
                  <a:rPr lang="en-US" sz="2600" dirty="0">
                    <a:latin typeface="Times New Roman" panose="02020603050405020304" pitchFamily="18" charset="0"/>
                    <a:cs typeface="Times New Roman" panose="02020603050405020304" pitchFamily="18" charset="0"/>
                  </a:rPr>
                  <a:t>. But in general it is not necessarily zero as if we want to test that one proportion is at least an amount higher than the other then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𝑝</m:t>
                        </m:r>
                      </m:e>
                      <m:sub>
                        <m:r>
                          <a:rPr lang="en-US" sz="2600" i="1">
                            <a:latin typeface="Cambria Math" panose="02040503050406030204" pitchFamily="18" charset="0"/>
                            <a:cs typeface="Times New Roman" panose="02020603050405020304" pitchFamily="18" charset="0"/>
                          </a:rPr>
                          <m:t>1</m:t>
                        </m:r>
                      </m:sub>
                    </m:sSub>
                    <m:r>
                      <a:rPr lang="en-US" sz="2600" i="1">
                        <a:latin typeface="Cambria Math" panose="02040503050406030204" pitchFamily="18" charset="0"/>
                        <a:cs typeface="Times New Roman" panose="02020603050405020304" pitchFamily="18" charset="0"/>
                      </a:rPr>
                      <m:t>−</m:t>
                    </m:r>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𝑝</m:t>
                        </m:r>
                      </m:e>
                      <m:sub>
                        <m:r>
                          <a:rPr lang="en-US" sz="2600" i="1">
                            <a:latin typeface="Cambria Math" panose="02040503050406030204" pitchFamily="18" charset="0"/>
                            <a:cs typeface="Times New Roman" panose="02020603050405020304" pitchFamily="18" charset="0"/>
                          </a:rPr>
                          <m:t>2</m:t>
                        </m:r>
                      </m:sub>
                    </m:sSub>
                  </m:oMath>
                </a14:m>
                <a:r>
                  <a:rPr lang="en-US" sz="2600" dirty="0">
                    <a:latin typeface="Times New Roman" panose="02020603050405020304" pitchFamily="18" charset="0"/>
                    <a:cs typeface="Times New Roman" panose="02020603050405020304" pitchFamily="18" charset="0"/>
                  </a:rPr>
                  <a:t> is that least amount in proportion, and so 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20688"/>
                <a:ext cx="7571184" cy="4267200"/>
              </a:xfrm>
              <a:blipFill>
                <a:blip r:embed="rId2"/>
                <a:stretch>
                  <a:fillRect l="-1449" t="-1286" r="-1449" b="-9714"/>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9</a:t>
            </a:fld>
            <a:endParaRPr lang="en-US" altLang="zh-CN"/>
          </a:p>
        </p:txBody>
      </p:sp>
      <p:sp>
        <p:nvSpPr>
          <p:cNvPr id="2" name="Date Placeholder 1"/>
          <p:cNvSpPr>
            <a:spLocks noGrp="1"/>
          </p:cNvSpPr>
          <p:nvPr>
            <p:ph type="dt" sz="half" idx="10"/>
          </p:nvPr>
        </p:nvSpPr>
        <p:spPr/>
        <p:txBody>
          <a:bodyPr/>
          <a:lstStyle/>
          <a:p>
            <a:pPr>
              <a:defRPr/>
            </a:pPr>
            <a:fld id="{DF3628C6-B0DD-4D74-88F7-D09EE55B72C0}"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647339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47973"/>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Example 2:</a:t>
            </a:r>
            <a:endParaRPr lang="en-US" dirty="0">
              <a:solidFill>
                <a:srgbClr val="FF0000"/>
              </a:solidFill>
            </a:endParaRPr>
          </a:p>
        </p:txBody>
      </p:sp>
      <p:sp>
        <p:nvSpPr>
          <p:cNvPr id="3" name="Content Placeholder 2"/>
          <p:cNvSpPr>
            <a:spLocks noGrp="1"/>
          </p:cNvSpPr>
          <p:nvPr>
            <p:ph idx="1"/>
          </p:nvPr>
        </p:nvSpPr>
        <p:spPr>
          <a:xfrm>
            <a:off x="1187624" y="908720"/>
            <a:ext cx="7499176" cy="4525963"/>
          </a:xfrm>
        </p:spPr>
        <p:txBody>
          <a:bodyPr/>
          <a:lstStyle/>
          <a:p>
            <a:pPr marL="0" indent="0" algn="just">
              <a:buNone/>
            </a:pPr>
            <a:r>
              <a:rPr lang="en-US" sz="3000" dirty="0">
                <a:latin typeface="Times New Roman" panose="02020603050405020304" pitchFamily="18" charset="0"/>
                <a:cs typeface="Times New Roman" panose="02020603050405020304" pitchFamily="18" charset="0"/>
              </a:rPr>
              <a:t>It is claimed that in the 2008 Democratic Presidential Nomination Primaries in USA, Senator Barack Obama was preferred by the black voters. To test the claim, a research firm sampled 600 black democrats and found that 384 support the senator and in another sample of 720 non-black democrats 417 support the senator. Test the claim using 5% level of significance.</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10</a:t>
            </a:fld>
            <a:endParaRPr lang="en-US" altLang="zh-CN"/>
          </a:p>
        </p:txBody>
      </p:sp>
      <p:sp>
        <p:nvSpPr>
          <p:cNvPr id="5" name="Date Placeholder 4"/>
          <p:cNvSpPr>
            <a:spLocks noGrp="1"/>
          </p:cNvSpPr>
          <p:nvPr>
            <p:ph type="dt" sz="half" idx="10"/>
          </p:nvPr>
        </p:nvSpPr>
        <p:spPr/>
        <p:txBody>
          <a:bodyPr/>
          <a:lstStyle/>
          <a:p>
            <a:pPr>
              <a:defRPr/>
            </a:pPr>
            <a:fld id="{BCC6ECD7-3B15-4199-9E74-F7481D869448}"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17022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2" y="2743200"/>
            <a:ext cx="6764799" cy="13716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17-Jul-25</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11</a:t>
            </a:fld>
            <a:endParaRPr lang="en-US" altLang="en-US"/>
          </a:p>
        </p:txBody>
      </p:sp>
    </p:spTree>
    <p:extLst>
      <p:ext uri="{BB962C8B-B14F-4D97-AF65-F5344CB8AC3E}">
        <p14:creationId xmlns:p14="http://schemas.microsoft.com/office/powerpoint/2010/main" val="2389603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1772816"/>
            <a:ext cx="8001000" cy="1216025"/>
          </a:xfrm>
        </p:spPr>
        <p:txBody>
          <a:bodyPr/>
          <a:lstStyle/>
          <a:p>
            <a:pPr algn="ctr"/>
            <a:r>
              <a:rPr lang="en-US" sz="5000" b="1" dirty="0">
                <a:solidFill>
                  <a:srgbClr val="C00000"/>
                </a:solidFill>
                <a:latin typeface="Times New Roman" panose="02020603050405020304" pitchFamily="18" charset="0"/>
                <a:cs typeface="Times New Roman" panose="02020603050405020304" pitchFamily="18" charset="0"/>
              </a:rPr>
              <a:t>Comparing Two Independent Population Means</a:t>
            </a:r>
            <a:endParaRPr lang="en-US" sz="5000"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12</a:t>
            </a:fld>
            <a:endParaRPr lang="en-US" altLang="zh-CN"/>
          </a:p>
        </p:txBody>
      </p:sp>
      <p:sp>
        <p:nvSpPr>
          <p:cNvPr id="3" name="Date Placeholder 2"/>
          <p:cNvSpPr>
            <a:spLocks noGrp="1"/>
          </p:cNvSpPr>
          <p:nvPr>
            <p:ph type="dt" sz="half" idx="10"/>
          </p:nvPr>
        </p:nvSpPr>
        <p:spPr/>
        <p:txBody>
          <a:bodyPr/>
          <a:lstStyle/>
          <a:p>
            <a:pPr>
              <a:defRPr/>
            </a:pPr>
            <a:fld id="{A7EF088F-7237-4966-92EA-78E51598D827}"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70426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548680"/>
                <a:ext cx="7427168" cy="4525963"/>
              </a:xfrm>
            </p:spPr>
            <p:txBody>
              <a:bodyPr/>
              <a:lstStyle/>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1</m:t>
                        </m:r>
                      </m:sub>
                    </m:sSub>
                    <m:r>
                      <a:rPr lang="en-GB" b="0" i="1" smtClean="0">
                        <a:latin typeface="Cambria Math" panose="02040503050406030204" pitchFamily="18" charset="0"/>
                        <a:cs typeface="Times New Roman" panose="02020603050405020304" pitchFamily="18" charset="0"/>
                      </a:rPr>
                      <m:t>,</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2</m:t>
                        </m:r>
                      </m:sub>
                    </m:sSub>
                    <m:r>
                      <a:rPr lang="en-GB" b="0" i="1" smtClean="0">
                        <a:latin typeface="Cambria Math" panose="02040503050406030204" pitchFamily="18" charset="0"/>
                        <a:cs typeface="Times New Roman" panose="02020603050405020304" pitchFamily="18" charset="0"/>
                      </a:rPr>
                      <m:t>,   .   .   .  .</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sSub>
                          <m:sSubPr>
                            <m:ctrlPr>
                              <a:rPr lang="en-GB"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𝑛</m:t>
                            </m:r>
                          </m:e>
                          <m:sub>
                            <m:r>
                              <a:rPr lang="en-GB" b="0" i="1" smtClean="0">
                                <a:latin typeface="Cambria Math" panose="02040503050406030204" pitchFamily="18" charset="0"/>
                                <a:cs typeface="Times New Roman" panose="02020603050405020304" pitchFamily="18" charset="0"/>
                              </a:rPr>
                              <m:t>1</m:t>
                            </m:r>
                          </m:sub>
                        </m:sSub>
                      </m:sub>
                    </m:sSub>
                  </m:oMath>
                </a14:m>
                <a:r>
                  <a:rPr lang="en-IN" dirty="0">
                    <a:latin typeface="Times New Roman" panose="02020603050405020304" pitchFamily="18" charset="0"/>
                    <a:cs typeface="Times New Roman" panose="02020603050405020304" pitchFamily="18" charset="0"/>
                  </a:rPr>
                  <a:t>be a random sample from a population with mean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latin typeface="Cambria Math" panose="02040503050406030204" pitchFamily="18" charset="0"/>
                            <a:cs typeface="Times New Roman" panose="02020603050405020304" pitchFamily="18" charset="0"/>
                          </a:rPr>
                          <m:t>1</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GB" b="0" i="1" smtClean="0">
                            <a:latin typeface="Cambria Math" panose="02040503050406030204" pitchFamily="18" charset="0"/>
                            <a:cs typeface="Times New Roman" panose="02020603050405020304" pitchFamily="18" charset="0"/>
                          </a:rPr>
                          <m:t>1</m:t>
                        </m:r>
                      </m:sub>
                      <m:sup>
                        <m:r>
                          <a:rPr lang="en-GB" b="0" i="1" smtClean="0">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a:t>
                </a:r>
              </a:p>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𝑌</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IN" i="1">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𝑌</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   .   .   .  .</m:t>
                    </m:r>
                    <m:sSub>
                      <m:sSubPr>
                        <m:ctrlPr>
                          <a:rPr lang="en-IN" i="1">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𝑌</m:t>
                        </m:r>
                      </m:e>
                      <m:sub>
                        <m:sSub>
                          <m:sSubPr>
                            <m:ctrlPr>
                              <a:rPr lang="en-GB" i="1">
                                <a:latin typeface="Cambria Math" panose="02040503050406030204" pitchFamily="18" charset="0"/>
                                <a:cs typeface="Times New Roman" panose="02020603050405020304" pitchFamily="18" charset="0"/>
                              </a:rPr>
                            </m:ctrlPr>
                          </m:sSubPr>
                          <m:e>
                            <m:r>
                              <a:rPr lang="en-GB" i="1" smtClean="0">
                                <a:latin typeface="Cambria Math" panose="02040503050406030204" pitchFamily="18" charset="0"/>
                                <a:cs typeface="Times New Roman" panose="02020603050405020304" pitchFamily="18" charset="0"/>
                              </a:rPr>
                              <m:t>𝑛</m:t>
                            </m:r>
                          </m:e>
                          <m:sub>
                            <m:r>
                              <a:rPr lang="en-GB" b="0" i="1" smtClean="0">
                                <a:latin typeface="Cambria Math" panose="02040503050406030204" pitchFamily="18" charset="0"/>
                                <a:cs typeface="Times New Roman" panose="02020603050405020304" pitchFamily="18" charset="0"/>
                              </a:rPr>
                              <m:t>2</m:t>
                            </m:r>
                          </m:sub>
                        </m:sSub>
                      </m:sub>
                    </m:sSub>
                  </m:oMath>
                </a14:m>
                <a:r>
                  <a:rPr lang="en-IN" dirty="0">
                    <a:latin typeface="Times New Roman" panose="02020603050405020304" pitchFamily="18" charset="0"/>
                    <a:cs typeface="Times New Roman" panose="02020603050405020304" pitchFamily="18" charset="0"/>
                  </a:rPr>
                  <a:t>be a random sample from a population with mean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sSubSup>
                      <m:sSubSupPr>
                        <m:ctrlPr>
                          <a:rPr lang="en-IN" i="1">
                            <a:latin typeface="Cambria Math" panose="02040503050406030204" pitchFamily="18" charset="0"/>
                            <a:cs typeface="Times New Roman" panose="02020603050405020304" pitchFamily="18" charset="0"/>
                          </a:rPr>
                        </m:ctrlPr>
                      </m:sSubSupPr>
                      <m:e>
                        <m:r>
                          <a:rPr lang="en-IN" i="1">
                            <a:latin typeface="Cambria Math" panose="02040503050406030204" pitchFamily="18" charset="0"/>
                            <a:ea typeface="Cambria Math" panose="02040503050406030204" pitchFamily="18" charset="0"/>
                            <a:cs typeface="Times New Roman" panose="02020603050405020304" pitchFamily="18" charset="0"/>
                          </a:rPr>
                          <m:t>𝜎</m:t>
                        </m:r>
                      </m:e>
                      <m:sub>
                        <m:r>
                          <a:rPr lang="en-GB" b="0" i="1" smtClean="0">
                            <a:latin typeface="Cambria Math" panose="02040503050406030204" pitchFamily="18" charset="0"/>
                            <a:cs typeface="Times New Roman" panose="02020603050405020304" pitchFamily="18" charset="0"/>
                          </a:rPr>
                          <m:t>2</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The populations are independent. </a:t>
                </a:r>
              </a:p>
              <a:p>
                <a:pPr marL="0" indent="0" algn="just">
                  <a:buNone/>
                </a:pPr>
                <a:r>
                  <a:rPr lang="en-IN" dirty="0">
                    <a:latin typeface="Times New Roman" panose="02020603050405020304" pitchFamily="18" charset="0"/>
                    <a:cs typeface="Times New Roman" panose="02020603050405020304" pitchFamily="18" charset="0"/>
                  </a:rPr>
                  <a:t>The point estimate for the population mean difference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the sample mean difference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𝑋</m:t>
                        </m:r>
                      </m:e>
                    </m:acc>
                    <m:r>
                      <a:rPr lang="en-GB" b="0" i="1" smtClean="0">
                        <a:latin typeface="Cambria Math" panose="02040503050406030204" pitchFamily="18" charset="0"/>
                        <a:cs typeface="Times New Roman" panose="02020603050405020304" pitchFamily="18" charset="0"/>
                      </a:rPr>
                      <m:t> − </m:t>
                    </m:r>
                    <m:acc>
                      <m:accPr>
                        <m:chr m:val="̅"/>
                        <m:ctrlPr>
                          <a:rPr lang="en-GB" b="0"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𝑌</m:t>
                        </m:r>
                      </m:e>
                    </m:acc>
                  </m:oMath>
                </a14:m>
                <a:r>
                  <a:rPr lang="en-IN"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548680"/>
                <a:ext cx="7427168" cy="4525963"/>
              </a:xfrm>
              <a:blipFill>
                <a:blip r:embed="rId2"/>
                <a:stretch>
                  <a:fillRect l="-2135" t="-1887" r="-2053" b="-20889"/>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13</a:t>
            </a:fld>
            <a:endParaRPr lang="en-US" altLang="zh-CN"/>
          </a:p>
        </p:txBody>
      </p:sp>
      <p:sp>
        <p:nvSpPr>
          <p:cNvPr id="2" name="Date Placeholder 1"/>
          <p:cNvSpPr>
            <a:spLocks noGrp="1"/>
          </p:cNvSpPr>
          <p:nvPr>
            <p:ph type="dt" sz="half" idx="10"/>
          </p:nvPr>
        </p:nvSpPr>
        <p:spPr/>
        <p:txBody>
          <a:bodyPr/>
          <a:lstStyle/>
          <a:p>
            <a:pPr>
              <a:defRPr/>
            </a:pPr>
            <a:fld id="{D4F45F75-3DE0-4E31-970B-BEBDB9C9BE72}"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415775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34859" y="620688"/>
                <a:ext cx="7351941" cy="4525963"/>
              </a:xfrm>
            </p:spPr>
            <p:txBody>
              <a:bodyPr/>
              <a:lstStyle/>
              <a:p>
                <a:pPr marL="0" indent="0" algn="just">
                  <a:buNone/>
                </a:pPr>
                <a:r>
                  <a:rPr lang="en-IN" sz="3600" dirty="0">
                    <a:latin typeface="Times New Roman" panose="02020603050405020304" pitchFamily="18" charset="0"/>
                    <a:cs typeface="Times New Roman" panose="02020603050405020304" pitchFamily="18" charset="0"/>
                  </a:rPr>
                  <a:t>When the two population distributions are normal, the sampling distribution of </a:t>
                </a:r>
                <a14:m>
                  <m:oMath xmlns:m="http://schemas.openxmlformats.org/officeDocument/2006/math">
                    <m:acc>
                      <m:accPr>
                        <m:chr m:val="̅"/>
                        <m:ctrlPr>
                          <a:rPr lang="en-IN"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𝑋</m:t>
                        </m:r>
                      </m:e>
                    </m:acc>
                    <m:r>
                      <a:rPr lang="en-GB" sz="3600" i="1">
                        <a:latin typeface="Cambria Math" panose="02040503050406030204" pitchFamily="18" charset="0"/>
                        <a:cs typeface="Times New Roman" panose="02020603050405020304" pitchFamily="18" charset="0"/>
                      </a:rPr>
                      <m:t> − </m:t>
                    </m:r>
                    <m:acc>
                      <m:accPr>
                        <m:chr m:val="̅"/>
                        <m:ctrlPr>
                          <a:rPr lang="en-GB"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𝑌</m:t>
                        </m:r>
                      </m:e>
                    </m:acc>
                  </m:oMath>
                </a14:m>
                <a:r>
                  <a:rPr lang="en-IN" sz="3600" dirty="0">
                    <a:latin typeface="Times New Roman" panose="02020603050405020304" pitchFamily="18" charset="0"/>
                    <a:cs typeface="Times New Roman" panose="02020603050405020304" pitchFamily="18" charset="0"/>
                  </a:rPr>
                  <a:t> is normal with mean </a:t>
                </a:r>
                <a:endParaRPr lang="en-NZ" sz="3600" dirty="0">
                  <a:latin typeface="Cambria Math" panose="02040503050406030204" pitchFamily="18" charset="0"/>
                  <a:cs typeface="Times New Roman" panose="02020603050405020304" pitchFamily="18" charset="0"/>
                </a:endParaRPr>
              </a:p>
              <a:p>
                <a:pPr marL="0" indent="0" algn="just">
                  <a:buNone/>
                </a:pPr>
                <a14:m>
                  <m:oMath xmlns:m="http://schemas.openxmlformats.org/officeDocument/2006/math">
                    <m:r>
                      <m:rPr>
                        <m:sty m:val="p"/>
                      </m:rPr>
                      <a:rPr lang="en-GB" sz="3600">
                        <a:latin typeface="Cambria Math" panose="02040503050406030204" pitchFamily="18" charset="0"/>
                        <a:cs typeface="Times New Roman" panose="02020603050405020304" pitchFamily="18" charset="0"/>
                      </a:rPr>
                      <m:t>E</m:t>
                    </m:r>
                    <m:d>
                      <m:dPr>
                        <m:ctrlPr>
                          <a:rPr lang="en-GB" sz="3600" i="1">
                            <a:latin typeface="Cambria Math" panose="02040503050406030204" pitchFamily="18" charset="0"/>
                            <a:cs typeface="Times New Roman" panose="02020603050405020304" pitchFamily="18" charset="0"/>
                          </a:rPr>
                        </m:ctrlPr>
                      </m:dPr>
                      <m:e>
                        <m:acc>
                          <m:accPr>
                            <m:chr m:val="̅"/>
                            <m:ctrlPr>
                              <a:rPr lang="en-IN"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𝑋</m:t>
                            </m:r>
                          </m:e>
                        </m:acc>
                        <m:r>
                          <a:rPr lang="en-GB" sz="3600" i="1">
                            <a:latin typeface="Cambria Math" panose="02040503050406030204" pitchFamily="18" charset="0"/>
                            <a:cs typeface="Times New Roman" panose="02020603050405020304" pitchFamily="18" charset="0"/>
                          </a:rPr>
                          <m:t> − </m:t>
                        </m:r>
                        <m:acc>
                          <m:accPr>
                            <m:chr m:val="̅"/>
                            <m:ctrlPr>
                              <a:rPr lang="en-GB"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𝑌</m:t>
                            </m:r>
                          </m:e>
                        </m:acc>
                      </m:e>
                    </m:d>
                    <m:r>
                      <a:rPr lang="en-GB" sz="3600" i="1">
                        <a:latin typeface="Cambria Math" panose="02040503050406030204" pitchFamily="18" charset="0"/>
                        <a:cs typeface="Times New Roman" panose="02020603050405020304" pitchFamily="18" charset="0"/>
                      </a:rPr>
                      <m:t>=</m:t>
                    </m:r>
                    <m:sSub>
                      <m:sSubPr>
                        <m:ctrlPr>
                          <a:rPr lang="en-GB" sz="3600" i="1">
                            <a:latin typeface="Cambria Math" panose="02040503050406030204" pitchFamily="18" charset="0"/>
                            <a:cs typeface="Times New Roman" panose="02020603050405020304" pitchFamily="18" charset="0"/>
                          </a:rPr>
                        </m:ctrlPr>
                      </m:sSubPr>
                      <m:e>
                        <m:r>
                          <a:rPr lang="en-GB" sz="36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3600" i="1">
                            <a:latin typeface="Cambria Math" panose="02040503050406030204" pitchFamily="18" charset="0"/>
                            <a:cs typeface="Times New Roman" panose="02020603050405020304" pitchFamily="18" charset="0"/>
                          </a:rPr>
                          <m:t>1</m:t>
                        </m:r>
                      </m:sub>
                    </m:sSub>
                    <m:r>
                      <a:rPr lang="en-GB" sz="3600" i="1">
                        <a:latin typeface="Cambria Math" panose="02040503050406030204" pitchFamily="18" charset="0"/>
                        <a:cs typeface="Times New Roman" panose="02020603050405020304" pitchFamily="18" charset="0"/>
                      </a:rPr>
                      <m:t>−</m:t>
                    </m:r>
                    <m:sSub>
                      <m:sSubPr>
                        <m:ctrlPr>
                          <a:rPr lang="en-GB" sz="3600" i="1">
                            <a:latin typeface="Cambria Math" panose="02040503050406030204" pitchFamily="18" charset="0"/>
                            <a:cs typeface="Times New Roman" panose="02020603050405020304" pitchFamily="18" charset="0"/>
                          </a:rPr>
                        </m:ctrlPr>
                      </m:sSubPr>
                      <m:e>
                        <m:r>
                          <a:rPr lang="en-GB" sz="36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3600" i="1">
                            <a:latin typeface="Cambria Math" panose="02040503050406030204" pitchFamily="18" charset="0"/>
                            <a:cs typeface="Times New Roman" panose="02020603050405020304" pitchFamily="18" charset="0"/>
                          </a:rPr>
                          <m:t>2</m:t>
                        </m:r>
                      </m:sub>
                    </m:sSub>
                  </m:oMath>
                </a14:m>
                <a:r>
                  <a:rPr lang="en-IN" sz="3600" dirty="0">
                    <a:latin typeface="Times New Roman" panose="02020603050405020304" pitchFamily="18" charset="0"/>
                    <a:cs typeface="Times New Roman" panose="02020603050405020304" pitchFamily="18" charset="0"/>
                  </a:rPr>
                  <a:t> </a:t>
                </a:r>
              </a:p>
              <a:p>
                <a:pPr marL="0" indent="0" algn="just">
                  <a:buNone/>
                </a:pPr>
                <a:r>
                  <a:rPr lang="en-IN" sz="3600" dirty="0">
                    <a:latin typeface="Times New Roman" panose="02020603050405020304" pitchFamily="18" charset="0"/>
                    <a:cs typeface="Times New Roman" panose="02020603050405020304" pitchFamily="18" charset="0"/>
                  </a:rPr>
                  <a:t>and variance </a:t>
                </a:r>
                <a:endParaRPr lang="en-NZ" sz="3600"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m:rPr>
                          <m:sty m:val="p"/>
                        </m:rPr>
                        <a:rPr lang="en-GB" sz="3600">
                          <a:latin typeface="Cambria Math" panose="02040503050406030204" pitchFamily="18" charset="0"/>
                          <a:cs typeface="Times New Roman" panose="02020603050405020304" pitchFamily="18" charset="0"/>
                        </a:rPr>
                        <m:t>Var</m:t>
                      </m:r>
                      <m:d>
                        <m:dPr>
                          <m:ctrlPr>
                            <a:rPr lang="en-GB" sz="3600" i="1">
                              <a:latin typeface="Cambria Math" panose="02040503050406030204" pitchFamily="18" charset="0"/>
                              <a:cs typeface="Times New Roman" panose="02020603050405020304" pitchFamily="18" charset="0"/>
                            </a:rPr>
                          </m:ctrlPr>
                        </m:dPr>
                        <m:e>
                          <m:acc>
                            <m:accPr>
                              <m:chr m:val="̅"/>
                              <m:ctrlPr>
                                <a:rPr lang="en-IN"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𝑋</m:t>
                              </m:r>
                            </m:e>
                          </m:acc>
                          <m:r>
                            <a:rPr lang="en-GB" sz="3600" i="1">
                              <a:latin typeface="Cambria Math" panose="02040503050406030204" pitchFamily="18" charset="0"/>
                              <a:cs typeface="Times New Roman" panose="02020603050405020304" pitchFamily="18" charset="0"/>
                            </a:rPr>
                            <m:t> − </m:t>
                          </m:r>
                          <m:acc>
                            <m:accPr>
                              <m:chr m:val="̅"/>
                              <m:ctrlPr>
                                <a:rPr lang="en-GB" sz="3600" i="1">
                                  <a:latin typeface="Cambria Math" panose="02040503050406030204" pitchFamily="18" charset="0"/>
                                  <a:cs typeface="Times New Roman" panose="02020603050405020304" pitchFamily="18" charset="0"/>
                                </a:rPr>
                              </m:ctrlPr>
                            </m:accPr>
                            <m:e>
                              <m:r>
                                <a:rPr lang="en-GB" sz="3600" i="1">
                                  <a:latin typeface="Cambria Math" panose="02040503050406030204" pitchFamily="18" charset="0"/>
                                  <a:cs typeface="Times New Roman" panose="02020603050405020304" pitchFamily="18" charset="0"/>
                                </a:rPr>
                                <m:t>𝑌</m:t>
                              </m:r>
                            </m:e>
                          </m:acc>
                        </m:e>
                      </m:d>
                      <m:r>
                        <a:rPr lang="en-GB" sz="3600" i="1">
                          <a:latin typeface="Cambria Math" panose="02040503050406030204" pitchFamily="18" charset="0"/>
                          <a:cs typeface="Times New Roman" panose="02020603050405020304" pitchFamily="18" charset="0"/>
                        </a:rPr>
                        <m:t>=</m:t>
                      </m:r>
                      <m:f>
                        <m:fPr>
                          <m:ctrlPr>
                            <a:rPr lang="en-GB" sz="3600" i="1">
                              <a:latin typeface="Cambria Math" panose="02040503050406030204" pitchFamily="18" charset="0"/>
                              <a:cs typeface="Times New Roman" panose="02020603050405020304" pitchFamily="18" charset="0"/>
                            </a:rPr>
                          </m:ctrlPr>
                        </m:fPr>
                        <m:num>
                          <m:sSubSup>
                            <m:sSubSupPr>
                              <m:ctrlPr>
                                <a:rPr lang="en-GB" sz="3600" i="1">
                                  <a:latin typeface="Cambria Math" panose="02040503050406030204" pitchFamily="18" charset="0"/>
                                  <a:cs typeface="Times New Roman" panose="02020603050405020304" pitchFamily="18" charset="0"/>
                                </a:rPr>
                              </m:ctrlPr>
                            </m:sSubSupPr>
                            <m:e>
                              <m:r>
                                <a:rPr lang="en-GB" sz="3600" i="1">
                                  <a:latin typeface="Cambria Math" panose="02040503050406030204" pitchFamily="18" charset="0"/>
                                  <a:ea typeface="Cambria Math" panose="02040503050406030204" pitchFamily="18" charset="0"/>
                                  <a:cs typeface="Times New Roman" panose="02020603050405020304" pitchFamily="18" charset="0"/>
                                </a:rPr>
                                <m:t>𝜎</m:t>
                              </m:r>
                            </m:e>
                            <m:sub>
                              <m:r>
                                <a:rPr lang="en-GB" sz="3600" i="1">
                                  <a:latin typeface="Cambria Math" panose="02040503050406030204" pitchFamily="18" charset="0"/>
                                  <a:ea typeface="Cambria Math" panose="02040503050406030204" pitchFamily="18" charset="0"/>
                                  <a:cs typeface="Times New Roman" panose="02020603050405020304" pitchFamily="18" charset="0"/>
                                </a:rPr>
                                <m:t>1</m:t>
                              </m:r>
                            </m:sub>
                            <m:sup>
                              <m:r>
                                <a:rPr lang="en-GB" sz="3600" i="1">
                                  <a:latin typeface="Cambria Math" panose="02040503050406030204" pitchFamily="18" charset="0"/>
                                  <a:cs typeface="Times New Roman" panose="02020603050405020304" pitchFamily="18" charset="0"/>
                                </a:rPr>
                                <m:t>2</m:t>
                              </m:r>
                            </m:sup>
                          </m:sSubSup>
                        </m:num>
                        <m:den>
                          <m:sSub>
                            <m:sSubPr>
                              <m:ctrlPr>
                                <a:rPr lang="en-GB" sz="3600" i="1">
                                  <a:latin typeface="Cambria Math" panose="02040503050406030204" pitchFamily="18" charset="0"/>
                                  <a:cs typeface="Times New Roman" panose="02020603050405020304" pitchFamily="18" charset="0"/>
                                </a:rPr>
                              </m:ctrlPr>
                            </m:sSubPr>
                            <m:e>
                              <m:r>
                                <a:rPr lang="en-GB" sz="3600" i="1">
                                  <a:latin typeface="Cambria Math" panose="02040503050406030204" pitchFamily="18" charset="0"/>
                                  <a:cs typeface="Times New Roman" panose="02020603050405020304" pitchFamily="18" charset="0"/>
                                </a:rPr>
                                <m:t>𝑛</m:t>
                              </m:r>
                            </m:e>
                            <m:sub>
                              <m:r>
                                <a:rPr lang="en-GB" sz="3600" i="1">
                                  <a:latin typeface="Cambria Math" panose="02040503050406030204" pitchFamily="18" charset="0"/>
                                  <a:cs typeface="Times New Roman" panose="02020603050405020304" pitchFamily="18" charset="0"/>
                                </a:rPr>
                                <m:t>1</m:t>
                              </m:r>
                            </m:sub>
                          </m:sSub>
                        </m:den>
                      </m:f>
                      <m:r>
                        <a:rPr lang="en-GB" sz="3600" i="1">
                          <a:latin typeface="Cambria Math" panose="02040503050406030204" pitchFamily="18" charset="0"/>
                          <a:cs typeface="Times New Roman" panose="02020603050405020304" pitchFamily="18" charset="0"/>
                        </a:rPr>
                        <m:t>+ </m:t>
                      </m:r>
                      <m:f>
                        <m:fPr>
                          <m:ctrlPr>
                            <a:rPr lang="en-GB" sz="3600" i="1">
                              <a:latin typeface="Cambria Math" panose="02040503050406030204" pitchFamily="18" charset="0"/>
                              <a:cs typeface="Times New Roman" panose="02020603050405020304" pitchFamily="18" charset="0"/>
                            </a:rPr>
                          </m:ctrlPr>
                        </m:fPr>
                        <m:num>
                          <m:sSubSup>
                            <m:sSubSupPr>
                              <m:ctrlPr>
                                <a:rPr lang="en-GB" sz="3600" i="1">
                                  <a:latin typeface="Cambria Math" panose="02040503050406030204" pitchFamily="18" charset="0"/>
                                  <a:cs typeface="Times New Roman" panose="02020603050405020304" pitchFamily="18" charset="0"/>
                                </a:rPr>
                              </m:ctrlPr>
                            </m:sSubSupPr>
                            <m:e>
                              <m:r>
                                <a:rPr lang="en-GB" sz="3600" i="1">
                                  <a:latin typeface="Cambria Math" panose="02040503050406030204" pitchFamily="18" charset="0"/>
                                  <a:ea typeface="Cambria Math" panose="02040503050406030204" pitchFamily="18" charset="0"/>
                                  <a:cs typeface="Times New Roman" panose="02020603050405020304" pitchFamily="18" charset="0"/>
                                </a:rPr>
                                <m:t>𝜎</m:t>
                              </m:r>
                            </m:e>
                            <m:sub>
                              <m:r>
                                <a:rPr lang="en-GB" sz="3600" i="1">
                                  <a:latin typeface="Cambria Math" panose="02040503050406030204" pitchFamily="18" charset="0"/>
                                  <a:ea typeface="Cambria Math" panose="02040503050406030204" pitchFamily="18" charset="0"/>
                                  <a:cs typeface="Times New Roman" panose="02020603050405020304" pitchFamily="18" charset="0"/>
                                </a:rPr>
                                <m:t>2 </m:t>
                              </m:r>
                            </m:sub>
                            <m:sup>
                              <m:r>
                                <a:rPr lang="en-GB" sz="3600" i="1">
                                  <a:latin typeface="Cambria Math" panose="02040503050406030204" pitchFamily="18" charset="0"/>
                                  <a:cs typeface="Times New Roman" panose="02020603050405020304" pitchFamily="18" charset="0"/>
                                </a:rPr>
                                <m:t>2</m:t>
                              </m:r>
                            </m:sup>
                          </m:sSubSup>
                        </m:num>
                        <m:den>
                          <m:sSub>
                            <m:sSubPr>
                              <m:ctrlPr>
                                <a:rPr lang="en-GB" sz="3600" i="1">
                                  <a:latin typeface="Cambria Math" panose="02040503050406030204" pitchFamily="18" charset="0"/>
                                  <a:cs typeface="Times New Roman" panose="02020603050405020304" pitchFamily="18" charset="0"/>
                                </a:rPr>
                              </m:ctrlPr>
                            </m:sSubPr>
                            <m:e>
                              <m:r>
                                <a:rPr lang="en-GB" sz="3600" i="1">
                                  <a:latin typeface="Cambria Math" panose="02040503050406030204" pitchFamily="18" charset="0"/>
                                  <a:cs typeface="Times New Roman" panose="02020603050405020304" pitchFamily="18" charset="0"/>
                                </a:rPr>
                                <m:t>𝑛</m:t>
                              </m:r>
                            </m:e>
                            <m:sub>
                              <m:r>
                                <a:rPr lang="en-GB" sz="3600" i="1">
                                  <a:latin typeface="Cambria Math" panose="02040503050406030204" pitchFamily="18" charset="0"/>
                                  <a:cs typeface="Times New Roman" panose="02020603050405020304" pitchFamily="18" charset="0"/>
                                </a:rPr>
                                <m:t>2</m:t>
                              </m:r>
                            </m:sub>
                          </m:sSub>
                        </m:den>
                      </m:f>
                    </m:oMath>
                  </m:oMathPara>
                </a14:m>
                <a:endParaRPr lang="en-GB" sz="36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34859" y="620688"/>
                <a:ext cx="7351941" cy="4525963"/>
              </a:xfrm>
              <a:blipFill>
                <a:blip r:embed="rId2"/>
                <a:stretch>
                  <a:fillRect l="-2570" t="-2291" r="-2488"/>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14</a:t>
            </a:fld>
            <a:endParaRPr lang="en-US" altLang="zh-CN"/>
          </a:p>
        </p:txBody>
      </p:sp>
      <p:sp>
        <p:nvSpPr>
          <p:cNvPr id="2" name="Date Placeholder 1"/>
          <p:cNvSpPr>
            <a:spLocks noGrp="1"/>
          </p:cNvSpPr>
          <p:nvPr>
            <p:ph type="dt" sz="half" idx="10"/>
          </p:nvPr>
        </p:nvSpPr>
        <p:spPr/>
        <p:txBody>
          <a:bodyPr/>
          <a:lstStyle/>
          <a:p>
            <a:pPr>
              <a:defRPr/>
            </a:pPr>
            <a:fld id="{56194F21-7C89-4E5B-B577-FF9B4A9BCAA9}"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306464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197768"/>
            <a:ext cx="7632848" cy="1143000"/>
          </a:xfrm>
        </p:spPr>
        <p:txBody>
          <a:bodyPr/>
          <a:lstStyle/>
          <a:p>
            <a:pPr algn="just"/>
            <a:r>
              <a:rPr lang="en-IN" sz="3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confidence interval for the difference between the two-population means is computed as follows:</a:t>
            </a:r>
            <a:endParaRPr lang="en-GB" sz="3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1610072"/>
                <a:ext cx="7488832" cy="4267200"/>
              </a:xfrm>
            </p:spPr>
            <p:txBody>
              <a:bodyPr/>
              <a:lstStyle/>
              <a:p>
                <a:pPr marL="0" indent="0" algn="just">
                  <a:buNone/>
                </a:pPr>
                <a:r>
                  <a:rPr lang="en-IN" sz="2800" dirty="0">
                    <a:solidFill>
                      <a:srgbClr val="FF0000"/>
                    </a:solidFill>
                    <a:latin typeface="Times New Roman" panose="02020603050405020304" pitchFamily="18" charset="0"/>
                    <a:cs typeface="Times New Roman" panose="02020603050405020304" pitchFamily="18" charset="0"/>
                  </a:rPr>
                  <a:t>Case 1: </a:t>
                </a:r>
              </a:p>
              <a:p>
                <a:pPr marL="0" indent="0" algn="just">
                  <a:buNone/>
                </a:pPr>
                <a:r>
                  <a:rPr lang="en-IN" sz="2800" dirty="0">
                    <a:latin typeface="Times New Roman" panose="02020603050405020304" pitchFamily="18" charset="0"/>
                    <a:cs typeface="Times New Roman" panose="02020603050405020304" pitchFamily="18" charset="0"/>
                  </a:rPr>
                  <a:t>When the two independent population distributions are </a:t>
                </a:r>
                <a:r>
                  <a:rPr lang="en-IN" sz="2800" dirty="0">
                    <a:solidFill>
                      <a:srgbClr val="00B050"/>
                    </a:solidFill>
                    <a:latin typeface="Times New Roman" panose="02020603050405020304" pitchFamily="18" charset="0"/>
                    <a:cs typeface="Times New Roman" panose="02020603050405020304" pitchFamily="18" charset="0"/>
                  </a:rPr>
                  <a:t>normal</a:t>
                </a:r>
                <a:r>
                  <a:rPr lang="en-IN" sz="2800" dirty="0">
                    <a:latin typeface="Times New Roman" panose="02020603050405020304" pitchFamily="18" charset="0"/>
                    <a:cs typeface="Times New Roman" panose="02020603050405020304" pitchFamily="18" charset="0"/>
                  </a:rPr>
                  <a:t> and the </a:t>
                </a:r>
                <a:r>
                  <a:rPr lang="en-IN" sz="28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800" i="1">
                            <a:solidFill>
                              <a:srgbClr val="00B050"/>
                            </a:solidFill>
                            <a:latin typeface="Cambria Math" panose="02040503050406030204" pitchFamily="18" charset="0"/>
                            <a:cs typeface="Times New Roman" panose="02020603050405020304" pitchFamily="18" charset="0"/>
                          </a:rPr>
                        </m:ctrlPr>
                      </m:sSubSupPr>
                      <m:e>
                        <m:r>
                          <a:rPr lang="en-GB" sz="28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8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800" i="1">
                            <a:solidFill>
                              <a:srgbClr val="00B050"/>
                            </a:solidFill>
                            <a:latin typeface="Cambria Math" panose="02040503050406030204" pitchFamily="18" charset="0"/>
                            <a:cs typeface="Times New Roman" panose="02020603050405020304" pitchFamily="18" charset="0"/>
                          </a:rPr>
                          <m:t>2</m:t>
                        </m:r>
                      </m:sup>
                    </m:sSubSup>
                  </m:oMath>
                </a14:m>
                <a:r>
                  <a:rPr lang="en-IN" sz="28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800" i="1">
                            <a:solidFill>
                              <a:srgbClr val="00B050"/>
                            </a:solidFill>
                            <a:latin typeface="Cambria Math" panose="02040503050406030204" pitchFamily="18" charset="0"/>
                            <a:cs typeface="Times New Roman" panose="02020603050405020304" pitchFamily="18" charset="0"/>
                          </a:rPr>
                        </m:ctrlPr>
                      </m:sSubSupPr>
                      <m:e>
                        <m:r>
                          <a:rPr lang="en-GB" sz="28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8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800" i="1">
                            <a:solidFill>
                              <a:srgbClr val="00B050"/>
                            </a:solidFill>
                            <a:latin typeface="Cambria Math" panose="02040503050406030204" pitchFamily="18" charset="0"/>
                            <a:cs typeface="Times New Roman" panose="02020603050405020304" pitchFamily="18" charset="0"/>
                          </a:rPr>
                          <m:t>2</m:t>
                        </m:r>
                      </m:sup>
                    </m:sSubSup>
                  </m:oMath>
                </a14:m>
                <a:r>
                  <a:rPr lang="en-IN" sz="2800" dirty="0">
                    <a:solidFill>
                      <a:srgbClr val="00B050"/>
                    </a:solidFill>
                    <a:latin typeface="Times New Roman" panose="02020603050405020304" pitchFamily="18" charset="0"/>
                    <a:cs typeface="Times New Roman" panose="02020603050405020304" pitchFamily="18" charset="0"/>
                  </a:rPr>
                  <a:t> are known</a:t>
                </a:r>
                <a:r>
                  <a:rPr lang="en-IN" sz="2800"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sz="2800" i="1" smtClean="0">
                            <a:latin typeface="Cambria Math" panose="02040503050406030204" pitchFamily="18" charset="0"/>
                            <a:cs typeface="Times New Roman" panose="02020603050405020304" pitchFamily="18" charset="0"/>
                          </a:rPr>
                        </m:ctrlPr>
                      </m:dPr>
                      <m:e>
                        <m:r>
                          <a:rPr lang="en-GB" sz="2800" b="0" i="1" smtClean="0">
                            <a:latin typeface="Cambria Math" panose="02040503050406030204" pitchFamily="18" charset="0"/>
                            <a:cs typeface="Times New Roman" panose="02020603050405020304" pitchFamily="18" charset="0"/>
                          </a:rPr>
                          <m:t>1−</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sz="2800" dirty="0">
                    <a:latin typeface="Times New Roman" panose="02020603050405020304" pitchFamily="18" charset="0"/>
                    <a:cs typeface="Times New Roman" panose="02020603050405020304" pitchFamily="18" charset="0"/>
                  </a:rPr>
                  <a:t>*100 % confidence interval for </a:t>
                </a:r>
                <a14:m>
                  <m:oMath xmlns:m="http://schemas.openxmlformats.org/officeDocument/2006/math">
                    <m:sSub>
                      <m:sSubPr>
                        <m:ctrlPr>
                          <a:rPr lang="en-GB"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800" i="1">
                            <a:latin typeface="Cambria Math" panose="02040503050406030204" pitchFamily="18" charset="0"/>
                            <a:cs typeface="Times New Roman" panose="02020603050405020304" pitchFamily="18" charset="0"/>
                          </a:rPr>
                          <m:t>1</m:t>
                        </m:r>
                      </m:sub>
                    </m:sSub>
                    <m:r>
                      <a:rPr lang="en-GB" sz="2800" i="1">
                        <a:latin typeface="Cambria Math" panose="02040503050406030204" pitchFamily="18" charset="0"/>
                        <a:cs typeface="Times New Roman" panose="02020603050405020304" pitchFamily="18" charset="0"/>
                      </a:rPr>
                      <m:t>−</m:t>
                    </m:r>
                    <m:sSub>
                      <m:sSubPr>
                        <m:ctrlPr>
                          <a:rPr lang="en-GB"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800" i="1">
                            <a:latin typeface="Cambria Math" panose="02040503050406030204" pitchFamily="18" charset="0"/>
                            <a:cs typeface="Times New Roman" panose="02020603050405020304" pitchFamily="18" charset="0"/>
                          </a:rPr>
                          <m:t>2</m:t>
                        </m:r>
                      </m:sub>
                    </m:sSub>
                  </m:oMath>
                </a14:m>
                <a:r>
                  <a:rPr lang="en-IN" sz="2800" dirty="0">
                    <a:latin typeface="Times New Roman" panose="02020603050405020304" pitchFamily="18" charset="0"/>
                    <a:cs typeface="Times New Roman" panose="02020603050405020304" pitchFamily="18" charset="0"/>
                  </a:rPr>
                  <a:t> is computed as,</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14:m>
                  <m:oMath xmlns:m="http://schemas.openxmlformats.org/officeDocument/2006/math">
                    <m:d>
                      <m:dPr>
                        <m:ctrlPr>
                          <a:rPr lang="en-GB" sz="2400" i="1">
                            <a:solidFill>
                              <a:srgbClr val="0070C0"/>
                            </a:solidFill>
                            <a:latin typeface="Cambria Math" panose="02040503050406030204" pitchFamily="18" charset="0"/>
                            <a:cs typeface="Times New Roman" panose="02020603050405020304" pitchFamily="18" charset="0"/>
                          </a:rPr>
                        </m:ctrlPr>
                      </m:dPr>
                      <m:e>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𝑍</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
                          <a:rPr lang="en-GB" sz="2400" i="1">
                            <a:solidFill>
                              <a:srgbClr val="0070C0"/>
                            </a:solidFill>
                            <a:latin typeface="Cambria Math" panose="02040503050406030204" pitchFamily="18" charset="0"/>
                            <a:cs typeface="Times New Roman" panose="02020603050405020304" pitchFamily="18" charset="0"/>
                          </a:rPr>
                          <m:t>∗</m:t>
                        </m:r>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r>
                          <a:rPr lang="en-GB" sz="2400" i="1">
                            <a:solidFill>
                              <a:srgbClr val="0070C0"/>
                            </a:solidFill>
                            <a:latin typeface="Cambria Math" panose="02040503050406030204" pitchFamily="18" charset="0"/>
                            <a:cs typeface="Times New Roman" panose="02020603050405020304" pitchFamily="18" charset="0"/>
                          </a:rPr>
                          <m:t>  ,</m:t>
                        </m:r>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𝑍</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e>
                    </m:d>
                  </m:oMath>
                </a14:m>
                <a:r>
                  <a:rPr lang="en-GB" sz="2400" dirty="0">
                    <a:latin typeface="Times New Roman" panose="02020603050405020304" pitchFamily="18" charset="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1610072"/>
                <a:ext cx="7488832" cy="4267200"/>
              </a:xfrm>
              <a:blipFill>
                <a:blip r:embed="rId2"/>
                <a:stretch>
                  <a:fillRect l="-1710" t="-1429" r="-1629"/>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15</a:t>
            </a:fld>
            <a:endParaRPr lang="en-US" altLang="zh-CN"/>
          </a:p>
        </p:txBody>
      </p:sp>
      <p:sp>
        <p:nvSpPr>
          <p:cNvPr id="5" name="Date Placeholder 4"/>
          <p:cNvSpPr>
            <a:spLocks noGrp="1"/>
          </p:cNvSpPr>
          <p:nvPr>
            <p:ph type="dt" sz="half" idx="10"/>
          </p:nvPr>
        </p:nvSpPr>
        <p:spPr/>
        <p:txBody>
          <a:bodyPr/>
          <a:lstStyle/>
          <a:p>
            <a:pPr>
              <a:defRPr/>
            </a:pPr>
            <a:fld id="{3464E9F0-407E-4369-8B10-CEE7D22B5401}"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67547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4223" y="476672"/>
                <a:ext cx="7652518" cy="4267200"/>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2: </a:t>
                </a:r>
              </a:p>
              <a:p>
                <a:pPr marL="0" indent="0" algn="just">
                  <a:buNone/>
                </a:pPr>
                <a:r>
                  <a:rPr lang="en-IN" dirty="0">
                    <a:latin typeface="Times New Roman" panose="02020603050405020304" pitchFamily="18" charset="0"/>
                    <a:cs typeface="Times New Roman" panose="02020603050405020304" pitchFamily="18" charset="0"/>
                  </a:rPr>
                  <a:t>When the two independent population distributions are </a:t>
                </a:r>
                <a:r>
                  <a:rPr lang="en-IN" dirty="0">
                    <a:solidFill>
                      <a:srgbClr val="00B050"/>
                    </a:solidFill>
                    <a:latin typeface="Times New Roman" panose="02020603050405020304" pitchFamily="18" charset="0"/>
                    <a:cs typeface="Times New Roman" panose="02020603050405020304" pitchFamily="18" charset="0"/>
                  </a:rPr>
                  <a:t>normal</a:t>
                </a:r>
                <a:r>
                  <a:rPr lang="en-IN" dirty="0">
                    <a:latin typeface="Times New Roman" panose="02020603050405020304" pitchFamily="18" charset="0"/>
                    <a:cs typeface="Times New Roman" panose="02020603050405020304" pitchFamily="18" charset="0"/>
                  </a:rPr>
                  <a:t> and the </a:t>
                </a:r>
                <a:r>
                  <a:rPr lang="en-IN"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are unknown and unequal</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dirty="0">
                    <a:latin typeface="Times New Roman" panose="02020603050405020304" pitchFamily="18" charset="0"/>
                    <a:cs typeface="Times New Roman" panose="02020603050405020304" pitchFamily="18" charset="0"/>
                  </a:rPr>
                  <a:t>*100 % confidence interval for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computed as,</a:t>
                </a:r>
              </a:p>
              <a:p>
                <a:pPr marL="0" indent="0">
                  <a:buNone/>
                </a:pPr>
                <a:r>
                  <a:rPr lang="en-GB" sz="2400" dirty="0"/>
                  <a:t> </a:t>
                </a:r>
                <a14:m>
                  <m:oMath xmlns:m="http://schemas.openxmlformats.org/officeDocument/2006/math">
                    <m:d>
                      <m:dPr>
                        <m:ctrlPr>
                          <a:rPr lang="en-GB" sz="2400" i="1">
                            <a:solidFill>
                              <a:srgbClr val="0070C0"/>
                            </a:solidFill>
                            <a:latin typeface="Cambria Math" panose="02040503050406030204" pitchFamily="18" charset="0"/>
                            <a:cs typeface="Times New Roman" panose="02020603050405020304" pitchFamily="18" charset="0"/>
                          </a:rPr>
                        </m:ctrlPr>
                      </m:dPr>
                      <m:e>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𝑡</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
                          <a:rPr lang="en-GB" sz="2400" i="1">
                            <a:solidFill>
                              <a:srgbClr val="0070C0"/>
                            </a:solidFill>
                            <a:latin typeface="Cambria Math" panose="02040503050406030204" pitchFamily="18" charset="0"/>
                            <a:cs typeface="Times New Roman" panose="02020603050405020304" pitchFamily="18" charset="0"/>
                          </a:rPr>
                          <m:t>∗</m:t>
                        </m:r>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cs typeface="Times New Roman" panose="02020603050405020304" pitchFamily="18" charset="0"/>
                                      </a:rPr>
                                      <m:t>𝑠</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cs typeface="Times New Roman" panose="02020603050405020304" pitchFamily="18" charset="0"/>
                                      </a:rPr>
                                      <m:t>𝑠</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r>
                          <a:rPr lang="en-GB" sz="2400" i="1">
                            <a:solidFill>
                              <a:srgbClr val="0070C0"/>
                            </a:solidFill>
                            <a:latin typeface="Cambria Math" panose="02040503050406030204" pitchFamily="18" charset="0"/>
                            <a:cs typeface="Times New Roman" panose="02020603050405020304" pitchFamily="18" charset="0"/>
                          </a:rPr>
                          <m:t>  ,</m:t>
                        </m:r>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𝑡</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
                          <a:rPr lang="en-NZ" sz="2400" b="0" i="1" smtClean="0">
                            <a:solidFill>
                              <a:srgbClr val="0070C0"/>
                            </a:solidFill>
                            <a:latin typeface="Cambria Math" panose="02040503050406030204" pitchFamily="18" charset="0"/>
                            <a:cs typeface="Times New Roman" panose="02020603050405020304" pitchFamily="18" charset="0"/>
                          </a:rPr>
                          <m:t>∗</m:t>
                        </m:r>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cs typeface="Times New Roman" panose="02020603050405020304" pitchFamily="18" charset="0"/>
                                      </a:rPr>
                                      <m:t>𝑠</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sSubSup>
                                  <m:sSubSupPr>
                                    <m:ctrlPr>
                                      <a:rPr lang="en-GB" sz="2400" i="1">
                                        <a:solidFill>
                                          <a:srgbClr val="0070C0"/>
                                        </a:solidFill>
                                        <a:latin typeface="Cambria Math" panose="02040503050406030204" pitchFamily="18" charset="0"/>
                                        <a:cs typeface="Times New Roman" panose="02020603050405020304" pitchFamily="18" charset="0"/>
                                      </a:rPr>
                                    </m:ctrlPr>
                                  </m:sSubSupPr>
                                  <m:e>
                                    <m:r>
                                      <a:rPr lang="en-GB" sz="2400" i="1">
                                        <a:solidFill>
                                          <a:srgbClr val="0070C0"/>
                                        </a:solidFill>
                                        <a:latin typeface="Cambria Math" panose="02040503050406030204" pitchFamily="18" charset="0"/>
                                        <a:cs typeface="Times New Roman" panose="02020603050405020304" pitchFamily="18" charset="0"/>
                                      </a:rPr>
                                      <m:t>𝑠</m:t>
                                    </m:r>
                                  </m:e>
                                  <m:sub>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4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e>
                    </m:d>
                  </m:oMath>
                </a14:m>
                <a:endParaRPr lang="en-GB" sz="2400" dirty="0"/>
              </a:p>
              <a:p>
                <a:pPr marL="0" indent="0" algn="just">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cs typeface="Times New Roman" panose="02020603050405020304" pitchFamily="18" charset="0"/>
                          </a:rPr>
                          <m:t>𝑠</m:t>
                        </m:r>
                      </m:e>
                      <m:sub>
                        <m:r>
                          <a:rPr lang="en-GB" i="1">
                            <a:latin typeface="Cambria Math" panose="02040503050406030204" pitchFamily="18" charset="0"/>
                            <a:ea typeface="Cambria Math" panose="02040503050406030204" pitchFamily="18" charset="0"/>
                            <a:cs typeface="Times New Roman" panose="02020603050405020304" pitchFamily="18" charset="0"/>
                          </a:rPr>
                          <m:t>1</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and</a:t>
                </a:r>
                <a14:m>
                  <m:oMath xmlns:m="http://schemas.openxmlformats.org/officeDocument/2006/math">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cs typeface="Times New Roman" panose="02020603050405020304" pitchFamily="18" charset="0"/>
                          </a:rPr>
                          <m:t> </m:t>
                        </m:r>
                        <m:r>
                          <a:rPr lang="en-GB" i="1">
                            <a:latin typeface="Cambria Math" panose="02040503050406030204" pitchFamily="18" charset="0"/>
                            <a:cs typeface="Times New Roman" panose="02020603050405020304" pitchFamily="18" charset="0"/>
                          </a:rPr>
                          <m:t>𝑠</m:t>
                        </m:r>
                      </m:e>
                      <m:sub>
                        <m:r>
                          <a:rPr lang="en-GB" i="1">
                            <a:latin typeface="Cambria Math" panose="02040503050406030204" pitchFamily="18" charset="0"/>
                            <a:ea typeface="Cambria Math" panose="02040503050406030204" pitchFamily="18" charset="0"/>
                            <a:cs typeface="Times New Roman" panose="02020603050405020304" pitchFamily="18" charset="0"/>
                          </a:rPr>
                          <m:t>2</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are the corresponding sample variances, and the degrees of freedom for t is,</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4223" y="476672"/>
                <a:ext cx="7652518" cy="4267200"/>
              </a:xfrm>
              <a:blipFill>
                <a:blip r:embed="rId2"/>
                <a:stretch>
                  <a:fillRect l="-1990" t="-2000" r="-1990" b="-26286"/>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16</a:t>
            </a:fld>
            <a:endParaRPr lang="en-US" altLang="zh-CN"/>
          </a:p>
        </p:txBody>
      </p:sp>
      <p:sp>
        <p:nvSpPr>
          <p:cNvPr id="2" name="Date Placeholder 1"/>
          <p:cNvSpPr>
            <a:spLocks noGrp="1"/>
          </p:cNvSpPr>
          <p:nvPr>
            <p:ph type="dt" sz="half" idx="10"/>
          </p:nvPr>
        </p:nvSpPr>
        <p:spPr/>
        <p:txBody>
          <a:bodyPr/>
          <a:lstStyle/>
          <a:p>
            <a:pPr>
              <a:defRPr/>
            </a:pPr>
            <a:fld id="{4F94054E-9082-4B7F-8584-0A8CB63D0E35}"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090888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82772" y="620688"/>
                <a:ext cx="7283152" cy="4525963"/>
              </a:xfrm>
            </p:spPr>
            <p:txBody>
              <a:bodyPr/>
              <a:lstStyle/>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𝑑𝑓</m:t>
                      </m:r>
                      <m:r>
                        <a:rPr lang="en-GB" b="0" i="1" smtClean="0">
                          <a:latin typeface="Cambria Math" panose="02040503050406030204" pitchFamily="18" charset="0"/>
                        </a:rPr>
                        <m:t>= </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e>
                            <m:sup>
                              <m:r>
                                <a:rPr lang="en-GB" b="0" i="1" smtClean="0">
                                  <a:latin typeface="Cambria Math" panose="02040503050406030204" pitchFamily="18" charset="0"/>
                                </a:rPr>
                                <m:t>2</m:t>
                              </m:r>
                            </m:sup>
                          </m:sSup>
                        </m:num>
                        <m:den>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𝐴</m:t>
                                  </m:r>
                                </m:e>
                                <m:sup>
                                  <m:r>
                                    <a:rPr lang="en-GB" b="0" i="1" smtClean="0">
                                      <a:latin typeface="Cambria Math" panose="02040503050406030204" pitchFamily="18" charset="0"/>
                                    </a:rPr>
                                    <m:t>2</m:t>
                                  </m:r>
                                </m:sup>
                              </m:sSup>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1</m:t>
                                  </m:r>
                                </m:sub>
                              </m:sSub>
                              <m:r>
                                <a:rPr lang="en-GB" b="0" i="1" smtClean="0">
                                  <a:latin typeface="Cambria Math" panose="02040503050406030204" pitchFamily="18" charset="0"/>
                                </a:rPr>
                                <m:t>−1</m:t>
                              </m:r>
                            </m:den>
                          </m:f>
                          <m:r>
                            <a:rPr lang="en-GB" b="0" i="1" smtClean="0">
                              <a:latin typeface="Cambria Math" panose="02040503050406030204" pitchFamily="18" charset="0"/>
                            </a:rPr>
                            <m:t> +</m:t>
                          </m:r>
                          <m:f>
                            <m:fPr>
                              <m:ctrlPr>
                                <a:rPr lang="en-GB" i="1">
                                  <a:latin typeface="Cambria Math" panose="02040503050406030204" pitchFamily="18" charset="0"/>
                                </a:rPr>
                              </m:ctrlPr>
                            </m:fPr>
                            <m:num>
                              <m:sSup>
                                <m:sSupPr>
                                  <m:ctrlPr>
                                    <a:rPr lang="en-GB" i="1">
                                      <a:latin typeface="Cambria Math" panose="02040503050406030204" pitchFamily="18" charset="0"/>
                                    </a:rPr>
                                  </m:ctrlPr>
                                </m:sSupPr>
                                <m:e>
                                  <m:r>
                                    <a:rPr lang="en-GB" b="0" i="1" smtClean="0">
                                      <a:latin typeface="Cambria Math" panose="02040503050406030204" pitchFamily="18" charset="0"/>
                                    </a:rPr>
                                    <m:t>𝐵</m:t>
                                  </m:r>
                                </m:e>
                                <m:sup>
                                  <m:r>
                                    <a:rPr lang="en-GB" i="1">
                                      <a:latin typeface="Cambria Math" panose="02040503050406030204" pitchFamily="18" charset="0"/>
                                    </a:rPr>
                                    <m:t>2</m:t>
                                  </m:r>
                                </m:sup>
                              </m:s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b="0" i="1" smtClean="0">
                                      <a:latin typeface="Cambria Math" panose="02040503050406030204" pitchFamily="18" charset="0"/>
                                    </a:rPr>
                                    <m:t>2</m:t>
                                  </m:r>
                                </m:sub>
                              </m:sSub>
                              <m:r>
                                <a:rPr lang="en-GB" i="1">
                                  <a:latin typeface="Cambria Math" panose="02040503050406030204" pitchFamily="18" charset="0"/>
                                </a:rPr>
                                <m:t>−1</m:t>
                              </m:r>
                            </m:den>
                          </m:f>
                        </m:den>
                      </m:f>
                      <m:r>
                        <a:rPr lang="en-GB" b="0" i="0" smtClean="0">
                          <a:latin typeface="Cambria Math" panose="02040503050406030204" pitchFamily="18" charset="0"/>
                        </a:rPr>
                        <m:t>           </m:t>
                      </m:r>
                    </m:oMath>
                  </m:oMathPara>
                </a14:m>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Where </a:t>
                </a:r>
                <a14:m>
                  <m:oMath xmlns:m="http://schemas.openxmlformats.org/officeDocument/2006/math">
                    <m:r>
                      <a:rPr lang="en-GB" b="0" i="1" smtClean="0">
                        <a:latin typeface="Cambria Math" panose="02040503050406030204" pitchFamily="18" charset="0"/>
                        <a:cs typeface="Times New Roman" panose="02020603050405020304" pitchFamily="18" charset="0"/>
                      </a:rPr>
                      <m:t>𝐴</m:t>
                    </m:r>
                    <m:r>
                      <a:rPr lang="en-GB" b="0" i="1" smtClean="0">
                        <a:latin typeface="Cambria Math" panose="02040503050406030204" pitchFamily="18" charset="0"/>
                        <a:cs typeface="Times New Roman" panose="02020603050405020304" pitchFamily="18" charset="0"/>
                      </a:rPr>
                      <m:t>= </m:t>
                    </m:r>
                    <m:f>
                      <m:fPr>
                        <m:ctrlPr>
                          <a:rPr lang="en-GB" b="0" i="1" smtClean="0">
                            <a:latin typeface="Cambria Math" panose="02040503050406030204" pitchFamily="18" charset="0"/>
                            <a:cs typeface="Times New Roman" panose="02020603050405020304" pitchFamily="18" charset="0"/>
                          </a:rPr>
                        </m:ctrlPr>
                      </m:fPr>
                      <m:num>
                        <m:sSubSup>
                          <m:sSubSupPr>
                            <m:ctrlPr>
                              <a:rPr lang="en-GB" b="0" i="1" smtClean="0">
                                <a:latin typeface="Cambria Math" panose="02040503050406030204" pitchFamily="18" charset="0"/>
                                <a:cs typeface="Times New Roman" panose="02020603050405020304" pitchFamily="18" charset="0"/>
                              </a:rPr>
                            </m:ctrlPr>
                          </m:sSubSupPr>
                          <m:e>
                            <m:r>
                              <a:rPr lang="en-GB" b="0" i="1" smtClean="0">
                                <a:latin typeface="Cambria Math" panose="02040503050406030204" pitchFamily="18" charset="0"/>
                                <a:cs typeface="Times New Roman" panose="02020603050405020304" pitchFamily="18" charset="0"/>
                              </a:rPr>
                              <m:t>𝑠</m:t>
                            </m:r>
                          </m:e>
                          <m:sub>
                            <m:r>
                              <a:rPr lang="en-GB" b="0" i="1" smtClean="0">
                                <a:latin typeface="Cambria Math" panose="02040503050406030204" pitchFamily="18" charset="0"/>
                                <a:cs typeface="Times New Roman" panose="02020603050405020304" pitchFamily="18" charset="0"/>
                              </a:rPr>
                              <m:t>1</m:t>
                            </m:r>
                          </m:sub>
                          <m:sup>
                            <m:r>
                              <a:rPr lang="en-GB" b="0" i="1" smtClean="0">
                                <a:latin typeface="Cambria Math" panose="02040503050406030204" pitchFamily="18" charset="0"/>
                                <a:cs typeface="Times New Roman" panose="02020603050405020304" pitchFamily="18" charset="0"/>
                              </a:rPr>
                              <m:t>2</m:t>
                            </m:r>
                          </m:sup>
                        </m:sSubSup>
                      </m:num>
                      <m:den>
                        <m:sSub>
                          <m:sSubPr>
                            <m:ctrlPr>
                              <a:rPr lang="en-GB" b="0"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𝑛</m:t>
                            </m:r>
                          </m:e>
                          <m:sub>
                            <m:r>
                              <a:rPr lang="en-GB" b="0" i="1" smtClean="0">
                                <a:latin typeface="Cambria Math" panose="02040503050406030204" pitchFamily="18" charset="0"/>
                                <a:cs typeface="Times New Roman" panose="02020603050405020304" pitchFamily="18" charset="0"/>
                              </a:rPr>
                              <m:t>1</m:t>
                            </m:r>
                          </m:sub>
                        </m:sSub>
                      </m:den>
                    </m:f>
                  </m:oMath>
                </a14:m>
                <a:r>
                  <a:rPr lang="en-GB" dirty="0">
                    <a:latin typeface="Times New Roman" panose="02020603050405020304" pitchFamily="18" charset="0"/>
                    <a:cs typeface="Times New Roman" panose="02020603050405020304" pitchFamily="18" charset="0"/>
                  </a:rPr>
                  <a:t> and </a:t>
                </a:r>
                <a14:m>
                  <m:oMath xmlns:m="http://schemas.openxmlformats.org/officeDocument/2006/math">
                    <m:r>
                      <a:rPr lang="en-GB" b="0" i="1" smtClean="0">
                        <a:latin typeface="Cambria Math" panose="02040503050406030204" pitchFamily="18" charset="0"/>
                        <a:cs typeface="Times New Roman" panose="02020603050405020304" pitchFamily="18" charset="0"/>
                      </a:rPr>
                      <m:t>𝐵</m:t>
                    </m:r>
                    <m:r>
                      <a:rPr lang="en-GB" i="1">
                        <a:latin typeface="Cambria Math" panose="02040503050406030204" pitchFamily="18" charset="0"/>
                        <a:cs typeface="Times New Roman" panose="02020603050405020304" pitchFamily="18" charset="0"/>
                      </a:rPr>
                      <m:t>= </m:t>
                    </m:r>
                    <m:f>
                      <m:fPr>
                        <m:ctrlPr>
                          <a:rPr lang="en-GB" i="1">
                            <a:latin typeface="Cambria Math" panose="02040503050406030204" pitchFamily="18" charset="0"/>
                            <a:cs typeface="Times New Roman" panose="02020603050405020304" pitchFamily="18" charset="0"/>
                          </a:rPr>
                        </m:ctrlPr>
                      </m:fPr>
                      <m:num>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cs typeface="Times New Roman" panose="02020603050405020304" pitchFamily="18" charset="0"/>
                              </a:rPr>
                              <m:t>𝑠</m:t>
                            </m:r>
                          </m:e>
                          <m:sub>
                            <m:r>
                              <a:rPr lang="en-GB" b="0" i="1" smtClean="0">
                                <a:latin typeface="Cambria Math" panose="02040503050406030204" pitchFamily="18" charset="0"/>
                                <a:cs typeface="Times New Roman" panose="02020603050405020304" pitchFamily="18" charset="0"/>
                              </a:rPr>
                              <m:t>2</m:t>
                            </m:r>
                          </m:sub>
                          <m:sup>
                            <m:r>
                              <a:rPr lang="en-GB" i="1">
                                <a:latin typeface="Cambria Math" panose="02040503050406030204" pitchFamily="18" charset="0"/>
                                <a:cs typeface="Times New Roman" panose="02020603050405020304" pitchFamily="18" charset="0"/>
                              </a:rPr>
                              <m:t>2</m:t>
                            </m:r>
                          </m:sup>
                        </m:sSubSup>
                      </m:num>
                      <m:den>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𝑛</m:t>
                            </m:r>
                          </m:e>
                          <m:sub>
                            <m:r>
                              <a:rPr lang="en-GB" b="0" i="1" smtClean="0">
                                <a:latin typeface="Cambria Math" panose="02040503050406030204" pitchFamily="18" charset="0"/>
                                <a:cs typeface="Times New Roman" panose="02020603050405020304" pitchFamily="18" charset="0"/>
                              </a:rPr>
                              <m:t>2</m:t>
                            </m:r>
                          </m:sub>
                        </m:sSub>
                      </m:den>
                    </m:f>
                  </m:oMath>
                </a14:m>
                <a:endParaRPr lang="en-GB" dirty="0">
                  <a:latin typeface="Times New Roman" panose="02020603050405020304" pitchFamily="18" charset="0"/>
                  <a:cs typeface="Times New Roman" panose="02020603050405020304" pitchFamily="18" charset="0"/>
                </a:endParaRP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3: </a:t>
                </a:r>
              </a:p>
              <a:p>
                <a:pPr marL="0" indent="0" algn="just">
                  <a:buNone/>
                </a:pPr>
                <a:r>
                  <a:rPr lang="en-IN" dirty="0">
                    <a:latin typeface="Times New Roman" panose="02020603050405020304" pitchFamily="18" charset="0"/>
                    <a:cs typeface="Times New Roman" panose="02020603050405020304" pitchFamily="18" charset="0"/>
                  </a:rPr>
                  <a:t>When the two independent population distributions are </a:t>
                </a:r>
                <a:r>
                  <a:rPr lang="en-IN" dirty="0">
                    <a:solidFill>
                      <a:srgbClr val="00B050"/>
                    </a:solidFill>
                    <a:latin typeface="Times New Roman" panose="02020603050405020304" pitchFamily="18" charset="0"/>
                    <a:cs typeface="Times New Roman" panose="02020603050405020304" pitchFamily="18" charset="0"/>
                  </a:rPr>
                  <a:t>normal</a:t>
                </a:r>
                <a:r>
                  <a:rPr lang="en-IN" dirty="0">
                    <a:latin typeface="Times New Roman" panose="02020603050405020304" pitchFamily="18" charset="0"/>
                    <a:cs typeface="Times New Roman" panose="02020603050405020304" pitchFamily="18" charset="0"/>
                  </a:rPr>
                  <a:t> and the </a:t>
                </a:r>
                <a:r>
                  <a:rPr lang="en-IN"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are unknown but equal</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dirty="0">
                    <a:latin typeface="Times New Roman" panose="02020603050405020304" pitchFamily="18" charset="0"/>
                    <a:cs typeface="Times New Roman" panose="02020603050405020304" pitchFamily="18" charset="0"/>
                  </a:rPr>
                  <a:t>*100 % confidence interval for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computed as,</a:t>
                </a:r>
              </a:p>
              <a:p>
                <a:pPr marL="0" indent="0">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82772" y="620688"/>
                <a:ext cx="7283152" cy="4525963"/>
              </a:xfrm>
              <a:blipFill>
                <a:blip r:embed="rId2"/>
                <a:stretch>
                  <a:fillRect l="-2176" r="-2092" b="-30458"/>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17</a:t>
            </a:fld>
            <a:endParaRPr lang="en-US" altLang="zh-CN"/>
          </a:p>
        </p:txBody>
      </p:sp>
      <p:sp>
        <p:nvSpPr>
          <p:cNvPr id="2" name="Date Placeholder 1"/>
          <p:cNvSpPr>
            <a:spLocks noGrp="1"/>
          </p:cNvSpPr>
          <p:nvPr>
            <p:ph type="dt" sz="half" idx="10"/>
          </p:nvPr>
        </p:nvSpPr>
        <p:spPr/>
        <p:txBody>
          <a:bodyPr/>
          <a:lstStyle/>
          <a:p>
            <a:pPr>
              <a:defRPr/>
            </a:pPr>
            <a:fld id="{15E40FAF-EE9D-49E3-89BF-7CD65A363D28}"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793772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15616" y="692696"/>
                <a:ext cx="8028384" cy="4267200"/>
              </a:xfrm>
            </p:spPr>
            <p:txBody>
              <a:bodyPr/>
              <a:lstStyle/>
              <a:p>
                <a:pPr marL="0" indent="0">
                  <a:buNone/>
                </a:pPr>
                <a14:m>
                  <m:oMath xmlns:m="http://schemas.openxmlformats.org/officeDocument/2006/math">
                    <m:d>
                      <m:dPr>
                        <m:ctrlPr>
                          <a:rPr lang="en-GB" sz="2400" i="1">
                            <a:solidFill>
                              <a:srgbClr val="0070C0"/>
                            </a:solidFill>
                            <a:latin typeface="Cambria Math" panose="02040503050406030204" pitchFamily="18" charset="0"/>
                            <a:cs typeface="Times New Roman" panose="02020603050405020304" pitchFamily="18" charset="0"/>
                          </a:rPr>
                        </m:ctrlPr>
                      </m:dPr>
                      <m:e>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US" sz="2400" i="1">
                                <a:solidFill>
                                  <a:srgbClr val="0070C0"/>
                                </a:solidFill>
                                <a:latin typeface="Cambria Math" panose="02040503050406030204" pitchFamily="18" charset="0"/>
                                <a:cs typeface="Times New Roman" panose="02020603050405020304" pitchFamily="18" charset="0"/>
                              </a:rPr>
                              <m:t>𝑡</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
                          <a:rPr lang="en-GB" sz="2400" i="1">
                            <a:solidFill>
                              <a:srgbClr val="0070C0"/>
                            </a:solidFill>
                            <a:latin typeface="Cambria Math" panose="02040503050406030204" pitchFamily="18" charset="0"/>
                            <a:cs typeface="Times New Roman" panose="02020603050405020304" pitchFamily="18" charset="0"/>
                          </a:rPr>
                          <m:t>∗</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US" sz="2400" i="1">
                                <a:solidFill>
                                  <a:srgbClr val="0070C0"/>
                                </a:solidFill>
                                <a:latin typeface="Cambria Math" panose="02040503050406030204" pitchFamily="18" charset="0"/>
                                <a:cs typeface="Times New Roman" panose="02020603050405020304" pitchFamily="18" charset="0"/>
                              </a:rPr>
                              <m:t>𝑆</m:t>
                            </m:r>
                          </m:e>
                          <m:sub>
                            <m:r>
                              <a:rPr lang="en-US" sz="2400" i="1">
                                <a:solidFill>
                                  <a:srgbClr val="0070C0"/>
                                </a:solidFill>
                                <a:latin typeface="Cambria Math" panose="02040503050406030204" pitchFamily="18" charset="0"/>
                                <a:cs typeface="Times New Roman" panose="02020603050405020304" pitchFamily="18" charset="0"/>
                              </a:rPr>
                              <m:t>𝑝</m:t>
                            </m:r>
                          </m:sub>
                        </m:sSub>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r>
                                  <a:rPr lang="en-US" sz="2400" i="1">
                                    <a:solidFill>
                                      <a:srgbClr val="0070C0"/>
                                    </a:solidFill>
                                    <a:latin typeface="Cambria Math" panose="02040503050406030204" pitchFamily="18" charset="0"/>
                                    <a:cs typeface="Times New Roman" panose="02020603050405020304" pitchFamily="18" charset="0"/>
                                  </a:rPr>
                                  <m:t>1</m:t>
                                </m:r>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r>
                                  <a:rPr lang="en-US" sz="2400" i="1">
                                    <a:solidFill>
                                      <a:srgbClr val="0070C0"/>
                                    </a:solidFill>
                                    <a:latin typeface="Cambria Math" panose="02040503050406030204" pitchFamily="18" charset="0"/>
                                    <a:cs typeface="Times New Roman" panose="02020603050405020304" pitchFamily="18" charset="0"/>
                                  </a:rPr>
                                  <m:t>1</m:t>
                                </m:r>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r>
                          <a:rPr lang="en-GB" sz="2400" i="1">
                            <a:solidFill>
                              <a:srgbClr val="0070C0"/>
                            </a:solidFill>
                            <a:latin typeface="Cambria Math" panose="02040503050406030204" pitchFamily="18" charset="0"/>
                            <a:cs typeface="Times New Roman" panose="02020603050405020304" pitchFamily="18" charset="0"/>
                          </a:rPr>
                          <m:t>  ,</m:t>
                        </m:r>
                        <m:acc>
                          <m:accPr>
                            <m:chr m:val="̅"/>
                            <m:ctrlPr>
                              <a:rPr lang="en-IN"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𝑋</m:t>
                            </m:r>
                          </m:e>
                        </m:acc>
                        <m:r>
                          <a:rPr lang="en-GB" sz="2400" i="1">
                            <a:solidFill>
                              <a:srgbClr val="0070C0"/>
                            </a:solidFill>
                            <a:latin typeface="Cambria Math" panose="02040503050406030204" pitchFamily="18" charset="0"/>
                            <a:cs typeface="Times New Roman" panose="02020603050405020304" pitchFamily="18" charset="0"/>
                          </a:rPr>
                          <m:t> − </m:t>
                        </m:r>
                        <m:acc>
                          <m:accPr>
                            <m:chr m:val="̅"/>
                            <m:ctrlPr>
                              <a:rPr lang="en-GB" sz="2400" i="1">
                                <a:solidFill>
                                  <a:srgbClr val="0070C0"/>
                                </a:solidFill>
                                <a:latin typeface="Cambria Math" panose="02040503050406030204" pitchFamily="18" charset="0"/>
                                <a:cs typeface="Times New Roman" panose="02020603050405020304" pitchFamily="18" charset="0"/>
                              </a:rPr>
                            </m:ctrlPr>
                          </m:accPr>
                          <m:e>
                            <m:r>
                              <a:rPr lang="en-GB" sz="2400" i="1">
                                <a:solidFill>
                                  <a:srgbClr val="0070C0"/>
                                </a:solidFill>
                                <a:latin typeface="Cambria Math" panose="02040503050406030204" pitchFamily="18" charset="0"/>
                                <a:cs typeface="Times New Roman" panose="02020603050405020304" pitchFamily="18" charset="0"/>
                              </a:rPr>
                              <m:t>𝑌</m:t>
                            </m:r>
                          </m:e>
                        </m:acc>
                        <m:r>
                          <a:rPr lang="en-GB" sz="2400" i="1">
                            <a:solidFill>
                              <a:srgbClr val="0070C0"/>
                            </a:solidFill>
                            <a:latin typeface="Cambria Math" panose="02040503050406030204" pitchFamily="18" charset="0"/>
                            <a:cs typeface="Times New Roman" panose="02020603050405020304" pitchFamily="18" charset="0"/>
                          </a:rPr>
                          <m:t>+ </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US" sz="2400" i="1">
                                <a:solidFill>
                                  <a:srgbClr val="0070C0"/>
                                </a:solidFill>
                                <a:latin typeface="Cambria Math" panose="02040503050406030204" pitchFamily="18" charset="0"/>
                                <a:cs typeface="Times New Roman" panose="02020603050405020304" pitchFamily="18" charset="0"/>
                              </a:rPr>
                              <m:t>𝑡</m:t>
                            </m:r>
                          </m:e>
                          <m:sub>
                            <m:f>
                              <m:fPr>
                                <m:type m:val="skw"/>
                                <m:ctrlPr>
                                  <a:rPr lang="en-GB" sz="2400" i="1">
                                    <a:solidFill>
                                      <a:srgbClr val="0070C0"/>
                                    </a:solidFill>
                                    <a:latin typeface="Cambria Math" panose="02040503050406030204" pitchFamily="18" charset="0"/>
                                    <a:cs typeface="Times New Roman" panose="02020603050405020304" pitchFamily="18" charset="0"/>
                                  </a:rPr>
                                </m:ctrlPr>
                              </m:fPr>
                              <m:num>
                                <m:r>
                                  <a:rPr lang="en-GB" sz="24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400" i="1">
                                    <a:solidFill>
                                      <a:srgbClr val="0070C0"/>
                                    </a:solidFill>
                                    <a:latin typeface="Cambria Math" panose="02040503050406030204" pitchFamily="18" charset="0"/>
                                    <a:cs typeface="Times New Roman" panose="02020603050405020304" pitchFamily="18" charset="0"/>
                                  </a:rPr>
                                  <m:t>2</m:t>
                                </m:r>
                              </m:den>
                            </m:f>
                          </m:sub>
                        </m:sSub>
                        <m:r>
                          <a:rPr lang="en-GB" sz="2400" i="1">
                            <a:solidFill>
                              <a:srgbClr val="0070C0"/>
                            </a:solidFill>
                            <a:latin typeface="Cambria Math" panose="02040503050406030204" pitchFamily="18" charset="0"/>
                            <a:cs typeface="Times New Roman" panose="02020603050405020304" pitchFamily="18" charset="0"/>
                          </a:rPr>
                          <m:t>∗</m:t>
                        </m:r>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US" sz="2400" i="1">
                                <a:solidFill>
                                  <a:srgbClr val="0070C0"/>
                                </a:solidFill>
                                <a:latin typeface="Cambria Math" panose="02040503050406030204" pitchFamily="18" charset="0"/>
                                <a:cs typeface="Times New Roman" panose="02020603050405020304" pitchFamily="18" charset="0"/>
                              </a:rPr>
                              <m:t>𝑆</m:t>
                            </m:r>
                          </m:e>
                          <m:sub>
                            <m:r>
                              <a:rPr lang="en-US" sz="2400" i="1">
                                <a:solidFill>
                                  <a:srgbClr val="0070C0"/>
                                </a:solidFill>
                                <a:latin typeface="Cambria Math" panose="02040503050406030204" pitchFamily="18" charset="0"/>
                                <a:cs typeface="Times New Roman" panose="02020603050405020304" pitchFamily="18" charset="0"/>
                              </a:rPr>
                              <m:t>𝑝</m:t>
                            </m:r>
                          </m:sub>
                        </m:sSub>
                        <m:rad>
                          <m:radPr>
                            <m:degHide m:val="on"/>
                            <m:ctrlPr>
                              <a:rPr lang="en-GB" sz="2400" i="1">
                                <a:solidFill>
                                  <a:srgbClr val="0070C0"/>
                                </a:solidFill>
                                <a:latin typeface="Cambria Math" panose="02040503050406030204" pitchFamily="18" charset="0"/>
                                <a:cs typeface="Times New Roman" panose="02020603050405020304" pitchFamily="18" charset="0"/>
                              </a:rPr>
                            </m:ctrlPr>
                          </m:radPr>
                          <m:deg/>
                          <m:e>
                            <m:f>
                              <m:fPr>
                                <m:ctrlPr>
                                  <a:rPr lang="en-GB" sz="2400" i="1">
                                    <a:solidFill>
                                      <a:srgbClr val="0070C0"/>
                                    </a:solidFill>
                                    <a:latin typeface="Cambria Math" panose="02040503050406030204" pitchFamily="18" charset="0"/>
                                    <a:cs typeface="Times New Roman" panose="02020603050405020304" pitchFamily="18" charset="0"/>
                                  </a:rPr>
                                </m:ctrlPr>
                              </m:fPr>
                              <m:num>
                                <m:r>
                                  <a:rPr lang="en-US" sz="2400" i="1">
                                    <a:solidFill>
                                      <a:srgbClr val="0070C0"/>
                                    </a:solidFill>
                                    <a:latin typeface="Cambria Math" panose="02040503050406030204" pitchFamily="18" charset="0"/>
                                    <a:cs typeface="Times New Roman" panose="02020603050405020304" pitchFamily="18" charset="0"/>
                                  </a:rPr>
                                  <m:t>1</m:t>
                                </m:r>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1</m:t>
                                    </m:r>
                                  </m:sub>
                                </m:sSub>
                              </m:den>
                            </m:f>
                            <m:r>
                              <a:rPr lang="en-GB" sz="2400" i="1">
                                <a:solidFill>
                                  <a:srgbClr val="0070C0"/>
                                </a:solidFill>
                                <a:latin typeface="Cambria Math" panose="02040503050406030204" pitchFamily="18" charset="0"/>
                                <a:cs typeface="Times New Roman" panose="02020603050405020304" pitchFamily="18" charset="0"/>
                              </a:rPr>
                              <m:t>+ </m:t>
                            </m:r>
                            <m:f>
                              <m:fPr>
                                <m:ctrlPr>
                                  <a:rPr lang="en-GB" sz="2400" i="1">
                                    <a:solidFill>
                                      <a:srgbClr val="0070C0"/>
                                    </a:solidFill>
                                    <a:latin typeface="Cambria Math" panose="02040503050406030204" pitchFamily="18" charset="0"/>
                                    <a:cs typeface="Times New Roman" panose="02020603050405020304" pitchFamily="18" charset="0"/>
                                  </a:rPr>
                                </m:ctrlPr>
                              </m:fPr>
                              <m:num>
                                <m:r>
                                  <a:rPr lang="en-US" sz="2400" i="1">
                                    <a:solidFill>
                                      <a:srgbClr val="0070C0"/>
                                    </a:solidFill>
                                    <a:latin typeface="Cambria Math" panose="02040503050406030204" pitchFamily="18" charset="0"/>
                                    <a:cs typeface="Times New Roman" panose="02020603050405020304" pitchFamily="18" charset="0"/>
                                  </a:rPr>
                                  <m:t>1</m:t>
                                </m:r>
                              </m:num>
                              <m:den>
                                <m:sSub>
                                  <m:sSubPr>
                                    <m:ctrlPr>
                                      <a:rPr lang="en-GB" sz="2400" i="1">
                                        <a:solidFill>
                                          <a:srgbClr val="0070C0"/>
                                        </a:solidFill>
                                        <a:latin typeface="Cambria Math" panose="02040503050406030204" pitchFamily="18" charset="0"/>
                                        <a:cs typeface="Times New Roman" panose="02020603050405020304" pitchFamily="18" charset="0"/>
                                      </a:rPr>
                                    </m:ctrlPr>
                                  </m:sSubPr>
                                  <m:e>
                                    <m:r>
                                      <a:rPr lang="en-GB" sz="2400" i="1">
                                        <a:solidFill>
                                          <a:srgbClr val="0070C0"/>
                                        </a:solidFill>
                                        <a:latin typeface="Cambria Math" panose="02040503050406030204" pitchFamily="18" charset="0"/>
                                        <a:cs typeface="Times New Roman" panose="02020603050405020304" pitchFamily="18" charset="0"/>
                                      </a:rPr>
                                      <m:t>𝑛</m:t>
                                    </m:r>
                                  </m:e>
                                  <m:sub>
                                    <m:r>
                                      <a:rPr lang="en-GB" sz="2400" i="1">
                                        <a:solidFill>
                                          <a:srgbClr val="0070C0"/>
                                        </a:solidFill>
                                        <a:latin typeface="Cambria Math" panose="02040503050406030204" pitchFamily="18" charset="0"/>
                                        <a:cs typeface="Times New Roman" panose="02020603050405020304" pitchFamily="18" charset="0"/>
                                      </a:rPr>
                                      <m:t>2</m:t>
                                    </m:r>
                                  </m:sub>
                                </m:sSub>
                              </m:den>
                            </m:f>
                          </m:e>
                        </m:rad>
                      </m:e>
                    </m:d>
                  </m:oMath>
                </a14:m>
                <a:r>
                  <a:rPr lang="en-US" sz="2400" dirty="0"/>
                  <a:t> </a:t>
                </a:r>
              </a:p>
              <a:p>
                <a:pPr marL="0" indent="0" algn="just">
                  <a:buNone/>
                </a:pPr>
                <a:r>
                  <a:rPr lang="en-US"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GB"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𝑆</m:t>
                        </m:r>
                      </m:e>
                      <m:sub>
                        <m:r>
                          <a:rPr lang="en-US" i="1">
                            <a:solidFill>
                              <a:srgbClr val="0070C0"/>
                            </a:solidFill>
                            <a:latin typeface="Cambria Math" panose="02040503050406030204" pitchFamily="18" charset="0"/>
                            <a:cs typeface="Times New Roman" panose="02020603050405020304" pitchFamily="18" charset="0"/>
                          </a:rPr>
                          <m:t>𝑝</m:t>
                        </m:r>
                      </m:sub>
                    </m:sSub>
                    <m:r>
                      <a:rPr lang="en-US" i="1">
                        <a:solidFill>
                          <a:srgbClr val="0070C0"/>
                        </a:solidFill>
                        <a:latin typeface="Cambria Math" panose="02040503050406030204" pitchFamily="18" charset="0"/>
                        <a:cs typeface="Times New Roman" panose="02020603050405020304" pitchFamily="18" charset="0"/>
                      </a:rPr>
                      <m:t>= </m:t>
                    </m:r>
                    <m:rad>
                      <m:radPr>
                        <m:degHide m:val="on"/>
                        <m:ctrlPr>
                          <a:rPr lang="en-US" i="1">
                            <a:solidFill>
                              <a:srgbClr val="0070C0"/>
                            </a:solidFill>
                            <a:latin typeface="Cambria Math" panose="02040503050406030204" pitchFamily="18" charset="0"/>
                            <a:cs typeface="Times New Roman" panose="02020603050405020304" pitchFamily="18" charset="0"/>
                          </a:rPr>
                        </m:ctrlPr>
                      </m:radPr>
                      <m:deg/>
                      <m:e>
                        <m:f>
                          <m:fPr>
                            <m:ctrlPr>
                              <a:rPr lang="en-US" i="1">
                                <a:solidFill>
                                  <a:srgbClr val="0070C0"/>
                                </a:solidFill>
                                <a:latin typeface="Cambria Math" panose="02040503050406030204" pitchFamily="18" charset="0"/>
                                <a:cs typeface="Times New Roman" panose="02020603050405020304" pitchFamily="18" charset="0"/>
                              </a:rPr>
                            </m:ctrlPr>
                          </m:fPr>
                          <m:num>
                            <m:d>
                              <m:dPr>
                                <m:ctrlPr>
                                  <a:rPr lang="en-US" i="1">
                                    <a:solidFill>
                                      <a:srgbClr val="0070C0"/>
                                    </a:solidFill>
                                    <a:latin typeface="Cambria Math" panose="02040503050406030204" pitchFamily="18" charset="0"/>
                                    <a:cs typeface="Times New Roman" panose="02020603050405020304" pitchFamily="18" charset="0"/>
                                  </a:rPr>
                                </m:ctrlPr>
                              </m:dPr>
                              <m:e>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𝑛</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−1</m:t>
                                </m:r>
                              </m:e>
                            </m:d>
                            <m:sSubSup>
                              <m:sSubSupPr>
                                <m:ctrlPr>
                                  <a:rPr lang="en-US" i="1">
                                    <a:solidFill>
                                      <a:srgbClr val="0070C0"/>
                                    </a:solidFill>
                                    <a:latin typeface="Cambria Math" panose="02040503050406030204" pitchFamily="18" charset="0"/>
                                    <a:cs typeface="Times New Roman" panose="02020603050405020304" pitchFamily="18" charset="0"/>
                                  </a:rPr>
                                </m:ctrlPr>
                              </m:sSubSupPr>
                              <m:e>
                                <m:r>
                                  <a:rPr lang="en-US" i="1">
                                    <a:solidFill>
                                      <a:srgbClr val="0070C0"/>
                                    </a:solidFill>
                                    <a:latin typeface="Cambria Math" panose="02040503050406030204" pitchFamily="18" charset="0"/>
                                    <a:cs typeface="Times New Roman" panose="02020603050405020304" pitchFamily="18" charset="0"/>
                                  </a:rPr>
                                  <m:t>𝑠</m:t>
                                </m:r>
                              </m:e>
                              <m:sub>
                                <m:r>
                                  <a:rPr lang="en-US" i="1">
                                    <a:solidFill>
                                      <a:srgbClr val="0070C0"/>
                                    </a:solidFill>
                                    <a:latin typeface="Cambria Math" panose="02040503050406030204" pitchFamily="18" charset="0"/>
                                    <a:cs typeface="Times New Roman" panose="02020603050405020304" pitchFamily="18" charset="0"/>
                                  </a:rPr>
                                  <m:t>1</m:t>
                                </m:r>
                              </m:sub>
                              <m:sup>
                                <m:r>
                                  <a:rPr lang="en-US" i="1">
                                    <a:solidFill>
                                      <a:srgbClr val="0070C0"/>
                                    </a:solidFill>
                                    <a:latin typeface="Cambria Math" panose="02040503050406030204" pitchFamily="18" charset="0"/>
                                    <a:cs typeface="Times New Roman" panose="02020603050405020304" pitchFamily="18" charset="0"/>
                                  </a:rPr>
                                  <m:t>2</m:t>
                                </m:r>
                              </m:sup>
                            </m:sSubSup>
                            <m:r>
                              <a:rPr lang="en-US" i="1">
                                <a:solidFill>
                                  <a:srgbClr val="0070C0"/>
                                </a:solidFill>
                                <a:latin typeface="Cambria Math" panose="02040503050406030204" pitchFamily="18" charset="0"/>
                                <a:cs typeface="Times New Roman" panose="02020603050405020304" pitchFamily="18" charset="0"/>
                              </a:rPr>
                              <m:t>+</m:t>
                            </m:r>
                            <m:d>
                              <m:dPr>
                                <m:ctrlPr>
                                  <a:rPr lang="en-US" i="1">
                                    <a:solidFill>
                                      <a:srgbClr val="0070C0"/>
                                    </a:solidFill>
                                    <a:latin typeface="Cambria Math" panose="02040503050406030204" pitchFamily="18" charset="0"/>
                                    <a:cs typeface="Times New Roman" panose="02020603050405020304" pitchFamily="18" charset="0"/>
                                  </a:rPr>
                                </m:ctrlPr>
                              </m:dPr>
                              <m:e>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𝑛</m:t>
                                    </m:r>
                                  </m:e>
                                  <m:sub>
                                    <m:r>
                                      <a:rPr lang="en-US" i="1">
                                        <a:solidFill>
                                          <a:srgbClr val="0070C0"/>
                                        </a:solidFill>
                                        <a:latin typeface="Cambria Math" panose="02040503050406030204" pitchFamily="18" charset="0"/>
                                        <a:cs typeface="Times New Roman" panose="02020603050405020304" pitchFamily="18" charset="0"/>
                                      </a:rPr>
                                      <m:t>2</m:t>
                                    </m:r>
                                  </m:sub>
                                </m:sSub>
                                <m:r>
                                  <a:rPr lang="en-US" i="1">
                                    <a:solidFill>
                                      <a:srgbClr val="0070C0"/>
                                    </a:solidFill>
                                    <a:latin typeface="Cambria Math" panose="02040503050406030204" pitchFamily="18" charset="0"/>
                                    <a:cs typeface="Times New Roman" panose="02020603050405020304" pitchFamily="18" charset="0"/>
                                  </a:rPr>
                                  <m:t>−1</m:t>
                                </m:r>
                              </m:e>
                            </m:d>
                            <m:sSubSup>
                              <m:sSubSupPr>
                                <m:ctrlPr>
                                  <a:rPr lang="en-US" i="1">
                                    <a:solidFill>
                                      <a:srgbClr val="0070C0"/>
                                    </a:solidFill>
                                    <a:latin typeface="Cambria Math" panose="02040503050406030204" pitchFamily="18" charset="0"/>
                                    <a:cs typeface="Times New Roman" panose="02020603050405020304" pitchFamily="18" charset="0"/>
                                  </a:rPr>
                                </m:ctrlPr>
                              </m:sSubSupPr>
                              <m:e>
                                <m:r>
                                  <a:rPr lang="en-US" i="1">
                                    <a:solidFill>
                                      <a:srgbClr val="0070C0"/>
                                    </a:solidFill>
                                    <a:latin typeface="Cambria Math" panose="02040503050406030204" pitchFamily="18" charset="0"/>
                                    <a:cs typeface="Times New Roman" panose="02020603050405020304" pitchFamily="18" charset="0"/>
                                  </a:rPr>
                                  <m:t>𝑠</m:t>
                                </m:r>
                              </m:e>
                              <m:sub>
                                <m:r>
                                  <a:rPr lang="en-US" i="1">
                                    <a:solidFill>
                                      <a:srgbClr val="0070C0"/>
                                    </a:solidFill>
                                    <a:latin typeface="Cambria Math" panose="02040503050406030204" pitchFamily="18" charset="0"/>
                                    <a:cs typeface="Times New Roman" panose="02020603050405020304" pitchFamily="18" charset="0"/>
                                  </a:rPr>
                                  <m:t>2</m:t>
                                </m:r>
                              </m:sub>
                              <m:sup>
                                <m:r>
                                  <a:rPr lang="en-US" i="1">
                                    <a:solidFill>
                                      <a:srgbClr val="0070C0"/>
                                    </a:solidFill>
                                    <a:latin typeface="Cambria Math" panose="02040503050406030204" pitchFamily="18" charset="0"/>
                                    <a:cs typeface="Times New Roman" panose="02020603050405020304" pitchFamily="18" charset="0"/>
                                  </a:rPr>
                                  <m:t>2</m:t>
                                </m:r>
                              </m:sup>
                            </m:sSubSup>
                          </m:num>
                          <m:den>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𝑛</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𝑛</m:t>
                                </m:r>
                              </m:e>
                              <m:sub>
                                <m:r>
                                  <a:rPr lang="en-US" i="1">
                                    <a:solidFill>
                                      <a:srgbClr val="0070C0"/>
                                    </a:solidFill>
                                    <a:latin typeface="Cambria Math" panose="02040503050406030204" pitchFamily="18" charset="0"/>
                                    <a:cs typeface="Times New Roman" panose="02020603050405020304" pitchFamily="18" charset="0"/>
                                  </a:rPr>
                                  <m:t>2</m:t>
                                </m:r>
                              </m:sub>
                            </m:sSub>
                            <m:r>
                              <a:rPr lang="en-US" i="1">
                                <a:solidFill>
                                  <a:srgbClr val="0070C0"/>
                                </a:solidFill>
                                <a:latin typeface="Cambria Math" panose="02040503050406030204" pitchFamily="18" charset="0"/>
                                <a:cs typeface="Times New Roman" panose="02020603050405020304" pitchFamily="18" charset="0"/>
                              </a:rPr>
                              <m:t> −2</m:t>
                            </m:r>
                          </m:den>
                        </m:f>
                      </m:e>
                    </m:rad>
                  </m:oMath>
                </a14:m>
                <a:r>
                  <a:rPr lang="en-US" dirty="0">
                    <a:latin typeface="Times New Roman" panose="02020603050405020304" pitchFamily="18" charset="0"/>
                    <a:cs typeface="Times New Roman" panose="02020603050405020304" pitchFamily="18" charset="0"/>
                  </a:rPr>
                  <a:t> is the pooled standard deviation from the two sample standard deviations, and the degrees of freedom for t is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−2</m:t>
                    </m:r>
                  </m:oMath>
                </a14:m>
                <a:r>
                  <a:rPr lang="en-US"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15616" y="692696"/>
                <a:ext cx="8028384" cy="4267200"/>
              </a:xfrm>
              <a:blipFill>
                <a:blip r:embed="rId2"/>
                <a:stretch>
                  <a:fillRect l="-1898" r="-1974"/>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18</a:t>
            </a:fld>
            <a:endParaRPr lang="en-US" altLang="zh-CN"/>
          </a:p>
        </p:txBody>
      </p:sp>
      <p:sp>
        <p:nvSpPr>
          <p:cNvPr id="2" name="Date Placeholder 1"/>
          <p:cNvSpPr>
            <a:spLocks noGrp="1"/>
          </p:cNvSpPr>
          <p:nvPr>
            <p:ph type="dt" sz="half" idx="10"/>
          </p:nvPr>
        </p:nvSpPr>
        <p:spPr/>
        <p:txBody>
          <a:bodyPr/>
          <a:lstStyle/>
          <a:p>
            <a:pPr>
              <a:defRPr/>
            </a:pPr>
            <a:fld id="{ECDD6F11-B22C-404E-AF47-379059AEE41A}"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064651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43608" y="404664"/>
                <a:ext cx="7920880"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4: </a:t>
                </a:r>
              </a:p>
              <a:p>
                <a:pPr marL="0" indent="0" algn="just">
                  <a:buNone/>
                </a:pPr>
                <a:r>
                  <a:rPr lang="en-IN" dirty="0">
                    <a:latin typeface="Times New Roman" panose="02020603050405020304" pitchFamily="18" charset="0"/>
                    <a:cs typeface="Times New Roman" panose="02020603050405020304" pitchFamily="18" charset="0"/>
                  </a:rPr>
                  <a:t>When the two independent population distributions are </a:t>
                </a:r>
                <a:r>
                  <a:rPr lang="en-IN" dirty="0">
                    <a:solidFill>
                      <a:srgbClr val="00B050"/>
                    </a:solidFill>
                    <a:latin typeface="Times New Roman" panose="02020603050405020304" pitchFamily="18" charset="0"/>
                    <a:cs typeface="Times New Roman" panose="02020603050405020304" pitchFamily="18" charset="0"/>
                  </a:rPr>
                  <a:t>not normal </a:t>
                </a:r>
                <a:r>
                  <a:rPr lang="en-IN" dirty="0">
                    <a:latin typeface="Times New Roman" panose="02020603050405020304" pitchFamily="18" charset="0"/>
                    <a:cs typeface="Times New Roman" panose="02020603050405020304" pitchFamily="18" charset="0"/>
                  </a:rPr>
                  <a:t>and the </a:t>
                </a:r>
                <a:r>
                  <a:rPr lang="en-IN"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are known</a:t>
                </a:r>
                <a:r>
                  <a:rPr lang="en-IN" dirty="0">
                    <a:latin typeface="Times New Roman" panose="02020603050405020304" pitchFamily="18" charset="0"/>
                    <a:cs typeface="Times New Roman" panose="02020603050405020304" pitchFamily="18" charset="0"/>
                  </a:rPr>
                  <a:t>, and the sample size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cs typeface="Times New Roman" panose="02020603050405020304" pitchFamily="18" charset="0"/>
                          </a:rPr>
                          <m:t>𝑛</m:t>
                        </m:r>
                      </m:e>
                      <m:sub>
                        <m:r>
                          <a:rPr lang="en-GB" i="1">
                            <a:solidFill>
                              <a:srgbClr val="00B050"/>
                            </a:solidFill>
                            <a:latin typeface="Cambria Math" panose="02040503050406030204" pitchFamily="18" charset="0"/>
                            <a:cs typeface="Times New Roman" panose="02020603050405020304" pitchFamily="18" charset="0"/>
                          </a:rPr>
                          <m:t>1</m:t>
                        </m:r>
                      </m:sub>
                    </m:sSub>
                  </m:oMath>
                </a14:m>
                <a:r>
                  <a:rPr lang="en-IN" dirty="0">
                    <a:solidFill>
                      <a:srgbClr val="00B05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cs typeface="Times New Roman" panose="02020603050405020304" pitchFamily="18" charset="0"/>
                          </a:rPr>
                          <m:t>𝑛</m:t>
                        </m:r>
                      </m:e>
                      <m:sub>
                        <m:r>
                          <a:rPr lang="en-US" i="1">
                            <a:solidFill>
                              <a:srgbClr val="00B050"/>
                            </a:solidFill>
                            <a:latin typeface="Cambria Math" panose="02040503050406030204" pitchFamily="18" charset="0"/>
                            <a:cs typeface="Times New Roman" panose="02020603050405020304" pitchFamily="18" charset="0"/>
                          </a:rPr>
                          <m:t>2</m:t>
                        </m:r>
                      </m:sub>
                    </m:sSub>
                  </m:oMath>
                </a14:m>
                <a:r>
                  <a:rPr lang="en-IN" dirty="0">
                    <a:solidFill>
                      <a:srgbClr val="00B050"/>
                    </a:solidFill>
                    <a:latin typeface="Times New Roman" panose="02020603050405020304" pitchFamily="18" charset="0"/>
                    <a:cs typeface="Times New Roman" panose="02020603050405020304" pitchFamily="18" charset="0"/>
                  </a:rPr>
                  <a:t> are large</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dirty="0">
                    <a:latin typeface="Times New Roman" panose="02020603050405020304" pitchFamily="18" charset="0"/>
                    <a:cs typeface="Times New Roman" panose="02020603050405020304" pitchFamily="18" charset="0"/>
                  </a:rPr>
                  <a:t>*100 % confidence interval for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 xmlns:m="http://schemas.openxmlformats.org/officeDocument/2006/math">
                    <m:d>
                      <m:dPr>
                        <m:ctrlPr>
                          <a:rPr lang="en-GB" sz="2500" i="1">
                            <a:solidFill>
                              <a:srgbClr val="0070C0"/>
                            </a:solidFill>
                            <a:latin typeface="Cambria Math" panose="02040503050406030204" pitchFamily="18" charset="0"/>
                            <a:cs typeface="Times New Roman" panose="02020603050405020304" pitchFamily="18" charset="0"/>
                          </a:rPr>
                        </m:ctrlPr>
                      </m:dPr>
                      <m:e>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GB" sz="2500" i="1">
                            <a:solidFill>
                              <a:srgbClr val="0070C0"/>
                            </a:solidFill>
                            <a:latin typeface="Cambria Math" panose="02040503050406030204" pitchFamily="18" charset="0"/>
                            <a:cs typeface="Times New Roman" panose="02020603050405020304" pitchFamily="18" charset="0"/>
                          </a:rPr>
                          <m:t> −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𝑍</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r>
                          <a:rPr lang="en-GB" sz="2500" i="1">
                            <a:solidFill>
                              <a:srgbClr val="0070C0"/>
                            </a:solidFill>
                            <a:latin typeface="Cambria Math" panose="02040503050406030204" pitchFamily="18" charset="0"/>
                            <a:cs typeface="Times New Roman" panose="02020603050405020304" pitchFamily="18" charset="0"/>
                          </a:rPr>
                          <m:t>  ,</m:t>
                        </m:r>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GB"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𝑍</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e>
                    </m:d>
                  </m:oMath>
                </a14:m>
                <a:r>
                  <a:rPr lang="en-GB" sz="2500" dirty="0">
                    <a:latin typeface="Times New Roman" panose="02020603050405020304" pitchFamily="18" charset="0"/>
                    <a:cs typeface="Times New Roman" panose="02020603050405020304" pitchFamily="18" charset="0"/>
                  </a:rPr>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43608" y="404664"/>
                <a:ext cx="7920880" cy="4525963"/>
              </a:xfrm>
              <a:blipFill>
                <a:blip r:embed="rId2"/>
                <a:stretch>
                  <a:fillRect l="-1923" t="-1884" r="-192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19</a:t>
            </a:fld>
            <a:endParaRPr lang="en-US" altLang="zh-CN"/>
          </a:p>
        </p:txBody>
      </p:sp>
      <p:sp>
        <p:nvSpPr>
          <p:cNvPr id="2" name="Date Placeholder 1"/>
          <p:cNvSpPr>
            <a:spLocks noGrp="1"/>
          </p:cNvSpPr>
          <p:nvPr>
            <p:ph type="dt" sz="half" idx="10"/>
          </p:nvPr>
        </p:nvSpPr>
        <p:spPr/>
        <p:txBody>
          <a:bodyPr/>
          <a:lstStyle/>
          <a:p>
            <a:pPr>
              <a:defRPr/>
            </a:pPr>
            <a:fld id="{E9066BF1-BF90-4223-A707-2EFE22BF283C}"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232882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3000" y="620688"/>
                <a:ext cx="8001000" cy="4267200"/>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5: </a:t>
                </a:r>
              </a:p>
              <a:p>
                <a:pPr marL="0" indent="0" algn="just">
                  <a:buNone/>
                </a:pPr>
                <a:r>
                  <a:rPr lang="en-IN" dirty="0">
                    <a:latin typeface="Times New Roman" panose="02020603050405020304" pitchFamily="18" charset="0"/>
                    <a:cs typeface="Times New Roman" panose="02020603050405020304" pitchFamily="18" charset="0"/>
                  </a:rPr>
                  <a:t>When the two independent population distributions are </a:t>
                </a:r>
                <a:r>
                  <a:rPr lang="en-IN" dirty="0">
                    <a:solidFill>
                      <a:srgbClr val="00B050"/>
                    </a:solidFill>
                    <a:latin typeface="Times New Roman" panose="02020603050405020304" pitchFamily="18" charset="0"/>
                    <a:cs typeface="Times New Roman" panose="02020603050405020304" pitchFamily="18" charset="0"/>
                  </a:rPr>
                  <a:t>not normal </a:t>
                </a:r>
                <a:r>
                  <a:rPr lang="en-IN" dirty="0">
                    <a:latin typeface="Times New Roman" panose="02020603050405020304" pitchFamily="18" charset="0"/>
                    <a:cs typeface="Times New Roman" panose="02020603050405020304" pitchFamily="18" charset="0"/>
                  </a:rPr>
                  <a:t>and the </a:t>
                </a:r>
                <a:r>
                  <a:rPr lang="en-IN"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are unknown</a:t>
                </a:r>
                <a:r>
                  <a:rPr lang="en-IN" dirty="0">
                    <a:latin typeface="Times New Roman" panose="02020603050405020304" pitchFamily="18" charset="0"/>
                    <a:cs typeface="Times New Roman" panose="02020603050405020304" pitchFamily="18" charset="0"/>
                  </a:rPr>
                  <a:t>, and the sample size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cs typeface="Times New Roman" panose="02020603050405020304" pitchFamily="18" charset="0"/>
                          </a:rPr>
                          <m:t>𝑛</m:t>
                        </m:r>
                      </m:e>
                      <m:sub>
                        <m:r>
                          <a:rPr lang="en-GB" i="1">
                            <a:solidFill>
                              <a:srgbClr val="00B050"/>
                            </a:solidFill>
                            <a:latin typeface="Cambria Math" panose="02040503050406030204" pitchFamily="18" charset="0"/>
                            <a:cs typeface="Times New Roman" panose="02020603050405020304" pitchFamily="18" charset="0"/>
                          </a:rPr>
                          <m:t>1</m:t>
                        </m:r>
                      </m:sub>
                    </m:sSub>
                  </m:oMath>
                </a14:m>
                <a:r>
                  <a:rPr lang="en-IN" dirty="0">
                    <a:solidFill>
                      <a:srgbClr val="00B05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cs typeface="Times New Roman" panose="02020603050405020304" pitchFamily="18" charset="0"/>
                          </a:rPr>
                          <m:t>𝑛</m:t>
                        </m:r>
                      </m:e>
                      <m:sub>
                        <m:r>
                          <a:rPr lang="en-US" i="1">
                            <a:solidFill>
                              <a:srgbClr val="00B050"/>
                            </a:solidFill>
                            <a:latin typeface="Cambria Math" panose="02040503050406030204" pitchFamily="18" charset="0"/>
                            <a:cs typeface="Times New Roman" panose="02020603050405020304" pitchFamily="18" charset="0"/>
                          </a:rPr>
                          <m:t>2</m:t>
                        </m:r>
                      </m:sub>
                    </m:sSub>
                  </m:oMath>
                </a14:m>
                <a:r>
                  <a:rPr lang="en-IN" dirty="0">
                    <a:solidFill>
                      <a:srgbClr val="00B050"/>
                    </a:solidFill>
                    <a:latin typeface="Times New Roman" panose="02020603050405020304" pitchFamily="18" charset="0"/>
                    <a:cs typeface="Times New Roman" panose="02020603050405020304" pitchFamily="18" charset="0"/>
                  </a:rPr>
                  <a:t> are large, </a:t>
                </a:r>
                <a:r>
                  <a:rPr lang="en-IN" dirty="0">
                    <a:latin typeface="Times New Roman" panose="02020603050405020304" pitchFamily="18" charset="0"/>
                    <a:cs typeface="Times New Roman" panose="02020603050405020304" pitchFamily="18" charset="0"/>
                  </a:rPr>
                  <a:t>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oMath>
                </a14:m>
                <a:r>
                  <a:rPr lang="en-IN" dirty="0">
                    <a:latin typeface="Times New Roman" panose="02020603050405020304" pitchFamily="18" charset="0"/>
                    <a:cs typeface="Times New Roman" panose="02020603050405020304" pitchFamily="18" charset="0"/>
                  </a:rPr>
                  <a:t>*100 % confidence interval for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 xmlns:m="http://schemas.openxmlformats.org/officeDocument/2006/math">
                    <m:d>
                      <m:dPr>
                        <m:ctrlPr>
                          <a:rPr lang="en-GB" sz="2500" i="1">
                            <a:solidFill>
                              <a:srgbClr val="0070C0"/>
                            </a:solidFill>
                            <a:latin typeface="Cambria Math" panose="02040503050406030204" pitchFamily="18" charset="0"/>
                            <a:cs typeface="Times New Roman" panose="02020603050405020304" pitchFamily="18" charset="0"/>
                          </a:rPr>
                        </m:ctrlPr>
                      </m:dPr>
                      <m:e>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GB" sz="2500" i="1">
                            <a:solidFill>
                              <a:srgbClr val="0070C0"/>
                            </a:solidFill>
                            <a:latin typeface="Cambria Math" panose="02040503050406030204" pitchFamily="18" charset="0"/>
                            <a:cs typeface="Times New Roman" panose="02020603050405020304" pitchFamily="18" charset="0"/>
                          </a:rPr>
                          <m:t> −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𝑍</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r>
                          <a:rPr lang="en-GB" sz="2500" i="1">
                            <a:solidFill>
                              <a:srgbClr val="0070C0"/>
                            </a:solidFill>
                            <a:latin typeface="Cambria Math" panose="02040503050406030204" pitchFamily="18" charset="0"/>
                            <a:cs typeface="Times New Roman" panose="02020603050405020304" pitchFamily="18" charset="0"/>
                          </a:rPr>
                          <m:t>  ,</m:t>
                        </m:r>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GB"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𝑍</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e>
                    </m:d>
                  </m:oMath>
                </a14:m>
                <a:r>
                  <a:rPr lang="en-GB" sz="2500" dirty="0">
                    <a:latin typeface="Times New Roman" panose="02020603050405020304" pitchFamily="18" charset="0"/>
                    <a:cs typeface="Times New Roman" panose="02020603050405020304" pitchFamily="18" charset="0"/>
                  </a:rPr>
                  <a:t>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3000" y="620688"/>
                <a:ext cx="8001000" cy="4267200"/>
              </a:xfrm>
              <a:blipFill>
                <a:blip r:embed="rId2"/>
                <a:stretch>
                  <a:fillRect l="-1982" t="-2000" r="-1905" b="-757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20</a:t>
            </a:fld>
            <a:endParaRPr lang="en-US" altLang="zh-CN"/>
          </a:p>
        </p:txBody>
      </p:sp>
      <p:sp>
        <p:nvSpPr>
          <p:cNvPr id="2" name="Date Placeholder 1"/>
          <p:cNvSpPr>
            <a:spLocks noGrp="1"/>
          </p:cNvSpPr>
          <p:nvPr>
            <p:ph type="dt" sz="half" idx="10"/>
          </p:nvPr>
        </p:nvSpPr>
        <p:spPr/>
        <p:txBody>
          <a:bodyPr/>
          <a:lstStyle/>
          <a:p>
            <a:pPr>
              <a:defRPr/>
            </a:pPr>
            <a:fld id="{512BF5C6-83DA-43CE-B4B1-0EE9AADF69A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573293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626" y="286252"/>
            <a:ext cx="7135782" cy="11430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a:t>
            </a:r>
            <a:endParaRPr lang="en-US"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15616" y="1276148"/>
            <a:ext cx="7920880" cy="4305703"/>
          </a:xfrm>
        </p:spPr>
        <p:txBody>
          <a:bodyPr/>
          <a:lstStyle/>
          <a:p>
            <a:pPr marL="0" indent="0" algn="just">
              <a:buNone/>
            </a:pPr>
            <a:r>
              <a:rPr lang="en-US" sz="2500" dirty="0">
                <a:latin typeface="Times New Roman" panose="02020603050405020304" pitchFamily="18" charset="0"/>
                <a:cs typeface="Times New Roman" panose="02020603050405020304" pitchFamily="18" charset="0"/>
              </a:rPr>
              <a:t>Two different types of drugs ‘A’ and ‘B’ are tried on certain patients for increasing weight. Five randomly selected patients were given drug ‘A’, and 7 randomly selected patients were given drug ‘B’. The increases in weight (in pounds) are given below:</a:t>
            </a:r>
          </a:p>
          <a:p>
            <a:pPr marL="0" indent="0">
              <a:buNone/>
            </a:pPr>
            <a:r>
              <a:rPr lang="en-US" sz="2500" dirty="0">
                <a:latin typeface="Times New Roman" panose="02020603050405020304" pitchFamily="18" charset="0"/>
                <a:cs typeface="Times New Roman" panose="02020603050405020304" pitchFamily="18" charset="0"/>
              </a:rPr>
              <a:t>		Drug ‘A’:  8 12  13    9  3</a:t>
            </a:r>
          </a:p>
          <a:p>
            <a:pPr marL="0" indent="0">
              <a:buNone/>
            </a:pPr>
            <a:r>
              <a:rPr lang="en-US" sz="2500" dirty="0">
                <a:latin typeface="Times New Roman" panose="02020603050405020304" pitchFamily="18" charset="0"/>
                <a:cs typeface="Times New Roman" panose="02020603050405020304" pitchFamily="18" charset="0"/>
              </a:rPr>
              <a:t>		Drug ‘B’: 10  8  12  15  6  8  11</a:t>
            </a:r>
          </a:p>
          <a:p>
            <a:pPr marL="0" indent="0" algn="just">
              <a:buNone/>
            </a:pPr>
            <a:r>
              <a:rPr lang="en-US" sz="2500" dirty="0">
                <a:latin typeface="Times New Roman" panose="02020603050405020304" pitchFamily="18" charset="0"/>
                <a:cs typeface="Times New Roman" panose="02020603050405020304" pitchFamily="18" charset="0"/>
              </a:rPr>
              <a:t>Assume that the population distributions of the measurements are normal with equal variances. Construct a 95% confidence interval for the difference between the two means.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21</a:t>
            </a:fld>
            <a:endParaRPr lang="en-US" altLang="zh-CN"/>
          </a:p>
        </p:txBody>
      </p:sp>
      <p:pic>
        <p:nvPicPr>
          <p:cNvPr id="5" name="Picture 4" descr="http://img.medscape.com/news/2014/dt_140915_pills_hand_two_800x600.jpg"/>
          <p:cNvPicPr>
            <a:picLocks noChangeAspect="1" noChangeArrowheads="1"/>
          </p:cNvPicPr>
          <p:nvPr/>
        </p:nvPicPr>
        <p:blipFill rotWithShape="1">
          <a:blip r:embed="rId2">
            <a:extLst>
              <a:ext uri="{28A0092B-C50C-407E-A947-70E740481C1C}">
                <a14:useLocalDpi xmlns:a14="http://schemas.microsoft.com/office/drawing/2010/main" val="0"/>
              </a:ext>
            </a:extLst>
          </a:blip>
          <a:srcRect l="52288" t="17281" r="7078" b="42400"/>
          <a:stretch/>
        </p:blipFill>
        <p:spPr bwMode="auto">
          <a:xfrm>
            <a:off x="6714095" y="188640"/>
            <a:ext cx="1798240" cy="13382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Date Placeholder 5"/>
          <p:cNvSpPr>
            <a:spLocks noGrp="1"/>
          </p:cNvSpPr>
          <p:nvPr>
            <p:ph type="dt" sz="half" idx="10"/>
          </p:nvPr>
        </p:nvSpPr>
        <p:spPr/>
        <p:txBody>
          <a:bodyPr/>
          <a:lstStyle/>
          <a:p>
            <a:pPr>
              <a:defRPr/>
            </a:pPr>
            <a:fld id="{1E4E33F8-2AD3-4A24-BBB9-E5D3450E01A9}" type="datetime1">
              <a:rPr lang="en-US" altLang="zh-CN" smtClean="0"/>
              <a:t>7/17/2025</a:t>
            </a:fld>
            <a:endParaRPr lang="en-US" altLang="zh-CN"/>
          </a:p>
        </p:txBody>
      </p:sp>
      <p:sp>
        <p:nvSpPr>
          <p:cNvPr id="7" name="Footer Placeholder 6"/>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139020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119" y="278607"/>
            <a:ext cx="7571184" cy="1143000"/>
          </a:xfrm>
        </p:spPr>
        <p:txBody>
          <a:bodyPr/>
          <a:lstStyle/>
          <a:p>
            <a:pPr algn="l"/>
            <a:r>
              <a:rPr lang="en-US" sz="4000" dirty="0">
                <a:latin typeface="Times New Roman" panose="02020603050405020304" pitchFamily="18" charset="0"/>
                <a:cs typeface="Times New Roman" panose="02020603050405020304" pitchFamily="18" charset="0"/>
              </a:rPr>
              <a:t>Example 4:</a:t>
            </a:r>
            <a:endParaRPr lang="en-US" dirty="0"/>
          </a:p>
        </p:txBody>
      </p:sp>
      <p:sp>
        <p:nvSpPr>
          <p:cNvPr id="3" name="Content Placeholder 2"/>
          <p:cNvSpPr>
            <a:spLocks noGrp="1"/>
          </p:cNvSpPr>
          <p:nvPr>
            <p:ph idx="1"/>
          </p:nvPr>
        </p:nvSpPr>
        <p:spPr>
          <a:xfrm>
            <a:off x="1187624" y="1520825"/>
            <a:ext cx="7797552" cy="4525963"/>
          </a:xfrm>
        </p:spPr>
        <p:txBody>
          <a:bodyPr/>
          <a:lstStyle/>
          <a:p>
            <a:pPr marL="0" indent="0" algn="just">
              <a:buNone/>
            </a:pPr>
            <a:r>
              <a:rPr lang="en-US" sz="2500" dirty="0">
                <a:latin typeface="Times New Roman" panose="02020603050405020304" pitchFamily="18" charset="0"/>
                <a:cs typeface="Times New Roman" panose="02020603050405020304" pitchFamily="18" charset="0"/>
              </a:rPr>
              <a:t>To test effect of a fertilizer on rice production, 64 plots of land having equal areas were chosen. Half of these plots were treated with fertilizer and the other half were untreated. Other conditions were the same. The mean yield of rice on the untreated plots was 4.8 quintals with a standard deviation of 0.4 quintal, while the mean yield on the treated plots was 5.1 quintals with a standard deviation of 0.36 quintal. Construct a 94% confidence interval estimate for the mean difference between the untreated plots and treated plots.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22</a:t>
            </a:fld>
            <a:endParaRPr lang="en-US" altLang="zh-CN"/>
          </a:p>
        </p:txBody>
      </p:sp>
      <p:pic>
        <p:nvPicPr>
          <p:cNvPr id="5" name="Picture 4"/>
          <p:cNvPicPr>
            <a:picLocks noChangeAspect="1"/>
          </p:cNvPicPr>
          <p:nvPr/>
        </p:nvPicPr>
        <p:blipFill>
          <a:blip r:embed="rId2"/>
          <a:stretch>
            <a:fillRect/>
          </a:stretch>
        </p:blipFill>
        <p:spPr>
          <a:xfrm>
            <a:off x="6280804" y="53975"/>
            <a:ext cx="2247900" cy="1466850"/>
          </a:xfrm>
          <a:prstGeom prst="rect">
            <a:avLst/>
          </a:prstGeom>
          <a:ln>
            <a:noFill/>
          </a:ln>
          <a:effectLst>
            <a:softEdge rad="112500"/>
          </a:effectLst>
        </p:spPr>
      </p:pic>
      <p:sp>
        <p:nvSpPr>
          <p:cNvPr id="6" name="Date Placeholder 5"/>
          <p:cNvSpPr>
            <a:spLocks noGrp="1"/>
          </p:cNvSpPr>
          <p:nvPr>
            <p:ph type="dt" sz="half" idx="10"/>
          </p:nvPr>
        </p:nvSpPr>
        <p:spPr/>
        <p:txBody>
          <a:bodyPr/>
          <a:lstStyle/>
          <a:p>
            <a:pPr>
              <a:defRPr/>
            </a:pPr>
            <a:fld id="{9CFB007E-6063-405B-97B3-A7153FE95923}" type="datetime1">
              <a:rPr lang="en-US" altLang="zh-CN" smtClean="0"/>
              <a:t>7/17/2025</a:t>
            </a:fld>
            <a:endParaRPr lang="en-US" altLang="zh-CN"/>
          </a:p>
        </p:txBody>
      </p:sp>
      <p:sp>
        <p:nvSpPr>
          <p:cNvPr id="7" name="Footer Placeholder 6"/>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192014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28" y="413792"/>
            <a:ext cx="8686800" cy="1143000"/>
          </a:xfrm>
        </p:spPr>
        <p:txBody>
          <a:bodyPr/>
          <a:lstStyle/>
          <a:p>
            <a:pPr algn="ct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Testing for the difference between two</a:t>
            </a:r>
            <a:b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independent population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78898" y="2245419"/>
                <a:ext cx="7859216" cy="3487837"/>
              </a:xfrm>
            </p:spPr>
            <p:txBody>
              <a:bodyPr/>
              <a:lstStyle/>
              <a:p>
                <a:pPr marL="0" indent="0" algn="just">
                  <a:buNone/>
                </a:pPr>
                <a:r>
                  <a:rPr lang="en-US" dirty="0">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78898" y="2245419"/>
                <a:ext cx="7859216" cy="3487837"/>
              </a:xfrm>
              <a:blipFill>
                <a:blip r:embed="rId2"/>
                <a:stretch>
                  <a:fillRect l="-2017" t="-2448"/>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23</a:t>
            </a:fld>
            <a:endParaRPr lang="en-US" altLang="zh-CN"/>
          </a:p>
        </p:txBody>
      </p:sp>
      <p:sp>
        <p:nvSpPr>
          <p:cNvPr id="5" name="Date Placeholder 4"/>
          <p:cNvSpPr>
            <a:spLocks noGrp="1"/>
          </p:cNvSpPr>
          <p:nvPr>
            <p:ph type="dt" sz="half" idx="10"/>
          </p:nvPr>
        </p:nvSpPr>
        <p:spPr/>
        <p:txBody>
          <a:bodyPr/>
          <a:lstStyle/>
          <a:p>
            <a:pPr>
              <a:defRPr/>
            </a:pPr>
            <a:fld id="{135BBC17-7BD9-42A0-AB3E-E6336C9D80B0}"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400440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7624" y="404664"/>
                <a:ext cx="7499176" cy="4525963"/>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1: </a:t>
                </a:r>
              </a:p>
              <a:p>
                <a:pPr marL="0" indent="0" algn="just">
                  <a:buNone/>
                </a:pPr>
                <a:r>
                  <a:rPr lang="en-IN" sz="2500" dirty="0">
                    <a:latin typeface="Times New Roman" panose="02020603050405020304" pitchFamily="18" charset="0"/>
                    <a:cs typeface="Times New Roman" panose="02020603050405020304" pitchFamily="18" charset="0"/>
                  </a:rPr>
                  <a:t>When the two independent population distributions are </a:t>
                </a:r>
                <a:r>
                  <a:rPr lang="en-IN" sz="2500" dirty="0">
                    <a:solidFill>
                      <a:srgbClr val="00B050"/>
                    </a:solidFill>
                    <a:latin typeface="Times New Roman" panose="02020603050405020304" pitchFamily="18" charset="0"/>
                    <a:cs typeface="Times New Roman" panose="02020603050405020304" pitchFamily="18" charset="0"/>
                  </a:rPr>
                  <a:t>normal</a:t>
                </a:r>
                <a:r>
                  <a:rPr lang="en-IN" sz="2500" dirty="0">
                    <a:latin typeface="Times New Roman" panose="02020603050405020304" pitchFamily="18" charset="0"/>
                    <a:cs typeface="Times New Roman" panose="02020603050405020304" pitchFamily="18" charset="0"/>
                  </a:rPr>
                  <a:t> and the </a:t>
                </a:r>
                <a:r>
                  <a:rPr lang="en-IN" sz="25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are known</a:t>
                </a:r>
                <a:r>
                  <a:rPr lang="en-IN" sz="2500" dirty="0">
                    <a:latin typeface="Times New Roman" panose="02020603050405020304" pitchFamily="18" charset="0"/>
                    <a:cs typeface="Times New Roman" panose="02020603050405020304" pitchFamily="18" charset="0"/>
                  </a:rPr>
                  <a:t>, the test statistic is</a:t>
                </a:r>
              </a:p>
              <a:p>
                <a:pPr marL="0" indent="0" algn="just">
                  <a:buNone/>
                </a:pPr>
                <a14:m>
                  <m:oMathPara xmlns:m="http://schemas.openxmlformats.org/officeDocument/2006/math">
                    <m:oMathParaPr>
                      <m:jc m:val="centerGroup"/>
                    </m:oMathParaPr>
                    <m:oMath xmlns:m="http://schemas.openxmlformats.org/officeDocument/2006/math">
                      <m:r>
                        <a:rPr lang="en-US" sz="2500" i="1">
                          <a:solidFill>
                            <a:srgbClr val="0070C0"/>
                          </a:solidFill>
                          <a:latin typeface="Cambria Math" panose="02040503050406030204" pitchFamily="18" charset="0"/>
                        </a:rPr>
                        <m:t>𝑍</m:t>
                      </m:r>
                      <m:r>
                        <a:rPr lang="en-US" sz="2500" i="1">
                          <a:solidFill>
                            <a:srgbClr val="0070C0"/>
                          </a:solidFill>
                          <a:latin typeface="Cambria Math" panose="02040503050406030204" pitchFamily="18" charset="0"/>
                        </a:rPr>
                        <m:t>= </m:t>
                      </m:r>
                      <m:f>
                        <m:fPr>
                          <m:ctrlPr>
                            <a:rPr lang="en-US" sz="2500" i="1">
                              <a:solidFill>
                                <a:srgbClr val="0070C0"/>
                              </a:solidFill>
                              <a:latin typeface="Cambria Math" panose="02040503050406030204" pitchFamily="18" charset="0"/>
                            </a:rPr>
                          </m:ctrlPr>
                        </m:fPr>
                        <m:num>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US"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1</m:t>
                              </m:r>
                            </m:sub>
                          </m:sSub>
                          <m:r>
                            <a:rPr lang="en-GB" sz="2500" i="1">
                              <a:solidFill>
                                <a:srgbClr val="0070C0"/>
                              </a:solidFill>
                              <a:latin typeface="Cambria Math" panose="02040503050406030204" pitchFamily="18" charset="0"/>
                              <a:cs typeface="Times New Roman" panose="02020603050405020304" pitchFamily="18" charset="0"/>
                            </a:rPr>
                            <m:t>−</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m:t>
                          </m:r>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den>
                      </m:f>
                    </m:oMath>
                  </m:oMathPara>
                </a14:m>
                <a:endParaRPr lang="en-US" sz="25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7624" y="404664"/>
                <a:ext cx="7499176" cy="4525963"/>
              </a:xfrm>
              <a:blipFill>
                <a:blip r:embed="rId2"/>
                <a:stretch>
                  <a:fillRect l="-1382" t="-1077" r="-130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24</a:t>
            </a:fld>
            <a:endParaRPr lang="en-US" altLang="zh-CN"/>
          </a:p>
        </p:txBody>
      </p:sp>
      <p:sp>
        <p:nvSpPr>
          <p:cNvPr id="2" name="Date Placeholder 1"/>
          <p:cNvSpPr>
            <a:spLocks noGrp="1"/>
          </p:cNvSpPr>
          <p:nvPr>
            <p:ph type="dt" sz="half" idx="10"/>
          </p:nvPr>
        </p:nvSpPr>
        <p:spPr/>
        <p:txBody>
          <a:bodyPr/>
          <a:lstStyle/>
          <a:p>
            <a:pPr>
              <a:defRPr/>
            </a:pPr>
            <a:fld id="{CFE62A01-DABD-4D3F-9C36-8AA06F6F4F0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112713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529952"/>
                <a:ext cx="7308106" cy="4267200"/>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2: </a:t>
                </a:r>
              </a:p>
              <a:p>
                <a:pPr marL="0" indent="0" algn="just">
                  <a:buNone/>
                </a:pPr>
                <a:r>
                  <a:rPr lang="en-IN" sz="2500" dirty="0">
                    <a:latin typeface="Times New Roman" panose="02020603050405020304" pitchFamily="18" charset="0"/>
                    <a:cs typeface="Times New Roman" panose="02020603050405020304" pitchFamily="18" charset="0"/>
                  </a:rPr>
                  <a:t>When the two independent population distributions are </a:t>
                </a:r>
                <a:r>
                  <a:rPr lang="en-IN" sz="2500" dirty="0">
                    <a:solidFill>
                      <a:srgbClr val="00B050"/>
                    </a:solidFill>
                    <a:latin typeface="Times New Roman" panose="02020603050405020304" pitchFamily="18" charset="0"/>
                    <a:cs typeface="Times New Roman" panose="02020603050405020304" pitchFamily="18" charset="0"/>
                  </a:rPr>
                  <a:t>normal</a:t>
                </a:r>
                <a:r>
                  <a:rPr lang="en-IN" sz="2500" dirty="0">
                    <a:latin typeface="Times New Roman" panose="02020603050405020304" pitchFamily="18" charset="0"/>
                    <a:cs typeface="Times New Roman" panose="02020603050405020304" pitchFamily="18" charset="0"/>
                  </a:rPr>
                  <a:t> and the </a:t>
                </a:r>
                <a:r>
                  <a:rPr lang="en-IN" sz="25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are unknown and unequal</a:t>
                </a:r>
                <a:r>
                  <a:rPr lang="en-IN" sz="2500" dirty="0">
                    <a:latin typeface="Times New Roman" panose="02020603050405020304" pitchFamily="18" charset="0"/>
                    <a:cs typeface="Times New Roman" panose="02020603050405020304" pitchFamily="18" charset="0"/>
                  </a:rPr>
                  <a:t>, the test statistic is</a:t>
                </a:r>
              </a:p>
              <a:p>
                <a:pPr marL="0" indent="0" algn="just">
                  <a:buNone/>
                </a:pPr>
                <a14:m>
                  <m:oMathPara xmlns:m="http://schemas.openxmlformats.org/officeDocument/2006/math">
                    <m:oMathParaPr>
                      <m:jc m:val="centerGroup"/>
                    </m:oMathParaPr>
                    <m:oMath xmlns:m="http://schemas.openxmlformats.org/officeDocument/2006/math">
                      <m:r>
                        <a:rPr lang="en-US" sz="2500" i="1">
                          <a:solidFill>
                            <a:srgbClr val="0070C0"/>
                          </a:solidFill>
                          <a:latin typeface="Cambria Math" panose="02040503050406030204" pitchFamily="18" charset="0"/>
                        </a:rPr>
                        <m:t>𝑇</m:t>
                      </m:r>
                      <m:r>
                        <a:rPr lang="en-US" sz="2500" i="1">
                          <a:solidFill>
                            <a:srgbClr val="0070C0"/>
                          </a:solidFill>
                          <a:latin typeface="Cambria Math" panose="02040503050406030204" pitchFamily="18" charset="0"/>
                        </a:rPr>
                        <m:t>= </m:t>
                      </m:r>
                      <m:f>
                        <m:fPr>
                          <m:ctrlPr>
                            <a:rPr lang="en-US" sz="2500" i="1">
                              <a:solidFill>
                                <a:srgbClr val="0070C0"/>
                              </a:solidFill>
                              <a:latin typeface="Cambria Math" panose="02040503050406030204" pitchFamily="18" charset="0"/>
                            </a:rPr>
                          </m:ctrlPr>
                        </m:fPr>
                        <m:num>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US"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1</m:t>
                              </m:r>
                            </m:sub>
                          </m:sSub>
                          <m:r>
                            <a:rPr lang="en-GB" sz="2500" i="1">
                              <a:solidFill>
                                <a:srgbClr val="0070C0"/>
                              </a:solidFill>
                              <a:latin typeface="Cambria Math" panose="02040503050406030204" pitchFamily="18" charset="0"/>
                              <a:cs typeface="Times New Roman" panose="02020603050405020304" pitchFamily="18" charset="0"/>
                            </a:rPr>
                            <m:t>−</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m:t>
                          </m:r>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den>
                      </m:f>
                    </m:oMath>
                  </m:oMathPara>
                </a14:m>
                <a:endParaRPr lang="en-US" sz="2500" dirty="0"/>
              </a:p>
              <a:p>
                <a:pPr marL="0" indent="0">
                  <a:buNone/>
                </a:pPr>
                <a:r>
                  <a:rPr lang="en-US" sz="2500" dirty="0">
                    <a:latin typeface="Times New Roman" panose="02020603050405020304" pitchFamily="18" charset="0"/>
                    <a:cs typeface="Times New Roman" panose="02020603050405020304" pitchFamily="18" charset="0"/>
                  </a:rPr>
                  <a:t>where T has a t-distribution with degrees of freedom </a:t>
                </a:r>
                <a:r>
                  <a:rPr lang="en-US" sz="2500" i="1" dirty="0">
                    <a:latin typeface="Cambria Math" panose="02040503050406030204" pitchFamily="18" charset="0"/>
                  </a:rPr>
                  <a:t> </a:t>
                </a:r>
              </a:p>
              <a:p>
                <a:pPr marL="0" indent="0" algn="ctr">
                  <a:buNone/>
                </a:pPr>
                <a:r>
                  <a:rPr lang="en-US" sz="2500" i="1" dirty="0">
                    <a:latin typeface="Cambria Math" panose="02040503050406030204" pitchFamily="18" charset="0"/>
                  </a:rPr>
                  <a:t>     </a:t>
                </a:r>
                <a14:m>
                  <m:oMath xmlns:m="http://schemas.openxmlformats.org/officeDocument/2006/math">
                    <m:r>
                      <a:rPr lang="en-GB" sz="2500" i="1">
                        <a:solidFill>
                          <a:srgbClr val="0070C0"/>
                        </a:solidFill>
                        <a:latin typeface="Cambria Math" panose="02040503050406030204" pitchFamily="18" charset="0"/>
                      </a:rPr>
                      <m:t>𝑑𝑓</m:t>
                    </m:r>
                    <m:r>
                      <a:rPr lang="en-GB" sz="2500" i="1">
                        <a:solidFill>
                          <a:srgbClr val="0070C0"/>
                        </a:solidFill>
                        <a:latin typeface="Cambria Math" panose="02040503050406030204" pitchFamily="18" charset="0"/>
                      </a:rPr>
                      <m:t>= </m:t>
                    </m:r>
                    <m:f>
                      <m:fPr>
                        <m:ctrlPr>
                          <a:rPr lang="en-GB" sz="2500" i="1">
                            <a:solidFill>
                              <a:srgbClr val="0070C0"/>
                            </a:solidFill>
                            <a:latin typeface="Cambria Math" panose="02040503050406030204" pitchFamily="18" charset="0"/>
                          </a:rPr>
                        </m:ctrlPr>
                      </m:fPr>
                      <m:num>
                        <m:sSup>
                          <m:sSupPr>
                            <m:ctrlPr>
                              <a:rPr lang="en-GB" sz="2500" i="1">
                                <a:solidFill>
                                  <a:srgbClr val="0070C0"/>
                                </a:solidFill>
                                <a:latin typeface="Cambria Math" panose="02040503050406030204" pitchFamily="18" charset="0"/>
                              </a:rPr>
                            </m:ctrlPr>
                          </m:sSupPr>
                          <m:e>
                            <m:d>
                              <m:dPr>
                                <m:ctrlPr>
                                  <a:rPr lang="en-GB" sz="2500" i="1">
                                    <a:solidFill>
                                      <a:srgbClr val="0070C0"/>
                                    </a:solidFill>
                                    <a:latin typeface="Cambria Math" panose="02040503050406030204" pitchFamily="18" charset="0"/>
                                  </a:rPr>
                                </m:ctrlPr>
                              </m:dPr>
                              <m:e>
                                <m:r>
                                  <a:rPr lang="en-GB" sz="2500" i="1">
                                    <a:solidFill>
                                      <a:srgbClr val="0070C0"/>
                                    </a:solidFill>
                                    <a:latin typeface="Cambria Math" panose="02040503050406030204" pitchFamily="18" charset="0"/>
                                  </a:rPr>
                                  <m:t>𝐴</m:t>
                                </m:r>
                                <m:r>
                                  <a:rPr lang="en-GB" sz="2500" i="1">
                                    <a:solidFill>
                                      <a:srgbClr val="0070C0"/>
                                    </a:solidFill>
                                    <a:latin typeface="Cambria Math" panose="02040503050406030204" pitchFamily="18" charset="0"/>
                                  </a:rPr>
                                  <m:t>+</m:t>
                                </m:r>
                                <m:r>
                                  <a:rPr lang="en-GB" sz="2500" i="1">
                                    <a:solidFill>
                                      <a:srgbClr val="0070C0"/>
                                    </a:solidFill>
                                    <a:latin typeface="Cambria Math" panose="02040503050406030204" pitchFamily="18" charset="0"/>
                                  </a:rPr>
                                  <m:t>𝐵</m:t>
                                </m:r>
                              </m:e>
                            </m:d>
                          </m:e>
                          <m:sup>
                            <m:r>
                              <a:rPr lang="en-GB" sz="2500" i="1">
                                <a:solidFill>
                                  <a:srgbClr val="0070C0"/>
                                </a:solidFill>
                                <a:latin typeface="Cambria Math" panose="02040503050406030204" pitchFamily="18" charset="0"/>
                              </a:rPr>
                              <m:t>2</m:t>
                            </m:r>
                          </m:sup>
                        </m:sSup>
                      </m:num>
                      <m:den>
                        <m:f>
                          <m:fPr>
                            <m:ctrlPr>
                              <a:rPr lang="en-GB" sz="2500" i="1">
                                <a:solidFill>
                                  <a:srgbClr val="0070C0"/>
                                </a:solidFill>
                                <a:latin typeface="Cambria Math" panose="02040503050406030204" pitchFamily="18" charset="0"/>
                              </a:rPr>
                            </m:ctrlPr>
                          </m:fPr>
                          <m:num>
                            <m:sSup>
                              <m:sSupPr>
                                <m:ctrlPr>
                                  <a:rPr lang="en-GB" sz="2500" i="1">
                                    <a:solidFill>
                                      <a:srgbClr val="0070C0"/>
                                    </a:solidFill>
                                    <a:latin typeface="Cambria Math" panose="02040503050406030204" pitchFamily="18" charset="0"/>
                                  </a:rPr>
                                </m:ctrlPr>
                              </m:sSupPr>
                              <m:e>
                                <m:r>
                                  <a:rPr lang="en-GB" sz="2500" i="1">
                                    <a:solidFill>
                                      <a:srgbClr val="0070C0"/>
                                    </a:solidFill>
                                    <a:latin typeface="Cambria Math" panose="02040503050406030204" pitchFamily="18" charset="0"/>
                                  </a:rPr>
                                  <m:t>𝐴</m:t>
                                </m:r>
                              </m:e>
                              <m:sup>
                                <m:r>
                                  <a:rPr lang="en-GB" sz="2500" i="1">
                                    <a:solidFill>
                                      <a:srgbClr val="0070C0"/>
                                    </a:solidFill>
                                    <a:latin typeface="Cambria Math" panose="02040503050406030204" pitchFamily="18" charset="0"/>
                                  </a:rPr>
                                  <m:t>2</m:t>
                                </m:r>
                              </m:sup>
                            </m:sSup>
                          </m:num>
                          <m:den>
                            <m:sSub>
                              <m:sSubPr>
                                <m:ctrlPr>
                                  <a:rPr lang="en-GB" sz="2500" i="1">
                                    <a:solidFill>
                                      <a:srgbClr val="0070C0"/>
                                    </a:solidFill>
                                    <a:latin typeface="Cambria Math" panose="02040503050406030204" pitchFamily="18" charset="0"/>
                                  </a:rPr>
                                </m:ctrlPr>
                              </m:sSubPr>
                              <m:e>
                                <m:r>
                                  <a:rPr lang="en-GB" sz="2500" i="1">
                                    <a:solidFill>
                                      <a:srgbClr val="0070C0"/>
                                    </a:solidFill>
                                    <a:latin typeface="Cambria Math" panose="02040503050406030204" pitchFamily="18" charset="0"/>
                                  </a:rPr>
                                  <m:t>𝑛</m:t>
                                </m:r>
                              </m:e>
                              <m:sub>
                                <m:r>
                                  <a:rPr lang="en-GB" sz="2500" i="1">
                                    <a:solidFill>
                                      <a:srgbClr val="0070C0"/>
                                    </a:solidFill>
                                    <a:latin typeface="Cambria Math" panose="02040503050406030204" pitchFamily="18" charset="0"/>
                                  </a:rPr>
                                  <m:t>1</m:t>
                                </m:r>
                              </m:sub>
                            </m:sSub>
                            <m:r>
                              <a:rPr lang="en-GB" sz="2500" i="1">
                                <a:solidFill>
                                  <a:srgbClr val="0070C0"/>
                                </a:solidFill>
                                <a:latin typeface="Cambria Math" panose="02040503050406030204" pitchFamily="18" charset="0"/>
                              </a:rPr>
                              <m:t>−1</m:t>
                            </m:r>
                          </m:den>
                        </m:f>
                        <m:r>
                          <a:rPr lang="en-GB" sz="2500" i="1">
                            <a:solidFill>
                              <a:srgbClr val="0070C0"/>
                            </a:solidFill>
                            <a:latin typeface="Cambria Math" panose="02040503050406030204" pitchFamily="18" charset="0"/>
                          </a:rPr>
                          <m:t> +</m:t>
                        </m:r>
                        <m:f>
                          <m:fPr>
                            <m:ctrlPr>
                              <a:rPr lang="en-GB" sz="2500" i="1">
                                <a:solidFill>
                                  <a:srgbClr val="0070C0"/>
                                </a:solidFill>
                                <a:latin typeface="Cambria Math" panose="02040503050406030204" pitchFamily="18" charset="0"/>
                              </a:rPr>
                            </m:ctrlPr>
                          </m:fPr>
                          <m:num>
                            <m:sSup>
                              <m:sSupPr>
                                <m:ctrlPr>
                                  <a:rPr lang="en-GB" sz="2500" i="1">
                                    <a:solidFill>
                                      <a:srgbClr val="0070C0"/>
                                    </a:solidFill>
                                    <a:latin typeface="Cambria Math" panose="02040503050406030204" pitchFamily="18" charset="0"/>
                                  </a:rPr>
                                </m:ctrlPr>
                              </m:sSupPr>
                              <m:e>
                                <m:r>
                                  <a:rPr lang="en-GB" sz="2500" i="1">
                                    <a:solidFill>
                                      <a:srgbClr val="0070C0"/>
                                    </a:solidFill>
                                    <a:latin typeface="Cambria Math" panose="02040503050406030204" pitchFamily="18" charset="0"/>
                                  </a:rPr>
                                  <m:t>𝐵</m:t>
                                </m:r>
                              </m:e>
                              <m:sup>
                                <m:r>
                                  <a:rPr lang="en-GB" sz="2500" i="1">
                                    <a:solidFill>
                                      <a:srgbClr val="0070C0"/>
                                    </a:solidFill>
                                    <a:latin typeface="Cambria Math" panose="02040503050406030204" pitchFamily="18" charset="0"/>
                                  </a:rPr>
                                  <m:t>2</m:t>
                                </m:r>
                              </m:sup>
                            </m:sSup>
                          </m:num>
                          <m:den>
                            <m:sSub>
                              <m:sSubPr>
                                <m:ctrlPr>
                                  <a:rPr lang="en-GB" sz="2500" i="1">
                                    <a:solidFill>
                                      <a:srgbClr val="0070C0"/>
                                    </a:solidFill>
                                    <a:latin typeface="Cambria Math" panose="02040503050406030204" pitchFamily="18" charset="0"/>
                                  </a:rPr>
                                </m:ctrlPr>
                              </m:sSubPr>
                              <m:e>
                                <m:r>
                                  <a:rPr lang="en-GB" sz="2500" i="1">
                                    <a:solidFill>
                                      <a:srgbClr val="0070C0"/>
                                    </a:solidFill>
                                    <a:latin typeface="Cambria Math" panose="02040503050406030204" pitchFamily="18" charset="0"/>
                                  </a:rPr>
                                  <m:t>𝑛</m:t>
                                </m:r>
                              </m:e>
                              <m:sub>
                                <m:r>
                                  <a:rPr lang="en-GB" sz="2500" i="1">
                                    <a:solidFill>
                                      <a:srgbClr val="0070C0"/>
                                    </a:solidFill>
                                    <a:latin typeface="Cambria Math" panose="02040503050406030204" pitchFamily="18" charset="0"/>
                                  </a:rPr>
                                  <m:t>2</m:t>
                                </m:r>
                              </m:sub>
                            </m:sSub>
                            <m:r>
                              <a:rPr lang="en-GB" sz="2500" i="1">
                                <a:solidFill>
                                  <a:srgbClr val="0070C0"/>
                                </a:solidFill>
                                <a:latin typeface="Cambria Math" panose="02040503050406030204" pitchFamily="18" charset="0"/>
                              </a:rPr>
                              <m:t>−1</m:t>
                            </m:r>
                          </m:den>
                        </m:f>
                      </m:den>
                    </m:f>
                    <m:r>
                      <a:rPr lang="en-GB" sz="2500">
                        <a:latin typeface="Cambria Math" panose="02040503050406030204" pitchFamily="18" charset="0"/>
                      </a:rPr>
                      <m:t>           </m:t>
                    </m:r>
                    <m:r>
                      <a:rPr lang="en-US" sz="2500">
                        <a:latin typeface="Cambria Math" panose="02040503050406030204" pitchFamily="18" charset="0"/>
                      </a:rPr>
                      <m:t> </m:t>
                    </m:r>
                  </m:oMath>
                </a14:m>
                <a:endParaRPr lang="en-NZ" sz="2500" i="1" dirty="0">
                  <a:latin typeface="Cambria Math" panose="02040503050406030204" pitchFamily="18" charset="0"/>
                </a:endParaRPr>
              </a:p>
              <a:p>
                <a:pPr marL="0" indent="0" algn="just">
                  <a:buNone/>
                </a:pPr>
                <a:r>
                  <a:rPr lang="en-GB" sz="2500" dirty="0">
                    <a:latin typeface="Times New Roman" panose="02020603050405020304" pitchFamily="18" charset="0"/>
                    <a:cs typeface="Times New Roman" panose="02020603050405020304" pitchFamily="18" charset="0"/>
                  </a:rPr>
                  <a:t>Where </a:t>
                </a:r>
                <a14:m>
                  <m:oMath xmlns:m="http://schemas.openxmlformats.org/officeDocument/2006/math">
                    <m:r>
                      <a:rPr lang="en-GB" sz="2500" i="1">
                        <a:solidFill>
                          <a:srgbClr val="0070C0"/>
                        </a:solidFill>
                        <a:latin typeface="Cambria Math" panose="02040503050406030204" pitchFamily="18" charset="0"/>
                        <a:cs typeface="Times New Roman" panose="02020603050405020304" pitchFamily="18" charset="0"/>
                      </a:rPr>
                      <m:t>𝐴</m:t>
                    </m:r>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oMath>
                </a14:m>
                <a:r>
                  <a:rPr lang="en-GB" sz="2500" dirty="0">
                    <a:latin typeface="Times New Roman" panose="02020603050405020304" pitchFamily="18" charset="0"/>
                    <a:cs typeface="Times New Roman" panose="02020603050405020304" pitchFamily="18" charset="0"/>
                  </a:rPr>
                  <a:t> and </a:t>
                </a:r>
                <a14:m>
                  <m:oMath xmlns:m="http://schemas.openxmlformats.org/officeDocument/2006/math">
                    <m:r>
                      <a:rPr lang="en-GB" sz="2500" i="1">
                        <a:solidFill>
                          <a:srgbClr val="0070C0"/>
                        </a:solidFill>
                        <a:latin typeface="Cambria Math" panose="02040503050406030204" pitchFamily="18" charset="0"/>
                        <a:cs typeface="Times New Roman" panose="02020603050405020304" pitchFamily="18" charset="0"/>
                      </a:rPr>
                      <m:t>𝐵</m:t>
                    </m:r>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cs typeface="Times New Roman" panose="02020603050405020304" pitchFamily="18" charset="0"/>
                              </a:rPr>
                              <m:t>2</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oMath>
                </a14:m>
                <a:r>
                  <a:rPr lang="en-US" sz="2500" dirty="0">
                    <a:solidFill>
                      <a:srgbClr val="0070C0"/>
                    </a:solidFill>
                    <a:latin typeface="Times New Roman" panose="02020603050405020304" pitchFamily="18" charset="0"/>
                    <a:cs typeface="Times New Roman" panose="02020603050405020304" pitchFamily="18" charset="0"/>
                  </a:rPr>
                  <a:t> </a:t>
                </a:r>
              </a:p>
              <a:p>
                <a:pPr marL="0" indent="0" algn="just">
                  <a:buNone/>
                </a:pPr>
                <a:endParaRPr lang="en-US" sz="2500" dirty="0"/>
              </a:p>
              <a:p>
                <a:pPr marL="0" indent="0" algn="just">
                  <a:buNone/>
                </a:pPr>
                <a:endParaRPr lang="en-US" sz="25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529952"/>
                <a:ext cx="7308106" cy="4267200"/>
              </a:xfrm>
              <a:blipFill>
                <a:blip r:embed="rId2"/>
                <a:stretch>
                  <a:fillRect l="-1419" t="-1286" r="-1419" b="-2985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25</a:t>
            </a:fld>
            <a:endParaRPr lang="en-US" altLang="zh-CN"/>
          </a:p>
        </p:txBody>
      </p:sp>
      <p:sp>
        <p:nvSpPr>
          <p:cNvPr id="2" name="Date Placeholder 1"/>
          <p:cNvSpPr>
            <a:spLocks noGrp="1"/>
          </p:cNvSpPr>
          <p:nvPr>
            <p:ph type="dt" sz="half" idx="10"/>
          </p:nvPr>
        </p:nvSpPr>
        <p:spPr/>
        <p:txBody>
          <a:bodyPr/>
          <a:lstStyle/>
          <a:p>
            <a:pPr>
              <a:defRPr/>
            </a:pPr>
            <a:fld id="{3DE17D52-1B14-4570-BED1-3E81EC9A8C7A}"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611656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548680"/>
                <a:ext cx="7576279" cy="4267200"/>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3: </a:t>
                </a:r>
              </a:p>
              <a:p>
                <a:pPr marL="0" indent="0" algn="just">
                  <a:buNone/>
                </a:pPr>
                <a:r>
                  <a:rPr lang="en-IN" sz="2500" dirty="0">
                    <a:latin typeface="Times New Roman" panose="02020603050405020304" pitchFamily="18" charset="0"/>
                    <a:cs typeface="Times New Roman" panose="02020603050405020304" pitchFamily="18" charset="0"/>
                  </a:rPr>
                  <a:t>When the two independent population distributions are </a:t>
                </a:r>
                <a:r>
                  <a:rPr lang="en-IN" sz="2500" dirty="0">
                    <a:solidFill>
                      <a:srgbClr val="00B050"/>
                    </a:solidFill>
                    <a:latin typeface="Times New Roman" panose="02020603050405020304" pitchFamily="18" charset="0"/>
                    <a:cs typeface="Times New Roman" panose="02020603050405020304" pitchFamily="18" charset="0"/>
                  </a:rPr>
                  <a:t>normal</a:t>
                </a:r>
                <a:r>
                  <a:rPr lang="en-IN" sz="2500" dirty="0">
                    <a:latin typeface="Times New Roman" panose="02020603050405020304" pitchFamily="18" charset="0"/>
                    <a:cs typeface="Times New Roman" panose="02020603050405020304" pitchFamily="18" charset="0"/>
                  </a:rPr>
                  <a:t> and the </a:t>
                </a:r>
                <a:r>
                  <a:rPr lang="en-IN" sz="25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are unknown but equal</a:t>
                </a:r>
                <a:r>
                  <a:rPr lang="en-IN" sz="2500" dirty="0">
                    <a:latin typeface="Times New Roman" panose="02020603050405020304" pitchFamily="18" charset="0"/>
                    <a:cs typeface="Times New Roman" panose="02020603050405020304" pitchFamily="18" charset="0"/>
                  </a:rPr>
                  <a:t>, the test statistic is</a:t>
                </a:r>
                <a:endParaRPr lang="en-US" sz="2500" dirty="0"/>
              </a:p>
              <a:p>
                <a:pPr marL="0" indent="0" algn="just">
                  <a:buNone/>
                </a:pPr>
                <a14:m>
                  <m:oMathPara xmlns:m="http://schemas.openxmlformats.org/officeDocument/2006/math">
                    <m:oMathParaPr>
                      <m:jc m:val="centerGroup"/>
                    </m:oMathParaPr>
                    <m:oMath xmlns:m="http://schemas.openxmlformats.org/officeDocument/2006/math">
                      <m:r>
                        <a:rPr lang="en-US" sz="2500" i="1">
                          <a:solidFill>
                            <a:srgbClr val="0070C0"/>
                          </a:solidFill>
                          <a:latin typeface="Cambria Math" panose="02040503050406030204" pitchFamily="18" charset="0"/>
                        </a:rPr>
                        <m:t>𝑇</m:t>
                      </m:r>
                      <m:r>
                        <a:rPr lang="en-US" sz="2500" i="1">
                          <a:solidFill>
                            <a:srgbClr val="0070C0"/>
                          </a:solidFill>
                          <a:latin typeface="Cambria Math" panose="02040503050406030204" pitchFamily="18" charset="0"/>
                        </a:rPr>
                        <m:t>= </m:t>
                      </m:r>
                      <m:f>
                        <m:fPr>
                          <m:ctrlPr>
                            <a:rPr lang="en-US" sz="2500" i="1">
                              <a:solidFill>
                                <a:srgbClr val="0070C0"/>
                              </a:solidFill>
                              <a:latin typeface="Cambria Math" panose="02040503050406030204" pitchFamily="18" charset="0"/>
                            </a:rPr>
                          </m:ctrlPr>
                        </m:fPr>
                        <m:num>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US"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1</m:t>
                              </m:r>
                            </m:sub>
                          </m:sSub>
                          <m:r>
                            <a:rPr lang="en-GB" sz="2500" i="1">
                              <a:solidFill>
                                <a:srgbClr val="0070C0"/>
                              </a:solidFill>
                              <a:latin typeface="Cambria Math" panose="02040503050406030204" pitchFamily="18" charset="0"/>
                              <a:cs typeface="Times New Roman" panose="02020603050405020304" pitchFamily="18" charset="0"/>
                            </a:rPr>
                            <m:t>−</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m:t>
                          </m:r>
                        </m:num>
                        <m:den>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𝑠</m:t>
                              </m:r>
                            </m:e>
                            <m:sub>
                              <m:r>
                                <a:rPr lang="en-US" sz="2500" i="1">
                                  <a:solidFill>
                                    <a:srgbClr val="0070C0"/>
                                  </a:solidFill>
                                  <a:latin typeface="Cambria Math" panose="02040503050406030204" pitchFamily="18" charset="0"/>
                                  <a:cs typeface="Times New Roman" panose="02020603050405020304" pitchFamily="18" charset="0"/>
                                </a:rPr>
                                <m:t>𝑝</m:t>
                              </m:r>
                            </m:sub>
                          </m:sSub>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r>
                                    <a:rPr lang="en-US" sz="2500" i="1">
                                      <a:solidFill>
                                        <a:srgbClr val="0070C0"/>
                                      </a:solidFill>
                                      <a:latin typeface="Cambria Math" panose="02040503050406030204" pitchFamily="18" charset="0"/>
                                      <a:cs typeface="Times New Roman" panose="02020603050405020304" pitchFamily="18" charset="0"/>
                                    </a:rPr>
                                    <m:t>1</m:t>
                                  </m:r>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r>
                                    <a:rPr lang="en-US" sz="2500" i="1">
                                      <a:solidFill>
                                        <a:srgbClr val="0070C0"/>
                                      </a:solidFill>
                                      <a:latin typeface="Cambria Math" panose="02040503050406030204" pitchFamily="18" charset="0"/>
                                      <a:cs typeface="Times New Roman" panose="02020603050405020304" pitchFamily="18" charset="0"/>
                                    </a:rPr>
                                    <m:t>1</m:t>
                                  </m:r>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den>
                      </m:f>
                    </m:oMath>
                  </m:oMathPara>
                </a14:m>
                <a:endParaRPr lang="en-US" sz="2500" dirty="0"/>
              </a:p>
              <a:p>
                <a:pPr marL="0" indent="0" algn="just">
                  <a:buNone/>
                </a:pPr>
                <a:r>
                  <a:rPr lang="en-US" sz="2500" dirty="0">
                    <a:latin typeface="Times New Roman" panose="02020603050405020304" pitchFamily="18" charset="0"/>
                    <a:cs typeface="Times New Roman" panose="02020603050405020304" pitchFamily="18" charset="0"/>
                  </a:rPr>
                  <a:t>where T has a t distribution with degrees of freedom       </a:t>
                </a:r>
                <a14:m>
                  <m:oMath xmlns:m="http://schemas.openxmlformats.org/officeDocument/2006/math">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1</m:t>
                        </m:r>
                      </m:sub>
                    </m:sSub>
                    <m:r>
                      <a:rPr lang="en-US" sz="2500" i="1">
                        <a:solidFill>
                          <a:srgbClr val="0070C0"/>
                        </a:solidFill>
                        <a:latin typeface="Cambria Math" panose="02040503050406030204" pitchFamily="18" charset="0"/>
                        <a:cs typeface="Times New Roman" panose="02020603050405020304" pitchFamily="18" charset="0"/>
                      </a:rPr>
                      <m:t>+</m:t>
                    </m:r>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 −2</m:t>
                    </m:r>
                  </m:oMath>
                </a14:m>
                <a:r>
                  <a:rPr lang="en-US" sz="2500" dirty="0">
                    <a:solidFill>
                      <a:srgbClr val="0070C0"/>
                    </a:solidFill>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𝑆</m:t>
                        </m:r>
                      </m:e>
                      <m:sub>
                        <m:r>
                          <a:rPr lang="en-US" sz="2500" i="1">
                            <a:solidFill>
                              <a:srgbClr val="0070C0"/>
                            </a:solidFill>
                            <a:latin typeface="Cambria Math" panose="02040503050406030204" pitchFamily="18" charset="0"/>
                            <a:cs typeface="Times New Roman" panose="02020603050405020304" pitchFamily="18" charset="0"/>
                          </a:rPr>
                          <m:t>𝑝</m:t>
                        </m:r>
                      </m:sub>
                    </m:sSub>
                    <m:r>
                      <a:rPr lang="en-US" sz="2500" i="1">
                        <a:solidFill>
                          <a:srgbClr val="0070C0"/>
                        </a:solidFill>
                        <a:latin typeface="Cambria Math" panose="02040503050406030204" pitchFamily="18" charset="0"/>
                        <a:cs typeface="Times New Roman" panose="02020603050405020304" pitchFamily="18" charset="0"/>
                      </a:rPr>
                      <m:t>= </m:t>
                    </m:r>
                    <m:rad>
                      <m:radPr>
                        <m:degHide m:val="on"/>
                        <m:ctrlPr>
                          <a:rPr lang="en-US" sz="2500" i="1">
                            <a:solidFill>
                              <a:srgbClr val="0070C0"/>
                            </a:solidFill>
                            <a:latin typeface="Cambria Math" panose="02040503050406030204" pitchFamily="18" charset="0"/>
                            <a:cs typeface="Times New Roman" panose="02020603050405020304" pitchFamily="18" charset="0"/>
                          </a:rPr>
                        </m:ctrlPr>
                      </m:radPr>
                      <m:deg/>
                      <m:e>
                        <m:f>
                          <m:fPr>
                            <m:ctrlPr>
                              <a:rPr lang="en-US" sz="2500" i="1">
                                <a:solidFill>
                                  <a:srgbClr val="0070C0"/>
                                </a:solidFill>
                                <a:latin typeface="Cambria Math" panose="02040503050406030204" pitchFamily="18" charset="0"/>
                                <a:cs typeface="Times New Roman" panose="02020603050405020304" pitchFamily="18" charset="0"/>
                              </a:rPr>
                            </m:ctrlPr>
                          </m:fPr>
                          <m:num>
                            <m:d>
                              <m:dPr>
                                <m:ctrlPr>
                                  <a:rPr lang="en-US" sz="2500" i="1">
                                    <a:solidFill>
                                      <a:srgbClr val="0070C0"/>
                                    </a:solidFill>
                                    <a:latin typeface="Cambria Math" panose="02040503050406030204" pitchFamily="18" charset="0"/>
                                    <a:cs typeface="Times New Roman" panose="02020603050405020304" pitchFamily="18" charset="0"/>
                                  </a:rPr>
                                </m:ctrlPr>
                              </m:dPr>
                              <m:e>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1</m:t>
                                    </m:r>
                                  </m:sub>
                                </m:sSub>
                                <m:r>
                                  <a:rPr lang="en-US" sz="2500" i="1">
                                    <a:solidFill>
                                      <a:srgbClr val="0070C0"/>
                                    </a:solidFill>
                                    <a:latin typeface="Cambria Math" panose="02040503050406030204" pitchFamily="18" charset="0"/>
                                    <a:cs typeface="Times New Roman" panose="02020603050405020304" pitchFamily="18" charset="0"/>
                                  </a:rPr>
                                  <m:t>−1</m:t>
                                </m:r>
                              </m:e>
                            </m:d>
                            <m:sSubSup>
                              <m:sSubSupPr>
                                <m:ctrlPr>
                                  <a:rPr lang="en-US"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cs typeface="Times New Roman" panose="02020603050405020304" pitchFamily="18" charset="0"/>
                                  </a:rPr>
                                  <m:t>𝑠</m:t>
                                </m:r>
                              </m:e>
                              <m:sub>
                                <m:r>
                                  <a:rPr lang="en-US" sz="2500" i="1">
                                    <a:solidFill>
                                      <a:srgbClr val="0070C0"/>
                                    </a:solidFill>
                                    <a:latin typeface="Cambria Math" panose="02040503050406030204" pitchFamily="18" charset="0"/>
                                    <a:cs typeface="Times New Roman" panose="02020603050405020304" pitchFamily="18" charset="0"/>
                                  </a:rPr>
                                  <m:t>1</m:t>
                                </m:r>
                              </m:sub>
                              <m:sup>
                                <m:r>
                                  <a:rPr lang="en-US" sz="2500" i="1">
                                    <a:solidFill>
                                      <a:srgbClr val="0070C0"/>
                                    </a:solidFill>
                                    <a:latin typeface="Cambria Math" panose="02040503050406030204" pitchFamily="18" charset="0"/>
                                    <a:cs typeface="Times New Roman" panose="02020603050405020304" pitchFamily="18" charset="0"/>
                                  </a:rPr>
                                  <m:t>2</m:t>
                                </m:r>
                              </m:sup>
                            </m:sSubSup>
                            <m:r>
                              <a:rPr lang="en-US" sz="2500" i="1">
                                <a:solidFill>
                                  <a:srgbClr val="0070C0"/>
                                </a:solidFill>
                                <a:latin typeface="Cambria Math" panose="02040503050406030204" pitchFamily="18" charset="0"/>
                                <a:cs typeface="Times New Roman" panose="02020603050405020304" pitchFamily="18" charset="0"/>
                              </a:rPr>
                              <m:t>+</m:t>
                            </m:r>
                            <m:d>
                              <m:dPr>
                                <m:ctrlPr>
                                  <a:rPr lang="en-US" sz="2500" i="1">
                                    <a:solidFill>
                                      <a:srgbClr val="0070C0"/>
                                    </a:solidFill>
                                    <a:latin typeface="Cambria Math" panose="02040503050406030204" pitchFamily="18" charset="0"/>
                                    <a:cs typeface="Times New Roman" panose="02020603050405020304" pitchFamily="18" charset="0"/>
                                  </a:rPr>
                                </m:ctrlPr>
                              </m:dPr>
                              <m:e>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−1</m:t>
                                </m:r>
                              </m:e>
                            </m:d>
                            <m:sSubSup>
                              <m:sSubSupPr>
                                <m:ctrlPr>
                                  <a:rPr lang="en-US"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cs typeface="Times New Roman" panose="02020603050405020304" pitchFamily="18" charset="0"/>
                                  </a:rPr>
                                  <m:t>𝑠</m:t>
                                </m:r>
                              </m:e>
                              <m:sub>
                                <m:r>
                                  <a:rPr lang="en-US" sz="2500" i="1">
                                    <a:solidFill>
                                      <a:srgbClr val="0070C0"/>
                                    </a:solidFill>
                                    <a:latin typeface="Cambria Math" panose="02040503050406030204" pitchFamily="18" charset="0"/>
                                    <a:cs typeface="Times New Roman" panose="02020603050405020304" pitchFamily="18" charset="0"/>
                                  </a:rPr>
                                  <m:t>2</m:t>
                                </m:r>
                              </m:sub>
                              <m:sup>
                                <m:r>
                                  <a:rPr lang="en-US" sz="2500" i="1">
                                    <a:solidFill>
                                      <a:srgbClr val="0070C0"/>
                                    </a:solidFill>
                                    <a:latin typeface="Cambria Math" panose="02040503050406030204" pitchFamily="18" charset="0"/>
                                    <a:cs typeface="Times New Roman" panose="02020603050405020304" pitchFamily="18" charset="0"/>
                                  </a:rPr>
                                  <m:t>2</m:t>
                                </m:r>
                              </m:sup>
                            </m:sSubSup>
                          </m:num>
                          <m:den>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1</m:t>
                                </m:r>
                              </m:sub>
                            </m:sSub>
                            <m:r>
                              <a:rPr lang="en-US" sz="2500" i="1">
                                <a:solidFill>
                                  <a:srgbClr val="0070C0"/>
                                </a:solidFill>
                                <a:latin typeface="Cambria Math" panose="02040503050406030204" pitchFamily="18" charset="0"/>
                                <a:cs typeface="Times New Roman" panose="02020603050405020304" pitchFamily="18" charset="0"/>
                              </a:rPr>
                              <m:t>+</m:t>
                            </m:r>
                            <m:sSub>
                              <m:sSubPr>
                                <m:ctrlPr>
                                  <a:rPr lang="en-US" sz="2500" i="1">
                                    <a:solidFill>
                                      <a:srgbClr val="0070C0"/>
                                    </a:solidFill>
                                    <a:latin typeface="Cambria Math" panose="02040503050406030204" pitchFamily="18" charset="0"/>
                                    <a:cs typeface="Times New Roman" panose="02020603050405020304" pitchFamily="18" charset="0"/>
                                  </a:rPr>
                                </m:ctrlPr>
                              </m:sSubPr>
                              <m:e>
                                <m:r>
                                  <a:rPr lang="en-US" sz="2500" i="1">
                                    <a:solidFill>
                                      <a:srgbClr val="0070C0"/>
                                    </a:solidFill>
                                    <a:latin typeface="Cambria Math" panose="02040503050406030204" pitchFamily="18" charset="0"/>
                                    <a:cs typeface="Times New Roman" panose="02020603050405020304" pitchFamily="18" charset="0"/>
                                  </a:rPr>
                                  <m:t>𝑛</m:t>
                                </m:r>
                              </m:e>
                              <m:sub>
                                <m:r>
                                  <a:rPr lang="en-US"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 −2</m:t>
                            </m:r>
                          </m:den>
                        </m:f>
                      </m:e>
                    </m:rad>
                  </m:oMath>
                </a14:m>
                <a:r>
                  <a:rPr lang="en-US" sz="2500" dirty="0">
                    <a:latin typeface="Times New Roman" panose="02020603050405020304" pitchFamily="18" charset="0"/>
                    <a:cs typeface="Times New Roman" panose="02020603050405020304" pitchFamily="18" charset="0"/>
                  </a:rPr>
                  <a:t>  is the pooled standard deviation from the two sample standard deviations.</a:t>
                </a:r>
              </a:p>
              <a:p>
                <a:pPr marL="0" indent="0" algn="just">
                  <a:buNone/>
                </a:pPr>
                <a:endParaRPr lang="en-US" sz="25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548680"/>
                <a:ext cx="7576279" cy="4267200"/>
              </a:xfrm>
              <a:blipFill>
                <a:blip r:embed="rId2"/>
                <a:stretch>
                  <a:fillRect l="-1369" t="-1143" r="-1369" b="-1885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26</a:t>
            </a:fld>
            <a:endParaRPr lang="en-US" altLang="zh-CN"/>
          </a:p>
        </p:txBody>
      </p:sp>
      <p:sp>
        <p:nvSpPr>
          <p:cNvPr id="2" name="Date Placeholder 1"/>
          <p:cNvSpPr>
            <a:spLocks noGrp="1"/>
          </p:cNvSpPr>
          <p:nvPr>
            <p:ph type="dt" sz="half" idx="10"/>
          </p:nvPr>
        </p:nvSpPr>
        <p:spPr/>
        <p:txBody>
          <a:bodyPr/>
          <a:lstStyle/>
          <a:p>
            <a:pPr>
              <a:defRPr/>
            </a:pPr>
            <a:fld id="{1A869257-17EE-4185-9162-F296897D517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45671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1356" y="764704"/>
                <a:ext cx="7713132" cy="4525963"/>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4: </a:t>
                </a:r>
              </a:p>
              <a:p>
                <a:pPr marL="0" indent="0" algn="just">
                  <a:buNone/>
                </a:pPr>
                <a:r>
                  <a:rPr lang="en-IN" sz="2500" dirty="0">
                    <a:latin typeface="Times New Roman" panose="02020603050405020304" pitchFamily="18" charset="0"/>
                    <a:cs typeface="Times New Roman" panose="02020603050405020304" pitchFamily="18" charset="0"/>
                  </a:rPr>
                  <a:t>When the two independent population distributions are </a:t>
                </a:r>
                <a:r>
                  <a:rPr lang="en-IN" sz="2500" dirty="0">
                    <a:solidFill>
                      <a:srgbClr val="00B050"/>
                    </a:solidFill>
                    <a:latin typeface="Times New Roman" panose="02020603050405020304" pitchFamily="18" charset="0"/>
                    <a:cs typeface="Times New Roman" panose="02020603050405020304" pitchFamily="18" charset="0"/>
                  </a:rPr>
                  <a:t>not normal</a:t>
                </a:r>
                <a:r>
                  <a:rPr lang="en-IN" sz="2500" dirty="0">
                    <a:latin typeface="Times New Roman" panose="02020603050405020304" pitchFamily="18" charset="0"/>
                    <a:cs typeface="Times New Roman" panose="02020603050405020304" pitchFamily="18" charset="0"/>
                  </a:rPr>
                  <a:t> and the </a:t>
                </a:r>
                <a:r>
                  <a:rPr lang="en-IN" sz="25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are known</a:t>
                </a:r>
                <a:r>
                  <a:rPr lang="en-IN" sz="2500" dirty="0">
                    <a:latin typeface="Times New Roman" panose="02020603050405020304" pitchFamily="18" charset="0"/>
                    <a:cs typeface="Times New Roman" panose="02020603050405020304" pitchFamily="18" charset="0"/>
                  </a:rPr>
                  <a:t>, and the sample size </a:t>
                </a:r>
                <a14:m>
                  <m:oMath xmlns:m="http://schemas.openxmlformats.org/officeDocument/2006/math">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cs typeface="Times New Roman" panose="02020603050405020304" pitchFamily="18" charset="0"/>
                          </a:rPr>
                          <m:t>𝑛</m:t>
                        </m:r>
                      </m:e>
                      <m:sub>
                        <m:r>
                          <a:rPr lang="en-GB" sz="2500" i="1">
                            <a:latin typeface="Cambria Math" panose="02040503050406030204" pitchFamily="18" charset="0"/>
                            <a:cs typeface="Times New Roman" panose="02020603050405020304" pitchFamily="18" charset="0"/>
                          </a:rPr>
                          <m:t>1</m:t>
                        </m:r>
                      </m:sub>
                    </m:sSub>
                  </m:oMath>
                </a14:m>
                <a:r>
                  <a:rPr lang="en-IN" sz="25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cs typeface="Times New Roman" panose="02020603050405020304" pitchFamily="18" charset="0"/>
                          </a:rPr>
                          <m:t>𝑛</m:t>
                        </m:r>
                      </m:e>
                      <m:sub>
                        <m:r>
                          <a:rPr lang="en-US" sz="2500" i="1">
                            <a:latin typeface="Cambria Math" panose="02040503050406030204" pitchFamily="18" charset="0"/>
                            <a:cs typeface="Times New Roman" panose="02020603050405020304" pitchFamily="18" charset="0"/>
                          </a:rPr>
                          <m:t>2</m:t>
                        </m:r>
                      </m:sub>
                    </m:sSub>
                  </m:oMath>
                </a14:m>
                <a:r>
                  <a:rPr lang="en-IN" sz="2500" dirty="0">
                    <a:latin typeface="Times New Roman" panose="02020603050405020304" pitchFamily="18" charset="0"/>
                    <a:cs typeface="Times New Roman" panose="02020603050405020304" pitchFamily="18" charset="0"/>
                  </a:rPr>
                  <a:t> are large, the test statistic is</a:t>
                </a:r>
              </a:p>
              <a:p>
                <a:pPr marL="0" indent="0" algn="just">
                  <a:buNone/>
                </a:pPr>
                <a14:m>
                  <m:oMathPara xmlns:m="http://schemas.openxmlformats.org/officeDocument/2006/math">
                    <m:oMathParaPr>
                      <m:jc m:val="centerGroup"/>
                    </m:oMathParaPr>
                    <m:oMath xmlns:m="http://schemas.openxmlformats.org/officeDocument/2006/math">
                      <m:r>
                        <a:rPr lang="en-US" sz="2500" i="1">
                          <a:solidFill>
                            <a:srgbClr val="0070C0"/>
                          </a:solidFill>
                          <a:latin typeface="Cambria Math" panose="02040503050406030204" pitchFamily="18" charset="0"/>
                        </a:rPr>
                        <m:t>𝑍</m:t>
                      </m:r>
                      <m:r>
                        <a:rPr lang="en-US" sz="2500" i="1">
                          <a:solidFill>
                            <a:srgbClr val="0070C0"/>
                          </a:solidFill>
                          <a:latin typeface="Cambria Math" panose="02040503050406030204" pitchFamily="18" charset="0"/>
                        </a:rPr>
                        <m:t>= </m:t>
                      </m:r>
                      <m:f>
                        <m:fPr>
                          <m:ctrlPr>
                            <a:rPr lang="en-US" sz="2500" i="1">
                              <a:solidFill>
                                <a:srgbClr val="0070C0"/>
                              </a:solidFill>
                              <a:latin typeface="Cambria Math" panose="02040503050406030204" pitchFamily="18" charset="0"/>
                            </a:rPr>
                          </m:ctrlPr>
                        </m:fPr>
                        <m:num>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US"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1</m:t>
                              </m:r>
                            </m:sub>
                          </m:sSub>
                          <m:r>
                            <a:rPr lang="en-GB" sz="2500" i="1">
                              <a:solidFill>
                                <a:srgbClr val="0070C0"/>
                              </a:solidFill>
                              <a:latin typeface="Cambria Math" panose="02040503050406030204" pitchFamily="18" charset="0"/>
                              <a:cs typeface="Times New Roman" panose="02020603050405020304" pitchFamily="18" charset="0"/>
                            </a:rPr>
                            <m:t>−</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m:t>
                          </m:r>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den>
                      </m:f>
                    </m:oMath>
                  </m:oMathPara>
                </a14:m>
                <a:endParaRPr lang="en-US" sz="2500" dirty="0"/>
              </a:p>
              <a:p>
                <a:pPr marL="0" indent="0" algn="just">
                  <a:buNone/>
                </a:pPr>
                <a:endParaRPr lang="en-US" sz="25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1356" y="764704"/>
                <a:ext cx="7713132" cy="4525963"/>
              </a:xfrm>
              <a:blipFill>
                <a:blip r:embed="rId2"/>
                <a:stretch>
                  <a:fillRect l="-1264" t="-1077" r="-1264"/>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27</a:t>
            </a:fld>
            <a:endParaRPr lang="en-US" altLang="zh-CN"/>
          </a:p>
        </p:txBody>
      </p:sp>
      <p:sp>
        <p:nvSpPr>
          <p:cNvPr id="2" name="Date Placeholder 1"/>
          <p:cNvSpPr>
            <a:spLocks noGrp="1"/>
          </p:cNvSpPr>
          <p:nvPr>
            <p:ph type="dt" sz="half" idx="10"/>
          </p:nvPr>
        </p:nvSpPr>
        <p:spPr/>
        <p:txBody>
          <a:bodyPr/>
          <a:lstStyle/>
          <a:p>
            <a:pPr>
              <a:defRPr/>
            </a:pPr>
            <a:fld id="{D229193E-2495-493F-BC47-F015619EC1D6}"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66494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1437" y="620688"/>
                <a:ext cx="7499176" cy="4525963"/>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5: </a:t>
                </a:r>
              </a:p>
              <a:p>
                <a:pPr marL="0" indent="0" algn="just">
                  <a:buNone/>
                </a:pPr>
                <a:r>
                  <a:rPr lang="en-IN" sz="2500" dirty="0">
                    <a:latin typeface="Times New Roman" panose="02020603050405020304" pitchFamily="18" charset="0"/>
                    <a:cs typeface="Times New Roman" panose="02020603050405020304" pitchFamily="18" charset="0"/>
                  </a:rPr>
                  <a:t>When the two independent population distributions are </a:t>
                </a:r>
                <a:r>
                  <a:rPr lang="en-IN" sz="2500" dirty="0">
                    <a:solidFill>
                      <a:srgbClr val="00B050"/>
                    </a:solidFill>
                    <a:latin typeface="Times New Roman" panose="02020603050405020304" pitchFamily="18" charset="0"/>
                    <a:cs typeface="Times New Roman" panose="02020603050405020304" pitchFamily="18" charset="0"/>
                  </a:rPr>
                  <a:t>not normal</a:t>
                </a:r>
                <a:r>
                  <a:rPr lang="en-IN" sz="2500" dirty="0">
                    <a:latin typeface="Times New Roman" panose="02020603050405020304" pitchFamily="18" charset="0"/>
                    <a:cs typeface="Times New Roman" panose="02020603050405020304" pitchFamily="18" charset="0"/>
                  </a:rPr>
                  <a:t> and the </a:t>
                </a:r>
                <a:r>
                  <a:rPr lang="en-IN" sz="2500" dirty="0">
                    <a:solidFill>
                      <a:srgbClr val="00B050"/>
                    </a:solidFill>
                    <a:latin typeface="Times New Roman" panose="02020603050405020304" pitchFamily="18" charset="0"/>
                    <a:cs typeface="Times New Roman" panose="02020603050405020304" pitchFamily="18" charset="0"/>
                  </a:rPr>
                  <a:t>population variances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are unknown</a:t>
                </a:r>
                <a:r>
                  <a:rPr lang="en-IN" sz="2500" dirty="0">
                    <a:latin typeface="Times New Roman" panose="02020603050405020304" pitchFamily="18" charset="0"/>
                    <a:cs typeface="Times New Roman" panose="02020603050405020304" pitchFamily="18" charset="0"/>
                  </a:rPr>
                  <a:t>, and the sample size </a:t>
                </a:r>
                <a14:m>
                  <m:oMath xmlns:m="http://schemas.openxmlformats.org/officeDocument/2006/math">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cs typeface="Times New Roman" panose="02020603050405020304" pitchFamily="18" charset="0"/>
                          </a:rPr>
                          <m:t>𝑛</m:t>
                        </m:r>
                      </m:e>
                      <m:sub>
                        <m:r>
                          <a:rPr lang="en-GB" sz="2500" i="1">
                            <a:latin typeface="Cambria Math" panose="02040503050406030204" pitchFamily="18" charset="0"/>
                            <a:cs typeface="Times New Roman" panose="02020603050405020304" pitchFamily="18" charset="0"/>
                          </a:rPr>
                          <m:t>1</m:t>
                        </m:r>
                      </m:sub>
                    </m:sSub>
                  </m:oMath>
                </a14:m>
                <a:r>
                  <a:rPr lang="en-IN" sz="25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cs typeface="Times New Roman" panose="02020603050405020304" pitchFamily="18" charset="0"/>
                          </a:rPr>
                          <m:t>𝑛</m:t>
                        </m:r>
                      </m:e>
                      <m:sub>
                        <m:r>
                          <a:rPr lang="en-US" sz="2500" i="1">
                            <a:latin typeface="Cambria Math" panose="02040503050406030204" pitchFamily="18" charset="0"/>
                            <a:cs typeface="Times New Roman" panose="02020603050405020304" pitchFamily="18" charset="0"/>
                          </a:rPr>
                          <m:t>2</m:t>
                        </m:r>
                      </m:sub>
                    </m:sSub>
                  </m:oMath>
                </a14:m>
                <a:r>
                  <a:rPr lang="en-IN" sz="2500" dirty="0">
                    <a:latin typeface="Times New Roman" panose="02020603050405020304" pitchFamily="18" charset="0"/>
                    <a:cs typeface="Times New Roman" panose="02020603050405020304" pitchFamily="18" charset="0"/>
                  </a:rPr>
                  <a:t> are large, the test statistic is</a:t>
                </a:r>
              </a:p>
              <a:p>
                <a:pPr marL="0" indent="0" algn="just">
                  <a:buNone/>
                </a:pPr>
                <a14:m>
                  <m:oMathPara xmlns:m="http://schemas.openxmlformats.org/officeDocument/2006/math">
                    <m:oMathParaPr>
                      <m:jc m:val="centerGroup"/>
                    </m:oMathParaPr>
                    <m:oMath xmlns:m="http://schemas.openxmlformats.org/officeDocument/2006/math">
                      <m:r>
                        <a:rPr lang="en-US" sz="2500" i="1">
                          <a:solidFill>
                            <a:srgbClr val="0070C0"/>
                          </a:solidFill>
                          <a:latin typeface="Cambria Math" panose="02040503050406030204" pitchFamily="18" charset="0"/>
                        </a:rPr>
                        <m:t>𝑍</m:t>
                      </m:r>
                      <m:r>
                        <a:rPr lang="en-US" sz="2500" i="1">
                          <a:solidFill>
                            <a:srgbClr val="0070C0"/>
                          </a:solidFill>
                          <a:latin typeface="Cambria Math" panose="02040503050406030204" pitchFamily="18" charset="0"/>
                        </a:rPr>
                        <m:t>= </m:t>
                      </m:r>
                      <m:f>
                        <m:fPr>
                          <m:ctrlPr>
                            <a:rPr lang="en-US" sz="2500" i="1">
                              <a:solidFill>
                                <a:srgbClr val="0070C0"/>
                              </a:solidFill>
                              <a:latin typeface="Cambria Math" panose="02040503050406030204" pitchFamily="18" charset="0"/>
                            </a:rPr>
                          </m:ctrlPr>
                        </m:fPr>
                        <m:num>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𝑋</m:t>
                              </m:r>
                            </m:e>
                          </m:acc>
                          <m:r>
                            <a:rPr lang="en-GB" sz="2500" i="1">
                              <a:solidFill>
                                <a:srgbClr val="0070C0"/>
                              </a:solidFill>
                              <a:latin typeface="Cambria Math" panose="02040503050406030204" pitchFamily="18" charset="0"/>
                              <a:cs typeface="Times New Roman" panose="02020603050405020304" pitchFamily="18" charset="0"/>
                            </a:rPr>
                            <m:t> − </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𝑌</m:t>
                              </m:r>
                            </m:e>
                          </m:acc>
                          <m:r>
                            <a:rPr lang="en-US"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1</m:t>
                              </m:r>
                            </m:sub>
                          </m:sSub>
                          <m:r>
                            <a:rPr lang="en-GB" sz="2500" i="1">
                              <a:solidFill>
                                <a:srgbClr val="0070C0"/>
                              </a:solidFill>
                              <a:latin typeface="Cambria Math" panose="02040503050406030204" pitchFamily="18" charset="0"/>
                              <a:cs typeface="Times New Roman" panose="02020603050405020304" pitchFamily="18" charset="0"/>
                            </a:rPr>
                            <m:t>−</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solidFill>
                                    <a:srgbClr val="0070C0"/>
                                  </a:solidFill>
                                  <a:latin typeface="Cambria Math" panose="02040503050406030204" pitchFamily="18" charset="0"/>
                                  <a:cs typeface="Times New Roman" panose="02020603050405020304" pitchFamily="18" charset="0"/>
                                </a:rPr>
                                <m:t>2</m:t>
                              </m:r>
                            </m:sub>
                          </m:sSub>
                          <m:r>
                            <a:rPr lang="en-US" sz="2500" i="1">
                              <a:solidFill>
                                <a:srgbClr val="0070C0"/>
                              </a:solidFill>
                              <a:latin typeface="Cambria Math" panose="02040503050406030204" pitchFamily="18" charset="0"/>
                              <a:cs typeface="Times New Roman" panose="02020603050405020304" pitchFamily="18" charset="0"/>
                            </a:rPr>
                            <m:t>)</m:t>
                          </m:r>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1</m:t>
                                      </m:r>
                                    </m:sub>
                                  </m:sSub>
                                </m:den>
                              </m:f>
                              <m:r>
                                <a:rPr lang="en-GB" sz="2500" i="1">
                                  <a:solidFill>
                                    <a:srgbClr val="0070C0"/>
                                  </a:solidFill>
                                  <a:latin typeface="Cambria Math" panose="02040503050406030204" pitchFamily="18" charset="0"/>
                                  <a:cs typeface="Times New Roman" panose="02020603050405020304" pitchFamily="18" charset="0"/>
                                </a:rPr>
                                <m:t>+ </m:t>
                              </m:r>
                              <m:f>
                                <m:fPr>
                                  <m:ctrlPr>
                                    <a:rPr lang="en-GB" sz="2500" i="1">
                                      <a:solidFill>
                                        <a:srgbClr val="0070C0"/>
                                      </a:solidFill>
                                      <a:latin typeface="Cambria Math" panose="02040503050406030204" pitchFamily="18" charset="0"/>
                                      <a:cs typeface="Times New Roman" panose="02020603050405020304" pitchFamily="18" charset="0"/>
                                    </a:rPr>
                                  </m:ctrlPr>
                                </m:fPr>
                                <m:num>
                                  <m:sSubSup>
                                    <m:sSubSupPr>
                                      <m:ctrlPr>
                                        <a:rPr lang="en-GB" sz="2500" i="1">
                                          <a:solidFill>
                                            <a:srgbClr val="0070C0"/>
                                          </a:solidFill>
                                          <a:latin typeface="Cambria Math" panose="02040503050406030204" pitchFamily="18" charset="0"/>
                                          <a:cs typeface="Times New Roman" panose="02020603050405020304" pitchFamily="18" charset="0"/>
                                        </a:rPr>
                                      </m:ctrlPr>
                                    </m:sSubSupPr>
                                    <m:e>
                                      <m:r>
                                        <a:rPr lang="en-US"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𝑠</m:t>
                                      </m:r>
                                    </m:e>
                                    <m:sub>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2 </m:t>
                                      </m:r>
                                    </m:sub>
                                    <m:sup>
                                      <m:r>
                                        <a:rPr lang="en-GB" sz="2500" i="1">
                                          <a:solidFill>
                                            <a:srgbClr val="0070C0"/>
                                          </a:solidFill>
                                          <a:latin typeface="Cambria Math" panose="02040503050406030204" pitchFamily="18" charset="0"/>
                                          <a:cs typeface="Times New Roman" panose="02020603050405020304" pitchFamily="18" charset="0"/>
                                        </a:rPr>
                                        <m:t>2</m:t>
                                      </m:r>
                                    </m:sup>
                                  </m:sSubSup>
                                </m:num>
                                <m:den>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𝑛</m:t>
                                      </m:r>
                                    </m:e>
                                    <m:sub>
                                      <m:r>
                                        <a:rPr lang="en-GB" sz="2500" i="1">
                                          <a:solidFill>
                                            <a:srgbClr val="0070C0"/>
                                          </a:solidFill>
                                          <a:latin typeface="Cambria Math" panose="02040503050406030204" pitchFamily="18" charset="0"/>
                                          <a:cs typeface="Times New Roman" panose="02020603050405020304" pitchFamily="18" charset="0"/>
                                        </a:rPr>
                                        <m:t>2</m:t>
                                      </m:r>
                                    </m:sub>
                                  </m:sSub>
                                </m:den>
                              </m:f>
                            </m:e>
                          </m:rad>
                        </m:den>
                      </m:f>
                    </m:oMath>
                  </m:oMathPara>
                </a14:m>
                <a:endParaRPr lang="en-US" sz="2500" dirty="0"/>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1437" y="620688"/>
                <a:ext cx="7499176" cy="4525963"/>
              </a:xfrm>
              <a:blipFill>
                <a:blip r:embed="rId2"/>
                <a:stretch>
                  <a:fillRect l="-1301" t="-1213" r="-1382"/>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28</a:t>
            </a:fld>
            <a:endParaRPr lang="en-US" altLang="zh-CN"/>
          </a:p>
        </p:txBody>
      </p:sp>
      <p:sp>
        <p:nvSpPr>
          <p:cNvPr id="2" name="Date Placeholder 1"/>
          <p:cNvSpPr>
            <a:spLocks noGrp="1"/>
          </p:cNvSpPr>
          <p:nvPr>
            <p:ph type="dt" sz="half" idx="10"/>
          </p:nvPr>
        </p:nvSpPr>
        <p:spPr/>
        <p:txBody>
          <a:bodyPr/>
          <a:lstStyle/>
          <a:p>
            <a:pPr>
              <a:defRPr/>
            </a:pPr>
            <a:fld id="{948C949A-6C84-4D4B-B81A-C540D261B2FB}"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35501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187624" y="620688"/>
                <a:ext cx="7427168" cy="4525963"/>
              </a:xfrm>
            </p:spPr>
            <p:txBody>
              <a:bodyPr/>
              <a:lstStyle/>
              <a:p>
                <a:pPr marL="0" indent="0" algn="just">
                  <a:buNone/>
                </a:pPr>
                <a:r>
                  <a:rPr lang="en-US" dirty="0">
                    <a:solidFill>
                      <a:srgbClr val="FF0000"/>
                    </a:solidFill>
                    <a:latin typeface="Times New Roman" panose="02020603050405020304" pitchFamily="18" charset="0"/>
                    <a:cs typeface="Times New Roman" panose="02020603050405020304" pitchFamily="18" charset="0"/>
                  </a:rPr>
                  <a:t>Note that </a:t>
                </a:r>
                <a14:m>
                  <m:oMath xmlns:m="http://schemas.openxmlformats.org/officeDocument/2006/math">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B050"/>
                            </a:solidFill>
                            <a:latin typeface="Cambria Math" panose="02040503050406030204" pitchFamily="18" charset="0"/>
                            <a:cs typeface="Times New Roman" panose="02020603050405020304" pitchFamily="18" charset="0"/>
                          </a:rPr>
                          <m:t>1</m:t>
                        </m:r>
                      </m:sub>
                    </m:sSub>
                    <m:r>
                      <a:rPr lang="en-GB" i="1">
                        <a:solidFill>
                          <a:srgbClr val="00B050"/>
                        </a:solidFill>
                        <a:latin typeface="Cambria Math" panose="02040503050406030204" pitchFamily="18" charset="0"/>
                        <a:cs typeface="Times New Roman" panose="02020603050405020304" pitchFamily="18" charset="0"/>
                      </a:rPr>
                      <m:t>−</m:t>
                    </m:r>
                    <m:sSub>
                      <m:sSubPr>
                        <m:ctrlPr>
                          <a:rPr lang="en-GB" i="1">
                            <a:solidFill>
                              <a:srgbClr val="00B050"/>
                            </a:solidFill>
                            <a:latin typeface="Cambria Math" panose="02040503050406030204" pitchFamily="18" charset="0"/>
                            <a:cs typeface="Times New Roman" panose="02020603050405020304" pitchFamily="18" charset="0"/>
                          </a:rPr>
                        </m:ctrlPr>
                      </m:sSub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B050"/>
                            </a:solidFill>
                            <a:latin typeface="Cambria Math" panose="02040503050406030204" pitchFamily="18" charset="0"/>
                            <a:cs typeface="Times New Roman" panose="02020603050405020304" pitchFamily="18" charset="0"/>
                          </a:rPr>
                          <m:t>2</m:t>
                        </m:r>
                      </m:sub>
                    </m:sSub>
                    <m:r>
                      <a:rPr lang="en-US" b="0" i="1" smtClean="0">
                        <a:solidFill>
                          <a:srgbClr val="00B050"/>
                        </a:solidFill>
                        <a:latin typeface="Cambria Math" panose="02040503050406030204" pitchFamily="18" charset="0"/>
                        <a:cs typeface="Times New Roman" panose="02020603050405020304" pitchFamily="18" charset="0"/>
                      </a:rPr>
                      <m:t>=0</m:t>
                    </m:r>
                  </m:oMath>
                </a14:m>
                <a:r>
                  <a:rPr lang="en-US" dirty="0">
                    <a:latin typeface="Times New Roman" panose="02020603050405020304" pitchFamily="18" charset="0"/>
                    <a:cs typeface="Times New Roman" panose="02020603050405020304" pitchFamily="18" charset="0"/>
                  </a:rPr>
                  <a:t> for all three cases above. But in general it is not necessarily zero as if we want to test that one mean is at least an amount higher than the other then </a:t>
                </a:r>
                <a14:m>
                  <m:oMath xmlns:m="http://schemas.openxmlformats.org/officeDocument/2006/math">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is that least amount, and so 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187624" y="620688"/>
                <a:ext cx="7427168" cy="4525963"/>
              </a:xfrm>
              <a:blipFill>
                <a:blip r:embed="rId2"/>
                <a:stretch>
                  <a:fillRect l="-2135" t="-1887" r="-205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29</a:t>
            </a:fld>
            <a:endParaRPr lang="en-US" altLang="zh-CN"/>
          </a:p>
        </p:txBody>
      </p:sp>
      <p:sp>
        <p:nvSpPr>
          <p:cNvPr id="2" name="Date Placeholder 1"/>
          <p:cNvSpPr>
            <a:spLocks noGrp="1"/>
          </p:cNvSpPr>
          <p:nvPr>
            <p:ph type="dt" sz="half" idx="10"/>
          </p:nvPr>
        </p:nvSpPr>
        <p:spPr/>
        <p:txBody>
          <a:bodyPr/>
          <a:lstStyle/>
          <a:p>
            <a:pPr>
              <a:defRPr/>
            </a:pPr>
            <a:fld id="{F54B47D9-C2DF-42FF-BCB5-9D069E4F2BB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365309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4308" y="221580"/>
            <a:ext cx="7283152" cy="1143000"/>
          </a:xfrm>
        </p:spPr>
        <p:txBody>
          <a:bodyPr/>
          <a:lstStyle/>
          <a:p>
            <a:pPr algn="l"/>
            <a:r>
              <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5:</a:t>
            </a:r>
            <a:endParaRPr lang="en-US"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59632" y="1397520"/>
            <a:ext cx="7632848" cy="4267200"/>
          </a:xfrm>
        </p:spPr>
        <p:txBody>
          <a:bodyPr/>
          <a:lstStyle/>
          <a:p>
            <a:pPr marL="0" indent="0" algn="just">
              <a:buNone/>
            </a:pPr>
            <a:r>
              <a:rPr lang="en-US" sz="2500" dirty="0">
                <a:latin typeface="Times New Roman" panose="02020603050405020304" pitchFamily="18" charset="0"/>
                <a:cs typeface="Times New Roman" panose="02020603050405020304" pitchFamily="18" charset="0"/>
              </a:rPr>
              <a:t>Two different types of drugs ‘A’ and ‘B’ are tried on certain patients for increasing weight. Five randomly selected patients were given drug ‘A’ and 7 randomly selected patients were given drug ‘B’. The increases in weight (in pounds) are given below:</a:t>
            </a:r>
          </a:p>
          <a:p>
            <a:pPr marL="0" indent="0" algn="just">
              <a:buNone/>
            </a:pPr>
            <a:r>
              <a:rPr lang="en-US" sz="2500" dirty="0">
                <a:latin typeface="Times New Roman" panose="02020603050405020304" pitchFamily="18" charset="0"/>
                <a:cs typeface="Times New Roman" panose="02020603050405020304" pitchFamily="18" charset="0"/>
              </a:rPr>
              <a:t>		Drug ‘A’: 8 12 13 9 3</a:t>
            </a:r>
          </a:p>
          <a:p>
            <a:pPr marL="0" indent="0" algn="just">
              <a:buNone/>
            </a:pPr>
            <a:r>
              <a:rPr lang="en-US" sz="2500" dirty="0">
                <a:latin typeface="Times New Roman" panose="02020603050405020304" pitchFamily="18" charset="0"/>
                <a:cs typeface="Times New Roman" panose="02020603050405020304" pitchFamily="18" charset="0"/>
              </a:rPr>
              <a:t>		Drug ‘B’: 10 8 12 15 6 8 11</a:t>
            </a:r>
          </a:p>
          <a:p>
            <a:pPr marL="0" indent="0" algn="just">
              <a:buNone/>
            </a:pPr>
            <a:r>
              <a:rPr lang="en-US" sz="2500" dirty="0">
                <a:latin typeface="Times New Roman" panose="02020603050405020304" pitchFamily="18" charset="0"/>
                <a:cs typeface="Times New Roman" panose="02020603050405020304" pitchFamily="18" charset="0"/>
              </a:rPr>
              <a:t>Assume that the population distributions of the measurements are normal with equal variances. Do the two drugs differ significantly with regard to their effect in increasing weight? Use 0.05 significance level.</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30</a:t>
            </a:fld>
            <a:endParaRPr lang="en-US" altLang="zh-CN"/>
          </a:p>
        </p:txBody>
      </p:sp>
      <p:pic>
        <p:nvPicPr>
          <p:cNvPr id="1028" name="Picture 4" descr="http://img.medscape.com/news/2014/dt_140915_pills_hand_two_800x600.jpg"/>
          <p:cNvPicPr>
            <a:picLocks noChangeAspect="1" noChangeArrowheads="1"/>
          </p:cNvPicPr>
          <p:nvPr/>
        </p:nvPicPr>
        <p:blipFill rotWithShape="1">
          <a:blip r:embed="rId2">
            <a:extLst>
              <a:ext uri="{28A0092B-C50C-407E-A947-70E740481C1C}">
                <a14:useLocalDpi xmlns:a14="http://schemas.microsoft.com/office/drawing/2010/main" val="0"/>
              </a:ext>
            </a:extLst>
          </a:blip>
          <a:srcRect l="52288" t="17281" r="7078" b="42400"/>
          <a:stretch/>
        </p:blipFill>
        <p:spPr bwMode="auto">
          <a:xfrm>
            <a:off x="6714095" y="188640"/>
            <a:ext cx="1798240" cy="13382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pPr>
              <a:defRPr/>
            </a:pPr>
            <a:fld id="{D87E5CCC-8D08-4D4F-8B05-5A62075AE840}"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1300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866" y="215900"/>
            <a:ext cx="5562600" cy="11430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6: </a:t>
            </a:r>
          </a:p>
        </p:txBody>
      </p:sp>
      <p:sp>
        <p:nvSpPr>
          <p:cNvPr id="3" name="Content Placeholder 2"/>
          <p:cNvSpPr>
            <a:spLocks noGrp="1"/>
          </p:cNvSpPr>
          <p:nvPr>
            <p:ph idx="1"/>
          </p:nvPr>
        </p:nvSpPr>
        <p:spPr>
          <a:xfrm>
            <a:off x="1115616" y="1474214"/>
            <a:ext cx="7571184" cy="4525963"/>
          </a:xfrm>
        </p:spPr>
        <p:txBody>
          <a:bodyPr/>
          <a:lstStyle/>
          <a:p>
            <a:pPr marL="0" indent="0" algn="just">
              <a:buNone/>
            </a:pPr>
            <a:r>
              <a:rPr lang="en-US" sz="2500" dirty="0">
                <a:latin typeface="Times New Roman" panose="02020603050405020304" pitchFamily="18" charset="0"/>
                <a:cs typeface="Times New Roman" panose="02020603050405020304" pitchFamily="18" charset="0"/>
              </a:rPr>
              <a:t>To test effect of a fertilizer on rice production, 64 plots of land having equal areas were chosen. Half of these plots were treated with fertilizer and the other half were untreated. Other conditions were the same. The mean yield of rice on the untreated plots was 4.8 quintals with a standard deviation of 0.4 quintal, while the mean yield on the treated plots was 5.1 quintals with a standard deviation of 0.36 quintal. Can we conclude that there is a significant improvement in rice production because of the fertilizer at 4% level of significance?</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31</a:t>
            </a:fld>
            <a:endParaRPr lang="en-US" altLang="zh-CN"/>
          </a:p>
        </p:txBody>
      </p:sp>
      <p:pic>
        <p:nvPicPr>
          <p:cNvPr id="5" name="Picture 4"/>
          <p:cNvPicPr>
            <a:picLocks noChangeAspect="1"/>
          </p:cNvPicPr>
          <p:nvPr/>
        </p:nvPicPr>
        <p:blipFill>
          <a:blip r:embed="rId2"/>
          <a:stretch>
            <a:fillRect/>
          </a:stretch>
        </p:blipFill>
        <p:spPr>
          <a:xfrm>
            <a:off x="6280804" y="53975"/>
            <a:ext cx="2247900" cy="1466850"/>
          </a:xfrm>
          <a:prstGeom prst="rect">
            <a:avLst/>
          </a:prstGeom>
          <a:ln>
            <a:noFill/>
          </a:ln>
          <a:effectLst>
            <a:softEdge rad="112500"/>
          </a:effectLst>
        </p:spPr>
      </p:pic>
      <p:sp>
        <p:nvSpPr>
          <p:cNvPr id="6" name="Date Placeholder 5"/>
          <p:cNvSpPr>
            <a:spLocks noGrp="1"/>
          </p:cNvSpPr>
          <p:nvPr>
            <p:ph type="dt" sz="half" idx="10"/>
          </p:nvPr>
        </p:nvSpPr>
        <p:spPr/>
        <p:txBody>
          <a:bodyPr/>
          <a:lstStyle/>
          <a:p>
            <a:pPr>
              <a:defRPr/>
            </a:pPr>
            <a:fld id="{F235717E-C459-4466-8A6C-A95E80043F39}" type="datetime1">
              <a:rPr lang="en-US" altLang="zh-CN" smtClean="0"/>
              <a:t>7/17/2025</a:t>
            </a:fld>
            <a:endParaRPr lang="en-US" altLang="zh-CN"/>
          </a:p>
        </p:txBody>
      </p:sp>
      <p:sp>
        <p:nvSpPr>
          <p:cNvPr id="7" name="Footer Placeholder 6"/>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671431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0650" y="1600202"/>
            <a:ext cx="7296150" cy="452596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An urban economist wanted to determine whether the mean price of a home in Lemont is less than the mean price of a home in Naperville. A random sample of homes sold in each neighborhood results in the following statistics, where the means and standard deviations are in thousands of dollars: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Test the claim that housing is less expensive in Lemont than in Naperville at the 5% level of significance.</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32</a:t>
            </a:fld>
            <a:endParaRPr lang="en-US" altLang="zh-CN"/>
          </a:p>
        </p:txBody>
      </p:sp>
      <p:sp>
        <p:nvSpPr>
          <p:cNvPr id="5" name="Title 1"/>
          <p:cNvSpPr>
            <a:spLocks noGrp="1"/>
          </p:cNvSpPr>
          <p:nvPr>
            <p:ph type="title"/>
          </p:nvPr>
        </p:nvSpPr>
        <p:spPr>
          <a:xfrm>
            <a:off x="1259632" y="274638"/>
            <a:ext cx="7427168" cy="11430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 </a:t>
            </a:r>
          </a:p>
        </p:txBody>
      </p:sp>
      <p:graphicFrame>
        <p:nvGraphicFramePr>
          <p:cNvPr id="21" name="Object 20"/>
          <p:cNvGraphicFramePr>
            <a:graphicFrameLocks noChangeAspect="1"/>
          </p:cNvGraphicFramePr>
          <p:nvPr>
            <p:extLst>
              <p:ext uri="{D42A27DB-BD31-4B8C-83A1-F6EECF244321}">
                <p14:modId xmlns:p14="http://schemas.microsoft.com/office/powerpoint/2010/main" val="297355071"/>
              </p:ext>
            </p:extLst>
          </p:nvPr>
        </p:nvGraphicFramePr>
        <p:xfrm>
          <a:off x="904875" y="3375595"/>
          <a:ext cx="7296150" cy="4733925"/>
        </p:xfrm>
        <a:graphic>
          <a:graphicData uri="http://schemas.openxmlformats.org/presentationml/2006/ole">
            <mc:AlternateContent xmlns:mc="http://schemas.openxmlformats.org/markup-compatibility/2006">
              <mc:Choice xmlns:v="urn:schemas-microsoft-com:vml" Requires="v">
                <p:oleObj name="Document" r:id="rId2" imgW="5249170" imgH="3405122" progId="Word.Document.12">
                  <p:embed/>
                </p:oleObj>
              </mc:Choice>
              <mc:Fallback>
                <p:oleObj name="Document" r:id="rId2" imgW="5249170" imgH="3405122" progId="Word.Document.12">
                  <p:embed/>
                  <p:pic>
                    <p:nvPicPr>
                      <p:cNvPr id="21" name="Object 20"/>
                      <p:cNvPicPr/>
                      <p:nvPr/>
                    </p:nvPicPr>
                    <p:blipFill>
                      <a:blip r:embed="rId3"/>
                      <a:stretch>
                        <a:fillRect/>
                      </a:stretch>
                    </p:blipFill>
                    <p:spPr>
                      <a:xfrm>
                        <a:off x="904875" y="3375595"/>
                        <a:ext cx="7296150" cy="4733925"/>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p>
            <a:pPr>
              <a:defRPr/>
            </a:pPr>
            <a:fld id="{D16D1481-6E2F-44FE-AA6C-D94642085BBA}"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315073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5856" y="2924944"/>
            <a:ext cx="2895601" cy="13716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17-Jul-25</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33</a:t>
            </a:fld>
            <a:endParaRPr lang="en-US" altLang="en-US"/>
          </a:p>
        </p:txBody>
      </p:sp>
    </p:spTree>
    <p:extLst>
      <p:ext uri="{BB962C8B-B14F-4D97-AF65-F5344CB8AC3E}">
        <p14:creationId xmlns:p14="http://schemas.microsoft.com/office/powerpoint/2010/main" val="2764468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988840"/>
            <a:ext cx="8001000" cy="1216025"/>
          </a:xfrm>
        </p:spPr>
        <p:txBody>
          <a:bodyPr/>
          <a:lstStyle/>
          <a:p>
            <a:pPr algn="ctr"/>
            <a:r>
              <a:rPr lang="en-US" sz="5000" b="1" dirty="0">
                <a:solidFill>
                  <a:srgbClr val="C00000"/>
                </a:solidFill>
                <a:latin typeface="Times New Roman" panose="02020603050405020304" pitchFamily="18" charset="0"/>
                <a:cs typeface="Times New Roman" panose="02020603050405020304" pitchFamily="18" charset="0"/>
              </a:rPr>
              <a:t>Comparing Two Dependent or Matched Population Means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34</a:t>
            </a:fld>
            <a:endParaRPr lang="en-US" altLang="zh-CN"/>
          </a:p>
        </p:txBody>
      </p:sp>
      <p:sp>
        <p:nvSpPr>
          <p:cNvPr id="3" name="Date Placeholder 2"/>
          <p:cNvSpPr>
            <a:spLocks noGrp="1"/>
          </p:cNvSpPr>
          <p:nvPr>
            <p:ph type="dt" sz="half" idx="10"/>
          </p:nvPr>
        </p:nvSpPr>
        <p:spPr/>
        <p:txBody>
          <a:bodyPr/>
          <a:lstStyle/>
          <a:p>
            <a:pPr>
              <a:defRPr/>
            </a:pPr>
            <a:fld id="{7F3F7A6A-6270-4F14-8C11-21D0B34CE708}"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005184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5273" y="620688"/>
                <a:ext cx="7571184" cy="4525963"/>
              </a:xfrm>
            </p:spPr>
            <p:txBody>
              <a:bodyPr/>
              <a:lstStyle/>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d>
                      <m:dPr>
                        <m:ctrlPr>
                          <a:rPr lang="en-IN" i="1" smtClean="0">
                            <a:latin typeface="Cambria Math" panose="02040503050406030204" pitchFamily="18" charset="0"/>
                            <a:cs typeface="Times New Roman" panose="02020603050405020304" pitchFamily="18" charset="0"/>
                          </a:rPr>
                        </m:ctrlPr>
                      </m:dPr>
                      <m:e>
                        <m:sSub>
                          <m:sSubPr>
                            <m:ctrlPr>
                              <a:rPr lang="en-IN"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1</m:t>
                            </m:r>
                          </m:sub>
                        </m:sSub>
                        <m:r>
                          <a:rPr lang="en-GB" b="0" i="1" smtClean="0">
                            <a:latin typeface="Cambria Math" panose="02040503050406030204" pitchFamily="18" charset="0"/>
                            <a:cs typeface="Times New Roman" panose="02020603050405020304" pitchFamily="18" charset="0"/>
                          </a:rPr>
                          <m:t>,</m:t>
                        </m:r>
                        <m:sSub>
                          <m:sSubPr>
                            <m:ctrlPr>
                              <a:rPr lang="en-GB" b="0"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𝑌</m:t>
                            </m:r>
                          </m:e>
                          <m:sub>
                            <m:r>
                              <a:rPr lang="en-GB" b="0" i="1" smtClean="0">
                                <a:latin typeface="Cambria Math" panose="02040503050406030204" pitchFamily="18" charset="0"/>
                                <a:cs typeface="Times New Roman" panose="02020603050405020304" pitchFamily="18" charset="0"/>
                              </a:rPr>
                              <m:t>1</m:t>
                            </m:r>
                          </m:sub>
                        </m:sSub>
                      </m:e>
                    </m:d>
                    <m:r>
                      <a:rPr lang="en-GB" b="0" i="1" smtClean="0">
                        <a:latin typeface="Cambria Math" panose="02040503050406030204" pitchFamily="18" charset="0"/>
                        <a:cs typeface="Times New Roman" panose="02020603050405020304" pitchFamily="18" charset="0"/>
                      </a:rPr>
                      <m:t>,</m:t>
                    </m:r>
                    <m:d>
                      <m:dPr>
                        <m:ctrlPr>
                          <a:rPr lang="en-IN" i="1" smtClean="0">
                            <a:latin typeface="Cambria Math" panose="02040503050406030204" pitchFamily="18" charset="0"/>
                            <a:cs typeface="Times New Roman" panose="02020603050405020304" pitchFamily="18" charset="0"/>
                          </a:rPr>
                        </m:ctrlPr>
                      </m:dPr>
                      <m:e>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𝑌</m:t>
                            </m:r>
                          </m:e>
                          <m:sub>
                            <m:r>
                              <a:rPr lang="en-GB" b="0" i="1" smtClean="0">
                                <a:latin typeface="Cambria Math" panose="02040503050406030204" pitchFamily="18" charset="0"/>
                                <a:cs typeface="Times New Roman" panose="02020603050405020304" pitchFamily="18" charset="0"/>
                              </a:rPr>
                              <m:t>2</m:t>
                            </m:r>
                          </m:sub>
                        </m:sSub>
                      </m:e>
                    </m:d>
                  </m:oMath>
                </a14:m>
                <a:r>
                  <a:rPr lang="en-IN" dirty="0">
                    <a:latin typeface="Times New Roman" panose="02020603050405020304" pitchFamily="18" charset="0"/>
                    <a:cs typeface="Times New Roman" panose="02020603050405020304" pitchFamily="18" charset="0"/>
                  </a:rPr>
                  <a:t>,   . .   .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𝑛</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𝑌</m:t>
                            </m:r>
                          </m:e>
                          <m:sub>
                            <m:r>
                              <a:rPr lang="en-GB" b="0" i="1" smtClean="0">
                                <a:latin typeface="Cambria Math" panose="02040503050406030204" pitchFamily="18" charset="0"/>
                                <a:cs typeface="Times New Roman" panose="02020603050405020304" pitchFamily="18" charset="0"/>
                              </a:rPr>
                              <m:t>𝑛</m:t>
                            </m:r>
                          </m:sub>
                        </m:sSub>
                      </m:e>
                    </m:d>
                  </m:oMath>
                </a14:m>
                <a:r>
                  <a:rPr lang="en-IN" dirty="0">
                    <a:latin typeface="Times New Roman" panose="02020603050405020304" pitchFamily="18" charset="0"/>
                    <a:cs typeface="Times New Roman" panose="02020603050405020304" pitchFamily="18" charset="0"/>
                  </a:rPr>
                  <a:t> be pairs of random measurements from two dependent or matched populations. Such situations usually but not exclusively occur when measurements are taken on the same subjects before or after the experimentation. To consider all other factors same except the factor that measured by and , we combine the populations by finding the difference </a:t>
                </a:r>
                <a14:m>
                  <m:oMath xmlns:m="http://schemas.openxmlformats.org/officeDocument/2006/math">
                    <m:r>
                      <a:rPr lang="en-GB" b="0" i="1" smtClean="0">
                        <a:latin typeface="Cambria Math" panose="02040503050406030204" pitchFamily="18" charset="0"/>
                        <a:cs typeface="Times New Roman" panose="02020603050405020304" pitchFamily="18" charset="0"/>
                      </a:rPr>
                      <m:t>𝐷</m:t>
                    </m:r>
                    <m:r>
                      <a:rPr lang="en-GB" b="0" i="1" smtClean="0">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cs typeface="Times New Roman" panose="02020603050405020304" pitchFamily="18" charset="0"/>
                      </a:rPr>
                      <m:t>𝑋</m:t>
                    </m:r>
                    <m:r>
                      <a:rPr lang="en-GB" b="0" i="1" smtClean="0">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cs typeface="Times New Roman" panose="02020603050405020304" pitchFamily="18" charset="0"/>
                      </a:rPr>
                      <m:t>𝑌</m:t>
                    </m:r>
                  </m:oMath>
                </a14:m>
                <a:r>
                  <a:rPr lang="en-IN"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5273" y="620688"/>
                <a:ext cx="7571184" cy="4525963"/>
              </a:xfrm>
              <a:blipFill>
                <a:blip r:embed="rId2"/>
                <a:stretch>
                  <a:fillRect l="-2093" t="-1887" r="-2013" b="-1415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35</a:t>
            </a:fld>
            <a:endParaRPr lang="en-US" altLang="zh-CN"/>
          </a:p>
        </p:txBody>
      </p:sp>
      <p:sp>
        <p:nvSpPr>
          <p:cNvPr id="2" name="Date Placeholder 1"/>
          <p:cNvSpPr>
            <a:spLocks noGrp="1"/>
          </p:cNvSpPr>
          <p:nvPr>
            <p:ph type="dt" sz="half" idx="10"/>
          </p:nvPr>
        </p:nvSpPr>
        <p:spPr/>
        <p:txBody>
          <a:bodyPr/>
          <a:lstStyle/>
          <a:p>
            <a:pPr>
              <a:defRPr/>
            </a:pPr>
            <a:fld id="{07D8CF12-D5E3-4A2C-9DE4-9C92E07A4C2C}"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262541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93383" y="404664"/>
                <a:ext cx="7427168" cy="4525963"/>
              </a:xfrm>
            </p:spPr>
            <p:txBody>
              <a:bodyPr/>
              <a:lstStyle/>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GB" b="0" i="1" smtClean="0">
                            <a:latin typeface="Cambria Math" panose="02040503050406030204" pitchFamily="18" charset="0"/>
                            <a:cs typeface="Times New Roman" panose="02020603050405020304" pitchFamily="18" charset="0"/>
                          </a:rPr>
                          <m:t>𝐷</m:t>
                        </m:r>
                      </m:e>
                      <m:sub>
                        <m:r>
                          <a:rPr lang="en-GB" b="0" i="1" smtClean="0">
                            <a:latin typeface="Cambria Math" panose="02040503050406030204" pitchFamily="18" charset="0"/>
                            <a:cs typeface="Times New Roman" panose="02020603050405020304" pitchFamily="18" charset="0"/>
                          </a:rPr>
                          <m:t>1</m:t>
                        </m:r>
                      </m:sub>
                    </m:sSub>
                    <m:r>
                      <a:rPr lang="en-GB" b="0" i="1" smtClean="0">
                        <a:latin typeface="Cambria Math" panose="02040503050406030204" pitchFamily="18" charset="0"/>
                        <a:cs typeface="Times New Roman" panose="02020603050405020304" pitchFamily="18" charset="0"/>
                      </a:rPr>
                      <m:t>,</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𝐷</m:t>
                        </m:r>
                      </m:e>
                      <m:sub>
                        <m:r>
                          <a:rPr lang="en-GB" b="0" i="1" smtClean="0">
                            <a:latin typeface="Cambria Math" panose="02040503050406030204" pitchFamily="18" charset="0"/>
                            <a:cs typeface="Times New Roman" panose="02020603050405020304" pitchFamily="18" charset="0"/>
                          </a:rPr>
                          <m:t>2</m:t>
                        </m:r>
                      </m:sub>
                    </m:sSub>
                    <m:r>
                      <a:rPr lang="en-GB" b="0" i="1" smtClean="0">
                        <a:latin typeface="Cambria Math" panose="02040503050406030204" pitchFamily="18" charset="0"/>
                        <a:cs typeface="Times New Roman" panose="02020603050405020304" pitchFamily="18" charset="0"/>
                      </a:rPr>
                      <m:t>, .  .   .    .</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𝐷</m:t>
                        </m:r>
                      </m:e>
                      <m:sub>
                        <m:r>
                          <a:rPr lang="en-GB" b="0" i="1" smtClean="0">
                            <a:latin typeface="Cambria Math" panose="02040503050406030204" pitchFamily="18" charset="0"/>
                            <a:cs typeface="Times New Roman" panose="02020603050405020304" pitchFamily="18" charset="0"/>
                          </a:rPr>
                          <m:t>𝑛</m:t>
                        </m:r>
                        <m:r>
                          <a:rPr lang="en-GB" b="0" i="1" smtClean="0">
                            <a:latin typeface="Cambria Math" panose="02040503050406030204" pitchFamily="18" charset="0"/>
                            <a:cs typeface="Times New Roman" panose="02020603050405020304" pitchFamily="18" charset="0"/>
                          </a:rPr>
                          <m:t> </m:t>
                        </m:r>
                      </m:sub>
                    </m:sSub>
                  </m:oMath>
                </a14:m>
                <a:r>
                  <a:rPr lang="en-IN" dirty="0">
                    <a:latin typeface="Times New Roman" panose="02020603050405020304" pitchFamily="18" charset="0"/>
                    <a:cs typeface="Times New Roman" panose="02020603050405020304" pitchFamily="18" charset="0"/>
                  </a:rPr>
                  <a:t>be a random sample from a population with mean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latin typeface="Cambria Math" panose="02040503050406030204" pitchFamily="18" charset="0"/>
                            <a:cs typeface="Times New Roman" panose="02020603050405020304" pitchFamily="18" charset="0"/>
                          </a:rPr>
                          <m:t>𝐷</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GB" b="0" i="1" smtClean="0">
                            <a:latin typeface="Cambria Math" panose="02040503050406030204" pitchFamily="18" charset="0"/>
                            <a:cs typeface="Times New Roman" panose="02020603050405020304" pitchFamily="18" charset="0"/>
                          </a:rPr>
                          <m:t>𝐷</m:t>
                        </m:r>
                      </m:sub>
                      <m:sup>
                        <m:r>
                          <a:rPr lang="en-GB" b="0" i="1" smtClean="0">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 </a:t>
                </a:r>
              </a:p>
              <a:p>
                <a:pPr marL="0" indent="0" algn="just">
                  <a:buNone/>
                </a:pPr>
                <a:r>
                  <a:rPr lang="en-IN" dirty="0">
                    <a:latin typeface="Times New Roman" panose="02020603050405020304" pitchFamily="18" charset="0"/>
                    <a:cs typeface="Times New Roman" panose="02020603050405020304" pitchFamily="18" charset="0"/>
                  </a:rPr>
                  <a:t>The point estimate for the population mean difference is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the sample mean of the differences</a:t>
                </a:r>
              </a:p>
              <a:p>
                <a:pPr marL="0" indent="0" algn="ctr">
                  <a:buNone/>
                </a:pPr>
                <a:r>
                  <a:rPr lang="en-IN"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𝐷</m:t>
                        </m:r>
                      </m:e>
                    </m:acc>
                    <m:r>
                      <a:rPr lang="en-GB" b="0" i="1" smtClean="0">
                        <a:latin typeface="Cambria Math" panose="02040503050406030204" pitchFamily="18" charset="0"/>
                        <a:cs typeface="Times New Roman" panose="02020603050405020304" pitchFamily="18" charset="0"/>
                      </a:rPr>
                      <m:t>=</m:t>
                    </m:r>
                    <m:f>
                      <m:fPr>
                        <m:ctrlPr>
                          <a:rPr lang="en-GB" b="0" i="1" smtClean="0">
                            <a:latin typeface="Cambria Math" panose="02040503050406030204" pitchFamily="18" charset="0"/>
                            <a:cs typeface="Times New Roman" panose="02020603050405020304" pitchFamily="18" charset="0"/>
                          </a:rPr>
                        </m:ctrlPr>
                      </m:fPr>
                      <m:num>
                        <m:nary>
                          <m:naryPr>
                            <m:chr m:val="∑"/>
                            <m:subHide m:val="on"/>
                            <m:supHide m:val="on"/>
                            <m:ctrlPr>
                              <a:rPr lang="en-GB" i="1">
                                <a:latin typeface="Cambria Math" panose="02040503050406030204" pitchFamily="18" charset="0"/>
                                <a:cs typeface="Times New Roman" panose="02020603050405020304" pitchFamily="18" charset="0"/>
                              </a:rPr>
                            </m:ctrlPr>
                          </m:naryPr>
                          <m:sub/>
                          <m:sup/>
                          <m:e>
                            <m:r>
                              <a:rPr lang="en-GB" b="0" i="1" smtClean="0">
                                <a:latin typeface="Cambria Math" panose="02040503050406030204" pitchFamily="18" charset="0"/>
                                <a:cs typeface="Times New Roman" panose="02020603050405020304" pitchFamily="18" charset="0"/>
                              </a:rPr>
                              <m:t>𝐷</m:t>
                            </m:r>
                          </m:e>
                        </m:nary>
                      </m:num>
                      <m:den>
                        <m:r>
                          <a:rPr lang="en-GB" b="0" i="1" smtClean="0">
                            <a:latin typeface="Cambria Math" panose="02040503050406030204" pitchFamily="18" charset="0"/>
                            <a:cs typeface="Times New Roman" panose="02020603050405020304" pitchFamily="18" charset="0"/>
                          </a:rPr>
                          <m:t>𝑛</m:t>
                        </m:r>
                      </m:den>
                    </m:f>
                  </m:oMath>
                </a14:m>
                <a:r>
                  <a:rPr lang="en-IN" dirty="0">
                    <a:latin typeface="Times New Roman" panose="02020603050405020304" pitchFamily="18" charset="0"/>
                    <a:cs typeface="Times New Roman" panose="02020603050405020304" pitchFamily="18" charset="0"/>
                  </a:rPr>
                  <a:t> . </a:t>
                </a:r>
              </a:p>
              <a:p>
                <a:pPr marL="0" indent="0" algn="just">
                  <a:buNone/>
                </a:pPr>
                <a:r>
                  <a:rPr lang="en-IN" dirty="0">
                    <a:latin typeface="Times New Roman" panose="02020603050405020304" pitchFamily="18" charset="0"/>
                    <a:cs typeface="Times New Roman" panose="02020603050405020304" pitchFamily="18" charset="0"/>
                  </a:rPr>
                  <a:t>The mean of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𝐷</m:t>
                        </m:r>
                      </m:e>
                    </m:acc>
                  </m:oMath>
                </a14:m>
                <a:r>
                  <a:rPr lang="en-IN" dirty="0">
                    <a:latin typeface="Times New Roman" panose="02020603050405020304" pitchFamily="18" charset="0"/>
                    <a:cs typeface="Times New Roman" panose="02020603050405020304" pitchFamily="18" charset="0"/>
                  </a:rPr>
                  <a:t> is  </a:t>
                </a:r>
                <a:endParaRPr lang="en-NZ" b="0" i="0"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cs typeface="Times New Roman" panose="02020603050405020304" pitchFamily="18" charset="0"/>
                        </a:rPr>
                        <m:t>E</m:t>
                      </m:r>
                      <m:d>
                        <m:dPr>
                          <m:ctrlPr>
                            <a:rPr lang="en-GB" b="0" i="1" smtClean="0">
                              <a:latin typeface="Cambria Math" panose="02040503050406030204" pitchFamily="18" charset="0"/>
                              <a:cs typeface="Times New Roman" panose="02020603050405020304" pitchFamily="18" charset="0"/>
                            </a:rPr>
                          </m:ctrlPr>
                        </m:dPr>
                        <m:e>
                          <m:acc>
                            <m:accPr>
                              <m:chr m:val="̅"/>
                              <m:ctrlPr>
                                <a:rPr lang="en-GB" b="0"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𝐷</m:t>
                              </m:r>
                            </m:e>
                          </m:acc>
                        </m:e>
                      </m:d>
                      <m:r>
                        <a:rPr lang="en-GB" b="0" i="1" smtClean="0">
                          <a:latin typeface="Cambria Math" panose="02040503050406030204" pitchFamily="18" charset="0"/>
                          <a:cs typeface="Times New Roman" panose="02020603050405020304" pitchFamily="18" charset="0"/>
                        </a:rPr>
                        <m:t>= </m:t>
                      </m:r>
                      <m:sSub>
                        <m:sSubPr>
                          <m:ctrlPr>
                            <a:rPr lang="en-IN" i="1" smtClean="0">
                              <a:latin typeface="Cambria Math" panose="02040503050406030204" pitchFamily="18" charset="0"/>
                              <a:cs typeface="Times New Roman" panose="020206030504050203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latin typeface="Cambria Math" panose="02040503050406030204" pitchFamily="18" charset="0"/>
                              <a:cs typeface="Times New Roman" panose="02020603050405020304" pitchFamily="18" charset="0"/>
                            </a:rPr>
                            <m:t>𝐷</m:t>
                          </m:r>
                        </m:sub>
                      </m:sSub>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93383" y="404664"/>
                <a:ext cx="7427168" cy="4525963"/>
              </a:xfrm>
              <a:blipFill>
                <a:blip r:embed="rId2"/>
                <a:stretch>
                  <a:fillRect l="-2051" t="-1884" r="-2051" b="-1063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36</a:t>
            </a:fld>
            <a:endParaRPr lang="en-US" altLang="zh-CN"/>
          </a:p>
        </p:txBody>
      </p:sp>
      <p:sp>
        <p:nvSpPr>
          <p:cNvPr id="2" name="Date Placeholder 1"/>
          <p:cNvSpPr>
            <a:spLocks noGrp="1"/>
          </p:cNvSpPr>
          <p:nvPr>
            <p:ph type="dt" sz="half" idx="10"/>
          </p:nvPr>
        </p:nvSpPr>
        <p:spPr/>
        <p:txBody>
          <a:bodyPr/>
          <a:lstStyle/>
          <a:p>
            <a:pPr>
              <a:defRPr/>
            </a:pPr>
            <a:fld id="{E01C2228-9A16-496D-846C-605ADD4B1B0B}"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378717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20688"/>
                <a:ext cx="7427168" cy="4525963"/>
              </a:xfrm>
            </p:spPr>
            <p:txBody>
              <a:bodyPr/>
              <a:lstStyle/>
              <a:p>
                <a:pPr marL="0" indent="0" algn="just">
                  <a:buNone/>
                </a:pPr>
                <a:r>
                  <a:rPr lang="en-IN" dirty="0">
                    <a:latin typeface="Times New Roman" panose="02020603050405020304" pitchFamily="18" charset="0"/>
                    <a:cs typeface="Times New Roman" panose="02020603050405020304" pitchFamily="18" charset="0"/>
                  </a:rPr>
                  <a:t>The variance of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𝐷</m:t>
                        </m:r>
                      </m:e>
                    </m:acc>
                  </m:oMath>
                </a14:m>
                <a:r>
                  <a:rPr lang="en-IN" dirty="0">
                    <a:latin typeface="Times New Roman" panose="02020603050405020304" pitchFamily="18" charset="0"/>
                    <a:cs typeface="Times New Roman" panose="02020603050405020304" pitchFamily="18" charset="0"/>
                  </a:rPr>
                  <a:t> is </a:t>
                </a:r>
                <a14:m>
                  <m:oMath xmlns:m="http://schemas.openxmlformats.org/officeDocument/2006/math">
                    <m:r>
                      <a:rPr lang="en-GB" b="0" i="1" smtClean="0">
                        <a:latin typeface="Cambria Math" panose="02040503050406030204" pitchFamily="18" charset="0"/>
                        <a:cs typeface="Times New Roman" panose="02020603050405020304" pitchFamily="18" charset="0"/>
                      </a:rPr>
                      <m:t>𝑉</m:t>
                    </m:r>
                    <m:d>
                      <m:dPr>
                        <m:ctrlPr>
                          <a:rPr lang="en-GB" b="0" i="1" smtClean="0">
                            <a:latin typeface="Cambria Math" panose="02040503050406030204" pitchFamily="18" charset="0"/>
                            <a:cs typeface="Times New Roman" panose="02020603050405020304" pitchFamily="18" charset="0"/>
                          </a:rPr>
                        </m:ctrlPr>
                      </m:dPr>
                      <m:e>
                        <m:acc>
                          <m:accPr>
                            <m:chr m:val="̅"/>
                            <m:ctrlPr>
                              <a:rPr lang="en-GB" b="0"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𝐷</m:t>
                            </m:r>
                          </m:e>
                        </m:acc>
                      </m:e>
                    </m:d>
                    <m:r>
                      <a:rPr lang="en-GB" b="0" i="1" smtClean="0">
                        <a:latin typeface="Cambria Math" panose="02040503050406030204" pitchFamily="18" charset="0"/>
                        <a:cs typeface="Times New Roman" panose="02020603050405020304" pitchFamily="18" charset="0"/>
                      </a:rPr>
                      <m:t>= </m:t>
                    </m:r>
                    <m:f>
                      <m:fPr>
                        <m:ctrlPr>
                          <a:rPr lang="en-GB" b="0" i="1" smtClean="0">
                            <a:latin typeface="Cambria Math" panose="02040503050406030204" pitchFamily="18" charset="0"/>
                            <a:cs typeface="Times New Roman" panose="02020603050405020304" pitchFamily="18" charset="0"/>
                          </a:rPr>
                        </m:ctrlPr>
                      </m:fPr>
                      <m:num>
                        <m:sSubSup>
                          <m:sSubSupPr>
                            <m:ctrlPr>
                              <a:rPr lang="en-GB" b="0" i="1" smtClean="0">
                                <a:latin typeface="Cambria Math" panose="02040503050406030204" pitchFamily="18" charset="0"/>
                                <a:cs typeface="Times New Roman" panose="02020603050405020304" pitchFamily="18" charset="0"/>
                              </a:rPr>
                            </m:ctrlPr>
                          </m:sSubSupPr>
                          <m:e>
                            <m:r>
                              <a:rPr lang="en-GB" b="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GB" b="0" i="1" smtClean="0">
                                <a:latin typeface="Cambria Math" panose="02040503050406030204" pitchFamily="18" charset="0"/>
                                <a:cs typeface="Times New Roman" panose="02020603050405020304" pitchFamily="18" charset="0"/>
                              </a:rPr>
                              <m:t>𝐷</m:t>
                            </m:r>
                          </m:sub>
                          <m:sup>
                            <m:r>
                              <a:rPr lang="en-GB" b="0" i="1" smtClean="0">
                                <a:latin typeface="Cambria Math" panose="02040503050406030204" pitchFamily="18" charset="0"/>
                                <a:cs typeface="Times New Roman" panose="02020603050405020304" pitchFamily="18" charset="0"/>
                              </a:rPr>
                              <m:t>2</m:t>
                            </m:r>
                          </m:sup>
                        </m:sSubSup>
                      </m:num>
                      <m:den>
                        <m:r>
                          <a:rPr lang="en-GB" b="0" i="1" smtClean="0">
                            <a:latin typeface="Cambria Math" panose="02040503050406030204" pitchFamily="18" charset="0"/>
                            <a:cs typeface="Times New Roman" panose="02020603050405020304" pitchFamily="18" charset="0"/>
                          </a:rPr>
                          <m:t>𝑛</m:t>
                        </m:r>
                      </m:den>
                    </m:f>
                  </m:oMath>
                </a14:m>
                <a:r>
                  <a:rPr lang="en-IN" dirty="0">
                    <a:latin typeface="Times New Roman" panose="02020603050405020304" pitchFamily="18" charset="0"/>
                    <a:cs typeface="Times New Roman" panose="02020603050405020304" pitchFamily="18" charset="0"/>
                  </a:rPr>
                  <a:t> </a:t>
                </a:r>
              </a:p>
              <a:p>
                <a:pPr marL="0" indent="0" algn="just">
                  <a:buNone/>
                </a:pPr>
                <a:r>
                  <a:rPr lang="en-IN" dirty="0">
                    <a:latin typeface="Times New Roman" panose="02020603050405020304" pitchFamily="18" charset="0"/>
                    <a:cs typeface="Times New Roman" panose="02020603050405020304" pitchFamily="18" charset="0"/>
                  </a:rPr>
                  <a:t>When the population distribution of the differences </a:t>
                </a:r>
                <a:r>
                  <a:rPr lang="en-IN" i="1" dirty="0">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 is normal, the sampling distribution of  </a:t>
                </a:r>
                <a14:m>
                  <m:oMath xmlns:m="http://schemas.openxmlformats.org/officeDocument/2006/math">
                    <m:acc>
                      <m:accPr>
                        <m:chr m:val="̅"/>
                        <m:ctrlPr>
                          <a:rPr lang="en-IN" i="1">
                            <a:latin typeface="Cambria Math" panose="02040503050406030204" pitchFamily="18" charset="0"/>
                            <a:cs typeface="Times New Roman" panose="02020603050405020304" pitchFamily="18" charset="0"/>
                          </a:rPr>
                        </m:ctrlPr>
                      </m:accPr>
                      <m:e>
                        <m:r>
                          <a:rPr lang="en-GB" i="1">
                            <a:latin typeface="Cambria Math" panose="02040503050406030204" pitchFamily="18" charset="0"/>
                            <a:cs typeface="Times New Roman" panose="02020603050405020304" pitchFamily="18" charset="0"/>
                          </a:rPr>
                          <m:t>𝐷</m:t>
                        </m:r>
                      </m:e>
                    </m:acc>
                  </m:oMath>
                </a14:m>
                <a:r>
                  <a:rPr lang="en-IN" dirty="0">
                    <a:latin typeface="Times New Roman" panose="02020603050405020304" pitchFamily="18" charset="0"/>
                    <a:cs typeface="Times New Roman" panose="02020603050405020304" pitchFamily="18" charset="0"/>
                  </a:rPr>
                  <a:t> is normal with mean </a:t>
                </a:r>
                <a14:m>
                  <m:oMath xmlns:m="http://schemas.openxmlformats.org/officeDocument/2006/math">
                    <m:r>
                      <m:rPr>
                        <m:sty m:val="p"/>
                      </m:rPr>
                      <a:rPr lang="en-GB">
                        <a:latin typeface="Cambria Math" panose="02040503050406030204" pitchFamily="18" charset="0"/>
                        <a:cs typeface="Times New Roman" panose="02020603050405020304" pitchFamily="18" charset="0"/>
                      </a:rPr>
                      <m:t>E</m:t>
                    </m:r>
                    <m:d>
                      <m:dPr>
                        <m:ctrlPr>
                          <a:rPr lang="en-GB" i="1">
                            <a:latin typeface="Cambria Math" panose="02040503050406030204" pitchFamily="18" charset="0"/>
                            <a:cs typeface="Times New Roman" panose="02020603050405020304" pitchFamily="18" charset="0"/>
                          </a:rPr>
                        </m:ctrlPr>
                      </m:dPr>
                      <m:e>
                        <m:acc>
                          <m:accPr>
                            <m:chr m:val="̅"/>
                            <m:ctrlPr>
                              <a:rPr lang="en-GB" i="1">
                                <a:latin typeface="Cambria Math" panose="02040503050406030204" pitchFamily="18" charset="0"/>
                                <a:cs typeface="Times New Roman" panose="02020603050405020304" pitchFamily="18" charset="0"/>
                              </a:rPr>
                            </m:ctrlPr>
                          </m:accPr>
                          <m:e>
                            <m:r>
                              <a:rPr lang="en-GB" i="1">
                                <a:latin typeface="Cambria Math" panose="02040503050406030204" pitchFamily="18" charset="0"/>
                                <a:cs typeface="Times New Roman" panose="02020603050405020304" pitchFamily="18" charset="0"/>
                              </a:rPr>
                              <m:t>𝐷</m:t>
                            </m:r>
                          </m:e>
                        </m:acc>
                      </m:e>
                    </m:d>
                    <m:r>
                      <a:rPr lang="en-GB" i="1">
                        <a:latin typeface="Cambria Math" panose="02040503050406030204" pitchFamily="18" charset="0"/>
                        <a:cs typeface="Times New Roman" panose="02020603050405020304" pitchFamily="18" charset="0"/>
                      </a:rPr>
                      <m:t>= </m:t>
                    </m:r>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r>
                      <a:rPr lang="en-GB" i="1">
                        <a:latin typeface="Cambria Math" panose="02040503050406030204" pitchFamily="18" charset="0"/>
                        <a:cs typeface="Times New Roman" panose="02020603050405020304" pitchFamily="18" charset="0"/>
                      </a:rPr>
                      <m:t>𝑉</m:t>
                    </m:r>
                    <m:d>
                      <m:dPr>
                        <m:ctrlPr>
                          <a:rPr lang="en-GB" i="1">
                            <a:latin typeface="Cambria Math" panose="02040503050406030204" pitchFamily="18" charset="0"/>
                            <a:cs typeface="Times New Roman" panose="02020603050405020304" pitchFamily="18" charset="0"/>
                          </a:rPr>
                        </m:ctrlPr>
                      </m:dPr>
                      <m:e>
                        <m:acc>
                          <m:accPr>
                            <m:chr m:val="̅"/>
                            <m:ctrlPr>
                              <a:rPr lang="en-GB" i="1">
                                <a:latin typeface="Cambria Math" panose="02040503050406030204" pitchFamily="18" charset="0"/>
                                <a:cs typeface="Times New Roman" panose="02020603050405020304" pitchFamily="18" charset="0"/>
                              </a:rPr>
                            </m:ctrlPr>
                          </m:accPr>
                          <m:e>
                            <m:r>
                              <a:rPr lang="en-GB" i="1">
                                <a:latin typeface="Cambria Math" panose="02040503050406030204" pitchFamily="18" charset="0"/>
                                <a:cs typeface="Times New Roman" panose="02020603050405020304" pitchFamily="18" charset="0"/>
                              </a:rPr>
                              <m:t>𝐷</m:t>
                            </m:r>
                          </m:e>
                        </m:acc>
                      </m:e>
                    </m:d>
                    <m:r>
                      <a:rPr lang="en-GB" i="1">
                        <a:latin typeface="Cambria Math" panose="02040503050406030204" pitchFamily="18" charset="0"/>
                        <a:cs typeface="Times New Roman" panose="02020603050405020304" pitchFamily="18" charset="0"/>
                      </a:rPr>
                      <m:t>= </m:t>
                    </m:r>
                    <m:f>
                      <m:fPr>
                        <m:ctrlPr>
                          <a:rPr lang="en-GB" i="1">
                            <a:latin typeface="Cambria Math" panose="02040503050406030204" pitchFamily="18" charset="0"/>
                            <a:cs typeface="Times New Roman" panose="02020603050405020304" pitchFamily="18" charset="0"/>
                          </a:rPr>
                        </m:ctrlPr>
                      </m:fPr>
                      <m:num>
                        <m:sSubSup>
                          <m:sSubSupPr>
                            <m:ctrlPr>
                              <a:rPr lang="en-GB" i="1">
                                <a:latin typeface="Cambria Math" panose="02040503050406030204" pitchFamily="18" charset="0"/>
                                <a:cs typeface="Times New Roman" panose="02020603050405020304" pitchFamily="18" charset="0"/>
                              </a:rPr>
                            </m:ctrlPr>
                          </m:sSubSupPr>
                          <m:e>
                            <m:r>
                              <a:rPr lang="en-GB" i="1">
                                <a:latin typeface="Cambria Math" panose="02040503050406030204" pitchFamily="18" charset="0"/>
                                <a:ea typeface="Cambria Math" panose="02040503050406030204" pitchFamily="18" charset="0"/>
                                <a:cs typeface="Times New Roman" panose="02020603050405020304" pitchFamily="18" charset="0"/>
                              </a:rPr>
                              <m:t>𝜎</m:t>
                            </m:r>
                          </m:e>
                          <m:sub>
                            <m:r>
                              <a:rPr lang="en-GB" i="1">
                                <a:latin typeface="Cambria Math" panose="02040503050406030204" pitchFamily="18" charset="0"/>
                                <a:cs typeface="Times New Roman" panose="02020603050405020304" pitchFamily="18" charset="0"/>
                              </a:rPr>
                              <m:t>𝐷</m:t>
                            </m:r>
                          </m:sub>
                          <m:sup>
                            <m:r>
                              <a:rPr lang="en-GB" i="1">
                                <a:latin typeface="Cambria Math" panose="02040503050406030204" pitchFamily="18" charset="0"/>
                                <a:cs typeface="Times New Roman" panose="02020603050405020304" pitchFamily="18" charset="0"/>
                              </a:rPr>
                              <m:t>2</m:t>
                            </m:r>
                          </m:sup>
                        </m:sSubSup>
                      </m:num>
                      <m:den>
                        <m:r>
                          <a:rPr lang="en-GB" i="1">
                            <a:latin typeface="Cambria Math" panose="02040503050406030204" pitchFamily="18" charset="0"/>
                            <a:cs typeface="Times New Roman" panose="02020603050405020304" pitchFamily="18" charset="0"/>
                          </a:rPr>
                          <m:t>𝑛</m:t>
                        </m:r>
                      </m:den>
                    </m:f>
                  </m:oMath>
                </a14:m>
                <a:r>
                  <a:rPr lang="en-IN" dirty="0">
                    <a:latin typeface="Times New Roman" panose="02020603050405020304" pitchFamily="18" charset="0"/>
                    <a:cs typeface="Times New Roman" panose="02020603050405020304" pitchFamily="18" charset="0"/>
                  </a:rPr>
                  <a:t> .</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20688"/>
                <a:ext cx="7427168" cy="4525963"/>
              </a:xfrm>
              <a:blipFill>
                <a:blip r:embed="rId2"/>
                <a:stretch>
                  <a:fillRect l="-2135" r="-205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37</a:t>
            </a:fld>
            <a:endParaRPr lang="en-US" altLang="zh-CN" dirty="0"/>
          </a:p>
        </p:txBody>
      </p:sp>
      <p:sp>
        <p:nvSpPr>
          <p:cNvPr id="2" name="Date Placeholder 1"/>
          <p:cNvSpPr>
            <a:spLocks noGrp="1"/>
          </p:cNvSpPr>
          <p:nvPr>
            <p:ph type="dt" sz="half" idx="10"/>
          </p:nvPr>
        </p:nvSpPr>
        <p:spPr/>
        <p:txBody>
          <a:bodyPr/>
          <a:lstStyle/>
          <a:p>
            <a:pPr>
              <a:defRPr/>
            </a:pPr>
            <a:fld id="{38DC6953-9C1B-4C50-86B6-1F29EE22F006}"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456270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69976" y="161377"/>
                <a:ext cx="7416824" cy="5715895"/>
              </a:xfrm>
            </p:spPr>
            <p:txBody>
              <a:bodyPr/>
              <a:lstStyle/>
              <a:p>
                <a:pPr marL="0" indent="0" algn="just">
                  <a:buNone/>
                </a:pPr>
                <a:r>
                  <a:rPr lang="en-IN" dirty="0">
                    <a:latin typeface="Times New Roman" panose="02020603050405020304" pitchFamily="18" charset="0"/>
                    <a:cs typeface="Times New Roman" panose="02020603050405020304" pitchFamily="18" charset="0"/>
                  </a:rPr>
                  <a:t>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r>
                      <a:rPr lang="en-GB" i="1">
                        <a:latin typeface="Cambria Math" panose="02040503050406030204" pitchFamily="18" charset="0"/>
                        <a:cs typeface="Times New Roman" panose="02020603050405020304" pitchFamily="18" charset="0"/>
                      </a:rPr>
                      <m:t>∗100</m:t>
                    </m:r>
                    <m:r>
                      <a:rPr lang="en-GB" i="1">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latin typeface="Times New Roman" panose="02020603050405020304" pitchFamily="18" charset="0"/>
                    <a:cs typeface="Times New Roman" panose="02020603050405020304" pitchFamily="18" charset="0"/>
                  </a:rPr>
                  <a:t> confidence interval for the difference between the two dependent population means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 − </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r>
                          <a:rPr lang="en-GB" i="1">
                            <a:latin typeface="Cambria Math" panose="02040503050406030204" pitchFamily="18" charset="0"/>
                            <a:cs typeface="Times New Roman" panose="02020603050405020304" pitchFamily="18" charset="0"/>
                          </a:rPr>
                          <m:t> </m:t>
                        </m:r>
                      </m:sub>
                    </m:sSub>
                  </m:oMath>
                </a14:m>
                <a:r>
                  <a:rPr lang="en-IN" dirty="0">
                    <a:latin typeface="Times New Roman" panose="02020603050405020304" pitchFamily="18" charset="0"/>
                    <a:cs typeface="Times New Roman" panose="02020603050405020304" pitchFamily="18" charset="0"/>
                  </a:rPr>
                  <a:t>is computed as follows, </a:t>
                </a: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1</a:t>
                </a:r>
              </a:p>
              <a:p>
                <a:pPr marL="0" indent="0" algn="just">
                  <a:buNone/>
                </a:pP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oMath>
                </a14:m>
                <a:r>
                  <a:rPr lang="en-IN" dirty="0">
                    <a:solidFill>
                      <a:srgbClr val="00B050"/>
                    </a:solidFill>
                    <a:latin typeface="Times New Roman" panose="02020603050405020304" pitchFamily="18" charset="0"/>
                    <a:cs typeface="Times New Roman" panose="02020603050405020304" pitchFamily="18" charset="0"/>
                  </a:rPr>
                  <a:t> is normal </a:t>
                </a:r>
                <a:r>
                  <a:rPr lang="en-IN" dirty="0">
                    <a:latin typeface="Times New Roman" panose="02020603050405020304" pitchFamily="18" charset="0"/>
                    <a:cs typeface="Times New Roman" panose="02020603050405020304" pitchFamily="18" charset="0"/>
                  </a:rPr>
                  <a:t>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known</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r>
                      <a:rPr lang="en-GB" i="1">
                        <a:latin typeface="Cambria Math" panose="02040503050406030204" pitchFamily="18" charset="0"/>
                        <a:cs typeface="Times New Roman" panose="02020603050405020304" pitchFamily="18" charset="0"/>
                      </a:rPr>
                      <m:t>∗100</m:t>
                    </m:r>
                    <m:r>
                      <a:rPr lang="en-GB" i="1">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latin typeface="Times New Roman" panose="02020603050405020304" pitchFamily="18" charset="0"/>
                    <a:cs typeface="Times New Roman" panose="02020603050405020304" pitchFamily="18" charset="0"/>
                  </a:rPr>
                  <a:t>confidence interval for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 − </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r>
                          <a:rPr lang="en-GB" i="1">
                            <a:latin typeface="Cambria Math" panose="02040503050406030204" pitchFamily="18" charset="0"/>
                            <a:cs typeface="Times New Roman" panose="02020603050405020304" pitchFamily="18" charset="0"/>
                          </a:rPr>
                          <m:t> </m:t>
                        </m:r>
                      </m:sub>
                    </m:sSub>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GB" i="1">
                              <a:solidFill>
                                <a:srgbClr val="0070C0"/>
                              </a:solidFill>
                              <a:latin typeface="Cambria Math" panose="02040503050406030204" pitchFamily="18" charset="0"/>
                              <a:cs typeface="Times New Roman" panose="02020603050405020304" pitchFamily="18" charset="0"/>
                            </a:rPr>
                          </m:ctrlPr>
                        </m:dPr>
                        <m:e>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r>
                            <a:rPr lang="en-GB" i="1">
                              <a:solidFill>
                                <a:srgbClr val="0070C0"/>
                              </a:solidFill>
                              <a:latin typeface="Cambria Math" panose="02040503050406030204" pitchFamily="18" charset="0"/>
                              <a:cs typeface="Times New Roman" panose="02020603050405020304" pitchFamily="18" charset="0"/>
                            </a:rPr>
                            <m:t>  ,</m:t>
                          </m:r>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e>
                      </m:d>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69976" y="161377"/>
                <a:ext cx="7416824" cy="5715895"/>
              </a:xfrm>
              <a:blipFill>
                <a:blip r:embed="rId2"/>
                <a:stretch>
                  <a:fillRect l="-2054" t="-1493" r="-2054" b="-9062"/>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38</a:t>
            </a:fld>
            <a:endParaRPr lang="en-US" altLang="zh-CN" dirty="0"/>
          </a:p>
        </p:txBody>
      </p:sp>
      <p:sp>
        <p:nvSpPr>
          <p:cNvPr id="2" name="Date Placeholder 1"/>
          <p:cNvSpPr>
            <a:spLocks noGrp="1"/>
          </p:cNvSpPr>
          <p:nvPr>
            <p:ph type="dt" sz="half" idx="10"/>
          </p:nvPr>
        </p:nvSpPr>
        <p:spPr/>
        <p:txBody>
          <a:bodyPr/>
          <a:lstStyle/>
          <a:p>
            <a:pPr>
              <a:defRPr/>
            </a:pPr>
            <a:fld id="{0599EA36-7124-4FFD-9EBF-1CA92CE443CB}"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146782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7624" y="548680"/>
                <a:ext cx="7058744" cy="4267200"/>
              </a:xfrm>
            </p:spPr>
            <p:txBody>
              <a:bodyPr/>
              <a:lstStyle/>
              <a:p>
                <a:pPr marL="0" indent="0" algn="just">
                  <a:buNone/>
                </a:pPr>
                <a:r>
                  <a:rPr lang="en-IN" sz="2500" dirty="0">
                    <a:solidFill>
                      <a:srgbClr val="FF0000"/>
                    </a:solidFill>
                    <a:latin typeface="Times New Roman" panose="02020603050405020304" pitchFamily="18" charset="0"/>
                    <a:cs typeface="Times New Roman" panose="02020603050405020304" pitchFamily="18" charset="0"/>
                  </a:rPr>
                  <a:t>Case 2  </a:t>
                </a:r>
                <a:r>
                  <a:rPr lang="en-IN" sz="2500"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sz="2500" i="1">
                        <a:solidFill>
                          <a:srgbClr val="00B050"/>
                        </a:solidFill>
                        <a:latin typeface="Cambria Math" panose="02040503050406030204" pitchFamily="18" charset="0"/>
                        <a:cs typeface="Times New Roman" panose="02020603050405020304" pitchFamily="18" charset="0"/>
                      </a:rPr>
                      <m:t>𝐷</m:t>
                    </m:r>
                  </m:oMath>
                </a14:m>
                <a:r>
                  <a:rPr lang="en-IN" sz="2500" dirty="0">
                    <a:solidFill>
                      <a:srgbClr val="00B050"/>
                    </a:solidFill>
                    <a:latin typeface="Times New Roman" panose="02020603050405020304" pitchFamily="18" charset="0"/>
                    <a:cs typeface="Times New Roman" panose="02020603050405020304" pitchFamily="18" charset="0"/>
                  </a:rPr>
                  <a:t> is normal </a:t>
                </a:r>
                <a:r>
                  <a:rPr lang="en-IN" sz="2500" dirty="0">
                    <a:latin typeface="Times New Roman" panose="02020603050405020304" pitchFamily="18" charset="0"/>
                    <a:cs typeface="Times New Roman" panose="02020603050405020304" pitchFamily="18" charset="0"/>
                  </a:rPr>
                  <a:t>and the </a:t>
                </a:r>
                <a:r>
                  <a:rPr lang="en-IN" sz="2500"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sz="2500" i="1">
                            <a:solidFill>
                              <a:srgbClr val="00B050"/>
                            </a:solidFill>
                            <a:latin typeface="Cambria Math" panose="02040503050406030204" pitchFamily="18" charset="0"/>
                            <a:cs typeface="Times New Roman" panose="02020603050405020304" pitchFamily="18" charset="0"/>
                          </a:rPr>
                        </m:ctrlPr>
                      </m:sSubSupPr>
                      <m:e>
                        <m:r>
                          <a:rPr lang="en-GB" sz="2500"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sz="2500" i="1">
                            <a:solidFill>
                              <a:srgbClr val="00B050"/>
                            </a:solidFill>
                            <a:latin typeface="Cambria Math" panose="02040503050406030204" pitchFamily="18" charset="0"/>
                            <a:cs typeface="Times New Roman" panose="02020603050405020304" pitchFamily="18" charset="0"/>
                          </a:rPr>
                          <m:t>𝐷</m:t>
                        </m:r>
                      </m:sub>
                      <m:sup>
                        <m:r>
                          <a:rPr lang="en-GB" sz="2500" i="1">
                            <a:solidFill>
                              <a:srgbClr val="00B050"/>
                            </a:solidFill>
                            <a:latin typeface="Cambria Math" panose="02040503050406030204" pitchFamily="18" charset="0"/>
                            <a:cs typeface="Times New Roman" panose="02020603050405020304" pitchFamily="18" charset="0"/>
                          </a:rPr>
                          <m:t>2</m:t>
                        </m:r>
                      </m:sup>
                    </m:sSubSup>
                  </m:oMath>
                </a14:m>
                <a:r>
                  <a:rPr lang="en-IN" sz="2500" dirty="0">
                    <a:solidFill>
                      <a:srgbClr val="00B050"/>
                    </a:solidFill>
                    <a:latin typeface="Times New Roman" panose="02020603050405020304" pitchFamily="18" charset="0"/>
                    <a:cs typeface="Times New Roman" panose="02020603050405020304" pitchFamily="18" charset="0"/>
                  </a:rPr>
                  <a:t> is unknown</a:t>
                </a:r>
                <a:r>
                  <a:rPr lang="en-IN" sz="2500"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sz="2500" i="1">
                            <a:latin typeface="Cambria Math" panose="02040503050406030204" pitchFamily="18" charset="0"/>
                            <a:cs typeface="Times New Roman" panose="02020603050405020304" pitchFamily="18" charset="0"/>
                          </a:rPr>
                        </m:ctrlPr>
                      </m:dPr>
                      <m:e>
                        <m:r>
                          <a:rPr lang="en-GB" sz="2500" i="1">
                            <a:latin typeface="Cambria Math" panose="02040503050406030204" pitchFamily="18" charset="0"/>
                            <a:cs typeface="Times New Roman" panose="02020603050405020304" pitchFamily="18" charset="0"/>
                          </a:rPr>
                          <m:t>1−</m:t>
                        </m:r>
                        <m:r>
                          <a:rPr lang="en-GB" sz="2500" i="1">
                            <a:latin typeface="Cambria Math" panose="02040503050406030204" pitchFamily="18" charset="0"/>
                            <a:ea typeface="Cambria Math" panose="02040503050406030204" pitchFamily="18" charset="0"/>
                            <a:cs typeface="Times New Roman" panose="02020603050405020304" pitchFamily="18" charset="0"/>
                          </a:rPr>
                          <m:t>𝛼</m:t>
                        </m:r>
                      </m:e>
                    </m:d>
                    <m:r>
                      <a:rPr lang="en-GB" sz="2500" i="1">
                        <a:latin typeface="Cambria Math" panose="02040503050406030204" pitchFamily="18" charset="0"/>
                        <a:cs typeface="Times New Roman" panose="02020603050405020304" pitchFamily="18" charset="0"/>
                      </a:rPr>
                      <m:t>∗100</m:t>
                    </m:r>
                    <m:r>
                      <a:rPr lang="en-GB" sz="2500" i="1">
                        <a:latin typeface="Cambria Math" panose="02040503050406030204" pitchFamily="18" charset="0"/>
                        <a:ea typeface="Cambria Math" panose="02040503050406030204" pitchFamily="18" charset="0"/>
                        <a:cs typeface="Times New Roman" panose="02020603050405020304" pitchFamily="18" charset="0"/>
                      </a:rPr>
                      <m:t>%</m:t>
                    </m:r>
                  </m:oMath>
                </a14:m>
                <a:r>
                  <a:rPr lang="en-IN" sz="2500" dirty="0">
                    <a:latin typeface="Times New Roman" panose="02020603050405020304" pitchFamily="18" charset="0"/>
                    <a:cs typeface="Times New Roman" panose="02020603050405020304" pitchFamily="18" charset="0"/>
                  </a:rPr>
                  <a:t> confidence interval for </a:t>
                </a:r>
                <a14:m>
                  <m:oMath xmlns:m="http://schemas.openxmlformats.org/officeDocument/2006/math">
                    <m:sSub>
                      <m:sSubPr>
                        <m:ctrlPr>
                          <a:rPr lang="en-IN" sz="2500" i="1">
                            <a:latin typeface="Cambria Math" panose="02040503050406030204" pitchFamily="18" charset="0"/>
                            <a:cs typeface="Times New Roman" panose="02020603050405020304" pitchFamily="18" charset="0"/>
                          </a:rPr>
                        </m:ctrlPr>
                      </m:sSubPr>
                      <m:e>
                        <m:r>
                          <a:rPr lang="en-IN" sz="25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latin typeface="Cambria Math" panose="02040503050406030204" pitchFamily="18" charset="0"/>
                            <a:cs typeface="Times New Roman" panose="02020603050405020304" pitchFamily="18" charset="0"/>
                          </a:rPr>
                          <m:t>1</m:t>
                        </m:r>
                      </m:sub>
                    </m:sSub>
                    <m:r>
                      <a:rPr lang="en-GB" sz="2500" i="1">
                        <a:latin typeface="Cambria Math" panose="02040503050406030204" pitchFamily="18" charset="0"/>
                        <a:cs typeface="Times New Roman" panose="02020603050405020304" pitchFamily="18" charset="0"/>
                      </a:rPr>
                      <m:t> − </m:t>
                    </m:r>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latin typeface="Cambria Math" panose="02040503050406030204" pitchFamily="18" charset="0"/>
                            <a:cs typeface="Times New Roman" panose="02020603050405020304" pitchFamily="18" charset="0"/>
                          </a:rPr>
                          <m:t>2</m:t>
                        </m:r>
                      </m:sub>
                    </m:sSub>
                    <m:r>
                      <a:rPr lang="en-GB" sz="2500" i="1">
                        <a:latin typeface="Cambria Math" panose="02040503050406030204" pitchFamily="18" charset="0"/>
                        <a:cs typeface="Times New Roman" panose="02020603050405020304" pitchFamily="18" charset="0"/>
                      </a:rPr>
                      <m:t>=</m:t>
                    </m:r>
                    <m:sSub>
                      <m:sSubPr>
                        <m:ctrlPr>
                          <a:rPr lang="en-GB" sz="2500" i="1">
                            <a:latin typeface="Cambria Math" panose="02040503050406030204" pitchFamily="18" charset="0"/>
                            <a:cs typeface="Times New Roman" panose="02020603050405020304" pitchFamily="18" charset="0"/>
                          </a:rPr>
                        </m:ctrlPr>
                      </m:sSubPr>
                      <m:e>
                        <m:r>
                          <a:rPr lang="en-GB" sz="2500" i="1">
                            <a:latin typeface="Cambria Math" panose="02040503050406030204" pitchFamily="18" charset="0"/>
                            <a:ea typeface="Cambria Math" panose="02040503050406030204" pitchFamily="18" charset="0"/>
                            <a:cs typeface="Times New Roman" panose="02020603050405020304" pitchFamily="18" charset="0"/>
                          </a:rPr>
                          <m:t>𝜇</m:t>
                        </m:r>
                      </m:e>
                      <m:sub>
                        <m:r>
                          <a:rPr lang="en-GB" sz="2500" i="1">
                            <a:latin typeface="Cambria Math" panose="02040503050406030204" pitchFamily="18" charset="0"/>
                            <a:cs typeface="Times New Roman" panose="02020603050405020304" pitchFamily="18" charset="0"/>
                          </a:rPr>
                          <m:t>𝐷</m:t>
                        </m:r>
                        <m:r>
                          <a:rPr lang="en-GB" sz="2500" i="1">
                            <a:latin typeface="Cambria Math" panose="02040503050406030204" pitchFamily="18" charset="0"/>
                            <a:cs typeface="Times New Roman" panose="02020603050405020304" pitchFamily="18" charset="0"/>
                          </a:rPr>
                          <m:t> </m:t>
                        </m:r>
                      </m:sub>
                    </m:sSub>
                  </m:oMath>
                </a14:m>
                <a:r>
                  <a:rPr lang="en-IN" sz="2500"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GB" sz="2500" i="1">
                              <a:solidFill>
                                <a:srgbClr val="0070C0"/>
                              </a:solidFill>
                              <a:latin typeface="Cambria Math" panose="02040503050406030204" pitchFamily="18" charset="0"/>
                              <a:cs typeface="Times New Roman" panose="02020603050405020304" pitchFamily="18" charset="0"/>
                            </a:rPr>
                          </m:ctrlPr>
                        </m:dPr>
                        <m:e>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𝐷</m:t>
                              </m:r>
                            </m:e>
                          </m:acc>
                          <m:r>
                            <a:rPr lang="en-GB"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𝑡</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f>
                            <m:fPr>
                              <m:ctrlPr>
                                <a:rPr lang="en-GB" sz="2500" i="1">
                                  <a:solidFill>
                                    <a:srgbClr val="0070C0"/>
                                  </a:solidFill>
                                  <a:latin typeface="Cambria Math" panose="02040503050406030204" pitchFamily="18" charset="0"/>
                                  <a:cs typeface="Times New Roman" panose="02020603050405020304" pitchFamily="18" charset="0"/>
                                </a:rPr>
                              </m:ctrlPr>
                            </m:fPr>
                            <m:num>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𝑆</m:t>
                                  </m:r>
                                </m:e>
                                <m:sub>
                                  <m:r>
                                    <a:rPr lang="en-GB" sz="2500"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r>
                                    <a:rPr lang="en-GB" sz="2500" i="1">
                                      <a:solidFill>
                                        <a:srgbClr val="0070C0"/>
                                      </a:solidFill>
                                      <a:latin typeface="Cambria Math" panose="02040503050406030204" pitchFamily="18" charset="0"/>
                                      <a:cs typeface="Times New Roman" panose="02020603050405020304" pitchFamily="18" charset="0"/>
                                    </a:rPr>
                                    <m:t>𝑛</m:t>
                                  </m:r>
                                </m:e>
                              </m:rad>
                            </m:den>
                          </m:f>
                          <m:r>
                            <a:rPr lang="en-GB" sz="2500" i="1">
                              <a:solidFill>
                                <a:srgbClr val="0070C0"/>
                              </a:solidFill>
                              <a:latin typeface="Cambria Math" panose="02040503050406030204" pitchFamily="18" charset="0"/>
                              <a:cs typeface="Times New Roman" panose="02020603050405020304" pitchFamily="18" charset="0"/>
                            </a:rPr>
                            <m:t>  ,</m:t>
                          </m:r>
                          <m:acc>
                            <m:accPr>
                              <m:chr m:val="̅"/>
                              <m:ctrlPr>
                                <a:rPr lang="en-IN"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𝐷</m:t>
                              </m:r>
                            </m:e>
                          </m:acc>
                          <m:r>
                            <a:rPr lang="en-GB" sz="2500" i="1">
                              <a:solidFill>
                                <a:srgbClr val="0070C0"/>
                              </a:solidFill>
                              <a:latin typeface="Cambria Math" panose="02040503050406030204" pitchFamily="18" charset="0"/>
                              <a:cs typeface="Times New Roman" panose="02020603050405020304" pitchFamily="18" charset="0"/>
                            </a:rPr>
                            <m:t>+ </m:t>
                          </m:r>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𝑡</m:t>
                              </m:r>
                            </m:e>
                            <m:sub>
                              <m:f>
                                <m:fPr>
                                  <m:type m:val="skw"/>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sz="2500" i="1">
                                      <a:solidFill>
                                        <a:srgbClr val="0070C0"/>
                                      </a:solidFill>
                                      <a:latin typeface="Cambria Math" panose="02040503050406030204" pitchFamily="18" charset="0"/>
                                      <a:cs typeface="Times New Roman" panose="02020603050405020304" pitchFamily="18" charset="0"/>
                                    </a:rPr>
                                    <m:t>2</m:t>
                                  </m:r>
                                </m:den>
                              </m:f>
                            </m:sub>
                          </m:sSub>
                          <m:r>
                            <a:rPr lang="en-GB" sz="2500" i="1">
                              <a:solidFill>
                                <a:srgbClr val="0070C0"/>
                              </a:solidFill>
                              <a:latin typeface="Cambria Math" panose="02040503050406030204" pitchFamily="18" charset="0"/>
                              <a:cs typeface="Times New Roman" panose="02020603050405020304" pitchFamily="18" charset="0"/>
                            </a:rPr>
                            <m:t>∗</m:t>
                          </m:r>
                          <m:f>
                            <m:fPr>
                              <m:ctrlPr>
                                <a:rPr lang="en-GB" sz="2500" i="1">
                                  <a:solidFill>
                                    <a:srgbClr val="0070C0"/>
                                  </a:solidFill>
                                  <a:latin typeface="Cambria Math" panose="02040503050406030204" pitchFamily="18" charset="0"/>
                                  <a:cs typeface="Times New Roman" panose="02020603050405020304" pitchFamily="18" charset="0"/>
                                </a:rPr>
                              </m:ctrlPr>
                            </m:fPr>
                            <m:num>
                              <m:sSub>
                                <m:sSubPr>
                                  <m:ctrlPr>
                                    <a:rPr lang="en-GB"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𝑆</m:t>
                                  </m:r>
                                </m:e>
                                <m:sub>
                                  <m:r>
                                    <a:rPr lang="en-GB" sz="2500"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r>
                                    <a:rPr lang="en-GB" sz="2500" i="1">
                                      <a:solidFill>
                                        <a:srgbClr val="0070C0"/>
                                      </a:solidFill>
                                      <a:latin typeface="Cambria Math" panose="02040503050406030204" pitchFamily="18" charset="0"/>
                                      <a:cs typeface="Times New Roman" panose="02020603050405020304" pitchFamily="18" charset="0"/>
                                    </a:rPr>
                                    <m:t>𝑛</m:t>
                                  </m:r>
                                </m:e>
                              </m:rad>
                            </m:den>
                          </m:f>
                        </m:e>
                      </m:d>
                    </m:oMath>
                  </m:oMathPara>
                </a14:m>
                <a:endParaRPr lang="en-IN" sz="2500" dirty="0">
                  <a:latin typeface="Times New Roman" panose="02020603050405020304" pitchFamily="18" charset="0"/>
                  <a:cs typeface="Times New Roman" panose="02020603050405020304" pitchFamily="18" charset="0"/>
                </a:endParaRPr>
              </a:p>
              <a:p>
                <a:pPr marL="0" indent="0" algn="just">
                  <a:buNone/>
                </a:pPr>
                <a:r>
                  <a:rPr lang="en-IN" sz="2500" dirty="0">
                    <a:latin typeface="Times New Roman" panose="02020603050405020304" pitchFamily="18" charset="0"/>
                    <a:cs typeface="Times New Roman" panose="02020603050405020304" pitchFamily="18" charset="0"/>
                  </a:rPr>
                  <a:t>where the degrees of freedom for t is </a:t>
                </a:r>
                <a14:m>
                  <m:oMath xmlns:m="http://schemas.openxmlformats.org/officeDocument/2006/math">
                    <m:r>
                      <a:rPr lang="en-GB" sz="2500" i="1">
                        <a:latin typeface="Cambria Math" panose="02040503050406030204" pitchFamily="18" charset="0"/>
                        <a:cs typeface="Times New Roman" panose="02020603050405020304" pitchFamily="18" charset="0"/>
                      </a:rPr>
                      <m:t>𝑛</m:t>
                    </m:r>
                    <m:r>
                      <a:rPr lang="en-GB" sz="2500" i="1">
                        <a:latin typeface="Cambria Math" panose="02040503050406030204" pitchFamily="18" charset="0"/>
                        <a:cs typeface="Times New Roman" panose="02020603050405020304" pitchFamily="18" charset="0"/>
                      </a:rPr>
                      <m:t>−1</m:t>
                    </m:r>
                  </m:oMath>
                </a14:m>
                <a:r>
                  <a:rPr lang="en-IN" sz="2500" dirty="0">
                    <a:latin typeface="Times New Roman" panose="02020603050405020304" pitchFamily="18" charset="0"/>
                    <a:cs typeface="Times New Roman" panose="02020603050405020304" pitchFamily="18" charset="0"/>
                  </a:rPr>
                  <a:t> and </a:t>
                </a:r>
              </a:p>
              <a:p>
                <a:pPr marL="0" indent="0" algn="just">
                  <a:buNone/>
                </a:pPr>
                <a14:m>
                  <m:oMath xmlns:m="http://schemas.openxmlformats.org/officeDocument/2006/math">
                    <m:sSub>
                      <m:sSubPr>
                        <m:ctrlPr>
                          <a:rPr lang="en-IN" sz="2500" i="1">
                            <a:solidFill>
                              <a:srgbClr val="0070C0"/>
                            </a:solidFill>
                            <a:latin typeface="Cambria Math" panose="02040503050406030204" pitchFamily="18" charset="0"/>
                            <a:cs typeface="Times New Roman" panose="02020603050405020304" pitchFamily="18" charset="0"/>
                          </a:rPr>
                        </m:ctrlPr>
                      </m:sSubPr>
                      <m:e>
                        <m:r>
                          <a:rPr lang="en-GB" sz="2500" i="1">
                            <a:solidFill>
                              <a:srgbClr val="0070C0"/>
                            </a:solidFill>
                            <a:latin typeface="Cambria Math" panose="02040503050406030204" pitchFamily="18" charset="0"/>
                            <a:cs typeface="Times New Roman" panose="02020603050405020304" pitchFamily="18" charset="0"/>
                          </a:rPr>
                          <m:t>𝑆</m:t>
                        </m:r>
                      </m:e>
                      <m:sub>
                        <m:r>
                          <a:rPr lang="en-GB" sz="2500" i="1">
                            <a:solidFill>
                              <a:srgbClr val="0070C0"/>
                            </a:solidFill>
                            <a:latin typeface="Cambria Math" panose="02040503050406030204" pitchFamily="18" charset="0"/>
                            <a:cs typeface="Times New Roman" panose="02020603050405020304" pitchFamily="18" charset="0"/>
                          </a:rPr>
                          <m:t>𝐷</m:t>
                        </m:r>
                      </m:sub>
                    </m:sSub>
                    <m:r>
                      <a:rPr lang="en-GB" sz="2500" i="1">
                        <a:solidFill>
                          <a:srgbClr val="0070C0"/>
                        </a:solidFill>
                        <a:latin typeface="Cambria Math" panose="02040503050406030204" pitchFamily="18" charset="0"/>
                        <a:cs typeface="Times New Roman" panose="02020603050405020304" pitchFamily="18" charset="0"/>
                      </a:rPr>
                      <m:t>= </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nary>
                              <m:naryPr>
                                <m:chr m:val="∑"/>
                                <m:subHide m:val="on"/>
                                <m:supHide m:val="on"/>
                                <m:ctrlPr>
                                  <a:rPr lang="en-GB" sz="2500" i="1">
                                    <a:solidFill>
                                      <a:srgbClr val="0070C0"/>
                                    </a:solidFill>
                                    <a:latin typeface="Cambria Math" panose="02040503050406030204" pitchFamily="18" charset="0"/>
                                    <a:cs typeface="Times New Roman" panose="02020603050405020304" pitchFamily="18" charset="0"/>
                                  </a:rPr>
                                </m:ctrlPr>
                              </m:naryPr>
                              <m:sub/>
                              <m:sup/>
                              <m:e>
                                <m:sSup>
                                  <m:sSupPr>
                                    <m:ctrlPr>
                                      <a:rPr lang="en-GB" sz="2500" i="1">
                                        <a:solidFill>
                                          <a:srgbClr val="0070C0"/>
                                        </a:solidFill>
                                        <a:latin typeface="Cambria Math" panose="02040503050406030204" pitchFamily="18" charset="0"/>
                                        <a:cs typeface="Times New Roman" panose="02020603050405020304" pitchFamily="18" charset="0"/>
                                      </a:rPr>
                                    </m:ctrlPr>
                                  </m:sSupPr>
                                  <m:e>
                                    <m:d>
                                      <m:dPr>
                                        <m:ctrlPr>
                                          <a:rPr lang="en-GB" sz="2500" i="1">
                                            <a:solidFill>
                                              <a:srgbClr val="0070C0"/>
                                            </a:solidFill>
                                            <a:latin typeface="Cambria Math" panose="02040503050406030204" pitchFamily="18" charset="0"/>
                                            <a:cs typeface="Times New Roman" panose="02020603050405020304" pitchFamily="18" charset="0"/>
                                          </a:rPr>
                                        </m:ctrlPr>
                                      </m:dPr>
                                      <m:e>
                                        <m:r>
                                          <a:rPr lang="en-GB" sz="2500" i="1">
                                            <a:solidFill>
                                              <a:srgbClr val="0070C0"/>
                                            </a:solidFill>
                                            <a:latin typeface="Cambria Math" panose="02040503050406030204" pitchFamily="18" charset="0"/>
                                            <a:cs typeface="Times New Roman" panose="02020603050405020304" pitchFamily="18" charset="0"/>
                                          </a:rPr>
                                          <m:t>𝐷</m:t>
                                        </m:r>
                                        <m:r>
                                          <a:rPr lang="en-GB" sz="2500" i="1">
                                            <a:solidFill>
                                              <a:srgbClr val="0070C0"/>
                                            </a:solidFill>
                                            <a:latin typeface="Cambria Math" panose="02040503050406030204" pitchFamily="18" charset="0"/>
                                            <a:cs typeface="Times New Roman" panose="02020603050405020304" pitchFamily="18" charset="0"/>
                                          </a:rPr>
                                          <m:t>−</m:t>
                                        </m:r>
                                        <m:acc>
                                          <m:accPr>
                                            <m:chr m:val="̅"/>
                                            <m:ctrlPr>
                                              <a:rPr lang="en-GB" sz="2500" i="1">
                                                <a:solidFill>
                                                  <a:srgbClr val="0070C0"/>
                                                </a:solidFill>
                                                <a:latin typeface="Cambria Math" panose="02040503050406030204" pitchFamily="18" charset="0"/>
                                                <a:cs typeface="Times New Roman" panose="02020603050405020304" pitchFamily="18" charset="0"/>
                                              </a:rPr>
                                            </m:ctrlPr>
                                          </m:accPr>
                                          <m:e>
                                            <m:r>
                                              <a:rPr lang="en-GB" sz="2500" i="1">
                                                <a:solidFill>
                                                  <a:srgbClr val="0070C0"/>
                                                </a:solidFill>
                                                <a:latin typeface="Cambria Math" panose="02040503050406030204" pitchFamily="18" charset="0"/>
                                                <a:cs typeface="Times New Roman" panose="02020603050405020304" pitchFamily="18" charset="0"/>
                                              </a:rPr>
                                              <m:t>𝐷</m:t>
                                            </m:r>
                                          </m:e>
                                        </m:acc>
                                      </m:e>
                                    </m:d>
                                  </m:e>
                                  <m:sup>
                                    <m:r>
                                      <a:rPr lang="en-GB" sz="2500" i="1">
                                        <a:solidFill>
                                          <a:srgbClr val="0070C0"/>
                                        </a:solidFill>
                                        <a:latin typeface="Cambria Math" panose="02040503050406030204" pitchFamily="18" charset="0"/>
                                        <a:cs typeface="Times New Roman" panose="02020603050405020304" pitchFamily="18" charset="0"/>
                                      </a:rPr>
                                      <m:t>2</m:t>
                                    </m:r>
                                  </m:sup>
                                </m:sSup>
                              </m:e>
                            </m:nary>
                          </m:num>
                          <m:den>
                            <m:r>
                              <a:rPr lang="en-GB" sz="2500" i="1">
                                <a:solidFill>
                                  <a:srgbClr val="0070C0"/>
                                </a:solidFill>
                                <a:latin typeface="Cambria Math" panose="02040503050406030204" pitchFamily="18" charset="0"/>
                                <a:cs typeface="Times New Roman" panose="02020603050405020304" pitchFamily="18" charset="0"/>
                              </a:rPr>
                              <m:t>𝑛</m:t>
                            </m:r>
                            <m:r>
                              <a:rPr lang="en-GB" sz="2500" i="1">
                                <a:solidFill>
                                  <a:srgbClr val="0070C0"/>
                                </a:solidFill>
                                <a:latin typeface="Cambria Math" panose="02040503050406030204" pitchFamily="18" charset="0"/>
                                <a:cs typeface="Times New Roman" panose="02020603050405020304" pitchFamily="18" charset="0"/>
                              </a:rPr>
                              <m:t>−1</m:t>
                            </m:r>
                          </m:den>
                        </m:f>
                      </m:e>
                    </m:rad>
                    <m:r>
                      <a:rPr lang="en-GB" sz="2500">
                        <a:solidFill>
                          <a:srgbClr val="0070C0"/>
                        </a:solidFill>
                        <a:latin typeface="Cambria Math" panose="02040503050406030204" pitchFamily="18" charset="0"/>
                        <a:cs typeface="Times New Roman" panose="02020603050405020304" pitchFamily="18" charset="0"/>
                      </a:rPr>
                      <m:t>=</m:t>
                    </m:r>
                    <m:rad>
                      <m:radPr>
                        <m:degHide m:val="on"/>
                        <m:ctrlPr>
                          <a:rPr lang="en-GB" sz="2500" i="1">
                            <a:solidFill>
                              <a:srgbClr val="0070C0"/>
                            </a:solidFill>
                            <a:latin typeface="Cambria Math" panose="02040503050406030204" pitchFamily="18" charset="0"/>
                            <a:cs typeface="Times New Roman" panose="02020603050405020304" pitchFamily="18" charset="0"/>
                          </a:rPr>
                        </m:ctrlPr>
                      </m:radPr>
                      <m:deg/>
                      <m:e>
                        <m:f>
                          <m:fPr>
                            <m:ctrlPr>
                              <a:rPr lang="en-GB" sz="2500" i="1">
                                <a:solidFill>
                                  <a:srgbClr val="0070C0"/>
                                </a:solidFill>
                                <a:latin typeface="Cambria Math" panose="02040503050406030204" pitchFamily="18" charset="0"/>
                                <a:cs typeface="Times New Roman" panose="02020603050405020304" pitchFamily="18" charset="0"/>
                              </a:rPr>
                            </m:ctrlPr>
                          </m:fPr>
                          <m:num>
                            <m:r>
                              <a:rPr lang="en-GB" sz="2500" i="1">
                                <a:solidFill>
                                  <a:srgbClr val="0070C0"/>
                                </a:solidFill>
                                <a:latin typeface="Cambria Math" panose="02040503050406030204" pitchFamily="18" charset="0"/>
                                <a:cs typeface="Times New Roman" panose="02020603050405020304" pitchFamily="18" charset="0"/>
                              </a:rPr>
                              <m:t>𝑛</m:t>
                            </m:r>
                            <m:nary>
                              <m:naryPr>
                                <m:chr m:val="∑"/>
                                <m:subHide m:val="on"/>
                                <m:supHide m:val="on"/>
                                <m:ctrlPr>
                                  <a:rPr lang="en-GB" sz="2500" i="1">
                                    <a:solidFill>
                                      <a:srgbClr val="0070C0"/>
                                    </a:solidFill>
                                    <a:latin typeface="Cambria Math" panose="02040503050406030204" pitchFamily="18" charset="0"/>
                                    <a:cs typeface="Times New Roman" panose="02020603050405020304" pitchFamily="18" charset="0"/>
                                  </a:rPr>
                                </m:ctrlPr>
                              </m:naryPr>
                              <m:sub/>
                              <m:sup/>
                              <m:e>
                                <m:sSup>
                                  <m:sSupPr>
                                    <m:ctrlPr>
                                      <a:rPr lang="en-GB" sz="2500" i="1">
                                        <a:solidFill>
                                          <a:srgbClr val="0070C0"/>
                                        </a:solidFill>
                                        <a:latin typeface="Cambria Math" panose="02040503050406030204" pitchFamily="18" charset="0"/>
                                        <a:cs typeface="Times New Roman" panose="02020603050405020304" pitchFamily="18" charset="0"/>
                                      </a:rPr>
                                    </m:ctrlPr>
                                  </m:sSupPr>
                                  <m:e>
                                    <m:r>
                                      <a:rPr lang="en-GB" sz="2500" i="1">
                                        <a:solidFill>
                                          <a:srgbClr val="0070C0"/>
                                        </a:solidFill>
                                        <a:latin typeface="Cambria Math" panose="02040503050406030204" pitchFamily="18" charset="0"/>
                                        <a:cs typeface="Times New Roman" panose="02020603050405020304" pitchFamily="18" charset="0"/>
                                      </a:rPr>
                                      <m:t>𝐷</m:t>
                                    </m:r>
                                  </m:e>
                                  <m:sup>
                                    <m:r>
                                      <a:rPr lang="en-GB" sz="2500" i="1">
                                        <a:solidFill>
                                          <a:srgbClr val="0070C0"/>
                                        </a:solidFill>
                                        <a:latin typeface="Cambria Math" panose="02040503050406030204" pitchFamily="18" charset="0"/>
                                        <a:cs typeface="Times New Roman" panose="02020603050405020304" pitchFamily="18" charset="0"/>
                                      </a:rPr>
                                      <m:t>2</m:t>
                                    </m:r>
                                  </m:sup>
                                </m:sSup>
                                <m:r>
                                  <a:rPr lang="en-GB" sz="2500" i="1">
                                    <a:solidFill>
                                      <a:srgbClr val="0070C0"/>
                                    </a:solidFill>
                                    <a:latin typeface="Cambria Math" panose="02040503050406030204" pitchFamily="18" charset="0"/>
                                    <a:cs typeface="Times New Roman" panose="02020603050405020304" pitchFamily="18" charset="0"/>
                                  </a:rPr>
                                  <m:t> − </m:t>
                                </m:r>
                                <m:sSup>
                                  <m:sSupPr>
                                    <m:ctrlPr>
                                      <a:rPr lang="en-GB" sz="2500" i="1">
                                        <a:solidFill>
                                          <a:srgbClr val="0070C0"/>
                                        </a:solidFill>
                                        <a:latin typeface="Cambria Math" panose="02040503050406030204" pitchFamily="18" charset="0"/>
                                        <a:cs typeface="Times New Roman" panose="02020603050405020304" pitchFamily="18" charset="0"/>
                                      </a:rPr>
                                    </m:ctrlPr>
                                  </m:sSupPr>
                                  <m:e>
                                    <m:d>
                                      <m:dPr>
                                        <m:ctrlPr>
                                          <a:rPr lang="en-GB" sz="2500" i="1">
                                            <a:solidFill>
                                              <a:srgbClr val="0070C0"/>
                                            </a:solidFill>
                                            <a:latin typeface="Cambria Math" panose="02040503050406030204" pitchFamily="18" charset="0"/>
                                            <a:cs typeface="Times New Roman" panose="02020603050405020304" pitchFamily="18" charset="0"/>
                                          </a:rPr>
                                        </m:ctrlPr>
                                      </m:dPr>
                                      <m:e>
                                        <m:nary>
                                          <m:naryPr>
                                            <m:chr m:val="∑"/>
                                            <m:subHide m:val="on"/>
                                            <m:supHide m:val="on"/>
                                            <m:ctrlPr>
                                              <a:rPr lang="en-GB" sz="2500" i="1">
                                                <a:solidFill>
                                                  <a:srgbClr val="0070C0"/>
                                                </a:solidFill>
                                                <a:latin typeface="Cambria Math" panose="02040503050406030204" pitchFamily="18" charset="0"/>
                                                <a:cs typeface="Times New Roman" panose="02020603050405020304" pitchFamily="18" charset="0"/>
                                              </a:rPr>
                                            </m:ctrlPr>
                                          </m:naryPr>
                                          <m:sub/>
                                          <m:sup/>
                                          <m:e>
                                            <m:r>
                                              <a:rPr lang="en-GB" sz="2500" i="1">
                                                <a:solidFill>
                                                  <a:srgbClr val="0070C0"/>
                                                </a:solidFill>
                                                <a:latin typeface="Cambria Math" panose="02040503050406030204" pitchFamily="18" charset="0"/>
                                                <a:cs typeface="Times New Roman" panose="02020603050405020304" pitchFamily="18" charset="0"/>
                                              </a:rPr>
                                              <m:t>𝐷</m:t>
                                            </m:r>
                                          </m:e>
                                        </m:nary>
                                      </m:e>
                                    </m:d>
                                  </m:e>
                                  <m:sup>
                                    <m:r>
                                      <a:rPr lang="en-GB" sz="2500" i="1">
                                        <a:solidFill>
                                          <a:srgbClr val="0070C0"/>
                                        </a:solidFill>
                                        <a:latin typeface="Cambria Math" panose="02040503050406030204" pitchFamily="18" charset="0"/>
                                        <a:cs typeface="Times New Roman" panose="02020603050405020304" pitchFamily="18" charset="0"/>
                                      </a:rPr>
                                      <m:t>2</m:t>
                                    </m:r>
                                  </m:sup>
                                </m:sSup>
                              </m:e>
                            </m:nary>
                          </m:num>
                          <m:den>
                            <m:r>
                              <a:rPr lang="en-GB" sz="2500" i="1">
                                <a:solidFill>
                                  <a:srgbClr val="0070C0"/>
                                </a:solidFill>
                                <a:latin typeface="Cambria Math" panose="02040503050406030204" pitchFamily="18" charset="0"/>
                                <a:cs typeface="Times New Roman" panose="02020603050405020304" pitchFamily="18" charset="0"/>
                              </a:rPr>
                              <m:t>𝑛</m:t>
                            </m:r>
                            <m:d>
                              <m:dPr>
                                <m:ctrlPr>
                                  <a:rPr lang="en-GB" sz="2500" i="1">
                                    <a:solidFill>
                                      <a:srgbClr val="0070C0"/>
                                    </a:solidFill>
                                    <a:latin typeface="Cambria Math" panose="02040503050406030204" pitchFamily="18" charset="0"/>
                                    <a:cs typeface="Times New Roman" panose="02020603050405020304" pitchFamily="18" charset="0"/>
                                  </a:rPr>
                                </m:ctrlPr>
                              </m:dPr>
                              <m:e>
                                <m:r>
                                  <a:rPr lang="en-GB" sz="2500" i="1">
                                    <a:solidFill>
                                      <a:srgbClr val="0070C0"/>
                                    </a:solidFill>
                                    <a:latin typeface="Cambria Math" panose="02040503050406030204" pitchFamily="18" charset="0"/>
                                    <a:cs typeface="Times New Roman" panose="02020603050405020304" pitchFamily="18" charset="0"/>
                                  </a:rPr>
                                  <m:t>𝑛</m:t>
                                </m:r>
                                <m:r>
                                  <a:rPr lang="en-GB" sz="2500" i="1">
                                    <a:solidFill>
                                      <a:srgbClr val="0070C0"/>
                                    </a:solidFill>
                                    <a:latin typeface="Cambria Math" panose="02040503050406030204" pitchFamily="18" charset="0"/>
                                    <a:cs typeface="Times New Roman" panose="02020603050405020304" pitchFamily="18" charset="0"/>
                                  </a:rPr>
                                  <m:t>−1</m:t>
                                </m:r>
                              </m:e>
                            </m:d>
                          </m:den>
                        </m:f>
                      </m:e>
                    </m:rad>
                  </m:oMath>
                </a14:m>
                <a:r>
                  <a:rPr lang="en-IN" sz="2500" dirty="0">
                    <a:latin typeface="Times New Roman" panose="02020603050405020304" pitchFamily="18" charset="0"/>
                    <a:cs typeface="Times New Roman" panose="02020603050405020304" pitchFamily="18" charset="0"/>
                  </a:rPr>
                  <a:t>the sample standard deviation for the differences.</a:t>
                </a:r>
                <a:endParaRPr lang="en-GB" sz="25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7624" y="548680"/>
                <a:ext cx="7058744" cy="4267200"/>
              </a:xfrm>
              <a:blipFill>
                <a:blip r:embed="rId2"/>
                <a:stretch>
                  <a:fillRect l="-1468" t="-1143" r="-1382" b="-3429"/>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39</a:t>
            </a:fld>
            <a:endParaRPr lang="en-US" altLang="zh-CN"/>
          </a:p>
        </p:txBody>
      </p:sp>
      <p:sp>
        <p:nvSpPr>
          <p:cNvPr id="2" name="Date Placeholder 1"/>
          <p:cNvSpPr>
            <a:spLocks noGrp="1"/>
          </p:cNvSpPr>
          <p:nvPr>
            <p:ph type="dt" sz="half" idx="10"/>
          </p:nvPr>
        </p:nvSpPr>
        <p:spPr/>
        <p:txBody>
          <a:bodyPr/>
          <a:lstStyle/>
          <a:p>
            <a:pPr>
              <a:defRPr/>
            </a:pPr>
            <a:fld id="{36072D9B-8D7B-4A1D-954E-430FCBAFE74E}"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720833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7624" y="404664"/>
                <a:ext cx="7427168"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3</a:t>
                </a:r>
              </a:p>
              <a:p>
                <a:pPr marL="0" indent="0" algn="just">
                  <a:buNone/>
                </a:pP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not normal</a:t>
                </a:r>
                <a:r>
                  <a:rPr lang="en-IN" dirty="0">
                    <a:latin typeface="Times New Roman" panose="02020603050405020304" pitchFamily="18" charset="0"/>
                    <a:cs typeface="Times New Roman" panose="02020603050405020304" pitchFamily="18" charset="0"/>
                  </a:rPr>
                  <a:t>, </a:t>
                </a:r>
                <a14:m>
                  <m:oMath xmlns:m="http://schemas.openxmlformats.org/officeDocument/2006/math">
                    <m:r>
                      <a:rPr lang="en-GB" i="1">
                        <a:latin typeface="Cambria Math" panose="02040503050406030204" pitchFamily="18" charset="0"/>
                        <a:cs typeface="Times New Roman" panose="02020603050405020304" pitchFamily="18" charset="0"/>
                      </a:rPr>
                      <m:t>𝑛</m:t>
                    </m:r>
                    <m:r>
                      <a:rPr lang="en-GB" i="1">
                        <a:latin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is large, 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known</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r>
                      <a:rPr lang="en-GB" i="1">
                        <a:latin typeface="Cambria Math" panose="02040503050406030204" pitchFamily="18" charset="0"/>
                        <a:cs typeface="Times New Roman" panose="02020603050405020304" pitchFamily="18" charset="0"/>
                      </a:rPr>
                      <m:t>∗100</m:t>
                    </m:r>
                    <m:r>
                      <a:rPr lang="en-GB" i="1">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latin typeface="Times New Roman" panose="02020603050405020304" pitchFamily="18" charset="0"/>
                    <a:cs typeface="Times New Roman" panose="02020603050405020304" pitchFamily="18" charset="0"/>
                  </a:rPr>
                  <a:t> confidence interval for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 − </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r>
                          <a:rPr lang="en-GB" i="1">
                            <a:latin typeface="Cambria Math" panose="02040503050406030204" pitchFamily="18" charset="0"/>
                            <a:cs typeface="Times New Roman" panose="02020603050405020304" pitchFamily="18" charset="0"/>
                          </a:rPr>
                          <m:t> </m:t>
                        </m:r>
                      </m:sub>
                    </m:sSub>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GB" i="1">
                              <a:solidFill>
                                <a:srgbClr val="0070C0"/>
                              </a:solidFill>
                              <a:latin typeface="Cambria Math" panose="02040503050406030204" pitchFamily="18" charset="0"/>
                              <a:cs typeface="Times New Roman" panose="02020603050405020304" pitchFamily="18" charset="0"/>
                            </a:rPr>
                          </m:ctrlPr>
                        </m:dPr>
                        <m:e>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r>
                            <a:rPr lang="en-GB" i="1">
                              <a:solidFill>
                                <a:srgbClr val="0070C0"/>
                              </a:solidFill>
                              <a:latin typeface="Cambria Math" panose="02040503050406030204" pitchFamily="18" charset="0"/>
                              <a:cs typeface="Times New Roman" panose="02020603050405020304" pitchFamily="18" charset="0"/>
                            </a:rPr>
                            <m:t>  ,</m:t>
                          </m:r>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e>
                      </m:d>
                    </m:oMath>
                  </m:oMathPara>
                </a14:m>
                <a:endParaRPr lang="en-IN"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7624" y="404664"/>
                <a:ext cx="7427168" cy="4525963"/>
              </a:xfrm>
              <a:blipFill>
                <a:blip r:embed="rId2"/>
                <a:stretch>
                  <a:fillRect l="-2135" t="-1884" r="-205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40</a:t>
            </a:fld>
            <a:endParaRPr lang="en-US" altLang="zh-CN"/>
          </a:p>
        </p:txBody>
      </p:sp>
      <p:sp>
        <p:nvSpPr>
          <p:cNvPr id="2" name="Date Placeholder 1"/>
          <p:cNvSpPr>
            <a:spLocks noGrp="1"/>
          </p:cNvSpPr>
          <p:nvPr>
            <p:ph type="dt" sz="half" idx="10"/>
          </p:nvPr>
        </p:nvSpPr>
        <p:spPr/>
        <p:txBody>
          <a:bodyPr/>
          <a:lstStyle/>
          <a:p>
            <a:pPr>
              <a:defRPr/>
            </a:pPr>
            <a:fld id="{962EB409-A5C9-48C3-AD20-552FAA213445}"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8962256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7624" y="548680"/>
                <a:ext cx="7355160"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4</a:t>
                </a:r>
              </a:p>
              <a:p>
                <a:pPr marL="0" indent="0" algn="just">
                  <a:buNone/>
                </a:pP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not normal</a:t>
                </a:r>
                <a:r>
                  <a:rPr lang="en-IN" dirty="0">
                    <a:latin typeface="Times New Roman" panose="02020603050405020304" pitchFamily="18" charset="0"/>
                    <a:cs typeface="Times New Roman" panose="02020603050405020304" pitchFamily="18" charset="0"/>
                  </a:rPr>
                  <a:t>, </a:t>
                </a:r>
                <a14:m>
                  <m:oMath xmlns:m="http://schemas.openxmlformats.org/officeDocument/2006/math">
                    <m:r>
                      <a:rPr lang="en-GB" i="1">
                        <a:latin typeface="Cambria Math" panose="02040503050406030204" pitchFamily="18" charset="0"/>
                        <a:cs typeface="Times New Roman" panose="02020603050405020304" pitchFamily="18" charset="0"/>
                      </a:rPr>
                      <m:t>𝑛</m:t>
                    </m:r>
                    <m:r>
                      <a:rPr lang="en-GB" i="1">
                        <a:latin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is large, 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unknown</a:t>
                </a:r>
                <a:r>
                  <a:rPr lang="en-IN" dirty="0">
                    <a:latin typeface="Times New Roman" panose="02020603050405020304" pitchFamily="18" charset="0"/>
                    <a:cs typeface="Times New Roman" panose="02020603050405020304" pitchFamily="18" charset="0"/>
                  </a:rPr>
                  <a:t>, the </a:t>
                </a:r>
                <a14:m>
                  <m:oMath xmlns:m="http://schemas.openxmlformats.org/officeDocument/2006/math">
                    <m:d>
                      <m:dPr>
                        <m:ctrlPr>
                          <a:rPr lang="en-IN" i="1">
                            <a:latin typeface="Cambria Math" panose="02040503050406030204" pitchFamily="18" charset="0"/>
                            <a:cs typeface="Times New Roman" panose="02020603050405020304" pitchFamily="18" charset="0"/>
                          </a:rPr>
                        </m:ctrlPr>
                      </m:dPr>
                      <m:e>
                        <m:r>
                          <a:rPr lang="en-GB" i="1">
                            <a:latin typeface="Cambria Math" panose="02040503050406030204" pitchFamily="18" charset="0"/>
                            <a:cs typeface="Times New Roman" panose="02020603050405020304" pitchFamily="18" charset="0"/>
                          </a:rPr>
                          <m:t>1−</m:t>
                        </m:r>
                        <m:r>
                          <a:rPr lang="en-GB" i="1">
                            <a:latin typeface="Cambria Math" panose="02040503050406030204" pitchFamily="18" charset="0"/>
                            <a:ea typeface="Cambria Math" panose="02040503050406030204" pitchFamily="18" charset="0"/>
                            <a:cs typeface="Times New Roman" panose="02020603050405020304" pitchFamily="18" charset="0"/>
                          </a:rPr>
                          <m:t>𝛼</m:t>
                        </m:r>
                      </m:e>
                    </m:d>
                    <m:r>
                      <a:rPr lang="en-GB" i="1">
                        <a:latin typeface="Cambria Math" panose="02040503050406030204" pitchFamily="18" charset="0"/>
                        <a:cs typeface="Times New Roman" panose="02020603050405020304" pitchFamily="18" charset="0"/>
                      </a:rPr>
                      <m:t>∗100</m:t>
                    </m:r>
                    <m:r>
                      <a:rPr lang="en-GB" i="1">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latin typeface="Times New Roman" panose="02020603050405020304" pitchFamily="18" charset="0"/>
                    <a:cs typeface="Times New Roman" panose="02020603050405020304" pitchFamily="18" charset="0"/>
                  </a:rPr>
                  <a:t> confidence interval for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 − </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r>
                          <a:rPr lang="en-GB" i="1">
                            <a:latin typeface="Cambria Math" panose="02040503050406030204" pitchFamily="18" charset="0"/>
                            <a:cs typeface="Times New Roman" panose="02020603050405020304" pitchFamily="18" charset="0"/>
                          </a:rPr>
                          <m:t> </m:t>
                        </m:r>
                      </m:sub>
                    </m:sSub>
                  </m:oMath>
                </a14:m>
                <a:r>
                  <a:rPr lang="en-IN"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d>
                        <m:dPr>
                          <m:ctrlPr>
                            <a:rPr lang="en-GB" i="1">
                              <a:solidFill>
                                <a:srgbClr val="0070C0"/>
                              </a:solidFill>
                              <a:latin typeface="Cambria Math" panose="02040503050406030204" pitchFamily="18" charset="0"/>
                              <a:cs typeface="Times New Roman" panose="02020603050405020304" pitchFamily="18" charset="0"/>
                            </a:rPr>
                          </m:ctrlPr>
                        </m:dPr>
                        <m:e>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𝑆</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r>
                            <a:rPr lang="en-GB" i="1">
                              <a:solidFill>
                                <a:srgbClr val="0070C0"/>
                              </a:solidFill>
                              <a:latin typeface="Cambria Math" panose="02040503050406030204" pitchFamily="18" charset="0"/>
                              <a:cs typeface="Times New Roman" panose="02020603050405020304" pitchFamily="18" charset="0"/>
                            </a:rPr>
                            <m:t>  ,</m:t>
                          </m:r>
                          <m:acc>
                            <m:accPr>
                              <m:chr m:val="̅"/>
                              <m:ctrlPr>
                                <a:rPr lang="en-IN"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𝑍</m:t>
                              </m:r>
                            </m:e>
                            <m:sub>
                              <m:f>
                                <m:fPr>
                                  <m:type m:val="skw"/>
                                  <m:ctrlPr>
                                    <a:rPr lang="en-GB" i="1">
                                      <a:solidFill>
                                        <a:srgbClr val="0070C0"/>
                                      </a:solidFill>
                                      <a:latin typeface="Cambria Math" panose="02040503050406030204" pitchFamily="18" charset="0"/>
                                      <a:cs typeface="Times New Roman" panose="02020603050405020304" pitchFamily="18" charset="0"/>
                                    </a:rPr>
                                  </m:ctrlPr>
                                </m:fPr>
                                <m:num>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GB" i="1">
                                      <a:solidFill>
                                        <a:srgbClr val="0070C0"/>
                                      </a:solidFill>
                                      <a:latin typeface="Cambria Math" panose="02040503050406030204" pitchFamily="18" charset="0"/>
                                      <a:cs typeface="Times New Roman" panose="02020603050405020304" pitchFamily="18" charset="0"/>
                                    </a:rPr>
                                    <m:t>2</m:t>
                                  </m:r>
                                </m:den>
                              </m:f>
                            </m:sub>
                          </m:sSub>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𝑆</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e>
                      </m:d>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7624" y="548680"/>
                <a:ext cx="7355160" cy="4525963"/>
              </a:xfrm>
              <a:blipFill>
                <a:blip r:embed="rId2"/>
                <a:stretch>
                  <a:fillRect l="-2156" t="-1887" r="-207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41</a:t>
            </a:fld>
            <a:endParaRPr lang="en-US" altLang="zh-CN"/>
          </a:p>
        </p:txBody>
      </p:sp>
      <p:sp>
        <p:nvSpPr>
          <p:cNvPr id="2" name="Date Placeholder 1"/>
          <p:cNvSpPr>
            <a:spLocks noGrp="1"/>
          </p:cNvSpPr>
          <p:nvPr>
            <p:ph type="dt" sz="half" idx="10"/>
          </p:nvPr>
        </p:nvSpPr>
        <p:spPr/>
        <p:txBody>
          <a:bodyPr/>
          <a:lstStyle/>
          <a:p>
            <a:pPr>
              <a:defRPr/>
            </a:pPr>
            <a:fld id="{0514D7AA-F8BD-4EB7-B648-941110A6ED31}"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3824044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8196" y="620688"/>
            <a:ext cx="7499176"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Note that </a:t>
            </a:r>
            <a:r>
              <a:rPr lang="en-IN" dirty="0">
                <a:latin typeface="Times New Roman" panose="02020603050405020304" pitchFamily="18" charset="0"/>
                <a:cs typeface="Times New Roman" panose="02020603050405020304" pitchFamily="18" charset="0"/>
              </a:rPr>
              <a:t>since the measurements are on the same subjects, if there is no real difference in terms of the factor of interest, the distributions of the differences are often normal. Hence the situation 2 is a very common phenomenon.</a:t>
            </a:r>
          </a:p>
          <a:p>
            <a:pPr marL="0" indent="0">
              <a:buNone/>
            </a:pPr>
            <a:endParaRPr lang="en-GB" dirty="0"/>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42</a:t>
            </a:fld>
            <a:endParaRPr lang="en-US" altLang="zh-CN"/>
          </a:p>
        </p:txBody>
      </p:sp>
      <p:sp>
        <p:nvSpPr>
          <p:cNvPr id="2" name="Date Placeholder 1"/>
          <p:cNvSpPr>
            <a:spLocks noGrp="1"/>
          </p:cNvSpPr>
          <p:nvPr>
            <p:ph type="dt" sz="half" idx="10"/>
          </p:nvPr>
        </p:nvSpPr>
        <p:spPr/>
        <p:txBody>
          <a:bodyPr/>
          <a:lstStyle/>
          <a:p>
            <a:pPr>
              <a:defRPr/>
            </a:pPr>
            <a:fld id="{5AE17CA7-1FDB-4ED7-86E9-928BE443A394}"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227292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9776"/>
            <a:ext cx="8229600" cy="1143000"/>
          </a:xfrm>
        </p:spPr>
        <p:txBody>
          <a:bodyPr/>
          <a:lstStyle/>
          <a:p>
            <a:pPr algn="ctr"/>
            <a:r>
              <a:rPr lang="en-IN"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Testing for the difference between two</a:t>
            </a:r>
            <a:br>
              <a:rPr lang="en-IN"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IN"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dependent population means</a:t>
            </a:r>
            <a:endParaRPr lang="en-GB"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19672" y="1600202"/>
                <a:ext cx="7067128"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        </m:t>
                    </m:r>
                    <m:r>
                      <a:rPr lang="en-GB"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0</m:t>
                    </m:r>
                  </m:oMath>
                </a14:m>
                <a:endParaRPr lang="en-GB" i="1" dirty="0">
                  <a:latin typeface="Cambria Math" panose="020405030504060302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GB"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GB"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US" i="1">
                        <a:latin typeface="Cambria Math" panose="02040503050406030204" pitchFamily="18" charset="0"/>
                        <a:ea typeface="Cambria Math" panose="02040503050406030204" pitchFamily="18" charset="0"/>
                        <a:cs typeface="Times New Roman" panose="02020603050405020304" pitchFamily="18" charset="0"/>
                      </a:rPr>
                      <m:t>&lt;</m:t>
                    </m:r>
                    <m:r>
                      <a:rPr lang="en-GB" i="1">
                        <a:latin typeface="Cambria Math" panose="02040503050406030204" pitchFamily="18" charset="0"/>
                        <a:cs typeface="Times New Roman" panose="02020603050405020304" pitchFamily="18" charset="0"/>
                      </a:rPr>
                      <m:t>0</m:t>
                    </m:r>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m:t>
                    </m:r>
                    <m:r>
                      <a:rPr lang="en-GB" i="1">
                        <a:latin typeface="Cambria Math" panose="02040503050406030204" pitchFamily="18" charset="0"/>
                        <a:cs typeface="Times New Roman" panose="02020603050405020304" pitchFamily="18" charset="0"/>
                      </a:rPr>
                      <m:t>       </m:t>
                    </m:r>
                    <m:r>
                      <a:rPr lang="en-GB"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0</m:t>
                    </m:r>
                  </m:oMath>
                </a14:m>
                <a:endParaRPr lang="en-GB" i="1" dirty="0">
                  <a:latin typeface="Cambria Math" panose="020405030504060302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14:m>
                  <m:oMath xmlns:m="http://schemas.openxmlformats.org/officeDocument/2006/math">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US" i="1">
                        <a:latin typeface="Cambria Math" panose="02040503050406030204" pitchFamily="18" charset="0"/>
                        <a:ea typeface="Cambria Math" panose="02040503050406030204" pitchFamily="18" charset="0"/>
                        <a:cs typeface="Times New Roman" panose="02020603050405020304" pitchFamily="18" charset="0"/>
                      </a:rPr>
                      <m:t>&gt;</m:t>
                    </m:r>
                    <m:r>
                      <a:rPr lang="en-GB" i="1">
                        <a:latin typeface="Cambria Math" panose="02040503050406030204" pitchFamily="18" charset="0"/>
                        <a:cs typeface="Times New Roman" panose="02020603050405020304" pitchFamily="18" charset="0"/>
                      </a:rPr>
                      <m:t>0</m:t>
                    </m:r>
                  </m:oMath>
                </a14:m>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       </m:t>
                    </m:r>
                    <m:r>
                      <a:rPr lang="en-GB"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GB" i="1">
                        <a:latin typeface="Cambria Math" panose="02040503050406030204" pitchFamily="18" charset="0"/>
                        <a:ea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0</m:t>
                    </m:r>
                  </m:oMath>
                </a14:m>
                <a:endParaRPr lang="en-GB" i="1" dirty="0">
                  <a:latin typeface="Cambria Math" panose="020405030504060302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14:m>
                  <m:oMath xmlns:m="http://schemas.openxmlformats.org/officeDocument/2006/math">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𝐷</m:t>
                        </m:r>
                      </m:sub>
                    </m:sSub>
                    <m:r>
                      <a:rPr lang="en-US" i="1">
                        <a:latin typeface="Cambria Math" panose="02040503050406030204" pitchFamily="18" charset="0"/>
                        <a:ea typeface="Cambria Math" panose="02040503050406030204" pitchFamily="18" charset="0"/>
                        <a:cs typeface="Times New Roman" panose="02020603050405020304" pitchFamily="18" charset="0"/>
                      </a:rPr>
                      <m:t>≠</m:t>
                    </m:r>
                    <m:r>
                      <a:rPr lang="en-GB" i="1">
                        <a:latin typeface="Cambria Math" panose="02040503050406030204" pitchFamily="18" charset="0"/>
                        <a:cs typeface="Times New Roman" panose="02020603050405020304" pitchFamily="18" charset="0"/>
                      </a:rPr>
                      <m:t>0</m:t>
                    </m:r>
                  </m:oMath>
                </a14:m>
                <a:endParaRPr lang="en-US" dirty="0">
                  <a:latin typeface="Times New Roman" panose="020206030504050203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endParaRPr lang="en-US"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19672" y="1600202"/>
                <a:ext cx="7067128" cy="4525963"/>
              </a:xfrm>
              <a:blipFill>
                <a:blip r:embed="rId2"/>
                <a:stretch>
                  <a:fillRect l="-2243" t="-1887" b="-2022"/>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43</a:t>
            </a:fld>
            <a:endParaRPr lang="en-US" altLang="zh-CN"/>
          </a:p>
        </p:txBody>
      </p:sp>
      <p:sp>
        <p:nvSpPr>
          <p:cNvPr id="5" name="Date Placeholder 4"/>
          <p:cNvSpPr>
            <a:spLocks noGrp="1"/>
          </p:cNvSpPr>
          <p:nvPr>
            <p:ph type="dt" sz="half" idx="10"/>
          </p:nvPr>
        </p:nvSpPr>
        <p:spPr/>
        <p:txBody>
          <a:bodyPr/>
          <a:lstStyle/>
          <a:p>
            <a:pPr>
              <a:defRPr/>
            </a:pPr>
            <a:fld id="{643683E5-5B30-47ED-8039-056F89589D79}"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180047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548680"/>
                <a:ext cx="7427168"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1: </a:t>
                </a: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oMath>
                </a14:m>
                <a:r>
                  <a:rPr lang="en-IN" dirty="0">
                    <a:solidFill>
                      <a:srgbClr val="00B050"/>
                    </a:solidFill>
                    <a:latin typeface="Times New Roman" panose="02020603050405020304" pitchFamily="18" charset="0"/>
                    <a:cs typeface="Times New Roman" panose="02020603050405020304" pitchFamily="18" charset="0"/>
                  </a:rPr>
                  <a:t> is normal </a:t>
                </a:r>
                <a:r>
                  <a:rPr lang="en-IN" dirty="0">
                    <a:latin typeface="Times New Roman" panose="02020603050405020304" pitchFamily="18" charset="0"/>
                    <a:cs typeface="Times New Roman" panose="02020603050405020304" pitchFamily="18" charset="0"/>
                  </a:rPr>
                  <a:t>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known</a:t>
                </a:r>
                <a:r>
                  <a:rPr lang="en-IN" dirty="0">
                    <a:latin typeface="Times New Roman" panose="02020603050405020304" pitchFamily="18" charset="0"/>
                    <a:cs typeface="Times New Roman" panose="02020603050405020304" pitchFamily="18" charset="0"/>
                  </a:rPr>
                  <a:t>, the test statistic is</a:t>
                </a:r>
              </a:p>
              <a:p>
                <a:pPr marL="0" indent="0" algn="just">
                  <a:buNone/>
                </a:pPr>
                <a14:m>
                  <m:oMathPara xmlns:m="http://schemas.openxmlformats.org/officeDocument/2006/math">
                    <m:oMathParaPr>
                      <m:jc m:val="centerGroup"/>
                    </m:oMathParaPr>
                    <m:oMath xmlns:m="http://schemas.openxmlformats.org/officeDocument/2006/math">
                      <m:r>
                        <a:rPr lang="en-GB" i="1" smtClean="0">
                          <a:solidFill>
                            <a:srgbClr val="0070C0"/>
                          </a:solidFill>
                          <a:latin typeface="Cambria Math" panose="02040503050406030204" pitchFamily="18" charset="0"/>
                          <a:cs typeface="Times New Roman" panose="02020603050405020304" pitchFamily="18" charset="0"/>
                        </a:rPr>
                        <m:t>𝑍</m:t>
                      </m:r>
                      <m:r>
                        <a:rPr lang="en-GB" i="1" smtClean="0">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acc>
                            <m:accPr>
                              <m:chr m:val="̅"/>
                              <m:ctrlPr>
                                <a:rPr lang="en-GB"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𝐷</m:t>
                              </m:r>
                            </m:sub>
                          </m:sSub>
                        </m:num>
                        <m:den>
                          <m:f>
                            <m:fPr>
                              <m:type m:val="skw"/>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den>
                      </m:f>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548680"/>
                <a:ext cx="7427168" cy="4525963"/>
              </a:xfrm>
              <a:blipFill>
                <a:blip r:embed="rId2"/>
                <a:stretch>
                  <a:fillRect l="-2135" t="-1887" r="-205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44</a:t>
            </a:fld>
            <a:endParaRPr lang="en-US" altLang="zh-CN"/>
          </a:p>
        </p:txBody>
      </p:sp>
      <p:sp>
        <p:nvSpPr>
          <p:cNvPr id="2" name="Date Placeholder 1"/>
          <p:cNvSpPr>
            <a:spLocks noGrp="1"/>
          </p:cNvSpPr>
          <p:nvPr>
            <p:ph type="dt" sz="half" idx="10"/>
          </p:nvPr>
        </p:nvSpPr>
        <p:spPr/>
        <p:txBody>
          <a:bodyPr/>
          <a:lstStyle/>
          <a:p>
            <a:pPr>
              <a:defRPr/>
            </a:pPr>
            <a:fld id="{DF5FD6F3-CB74-4030-8126-A46BEF4E1E8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7619404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20688"/>
                <a:ext cx="7427168"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2  </a:t>
                </a: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oMath>
                </a14:m>
                <a:r>
                  <a:rPr lang="en-IN" dirty="0">
                    <a:solidFill>
                      <a:srgbClr val="00B050"/>
                    </a:solidFill>
                    <a:latin typeface="Times New Roman" panose="02020603050405020304" pitchFamily="18" charset="0"/>
                    <a:cs typeface="Times New Roman" panose="02020603050405020304" pitchFamily="18" charset="0"/>
                  </a:rPr>
                  <a:t> is normal </a:t>
                </a:r>
                <a:r>
                  <a:rPr lang="en-IN" dirty="0">
                    <a:latin typeface="Times New Roman" panose="02020603050405020304" pitchFamily="18" charset="0"/>
                    <a:cs typeface="Times New Roman" panose="02020603050405020304" pitchFamily="18" charset="0"/>
                  </a:rPr>
                  <a:t>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unknown</a:t>
                </a:r>
                <a:r>
                  <a:rPr lang="en-IN" dirty="0">
                    <a:latin typeface="Times New Roman" panose="02020603050405020304" pitchFamily="18" charset="0"/>
                    <a:cs typeface="Times New Roman" panose="02020603050405020304" pitchFamily="18" charset="0"/>
                  </a:rPr>
                  <a:t>, the statistic is </a:t>
                </a:r>
              </a:p>
              <a:p>
                <a:pPr marL="0" indent="0" algn="just">
                  <a:buNone/>
                </a:pPr>
                <a14:m>
                  <m:oMathPara xmlns:m="http://schemas.openxmlformats.org/officeDocument/2006/math">
                    <m:oMathParaPr>
                      <m:jc m:val="centerGroup"/>
                    </m:oMathParaPr>
                    <m:oMath xmlns:m="http://schemas.openxmlformats.org/officeDocument/2006/math">
                      <m:r>
                        <a:rPr lang="en-GB" b="0" i="1" smtClean="0">
                          <a:solidFill>
                            <a:srgbClr val="0070C0"/>
                          </a:solidFill>
                          <a:latin typeface="Cambria Math" panose="02040503050406030204" pitchFamily="18" charset="0"/>
                          <a:cs typeface="Times New Roman" panose="02020603050405020304" pitchFamily="18" charset="0"/>
                        </a:rPr>
                        <m:t>𝑇</m:t>
                      </m:r>
                      <m:r>
                        <a:rPr lang="en-GB" i="1">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acc>
                            <m:accPr>
                              <m:chr m:val="̅"/>
                              <m:ctrlPr>
                                <a:rPr lang="en-GB"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𝐷</m:t>
                              </m:r>
                            </m:sub>
                          </m:sSub>
                        </m:num>
                        <m:den>
                          <m:f>
                            <m:fPr>
                              <m:type m:val="skw"/>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cs typeface="Times New Roman" panose="02020603050405020304" pitchFamily="18" charset="0"/>
                                    </a:rPr>
                                    <m:t>𝑆</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den>
                      </m:f>
                    </m:oMath>
                  </m:oMathPara>
                </a14:m>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T has a t distribution with </a:t>
                </a:r>
                <a14:m>
                  <m:oMath xmlns:m="http://schemas.openxmlformats.org/officeDocument/2006/math">
                    <m:d>
                      <m:dPr>
                        <m:ctrlPr>
                          <a:rPr lang="en-IN" i="1" smtClean="0">
                            <a:solidFill>
                              <a:srgbClr val="0070C0"/>
                            </a:solidFill>
                            <a:latin typeface="Cambria Math" panose="02040503050406030204" pitchFamily="18" charset="0"/>
                            <a:cs typeface="Times New Roman" panose="02020603050405020304" pitchFamily="18" charset="0"/>
                          </a:rPr>
                        </m:ctrlPr>
                      </m:dPr>
                      <m:e>
                        <m:r>
                          <a:rPr lang="en-GB" b="0" i="1" smtClean="0">
                            <a:solidFill>
                              <a:srgbClr val="0070C0"/>
                            </a:solidFill>
                            <a:latin typeface="Cambria Math" panose="02040503050406030204" pitchFamily="18" charset="0"/>
                            <a:cs typeface="Times New Roman" panose="02020603050405020304" pitchFamily="18" charset="0"/>
                          </a:rPr>
                          <m:t>𝑛</m:t>
                        </m:r>
                        <m:r>
                          <a:rPr lang="en-GB" b="0" i="1" smtClean="0">
                            <a:solidFill>
                              <a:srgbClr val="0070C0"/>
                            </a:solidFill>
                            <a:latin typeface="Cambria Math" panose="02040503050406030204" pitchFamily="18" charset="0"/>
                            <a:cs typeface="Times New Roman" panose="02020603050405020304" pitchFamily="18" charset="0"/>
                          </a:rPr>
                          <m:t>−1</m:t>
                        </m:r>
                      </m:e>
                    </m:d>
                  </m:oMath>
                </a14:m>
                <a:r>
                  <a:rPr lang="en-IN" dirty="0">
                    <a:latin typeface="Times New Roman" panose="02020603050405020304" pitchFamily="18" charset="0"/>
                    <a:cs typeface="Times New Roman" panose="02020603050405020304" pitchFamily="18" charset="0"/>
                  </a:rPr>
                  <a:t> degrees of freedom</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20688"/>
                <a:ext cx="7427168" cy="4525963"/>
              </a:xfrm>
              <a:blipFill>
                <a:blip r:embed="rId2"/>
                <a:stretch>
                  <a:fillRect l="-2135" t="-1887" r="-2053" b="-5526"/>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45</a:t>
            </a:fld>
            <a:endParaRPr lang="en-US" altLang="zh-CN"/>
          </a:p>
        </p:txBody>
      </p:sp>
      <p:sp>
        <p:nvSpPr>
          <p:cNvPr id="2" name="Date Placeholder 1"/>
          <p:cNvSpPr>
            <a:spLocks noGrp="1"/>
          </p:cNvSpPr>
          <p:nvPr>
            <p:ph type="dt" sz="half" idx="10"/>
          </p:nvPr>
        </p:nvSpPr>
        <p:spPr/>
        <p:txBody>
          <a:bodyPr/>
          <a:lstStyle/>
          <a:p>
            <a:pPr>
              <a:defRPr/>
            </a:pPr>
            <a:fld id="{C1114AA4-A79D-4702-AA51-7346F8772E07}"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333341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08374" y="620688"/>
                <a:ext cx="7355160"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3 </a:t>
                </a: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not normal,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𝑛</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large</a:t>
                </a:r>
                <a:r>
                  <a:rPr lang="en-IN" dirty="0">
                    <a:latin typeface="Times New Roman" panose="02020603050405020304" pitchFamily="18" charset="0"/>
                    <a:cs typeface="Times New Roman" panose="02020603050405020304" pitchFamily="18" charset="0"/>
                  </a:rPr>
                  <a:t>, and the </a:t>
                </a:r>
                <a:r>
                  <a:rPr lang="en-IN" dirty="0">
                    <a:solidFill>
                      <a:srgbClr val="00B050"/>
                    </a:solidFill>
                    <a:latin typeface="Times New Roman" panose="02020603050405020304" pitchFamily="18" charset="0"/>
                    <a:cs typeface="Times New Roman" panose="02020603050405020304" pitchFamily="18" charset="0"/>
                  </a:rPr>
                  <a:t>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known</a:t>
                </a:r>
                <a:r>
                  <a:rPr lang="en-IN" dirty="0">
                    <a:latin typeface="Times New Roman" panose="02020603050405020304" pitchFamily="18" charset="0"/>
                    <a:cs typeface="Times New Roman" panose="02020603050405020304" pitchFamily="18" charset="0"/>
                  </a:rPr>
                  <a:t>, the test statistic is</a:t>
                </a:r>
              </a:p>
              <a:p>
                <a:pPr marL="0" indent="0" algn="just">
                  <a:buNone/>
                </a:pPr>
                <a14:m>
                  <m:oMathPara xmlns:m="http://schemas.openxmlformats.org/officeDocument/2006/math">
                    <m:oMathParaPr>
                      <m:jc m:val="centerGroup"/>
                    </m:oMathParaPr>
                    <m:oMath xmlns:m="http://schemas.openxmlformats.org/officeDocument/2006/math">
                      <m:r>
                        <a:rPr lang="en-GB" i="1" smtClean="0">
                          <a:solidFill>
                            <a:srgbClr val="0070C0"/>
                          </a:solidFill>
                          <a:latin typeface="Cambria Math" panose="02040503050406030204" pitchFamily="18" charset="0"/>
                          <a:cs typeface="Times New Roman" panose="02020603050405020304" pitchFamily="18" charset="0"/>
                        </a:rPr>
                        <m:t>𝑍</m:t>
                      </m:r>
                      <m:r>
                        <a:rPr lang="en-GB" i="1" smtClean="0">
                          <a:solidFill>
                            <a:srgbClr val="0070C0"/>
                          </a:solidFill>
                          <a:latin typeface="Cambria Math" panose="02040503050406030204" pitchFamily="18" charset="0"/>
                          <a:cs typeface="Times New Roman" panose="02020603050405020304" pitchFamily="18" charset="0"/>
                        </a:rPr>
                        <m:t>=</m:t>
                      </m:r>
                      <m:f>
                        <m:fPr>
                          <m:ctrlPr>
                            <a:rPr lang="en-GB" i="1">
                              <a:solidFill>
                                <a:srgbClr val="0070C0"/>
                              </a:solidFill>
                              <a:latin typeface="Cambria Math" panose="02040503050406030204" pitchFamily="18" charset="0"/>
                              <a:cs typeface="Times New Roman" panose="02020603050405020304" pitchFamily="18" charset="0"/>
                            </a:rPr>
                          </m:ctrlPr>
                        </m:fPr>
                        <m:num>
                          <m:acc>
                            <m:accPr>
                              <m:chr m:val="̅"/>
                              <m:ctrlPr>
                                <a:rPr lang="en-GB"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𝐷</m:t>
                              </m:r>
                            </m:e>
                          </m:acc>
                          <m:r>
                            <a:rPr lang="en-GB" i="1">
                              <a:solidFill>
                                <a:srgbClr val="0070C0"/>
                              </a:solidFill>
                              <a:latin typeface="Cambria Math" panose="02040503050406030204" pitchFamily="18" charset="0"/>
                              <a:cs typeface="Times New Roman" panose="02020603050405020304" pitchFamily="18" charset="0"/>
                            </a:rPr>
                            <m:t>−</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𝐷</m:t>
                              </m:r>
                            </m:sub>
                          </m:sSub>
                        </m:num>
                        <m:den>
                          <m:f>
                            <m:fPr>
                              <m:type m:val="skw"/>
                              <m:ctrlPr>
                                <a:rPr lang="en-GB" i="1">
                                  <a:solidFill>
                                    <a:srgbClr val="0070C0"/>
                                  </a:solidFill>
                                  <a:latin typeface="Cambria Math" panose="02040503050406030204" pitchFamily="18" charset="0"/>
                                  <a:cs typeface="Times New Roman" panose="02020603050405020304" pitchFamily="18" charset="0"/>
                                </a:rPr>
                              </m:ctrlPr>
                            </m:fPr>
                            <m:num>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i="1">
                                      <a:solidFill>
                                        <a:srgbClr val="0070C0"/>
                                      </a:solidFill>
                                      <a:latin typeface="Cambria Math" panose="02040503050406030204" pitchFamily="18" charset="0"/>
                                      <a:cs typeface="Times New Roman" panose="02020603050405020304" pitchFamily="18" charset="0"/>
                                    </a:rPr>
                                  </m:ctrlPr>
                                </m:radPr>
                                <m:deg/>
                                <m:e>
                                  <m:r>
                                    <a:rPr lang="en-GB" i="1">
                                      <a:solidFill>
                                        <a:srgbClr val="0070C0"/>
                                      </a:solidFill>
                                      <a:latin typeface="Cambria Math" panose="02040503050406030204" pitchFamily="18" charset="0"/>
                                      <a:cs typeface="Times New Roman" panose="02020603050405020304" pitchFamily="18" charset="0"/>
                                    </a:rPr>
                                    <m:t>𝑛</m:t>
                                  </m:r>
                                </m:e>
                              </m:rad>
                            </m:den>
                          </m:f>
                        </m:den>
                      </m:f>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08374" y="620688"/>
                <a:ext cx="7355160" cy="4525963"/>
              </a:xfrm>
              <a:blipFill>
                <a:blip r:embed="rId2"/>
                <a:stretch>
                  <a:fillRect l="-2156" t="-1887" r="-207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46</a:t>
            </a:fld>
            <a:endParaRPr lang="en-US" altLang="zh-CN"/>
          </a:p>
        </p:txBody>
      </p:sp>
      <p:sp>
        <p:nvSpPr>
          <p:cNvPr id="2" name="Date Placeholder 1"/>
          <p:cNvSpPr>
            <a:spLocks noGrp="1"/>
          </p:cNvSpPr>
          <p:nvPr>
            <p:ph type="dt" sz="half" idx="10"/>
          </p:nvPr>
        </p:nvSpPr>
        <p:spPr/>
        <p:txBody>
          <a:bodyPr/>
          <a:lstStyle/>
          <a:p>
            <a:pPr>
              <a:defRPr/>
            </a:pPr>
            <a:fld id="{6DD2A66A-13DF-4AFB-A5D1-3DC1C4890682}"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265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7624" y="620688"/>
                <a:ext cx="7499176"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Case 4 </a:t>
                </a:r>
                <a:r>
                  <a:rPr lang="en-IN" dirty="0">
                    <a:latin typeface="Times New Roman" panose="02020603050405020304" pitchFamily="18" charset="0"/>
                    <a:cs typeface="Times New Roman" panose="02020603050405020304" pitchFamily="18" charset="0"/>
                  </a:rPr>
                  <a:t>When the population distribution of the differences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𝐷</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not normal, </a:t>
                </a:r>
                <a14:m>
                  <m:oMath xmlns:m="http://schemas.openxmlformats.org/officeDocument/2006/math">
                    <m:r>
                      <a:rPr lang="en-GB" i="1">
                        <a:solidFill>
                          <a:srgbClr val="00B050"/>
                        </a:solidFill>
                        <a:latin typeface="Cambria Math" panose="02040503050406030204" pitchFamily="18" charset="0"/>
                        <a:cs typeface="Times New Roman" panose="02020603050405020304" pitchFamily="18" charset="0"/>
                      </a:rPr>
                      <m:t>𝑛</m:t>
                    </m:r>
                    <m:r>
                      <a:rPr lang="en-GB" i="1">
                        <a:solidFill>
                          <a:srgbClr val="00B050"/>
                        </a:solidFill>
                        <a:latin typeface="Cambria Math" panose="02040503050406030204" pitchFamily="18" charset="0"/>
                        <a:cs typeface="Times New Roman" panose="02020603050405020304" pitchFamily="18" charset="0"/>
                      </a:rPr>
                      <m:t> </m:t>
                    </m:r>
                  </m:oMath>
                </a14:m>
                <a:r>
                  <a:rPr lang="en-IN" dirty="0">
                    <a:solidFill>
                      <a:srgbClr val="00B050"/>
                    </a:solidFill>
                    <a:latin typeface="Times New Roman" panose="02020603050405020304" pitchFamily="18" charset="0"/>
                    <a:cs typeface="Times New Roman" panose="02020603050405020304" pitchFamily="18" charset="0"/>
                  </a:rPr>
                  <a:t>is large</a:t>
                </a:r>
                <a:r>
                  <a:rPr lang="en-IN" dirty="0">
                    <a:latin typeface="Times New Roman" panose="02020603050405020304" pitchFamily="18" charset="0"/>
                    <a:cs typeface="Times New Roman" panose="02020603050405020304" pitchFamily="18" charset="0"/>
                  </a:rPr>
                  <a:t>, and the population variance </a:t>
                </a:r>
                <a14:m>
                  <m:oMath xmlns:m="http://schemas.openxmlformats.org/officeDocument/2006/math">
                    <m:sSubSup>
                      <m:sSubSupPr>
                        <m:ctrlPr>
                          <a:rPr lang="en-GB" i="1">
                            <a:solidFill>
                              <a:srgbClr val="00B050"/>
                            </a:solidFill>
                            <a:latin typeface="Cambria Math" panose="02040503050406030204" pitchFamily="18" charset="0"/>
                            <a:cs typeface="Times New Roman" panose="02020603050405020304" pitchFamily="18" charset="0"/>
                          </a:rPr>
                        </m:ctrlPr>
                      </m:sSubSupPr>
                      <m:e>
                        <m:r>
                          <a:rPr lang="en-GB" i="1">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GB" i="1">
                            <a:solidFill>
                              <a:srgbClr val="00B050"/>
                            </a:solidFill>
                            <a:latin typeface="Cambria Math" panose="02040503050406030204" pitchFamily="18" charset="0"/>
                            <a:cs typeface="Times New Roman" panose="02020603050405020304" pitchFamily="18" charset="0"/>
                          </a:rPr>
                          <m:t>𝐷</m:t>
                        </m:r>
                      </m:sub>
                      <m:sup>
                        <m:r>
                          <a:rPr lang="en-GB" i="1">
                            <a:solidFill>
                              <a:srgbClr val="00B050"/>
                            </a:solidFill>
                            <a:latin typeface="Cambria Math" panose="02040503050406030204" pitchFamily="18" charset="0"/>
                            <a:cs typeface="Times New Roman" panose="02020603050405020304" pitchFamily="18" charset="0"/>
                          </a:rPr>
                          <m:t>2</m:t>
                        </m:r>
                      </m:sup>
                    </m:sSubSup>
                  </m:oMath>
                </a14:m>
                <a:r>
                  <a:rPr lang="en-IN" dirty="0">
                    <a:solidFill>
                      <a:srgbClr val="00B050"/>
                    </a:solidFill>
                    <a:latin typeface="Times New Roman" panose="02020603050405020304" pitchFamily="18" charset="0"/>
                    <a:cs typeface="Times New Roman" panose="02020603050405020304" pitchFamily="18" charset="0"/>
                  </a:rPr>
                  <a:t> is unknown</a:t>
                </a:r>
                <a:r>
                  <a:rPr lang="en-IN" dirty="0">
                    <a:latin typeface="Times New Roman" panose="02020603050405020304" pitchFamily="18" charset="0"/>
                    <a:cs typeface="Times New Roman" panose="02020603050405020304" pitchFamily="18" charset="0"/>
                  </a:rPr>
                  <a:t>, the test statistic is</a:t>
                </a:r>
              </a:p>
              <a:p>
                <a:pPr marL="0" indent="0" algn="just">
                  <a:buNone/>
                </a:pPr>
                <a14:m>
                  <m:oMathPara xmlns:m="http://schemas.openxmlformats.org/officeDocument/2006/math">
                    <m:oMathParaPr>
                      <m:jc m:val="centerGroup"/>
                    </m:oMathParaPr>
                    <m:oMath xmlns:m="http://schemas.openxmlformats.org/officeDocument/2006/math">
                      <m:r>
                        <a:rPr lang="en-GB" b="0" i="1" smtClean="0">
                          <a:solidFill>
                            <a:srgbClr val="0070C0"/>
                          </a:solidFill>
                          <a:latin typeface="Cambria Math" panose="02040503050406030204" pitchFamily="18" charset="0"/>
                          <a:cs typeface="Times New Roman" panose="02020603050405020304" pitchFamily="18" charset="0"/>
                        </a:rPr>
                        <m:t>𝑍</m:t>
                      </m:r>
                      <m:r>
                        <a:rPr lang="en-GB" b="0" i="1" smtClean="0">
                          <a:solidFill>
                            <a:srgbClr val="0070C0"/>
                          </a:solidFill>
                          <a:latin typeface="Cambria Math" panose="02040503050406030204" pitchFamily="18" charset="0"/>
                          <a:cs typeface="Times New Roman" panose="02020603050405020304" pitchFamily="18" charset="0"/>
                        </a:rPr>
                        <m:t>=</m:t>
                      </m:r>
                      <m:f>
                        <m:fPr>
                          <m:ctrlPr>
                            <a:rPr lang="en-GB" b="0" i="1" smtClean="0">
                              <a:solidFill>
                                <a:srgbClr val="0070C0"/>
                              </a:solidFill>
                              <a:latin typeface="Cambria Math" panose="02040503050406030204" pitchFamily="18" charset="0"/>
                              <a:cs typeface="Times New Roman" panose="02020603050405020304" pitchFamily="18" charset="0"/>
                            </a:rPr>
                          </m:ctrlPr>
                        </m:fPr>
                        <m:num>
                          <m:acc>
                            <m:accPr>
                              <m:chr m:val="̅"/>
                              <m:ctrlPr>
                                <a:rPr lang="en-GB" b="0" i="1" smtClean="0">
                                  <a:solidFill>
                                    <a:srgbClr val="0070C0"/>
                                  </a:solidFill>
                                  <a:latin typeface="Cambria Math" panose="02040503050406030204" pitchFamily="18" charset="0"/>
                                  <a:cs typeface="Times New Roman" panose="02020603050405020304" pitchFamily="18" charset="0"/>
                                </a:rPr>
                              </m:ctrlPr>
                            </m:accPr>
                            <m:e>
                              <m:r>
                                <a:rPr lang="en-GB" b="0" i="1" smtClean="0">
                                  <a:solidFill>
                                    <a:srgbClr val="0070C0"/>
                                  </a:solidFill>
                                  <a:latin typeface="Cambria Math" panose="02040503050406030204" pitchFamily="18" charset="0"/>
                                  <a:cs typeface="Times New Roman" panose="02020603050405020304" pitchFamily="18" charset="0"/>
                                </a:rPr>
                                <m:t>𝐷</m:t>
                              </m:r>
                            </m:e>
                          </m:acc>
                          <m:r>
                            <a:rPr lang="en-GB" b="0" i="1" smtClean="0">
                              <a:solidFill>
                                <a:srgbClr val="0070C0"/>
                              </a:solidFill>
                              <a:latin typeface="Cambria Math" panose="02040503050406030204" pitchFamily="18" charset="0"/>
                              <a:cs typeface="Times New Roman" panose="02020603050405020304" pitchFamily="18" charset="0"/>
                            </a:rPr>
                            <m:t>−</m:t>
                          </m:r>
                          <m:sSub>
                            <m:sSubPr>
                              <m:ctrlPr>
                                <a:rPr lang="en-GB" b="0" i="1" smtClean="0">
                                  <a:solidFill>
                                    <a:srgbClr val="0070C0"/>
                                  </a:solidFill>
                                  <a:latin typeface="Cambria Math" panose="02040503050406030204" pitchFamily="18" charset="0"/>
                                  <a:cs typeface="Times New Roman" panose="02020603050405020304" pitchFamily="18" charset="0"/>
                                </a:rPr>
                              </m:ctrlPr>
                            </m:sSubPr>
                            <m:e>
                              <m:r>
                                <a:rPr lang="en-GB"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b="0" i="1" smtClean="0">
                                  <a:solidFill>
                                    <a:srgbClr val="0070C0"/>
                                  </a:solidFill>
                                  <a:latin typeface="Cambria Math" panose="02040503050406030204" pitchFamily="18" charset="0"/>
                                  <a:cs typeface="Times New Roman" panose="02020603050405020304" pitchFamily="18" charset="0"/>
                                </a:rPr>
                                <m:t>𝐷</m:t>
                              </m:r>
                            </m:sub>
                          </m:sSub>
                        </m:num>
                        <m:den>
                          <m:f>
                            <m:fPr>
                              <m:type m:val="skw"/>
                              <m:ctrlPr>
                                <a:rPr lang="en-GB" b="0" i="1" smtClean="0">
                                  <a:solidFill>
                                    <a:srgbClr val="0070C0"/>
                                  </a:solidFill>
                                  <a:latin typeface="Cambria Math" panose="02040503050406030204" pitchFamily="18" charset="0"/>
                                  <a:cs typeface="Times New Roman" panose="02020603050405020304" pitchFamily="18" charset="0"/>
                                </a:rPr>
                              </m:ctrlPr>
                            </m:fPr>
                            <m:num>
                              <m:sSub>
                                <m:sSubPr>
                                  <m:ctrlPr>
                                    <a:rPr lang="en-GB" b="0" i="1" smtClean="0">
                                      <a:solidFill>
                                        <a:srgbClr val="0070C0"/>
                                      </a:solidFill>
                                      <a:latin typeface="Cambria Math" panose="02040503050406030204" pitchFamily="18" charset="0"/>
                                      <a:cs typeface="Times New Roman" panose="02020603050405020304" pitchFamily="18" charset="0"/>
                                    </a:rPr>
                                  </m:ctrlPr>
                                </m:sSubPr>
                                <m:e>
                                  <m:r>
                                    <a:rPr lang="en-GB" b="0" i="1" smtClean="0">
                                      <a:solidFill>
                                        <a:srgbClr val="0070C0"/>
                                      </a:solidFill>
                                      <a:latin typeface="Cambria Math" panose="02040503050406030204" pitchFamily="18" charset="0"/>
                                      <a:cs typeface="Times New Roman" panose="02020603050405020304" pitchFamily="18" charset="0"/>
                                    </a:rPr>
                                    <m:t>𝑆</m:t>
                                  </m:r>
                                </m:e>
                                <m:sub>
                                  <m:r>
                                    <a:rPr lang="en-GB" b="0" i="1" smtClean="0">
                                      <a:solidFill>
                                        <a:srgbClr val="0070C0"/>
                                      </a:solidFill>
                                      <a:latin typeface="Cambria Math" panose="02040503050406030204" pitchFamily="18" charset="0"/>
                                      <a:cs typeface="Times New Roman" panose="02020603050405020304" pitchFamily="18" charset="0"/>
                                    </a:rPr>
                                    <m:t>𝐷</m:t>
                                  </m:r>
                                </m:sub>
                              </m:sSub>
                            </m:num>
                            <m:den>
                              <m:rad>
                                <m:radPr>
                                  <m:degHide m:val="on"/>
                                  <m:ctrlPr>
                                    <a:rPr lang="en-GB" b="0" i="1" smtClean="0">
                                      <a:solidFill>
                                        <a:srgbClr val="0070C0"/>
                                      </a:solidFill>
                                      <a:latin typeface="Cambria Math" panose="02040503050406030204" pitchFamily="18" charset="0"/>
                                      <a:cs typeface="Times New Roman" panose="02020603050405020304" pitchFamily="18" charset="0"/>
                                    </a:rPr>
                                  </m:ctrlPr>
                                </m:radPr>
                                <m:deg/>
                                <m:e>
                                  <m:r>
                                    <a:rPr lang="en-GB" b="0" i="1" smtClean="0">
                                      <a:solidFill>
                                        <a:srgbClr val="0070C0"/>
                                      </a:solidFill>
                                      <a:latin typeface="Cambria Math" panose="02040503050406030204" pitchFamily="18" charset="0"/>
                                      <a:cs typeface="Times New Roman" panose="02020603050405020304" pitchFamily="18" charset="0"/>
                                    </a:rPr>
                                    <m:t>𝑛</m:t>
                                  </m:r>
                                </m:e>
                              </m:rad>
                            </m:den>
                          </m:f>
                        </m:den>
                      </m:f>
                    </m:oMath>
                  </m:oMathPara>
                </a14:m>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7624" y="620688"/>
                <a:ext cx="7499176" cy="4525963"/>
              </a:xfrm>
              <a:blipFill>
                <a:blip r:embed="rId2"/>
                <a:stretch>
                  <a:fillRect l="-2114" t="-1887" r="-203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47</a:t>
            </a:fld>
            <a:endParaRPr lang="en-US" altLang="zh-CN"/>
          </a:p>
        </p:txBody>
      </p:sp>
      <p:sp>
        <p:nvSpPr>
          <p:cNvPr id="2" name="Date Placeholder 1"/>
          <p:cNvSpPr>
            <a:spLocks noGrp="1"/>
          </p:cNvSpPr>
          <p:nvPr>
            <p:ph type="dt" sz="half" idx="10"/>
          </p:nvPr>
        </p:nvSpPr>
        <p:spPr/>
        <p:txBody>
          <a:bodyPr/>
          <a:lstStyle/>
          <a:p>
            <a:pPr>
              <a:defRPr/>
            </a:pPr>
            <a:fld id="{14236812-841E-40E6-9BE0-774E31148721}"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161649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31640" y="764704"/>
                <a:ext cx="7355160" cy="4525963"/>
              </a:xfrm>
            </p:spPr>
            <p:txBody>
              <a:bodyPr/>
              <a:lstStyle/>
              <a:p>
                <a:pPr marL="0" indent="0" algn="just">
                  <a:buNone/>
                </a:pPr>
                <a:r>
                  <a:rPr lang="en-IN" dirty="0">
                    <a:solidFill>
                      <a:srgbClr val="FF0000"/>
                    </a:solidFill>
                    <a:latin typeface="Times New Roman" panose="02020603050405020304" pitchFamily="18" charset="0"/>
                    <a:cs typeface="Times New Roman" panose="02020603050405020304" pitchFamily="18" charset="0"/>
                  </a:rPr>
                  <a:t>Note that </a:t>
                </a:r>
                <a14:m>
                  <m:oMath xmlns:m="http://schemas.openxmlformats.org/officeDocument/2006/math">
                    <m:sSub>
                      <m:sSubPr>
                        <m:ctrlPr>
                          <a:rPr lang="en-IN" i="1">
                            <a:solidFill>
                              <a:srgbClr val="0070C0"/>
                            </a:solidFill>
                            <a:latin typeface="Cambria Math" panose="02040503050406030204" pitchFamily="18" charset="0"/>
                            <a:cs typeface="Times New Roman" panose="02020603050405020304" pitchFamily="18" charset="0"/>
                          </a:rPr>
                        </m:ctrlPr>
                      </m:sSubPr>
                      <m:e>
                        <m:r>
                          <a:rPr lang="en-IN"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1</m:t>
                        </m:r>
                      </m:sub>
                    </m:sSub>
                    <m:r>
                      <a:rPr lang="en-GB" i="1">
                        <a:solidFill>
                          <a:srgbClr val="0070C0"/>
                        </a:solidFill>
                        <a:latin typeface="Cambria Math" panose="02040503050406030204" pitchFamily="18" charset="0"/>
                        <a:cs typeface="Times New Roman" panose="02020603050405020304" pitchFamily="18" charset="0"/>
                      </a:rPr>
                      <m:t> − </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2</m:t>
                        </m:r>
                      </m:sub>
                    </m:sSub>
                    <m:r>
                      <a:rPr lang="en-GB" i="1">
                        <a:solidFill>
                          <a:srgbClr val="0070C0"/>
                        </a:solidFill>
                        <a:latin typeface="Cambria Math" panose="02040503050406030204" pitchFamily="18" charset="0"/>
                        <a:cs typeface="Times New Roman" panose="02020603050405020304" pitchFamily="18" charset="0"/>
                      </a:rPr>
                      <m:t>=</m:t>
                    </m:r>
                    <m:sSub>
                      <m:sSubPr>
                        <m:ctrlPr>
                          <a:rPr lang="en-GB" i="1">
                            <a:solidFill>
                              <a:srgbClr val="0070C0"/>
                            </a:solidFill>
                            <a:latin typeface="Cambria Math" panose="02040503050406030204" pitchFamily="18" charset="0"/>
                            <a:cs typeface="Times New Roman" panose="02020603050405020304" pitchFamily="18" charset="0"/>
                          </a:rPr>
                        </m:ctrlPr>
                      </m:sSubPr>
                      <m:e>
                        <m:r>
                          <a:rPr lang="en-GB"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𝜇</m:t>
                        </m:r>
                      </m:e>
                      <m:sub>
                        <m:r>
                          <a:rPr lang="en-GB" i="1">
                            <a:solidFill>
                              <a:srgbClr val="0070C0"/>
                            </a:solidFill>
                            <a:latin typeface="Cambria Math" panose="02040503050406030204" pitchFamily="18" charset="0"/>
                            <a:cs typeface="Times New Roman" panose="02020603050405020304" pitchFamily="18" charset="0"/>
                          </a:rPr>
                          <m:t>𝐷</m:t>
                        </m:r>
                        <m:r>
                          <a:rPr lang="en-GB" i="1">
                            <a:solidFill>
                              <a:srgbClr val="0070C0"/>
                            </a:solidFill>
                            <a:latin typeface="Cambria Math" panose="02040503050406030204" pitchFamily="18" charset="0"/>
                            <a:cs typeface="Times New Roman" panose="02020603050405020304" pitchFamily="18" charset="0"/>
                          </a:rPr>
                          <m:t> </m:t>
                        </m:r>
                      </m:sub>
                    </m:sSub>
                  </m:oMath>
                </a14:m>
                <a:r>
                  <a:rPr lang="en-IN" dirty="0">
                    <a:solidFill>
                      <a:srgbClr val="0070C0"/>
                    </a:solidFill>
                    <a:latin typeface="Times New Roman" panose="02020603050405020304" pitchFamily="18" charset="0"/>
                    <a:cs typeface="Times New Roman" panose="02020603050405020304" pitchFamily="18" charset="0"/>
                  </a:rPr>
                  <a:t>=0 </a:t>
                </a:r>
                <a:r>
                  <a:rPr lang="en-IN" dirty="0">
                    <a:latin typeface="Times New Roman" panose="02020603050405020304" pitchFamily="18" charset="0"/>
                    <a:cs typeface="Times New Roman" panose="02020603050405020304" pitchFamily="18" charset="0"/>
                  </a:rPr>
                  <a:t>for all three cases above. But in general it is not necessarily zero as if we want to test that one mean is at least an amount higher than the other then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 − </m:t>
                    </m:r>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is that least amount, and so on.</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31640" y="764704"/>
                <a:ext cx="7355160" cy="4525963"/>
              </a:xfrm>
              <a:blipFill>
                <a:blip r:embed="rId2"/>
                <a:stretch>
                  <a:fillRect l="-2071" t="-1884" r="-207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48</a:t>
            </a:fld>
            <a:endParaRPr lang="en-US" altLang="zh-CN"/>
          </a:p>
        </p:txBody>
      </p:sp>
      <p:sp>
        <p:nvSpPr>
          <p:cNvPr id="2" name="Date Placeholder 1"/>
          <p:cNvSpPr>
            <a:spLocks noGrp="1"/>
          </p:cNvSpPr>
          <p:nvPr>
            <p:ph type="dt" sz="half" idx="10"/>
          </p:nvPr>
        </p:nvSpPr>
        <p:spPr/>
        <p:txBody>
          <a:bodyPr/>
          <a:lstStyle/>
          <a:p>
            <a:pPr>
              <a:defRPr/>
            </a:pPr>
            <a:fld id="{4A80AACA-DE2E-4D20-99AF-58B85DBD1D9C}"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5414658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274638"/>
            <a:ext cx="7571184" cy="1143000"/>
          </a:xfrm>
        </p:spPr>
        <p:txBody>
          <a:bodyPr/>
          <a:lstStyle/>
          <a:p>
            <a:pPr algn="l"/>
            <a:r>
              <a:rPr lang="en-IN"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7:</a:t>
            </a:r>
            <a:endPar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15616" y="1272288"/>
            <a:ext cx="7571184" cy="4525963"/>
          </a:xfrm>
        </p:spPr>
        <p:txBody>
          <a:bodyPr/>
          <a:lstStyle/>
          <a:p>
            <a:pPr marL="0" indent="0" algn="just">
              <a:buNone/>
            </a:pPr>
            <a:r>
              <a:rPr lang="en-IN" sz="2500" dirty="0">
                <a:latin typeface="Times New Roman" panose="02020603050405020304" pitchFamily="18" charset="0"/>
                <a:cs typeface="Times New Roman" panose="02020603050405020304" pitchFamily="18" charset="0"/>
              </a:rPr>
              <a:t>To compare the demand for two different entrees, the manager of a cafeteria recorded the number of purchases for each entrée on seven consecutive days. The data are shown in the next table: Since the cafeteria demands depend on days of the week, the data are considered to be related. Assume that the differences of the measurements follow a normal distribution.</a:t>
            </a:r>
          </a:p>
          <a:p>
            <a:pPr marL="0" indent="0" algn="just">
              <a:buNone/>
            </a:pPr>
            <a:endParaRPr lang="en-GB" sz="2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49</a:t>
            </a:fld>
            <a:endParaRPr lang="en-US" altLang="zh-CN"/>
          </a:p>
        </p:txBody>
      </p:sp>
      <p:graphicFrame>
        <p:nvGraphicFramePr>
          <p:cNvPr id="5" name="Table 4"/>
          <p:cNvGraphicFramePr>
            <a:graphicFrameLocks noGrp="1"/>
          </p:cNvGraphicFramePr>
          <p:nvPr>
            <p:extLst>
              <p:ext uri="{D42A27DB-BD31-4B8C-83A1-F6EECF244321}">
                <p14:modId xmlns:p14="http://schemas.microsoft.com/office/powerpoint/2010/main" val="3917989864"/>
              </p:ext>
            </p:extLst>
          </p:nvPr>
        </p:nvGraphicFramePr>
        <p:xfrm>
          <a:off x="1115616" y="4149080"/>
          <a:ext cx="7957762" cy="1112520"/>
        </p:xfrm>
        <a:graphic>
          <a:graphicData uri="http://schemas.openxmlformats.org/drawingml/2006/table">
            <a:tbl>
              <a:tblPr firstRow="1" bandRow="1">
                <a:tableStyleId>{21E4AEA4-8DFA-4A89-87EB-49C32662AFE0}</a:tableStyleId>
              </a:tblPr>
              <a:tblGrid>
                <a:gridCol w="396922">
                  <a:extLst>
                    <a:ext uri="{9D8B030D-6E8A-4147-A177-3AD203B41FA5}">
                      <a16:colId xmlns:a16="http://schemas.microsoft.com/office/drawing/2014/main" val="636063365"/>
                    </a:ext>
                  </a:extLst>
                </a:gridCol>
                <a:gridCol w="1008112">
                  <a:extLst>
                    <a:ext uri="{9D8B030D-6E8A-4147-A177-3AD203B41FA5}">
                      <a16:colId xmlns:a16="http://schemas.microsoft.com/office/drawing/2014/main" val="115881592"/>
                    </a:ext>
                  </a:extLst>
                </a:gridCol>
                <a:gridCol w="1008112">
                  <a:extLst>
                    <a:ext uri="{9D8B030D-6E8A-4147-A177-3AD203B41FA5}">
                      <a16:colId xmlns:a16="http://schemas.microsoft.com/office/drawing/2014/main" val="1193910798"/>
                    </a:ext>
                  </a:extLst>
                </a:gridCol>
                <a:gridCol w="1368152">
                  <a:extLst>
                    <a:ext uri="{9D8B030D-6E8A-4147-A177-3AD203B41FA5}">
                      <a16:colId xmlns:a16="http://schemas.microsoft.com/office/drawing/2014/main" val="3339430438"/>
                    </a:ext>
                  </a:extLst>
                </a:gridCol>
                <a:gridCol w="1152128">
                  <a:extLst>
                    <a:ext uri="{9D8B030D-6E8A-4147-A177-3AD203B41FA5}">
                      <a16:colId xmlns:a16="http://schemas.microsoft.com/office/drawing/2014/main" val="4227875609"/>
                    </a:ext>
                  </a:extLst>
                </a:gridCol>
                <a:gridCol w="936104">
                  <a:extLst>
                    <a:ext uri="{9D8B030D-6E8A-4147-A177-3AD203B41FA5}">
                      <a16:colId xmlns:a16="http://schemas.microsoft.com/office/drawing/2014/main" val="785363184"/>
                    </a:ext>
                  </a:extLst>
                </a:gridCol>
                <a:gridCol w="1152128">
                  <a:extLst>
                    <a:ext uri="{9D8B030D-6E8A-4147-A177-3AD203B41FA5}">
                      <a16:colId xmlns:a16="http://schemas.microsoft.com/office/drawing/2014/main" val="1567775056"/>
                    </a:ext>
                  </a:extLst>
                </a:gridCol>
                <a:gridCol w="936104">
                  <a:extLst>
                    <a:ext uri="{9D8B030D-6E8A-4147-A177-3AD203B41FA5}">
                      <a16:colId xmlns:a16="http://schemas.microsoft.com/office/drawing/2014/main" val="3031486009"/>
                    </a:ext>
                  </a:extLst>
                </a:gridCol>
              </a:tblGrid>
              <a:tr h="370840">
                <a:tc>
                  <a:txBody>
                    <a:bodyPr/>
                    <a:lstStyle/>
                    <a:p>
                      <a:endParaRPr lang="en-GB"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Monday</a:t>
                      </a:r>
                    </a:p>
                  </a:txBody>
                  <a:tcPr/>
                </a:tc>
                <a:tc>
                  <a:txBody>
                    <a:bodyPr/>
                    <a:lstStyle/>
                    <a:p>
                      <a:r>
                        <a:rPr lang="en-GB" dirty="0">
                          <a:latin typeface="Times New Roman" panose="02020603050405020304" pitchFamily="18" charset="0"/>
                          <a:cs typeface="Times New Roman" panose="02020603050405020304" pitchFamily="18" charset="0"/>
                        </a:rPr>
                        <a:t>Tuesday</a:t>
                      </a:r>
                    </a:p>
                  </a:txBody>
                  <a:tcPr/>
                </a:tc>
                <a:tc>
                  <a:txBody>
                    <a:bodyPr/>
                    <a:lstStyle/>
                    <a:p>
                      <a:r>
                        <a:rPr lang="en-GB" dirty="0">
                          <a:latin typeface="Times New Roman" panose="02020603050405020304" pitchFamily="18" charset="0"/>
                          <a:cs typeface="Times New Roman" panose="02020603050405020304" pitchFamily="18" charset="0"/>
                        </a:rPr>
                        <a:t>Wednesday</a:t>
                      </a:r>
                    </a:p>
                  </a:txBody>
                  <a:tcPr/>
                </a:tc>
                <a:tc>
                  <a:txBody>
                    <a:bodyPr/>
                    <a:lstStyle/>
                    <a:p>
                      <a:r>
                        <a:rPr lang="en-GB" dirty="0">
                          <a:latin typeface="Times New Roman" panose="02020603050405020304" pitchFamily="18" charset="0"/>
                          <a:cs typeface="Times New Roman" panose="02020603050405020304" pitchFamily="18" charset="0"/>
                        </a:rPr>
                        <a:t>Thursday</a:t>
                      </a:r>
                    </a:p>
                  </a:txBody>
                  <a:tcPr/>
                </a:tc>
                <a:tc>
                  <a:txBody>
                    <a:bodyPr/>
                    <a:lstStyle/>
                    <a:p>
                      <a:r>
                        <a:rPr lang="en-GB" dirty="0">
                          <a:latin typeface="Times New Roman" panose="02020603050405020304" pitchFamily="18" charset="0"/>
                          <a:cs typeface="Times New Roman" panose="02020603050405020304" pitchFamily="18" charset="0"/>
                        </a:rPr>
                        <a:t>Friday</a:t>
                      </a:r>
                    </a:p>
                  </a:txBody>
                  <a:tcPr/>
                </a:tc>
                <a:tc>
                  <a:txBody>
                    <a:bodyPr/>
                    <a:lstStyle/>
                    <a:p>
                      <a:r>
                        <a:rPr lang="en-GB" dirty="0">
                          <a:latin typeface="Times New Roman" panose="02020603050405020304" pitchFamily="18" charset="0"/>
                          <a:cs typeface="Times New Roman" panose="02020603050405020304" pitchFamily="18" charset="0"/>
                        </a:rPr>
                        <a:t>Saturday</a:t>
                      </a:r>
                    </a:p>
                  </a:txBody>
                  <a:tcPr/>
                </a:tc>
                <a:tc>
                  <a:txBody>
                    <a:bodyPr/>
                    <a:lstStyle/>
                    <a:p>
                      <a:r>
                        <a:rPr lang="en-GB" dirty="0">
                          <a:latin typeface="Times New Roman" panose="02020603050405020304" pitchFamily="18" charset="0"/>
                          <a:cs typeface="Times New Roman" panose="02020603050405020304" pitchFamily="18" charset="0"/>
                        </a:rPr>
                        <a:t>Sunday</a:t>
                      </a:r>
                    </a:p>
                  </a:txBody>
                  <a:tcPr/>
                </a:tc>
                <a:extLst>
                  <a:ext uri="{0D108BD9-81ED-4DB2-BD59-A6C34878D82A}">
                    <a16:rowId xmlns:a16="http://schemas.microsoft.com/office/drawing/2014/main" val="3439277477"/>
                  </a:ext>
                </a:extLst>
              </a:tr>
              <a:tr h="370840">
                <a:tc>
                  <a:txBody>
                    <a:bodyPr/>
                    <a:lstStyle/>
                    <a:p>
                      <a:r>
                        <a:rPr lang="en-GB" dirty="0">
                          <a:latin typeface="Times New Roman" panose="02020603050405020304" pitchFamily="18" charset="0"/>
                          <a:cs typeface="Times New Roman" panose="02020603050405020304" pitchFamily="18" charset="0"/>
                        </a:rPr>
                        <a:t>A</a:t>
                      </a:r>
                    </a:p>
                  </a:txBody>
                  <a:tcPr/>
                </a:tc>
                <a:tc>
                  <a:txBody>
                    <a:bodyPr/>
                    <a:lstStyle/>
                    <a:p>
                      <a:pPr algn="ctr"/>
                      <a:r>
                        <a:rPr lang="en-GB" dirty="0">
                          <a:latin typeface="Times New Roman" panose="02020603050405020304" pitchFamily="18" charset="0"/>
                          <a:cs typeface="Times New Roman" panose="02020603050405020304" pitchFamily="18" charset="0"/>
                        </a:rPr>
                        <a:t>420</a:t>
                      </a:r>
                    </a:p>
                  </a:txBody>
                  <a:tcPr/>
                </a:tc>
                <a:tc>
                  <a:txBody>
                    <a:bodyPr/>
                    <a:lstStyle/>
                    <a:p>
                      <a:pPr algn="ctr"/>
                      <a:r>
                        <a:rPr lang="en-GB" dirty="0">
                          <a:latin typeface="Times New Roman" panose="02020603050405020304" pitchFamily="18" charset="0"/>
                          <a:cs typeface="Times New Roman" panose="02020603050405020304" pitchFamily="18" charset="0"/>
                        </a:rPr>
                        <a:t>374</a:t>
                      </a:r>
                    </a:p>
                  </a:txBody>
                  <a:tcPr/>
                </a:tc>
                <a:tc>
                  <a:txBody>
                    <a:bodyPr/>
                    <a:lstStyle/>
                    <a:p>
                      <a:pPr algn="ctr"/>
                      <a:r>
                        <a:rPr lang="en-GB" dirty="0">
                          <a:latin typeface="Times New Roman" panose="02020603050405020304" pitchFamily="18" charset="0"/>
                          <a:cs typeface="Times New Roman" panose="02020603050405020304" pitchFamily="18" charset="0"/>
                        </a:rPr>
                        <a:t>434</a:t>
                      </a:r>
                    </a:p>
                  </a:txBody>
                  <a:tcPr/>
                </a:tc>
                <a:tc>
                  <a:txBody>
                    <a:bodyPr/>
                    <a:lstStyle/>
                    <a:p>
                      <a:pPr algn="ctr"/>
                      <a:r>
                        <a:rPr lang="en-GB" dirty="0">
                          <a:latin typeface="Times New Roman" panose="02020603050405020304" pitchFamily="18" charset="0"/>
                          <a:cs typeface="Times New Roman" panose="02020603050405020304" pitchFamily="18" charset="0"/>
                        </a:rPr>
                        <a:t>395</a:t>
                      </a:r>
                    </a:p>
                  </a:txBody>
                  <a:tcPr/>
                </a:tc>
                <a:tc>
                  <a:txBody>
                    <a:bodyPr/>
                    <a:lstStyle/>
                    <a:p>
                      <a:pPr algn="ctr"/>
                      <a:r>
                        <a:rPr lang="en-GB" dirty="0">
                          <a:latin typeface="Times New Roman" panose="02020603050405020304" pitchFamily="18" charset="0"/>
                          <a:cs typeface="Times New Roman" panose="02020603050405020304" pitchFamily="18" charset="0"/>
                        </a:rPr>
                        <a:t>637</a:t>
                      </a:r>
                    </a:p>
                  </a:txBody>
                  <a:tcPr/>
                </a:tc>
                <a:tc>
                  <a:txBody>
                    <a:bodyPr/>
                    <a:lstStyle/>
                    <a:p>
                      <a:pPr algn="ctr"/>
                      <a:r>
                        <a:rPr lang="en-GB" dirty="0">
                          <a:latin typeface="Times New Roman" panose="02020603050405020304" pitchFamily="18" charset="0"/>
                          <a:cs typeface="Times New Roman" panose="02020603050405020304" pitchFamily="18" charset="0"/>
                        </a:rPr>
                        <a:t>594</a:t>
                      </a:r>
                    </a:p>
                  </a:txBody>
                  <a:tcPr/>
                </a:tc>
                <a:tc>
                  <a:txBody>
                    <a:bodyPr/>
                    <a:lstStyle/>
                    <a:p>
                      <a:pPr algn="ctr"/>
                      <a:r>
                        <a:rPr lang="en-GB" dirty="0">
                          <a:latin typeface="Times New Roman" panose="02020603050405020304" pitchFamily="18" charset="0"/>
                          <a:cs typeface="Times New Roman" panose="02020603050405020304" pitchFamily="18" charset="0"/>
                        </a:rPr>
                        <a:t>679</a:t>
                      </a:r>
                    </a:p>
                  </a:txBody>
                  <a:tcPr/>
                </a:tc>
                <a:extLst>
                  <a:ext uri="{0D108BD9-81ED-4DB2-BD59-A6C34878D82A}">
                    <a16:rowId xmlns:a16="http://schemas.microsoft.com/office/drawing/2014/main" val="952254766"/>
                  </a:ext>
                </a:extLst>
              </a:tr>
              <a:tr h="370840">
                <a:tc>
                  <a:txBody>
                    <a:bodyPr/>
                    <a:lstStyle/>
                    <a:p>
                      <a:r>
                        <a:rPr lang="en-GB" dirty="0">
                          <a:latin typeface="Times New Roman" panose="02020603050405020304" pitchFamily="18" charset="0"/>
                          <a:cs typeface="Times New Roman" panose="02020603050405020304" pitchFamily="18" charset="0"/>
                        </a:rPr>
                        <a:t>B</a:t>
                      </a:r>
                    </a:p>
                  </a:txBody>
                  <a:tcPr/>
                </a:tc>
                <a:tc>
                  <a:txBody>
                    <a:bodyPr/>
                    <a:lstStyle/>
                    <a:p>
                      <a:pPr algn="ctr"/>
                      <a:r>
                        <a:rPr lang="en-GB" dirty="0">
                          <a:latin typeface="Times New Roman" panose="02020603050405020304" pitchFamily="18" charset="0"/>
                          <a:cs typeface="Times New Roman" panose="02020603050405020304" pitchFamily="18" charset="0"/>
                        </a:rPr>
                        <a:t>391</a:t>
                      </a:r>
                    </a:p>
                  </a:txBody>
                  <a:tcPr/>
                </a:tc>
                <a:tc>
                  <a:txBody>
                    <a:bodyPr/>
                    <a:lstStyle/>
                    <a:p>
                      <a:pPr algn="ctr"/>
                      <a:r>
                        <a:rPr lang="en-GB" dirty="0">
                          <a:latin typeface="Times New Roman" panose="02020603050405020304" pitchFamily="18" charset="0"/>
                          <a:cs typeface="Times New Roman" panose="02020603050405020304" pitchFamily="18" charset="0"/>
                        </a:rPr>
                        <a:t>343</a:t>
                      </a:r>
                    </a:p>
                  </a:txBody>
                  <a:tcPr/>
                </a:tc>
                <a:tc>
                  <a:txBody>
                    <a:bodyPr/>
                    <a:lstStyle/>
                    <a:p>
                      <a:pPr algn="ctr"/>
                      <a:r>
                        <a:rPr lang="en-GB" dirty="0">
                          <a:latin typeface="Times New Roman" panose="02020603050405020304" pitchFamily="18" charset="0"/>
                          <a:cs typeface="Times New Roman" panose="02020603050405020304" pitchFamily="18" charset="0"/>
                        </a:rPr>
                        <a:t>469</a:t>
                      </a:r>
                    </a:p>
                  </a:txBody>
                  <a:tcPr/>
                </a:tc>
                <a:tc>
                  <a:txBody>
                    <a:bodyPr/>
                    <a:lstStyle/>
                    <a:p>
                      <a:pPr algn="ctr"/>
                      <a:r>
                        <a:rPr lang="en-GB" dirty="0">
                          <a:latin typeface="Times New Roman" panose="02020603050405020304" pitchFamily="18" charset="0"/>
                          <a:cs typeface="Times New Roman" panose="02020603050405020304" pitchFamily="18" charset="0"/>
                        </a:rPr>
                        <a:t>412</a:t>
                      </a:r>
                    </a:p>
                  </a:txBody>
                  <a:tcPr/>
                </a:tc>
                <a:tc>
                  <a:txBody>
                    <a:bodyPr/>
                    <a:lstStyle/>
                    <a:p>
                      <a:pPr algn="ctr"/>
                      <a:r>
                        <a:rPr lang="en-GB" dirty="0">
                          <a:latin typeface="Times New Roman" panose="02020603050405020304" pitchFamily="18" charset="0"/>
                          <a:cs typeface="Times New Roman" panose="02020603050405020304" pitchFamily="18" charset="0"/>
                        </a:rPr>
                        <a:t>538</a:t>
                      </a:r>
                    </a:p>
                  </a:txBody>
                  <a:tcPr/>
                </a:tc>
                <a:tc>
                  <a:txBody>
                    <a:bodyPr/>
                    <a:lstStyle/>
                    <a:p>
                      <a:pPr algn="ctr"/>
                      <a:r>
                        <a:rPr lang="en-GB" dirty="0">
                          <a:latin typeface="Times New Roman" panose="02020603050405020304" pitchFamily="18" charset="0"/>
                          <a:cs typeface="Times New Roman" panose="02020603050405020304" pitchFamily="18" charset="0"/>
                        </a:rPr>
                        <a:t>521</a:t>
                      </a:r>
                    </a:p>
                  </a:txBody>
                  <a:tcPr/>
                </a:tc>
                <a:tc>
                  <a:txBody>
                    <a:bodyPr/>
                    <a:lstStyle/>
                    <a:p>
                      <a:pPr algn="ctr"/>
                      <a:r>
                        <a:rPr lang="en-GB" dirty="0">
                          <a:latin typeface="Times New Roman" panose="02020603050405020304" pitchFamily="18" charset="0"/>
                          <a:cs typeface="Times New Roman" panose="02020603050405020304" pitchFamily="18" charset="0"/>
                        </a:rPr>
                        <a:t>625</a:t>
                      </a:r>
                    </a:p>
                  </a:txBody>
                  <a:tcPr/>
                </a:tc>
                <a:extLst>
                  <a:ext uri="{0D108BD9-81ED-4DB2-BD59-A6C34878D82A}">
                    <a16:rowId xmlns:a16="http://schemas.microsoft.com/office/drawing/2014/main" val="2931391702"/>
                  </a:ext>
                </a:extLst>
              </a:tr>
            </a:tbl>
          </a:graphicData>
        </a:graphic>
      </p:graphicFrame>
      <p:sp>
        <p:nvSpPr>
          <p:cNvPr id="6" name="Date Placeholder 5"/>
          <p:cNvSpPr>
            <a:spLocks noGrp="1"/>
          </p:cNvSpPr>
          <p:nvPr>
            <p:ph type="dt" sz="half" idx="10"/>
          </p:nvPr>
        </p:nvSpPr>
        <p:spPr/>
        <p:txBody>
          <a:bodyPr/>
          <a:lstStyle/>
          <a:p>
            <a:pPr>
              <a:defRPr/>
            </a:pPr>
            <a:fld id="{193A2F2C-D1C8-41D6-9A97-E97066F99D09}" type="datetime1">
              <a:rPr lang="en-US" altLang="zh-CN" smtClean="0"/>
              <a:t>7/17/2025</a:t>
            </a:fld>
            <a:endParaRPr lang="en-US" altLang="zh-CN"/>
          </a:p>
        </p:txBody>
      </p:sp>
      <p:sp>
        <p:nvSpPr>
          <p:cNvPr id="7" name="Footer Placeholder 6"/>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843963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624" y="1600202"/>
            <a:ext cx="7499176" cy="4525963"/>
          </a:xfrm>
        </p:spPr>
        <p:txBody>
          <a:bodyPr/>
          <a:lstStyle/>
          <a:p>
            <a:pPr marL="514350" indent="-514350" algn="just">
              <a:buFont typeface="+mj-lt"/>
              <a:buAutoNum type="alphaLcParenR"/>
            </a:pPr>
            <a:r>
              <a:rPr lang="en-IN" dirty="0">
                <a:latin typeface="Times New Roman" panose="02020603050405020304" pitchFamily="18" charset="0"/>
                <a:cs typeface="Times New Roman" panose="02020603050405020304" pitchFamily="18" charset="0"/>
              </a:rPr>
              <a:t>Construct a 95% confidence interval for the mean difference.</a:t>
            </a:r>
          </a:p>
          <a:p>
            <a:pPr marL="514350" indent="-514350" algn="just">
              <a:buFont typeface="+mj-lt"/>
              <a:buAutoNum type="alphaLcParenR"/>
            </a:pPr>
            <a:r>
              <a:rPr lang="en-IN" dirty="0">
                <a:latin typeface="Times New Roman" panose="02020603050405020304" pitchFamily="18" charset="0"/>
                <a:cs typeface="Times New Roman" panose="02020603050405020304" pitchFamily="18" charset="0"/>
              </a:rPr>
              <a:t>Test the hypothesis that the demand for item A is higher than the demand for item B. Use 5% level of significance.</a:t>
            </a:r>
            <a:endParaRPr lang="en-GB"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50</a:t>
            </a:fld>
            <a:endParaRPr lang="en-US" altLang="zh-CN"/>
          </a:p>
        </p:txBody>
      </p:sp>
      <p:sp>
        <p:nvSpPr>
          <p:cNvPr id="2" name="Date Placeholder 1"/>
          <p:cNvSpPr>
            <a:spLocks noGrp="1"/>
          </p:cNvSpPr>
          <p:nvPr>
            <p:ph type="dt" sz="half" idx="10"/>
          </p:nvPr>
        </p:nvSpPr>
        <p:spPr/>
        <p:txBody>
          <a:bodyPr/>
          <a:lstStyle/>
          <a:p>
            <a:pPr>
              <a:defRPr/>
            </a:pPr>
            <a:fld id="{6A2E8B4C-57B5-4369-B1E2-D91A879868E7}"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523728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624" y="1600202"/>
            <a:ext cx="7499176" cy="452596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A test preparation company claims that its SAT preparation course improves SAT math scores. The company administers the SAT to 9 randomly selected students and determines their scores. The same students then participate in the course. Upon completion, they retake the SAT. The results are presented below:</a:t>
            </a:r>
          </a:p>
          <a:p>
            <a:pPr marL="0" indent="0" algn="just">
              <a:buNone/>
            </a:pPr>
            <a:r>
              <a:rPr lang="en-US" sz="2000" dirty="0">
                <a:latin typeface="Times New Roman" panose="02020603050405020304" pitchFamily="18" charset="0"/>
                <a:cs typeface="Times New Roman" panose="02020603050405020304" pitchFamily="18" charset="0"/>
              </a:rPr>
              <a:t>Before:	436	431	270	463	528	377	397	413	525		</a:t>
            </a:r>
          </a:p>
          <a:p>
            <a:pPr marL="0" indent="0" algn="just">
              <a:buNone/>
            </a:pPr>
            <a:r>
              <a:rPr lang="en-US" sz="2000" dirty="0">
                <a:latin typeface="Times New Roman" panose="02020603050405020304" pitchFamily="18" charset="0"/>
                <a:cs typeface="Times New Roman" panose="02020603050405020304" pitchFamily="18" charset="0"/>
              </a:rPr>
              <a:t>After:	443	429	287	501	522	380	402	450	548	</a:t>
            </a:r>
          </a:p>
          <a:p>
            <a:pPr marL="0" indent="0" algn="just">
              <a:buNone/>
            </a:pPr>
            <a:r>
              <a:rPr lang="en-US" sz="2000" dirty="0">
                <a:latin typeface="Times New Roman" panose="02020603050405020304" pitchFamily="18" charset="0"/>
                <a:cs typeface="Times New Roman" panose="02020603050405020304" pitchFamily="18" charset="0"/>
              </a:rPr>
              <a:t>Test the claim that the preparatory course improves SAT math scores at the 10% level of significance. (Assume that the differences between the scores have an approximate normal distribution.)  </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51</a:t>
            </a:fld>
            <a:endParaRPr lang="en-US" altLang="zh-CN" dirty="0"/>
          </a:p>
        </p:txBody>
      </p:sp>
      <p:sp>
        <p:nvSpPr>
          <p:cNvPr id="5" name="Title 1"/>
          <p:cNvSpPr>
            <a:spLocks noGrp="1"/>
          </p:cNvSpPr>
          <p:nvPr>
            <p:ph type="title"/>
          </p:nvPr>
        </p:nvSpPr>
        <p:spPr>
          <a:xfrm>
            <a:off x="1187624" y="274638"/>
            <a:ext cx="7499176" cy="1143000"/>
          </a:xfrm>
        </p:spPr>
        <p:txBody>
          <a:bodyPr/>
          <a:lstStyle/>
          <a:p>
            <a:pPr algn="l"/>
            <a:r>
              <a:rPr lang="en-IN"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endPar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pPr>
              <a:defRPr/>
            </a:pPr>
            <a:fld id="{1808E40F-BFF6-4819-9C1F-468404039C41}"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9284409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7904" y="2708920"/>
            <a:ext cx="2372311" cy="13716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17-Jul-25</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52</a:t>
            </a:fld>
            <a:endParaRPr lang="en-US" altLang="en-US"/>
          </a:p>
        </p:txBody>
      </p:sp>
    </p:spTree>
    <p:extLst>
      <p:ext uri="{BB962C8B-B14F-4D97-AF65-F5344CB8AC3E}">
        <p14:creationId xmlns:p14="http://schemas.microsoft.com/office/powerpoint/2010/main" val="2037676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772816"/>
            <a:ext cx="8001000" cy="1216025"/>
          </a:xfrm>
        </p:spPr>
        <p:txBody>
          <a:bodyPr/>
          <a:lstStyle/>
          <a:p>
            <a:pPr algn="ctr"/>
            <a:r>
              <a:rPr lang="en-US" sz="5000" b="1" dirty="0">
                <a:solidFill>
                  <a:srgbClr val="C00000"/>
                </a:solidFill>
                <a:latin typeface="Times New Roman" panose="02020603050405020304" pitchFamily="18" charset="0"/>
                <a:cs typeface="Times New Roman" panose="02020603050405020304" pitchFamily="18" charset="0"/>
              </a:rPr>
              <a:t>Comparing Two Independent Population Variances</a:t>
            </a:r>
            <a:endParaRPr lang="en-US" sz="5000"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53</a:t>
            </a:fld>
            <a:endParaRPr lang="en-US" altLang="zh-CN"/>
          </a:p>
        </p:txBody>
      </p:sp>
      <p:sp>
        <p:nvSpPr>
          <p:cNvPr id="3" name="Date Placeholder 2"/>
          <p:cNvSpPr>
            <a:spLocks noGrp="1"/>
          </p:cNvSpPr>
          <p:nvPr>
            <p:ph type="dt" sz="half" idx="10"/>
          </p:nvPr>
        </p:nvSpPr>
        <p:spPr/>
        <p:txBody>
          <a:bodyPr/>
          <a:lstStyle/>
          <a:p>
            <a:pPr>
              <a:defRPr/>
            </a:pPr>
            <a:fld id="{BC96061F-BA1D-40F2-9CBB-21325E9AC43C}"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124566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764704"/>
                <a:ext cx="7427168" cy="4525963"/>
              </a:xfrm>
            </p:spPr>
            <p:txBody>
              <a:bodyPr/>
              <a:lstStyle/>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   .   .   .  .</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𝑛</m:t>
                            </m:r>
                          </m:e>
                          <m:sub>
                            <m:r>
                              <a:rPr lang="en-GB" i="1">
                                <a:latin typeface="Cambria Math" panose="02040503050406030204" pitchFamily="18" charset="0"/>
                                <a:cs typeface="Times New Roman" panose="02020603050405020304" pitchFamily="18" charset="0"/>
                              </a:rPr>
                              <m:t>1</m:t>
                            </m:r>
                          </m:sub>
                        </m:sSub>
                      </m:sub>
                    </m:sSub>
                  </m:oMath>
                </a14:m>
                <a:r>
                  <a:rPr lang="en-IN" dirty="0">
                    <a:latin typeface="Times New Roman" panose="02020603050405020304" pitchFamily="18" charset="0"/>
                    <a:cs typeface="Times New Roman" panose="02020603050405020304" pitchFamily="18" charset="0"/>
                  </a:rPr>
                  <a:t>be a random sample from a population with mean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1</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sSubSup>
                      <m:sSubSupPr>
                        <m:ctrlPr>
                          <a:rPr lang="en-IN" i="1">
                            <a:latin typeface="Cambria Math" panose="02040503050406030204" pitchFamily="18" charset="0"/>
                            <a:cs typeface="Times New Roman" panose="02020603050405020304" pitchFamily="18" charset="0"/>
                          </a:rPr>
                        </m:ctrlPr>
                      </m:sSubSupPr>
                      <m:e>
                        <m:r>
                          <a:rPr lang="en-IN" i="1">
                            <a:latin typeface="Cambria Math" panose="02040503050406030204" pitchFamily="18" charset="0"/>
                            <a:ea typeface="Cambria Math" panose="02040503050406030204" pitchFamily="18" charset="0"/>
                            <a:cs typeface="Times New Roman" panose="02020603050405020304" pitchFamily="18" charset="0"/>
                          </a:rPr>
                          <m:t>𝜎</m:t>
                        </m:r>
                      </m:e>
                      <m:sub>
                        <m:r>
                          <a:rPr lang="en-GB" i="1">
                            <a:latin typeface="Cambria Math" panose="02040503050406030204" pitchFamily="18" charset="0"/>
                            <a:cs typeface="Times New Roman" panose="02020603050405020304" pitchFamily="18" charset="0"/>
                          </a:rPr>
                          <m:t>1</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𝑌</m:t>
                        </m:r>
                      </m:e>
                      <m:sub>
                        <m:r>
                          <a:rPr lang="en-GB" i="1">
                            <a:latin typeface="Cambria Math" panose="02040503050406030204" pitchFamily="18" charset="0"/>
                            <a:cs typeface="Times New Roman" panose="02020603050405020304" pitchFamily="18" charset="0"/>
                          </a:rPr>
                          <m:t>1</m:t>
                        </m:r>
                      </m:sub>
                    </m:sSub>
                    <m:r>
                      <a:rPr lang="en-GB" i="1">
                        <a:latin typeface="Cambria Math" panose="02040503050406030204" pitchFamily="18" charset="0"/>
                        <a:cs typeface="Times New Roman" panose="02020603050405020304" pitchFamily="18" charset="0"/>
                      </a:rPr>
                      <m:t>,</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𝑌</m:t>
                        </m:r>
                      </m:e>
                      <m:sub>
                        <m:r>
                          <a:rPr lang="en-GB" i="1">
                            <a:latin typeface="Cambria Math" panose="02040503050406030204" pitchFamily="18" charset="0"/>
                            <a:cs typeface="Times New Roman" panose="02020603050405020304" pitchFamily="18" charset="0"/>
                          </a:rPr>
                          <m:t>2</m:t>
                        </m:r>
                      </m:sub>
                    </m:sSub>
                    <m:r>
                      <a:rPr lang="en-GB" i="1">
                        <a:latin typeface="Cambria Math" panose="02040503050406030204" pitchFamily="18" charset="0"/>
                        <a:cs typeface="Times New Roman" panose="02020603050405020304" pitchFamily="18" charset="0"/>
                      </a:rPr>
                      <m:t>,   .   .   .  .</m:t>
                    </m:r>
                    <m:sSub>
                      <m:sSubPr>
                        <m:ctrlPr>
                          <a:rPr lang="en-IN"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𝑌</m:t>
                        </m:r>
                      </m:e>
                      <m:sub>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𝑛</m:t>
                            </m:r>
                          </m:e>
                          <m:sub>
                            <m:r>
                              <a:rPr lang="en-GB" i="1">
                                <a:latin typeface="Cambria Math" panose="02040503050406030204" pitchFamily="18" charset="0"/>
                                <a:cs typeface="Times New Roman" panose="02020603050405020304" pitchFamily="18" charset="0"/>
                              </a:rPr>
                              <m:t>2</m:t>
                            </m:r>
                          </m:sub>
                        </m:sSub>
                      </m:sub>
                    </m:sSub>
                  </m:oMath>
                </a14:m>
                <a:r>
                  <a:rPr lang="en-IN" dirty="0">
                    <a:latin typeface="Times New Roman" panose="02020603050405020304" pitchFamily="18" charset="0"/>
                    <a:cs typeface="Times New Roman" panose="02020603050405020304" pitchFamily="18" charset="0"/>
                  </a:rPr>
                  <a:t>be a random sample from a population with mean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𝜇</m:t>
                        </m:r>
                      </m:e>
                      <m:sub>
                        <m:r>
                          <a:rPr lang="en-GB" i="1">
                            <a:latin typeface="Cambria Math" panose="02040503050406030204" pitchFamily="18" charset="0"/>
                            <a:cs typeface="Times New Roman" panose="02020603050405020304" pitchFamily="18" charset="0"/>
                          </a:rPr>
                          <m:t>2</m:t>
                        </m:r>
                      </m:sub>
                    </m:sSub>
                  </m:oMath>
                </a14:m>
                <a:r>
                  <a:rPr lang="en-IN" dirty="0">
                    <a:latin typeface="Times New Roman" panose="02020603050405020304" pitchFamily="18" charset="0"/>
                    <a:cs typeface="Times New Roman" panose="02020603050405020304" pitchFamily="18" charset="0"/>
                  </a:rPr>
                  <a:t> and variance </a:t>
                </a:r>
                <a14:m>
                  <m:oMath xmlns:m="http://schemas.openxmlformats.org/officeDocument/2006/math">
                    <m:sSubSup>
                      <m:sSubSupPr>
                        <m:ctrlPr>
                          <a:rPr lang="en-IN" i="1">
                            <a:latin typeface="Cambria Math" panose="02040503050406030204" pitchFamily="18" charset="0"/>
                            <a:cs typeface="Times New Roman" panose="02020603050405020304" pitchFamily="18" charset="0"/>
                          </a:rPr>
                        </m:ctrlPr>
                      </m:sSubSupPr>
                      <m:e>
                        <m:r>
                          <a:rPr lang="en-IN" i="1">
                            <a:latin typeface="Cambria Math" panose="02040503050406030204" pitchFamily="18" charset="0"/>
                            <a:ea typeface="Cambria Math" panose="02040503050406030204" pitchFamily="18" charset="0"/>
                            <a:cs typeface="Times New Roman" panose="02020603050405020304" pitchFamily="18" charset="0"/>
                          </a:rPr>
                          <m:t>𝜎</m:t>
                        </m:r>
                      </m:e>
                      <m:sub>
                        <m:r>
                          <a:rPr lang="en-GB" i="1">
                            <a:latin typeface="Cambria Math" panose="02040503050406030204" pitchFamily="18" charset="0"/>
                            <a:cs typeface="Times New Roman" panose="02020603050405020304" pitchFamily="18" charset="0"/>
                          </a:rPr>
                          <m:t>2</m:t>
                        </m:r>
                      </m:sub>
                      <m:sup>
                        <m:r>
                          <a:rPr lang="en-GB" i="1">
                            <a:latin typeface="Cambria Math" panose="02040503050406030204" pitchFamily="18" charset="0"/>
                            <a:cs typeface="Times New Roman" panose="02020603050405020304" pitchFamily="18" charset="0"/>
                          </a:rPr>
                          <m:t>2</m:t>
                        </m:r>
                      </m:sup>
                    </m:sSubSup>
                  </m:oMath>
                </a14:m>
                <a:r>
                  <a:rPr lang="en-IN" dirty="0">
                    <a:latin typeface="Times New Roman" panose="02020603050405020304" pitchFamily="18" charset="0"/>
                    <a:cs typeface="Times New Roman" panose="02020603050405020304" pitchFamily="18" charset="0"/>
                  </a:rPr>
                  <a:t>. The populations are independent. </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764704"/>
                <a:ext cx="7427168" cy="4525963"/>
              </a:xfrm>
              <a:blipFill>
                <a:blip r:embed="rId2"/>
                <a:stretch>
                  <a:fillRect l="-2135" t="-1884" r="-2053" b="-25034"/>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54</a:t>
            </a:fld>
            <a:endParaRPr lang="en-US" altLang="zh-CN"/>
          </a:p>
        </p:txBody>
      </p:sp>
      <p:sp>
        <p:nvSpPr>
          <p:cNvPr id="2" name="Date Placeholder 1"/>
          <p:cNvSpPr>
            <a:spLocks noGrp="1"/>
          </p:cNvSpPr>
          <p:nvPr>
            <p:ph type="dt" sz="half" idx="10"/>
          </p:nvPr>
        </p:nvSpPr>
        <p:spPr/>
        <p:txBody>
          <a:bodyPr/>
          <a:lstStyle/>
          <a:p>
            <a:pPr>
              <a:defRPr/>
            </a:pPr>
            <a:fld id="{40F6F45E-46CF-4A2B-8A47-5F302BE83F5F}"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8544836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836712"/>
                <a:ext cx="7283152"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As the variances cannot be negative, we consider the ratio of the two variances instead of their difference in making comparison between them.</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point estimate for the ratio </a:t>
                </a:r>
                <a14:m>
                  <m:oMath xmlns:m="http://schemas.openxmlformats.org/officeDocument/2006/math">
                    <m:f>
                      <m:fPr>
                        <m:type m:val="skw"/>
                        <m:ctrlPr>
                          <a:rPr lang="en-US" i="1" smtClean="0">
                            <a:latin typeface="Cambria Math" panose="02040503050406030204" pitchFamily="18" charset="0"/>
                            <a:cs typeface="Times New Roman" panose="02020603050405020304" pitchFamily="18" charset="0"/>
                          </a:rPr>
                        </m:ctrlPr>
                      </m:fPr>
                      <m:num>
                        <m:sSubSup>
                          <m:sSubSupPr>
                            <m:ctrlPr>
                              <a:rPr lang="en-US" i="1" smtClean="0">
                                <a:latin typeface="Cambria Math" panose="02040503050406030204" pitchFamily="18" charset="0"/>
                                <a:cs typeface="Times New Roman" panose="02020603050405020304" pitchFamily="18" charset="0"/>
                              </a:rPr>
                            </m:ctrlPr>
                          </m:sSubSupPr>
                          <m:e>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US" b="0" i="1" smtClean="0">
                                <a:latin typeface="Cambria Math" panose="02040503050406030204" pitchFamily="18" charset="0"/>
                                <a:cs typeface="Times New Roman" panose="02020603050405020304" pitchFamily="18" charset="0"/>
                              </a:rPr>
                              <m:t>1</m:t>
                            </m:r>
                          </m:sub>
                          <m:sup>
                            <m:r>
                              <a:rPr lang="en-US" b="0" i="1" smtClean="0">
                                <a:latin typeface="Cambria Math" panose="02040503050406030204" pitchFamily="18" charset="0"/>
                                <a:cs typeface="Times New Roman" panose="02020603050405020304" pitchFamily="18" charset="0"/>
                              </a:rPr>
                              <m:t>2</m:t>
                            </m:r>
                          </m:sup>
                        </m:sSubSup>
                      </m:num>
                      <m:den>
                        <m:sSubSup>
                          <m:sSubSupPr>
                            <m:ctrlPr>
                              <a:rPr lang="en-US" i="1" smtClean="0">
                                <a:latin typeface="Cambria Math" panose="02040503050406030204" pitchFamily="18" charset="0"/>
                                <a:cs typeface="Times New Roman" panose="02020603050405020304" pitchFamily="18" charset="0"/>
                              </a:rPr>
                            </m:ctrlPr>
                          </m:sSubSupPr>
                          <m:e>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den>
                    </m:f>
                  </m:oMath>
                </a14:m>
                <a:r>
                  <a:rPr lang="en-US" dirty="0">
                    <a:latin typeface="Times New Roman" panose="02020603050405020304" pitchFamily="18" charset="0"/>
                    <a:cs typeface="Times New Roman" panose="02020603050405020304" pitchFamily="18" charset="0"/>
                  </a:rPr>
                  <a:t> is </a:t>
                </a:r>
                <a14:m>
                  <m:oMath xmlns:m="http://schemas.openxmlformats.org/officeDocument/2006/math">
                    <m:f>
                      <m:fPr>
                        <m:type m:val="skw"/>
                        <m:ctrlPr>
                          <a:rPr lang="en-US" i="1">
                            <a:latin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den>
                    </m:f>
                  </m:oMath>
                </a14:m>
                <a:r>
                  <a:rPr lang="en-US"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𝑆</m:t>
                        </m:r>
                      </m:e>
                      <m:sub>
                        <m:r>
                          <a:rPr lang="en-US" b="0" i="1" smtClean="0">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oMath>
                </a14:m>
                <a:r>
                  <a:rPr lang="en-US" dirty="0">
                    <a:latin typeface="Times New Roman" panose="02020603050405020304" pitchFamily="18" charset="0"/>
                    <a:cs typeface="Times New Roman" panose="02020603050405020304" pitchFamily="18" charset="0"/>
                  </a:rPr>
                  <a:t> are the respective sample variances.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836712"/>
                <a:ext cx="7283152" cy="4525963"/>
              </a:xfrm>
              <a:blipFill>
                <a:blip r:embed="rId2"/>
                <a:stretch>
                  <a:fillRect l="-2178" t="-1884" r="-2178" b="-10229"/>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55</a:t>
            </a:fld>
            <a:endParaRPr lang="en-US" altLang="zh-CN"/>
          </a:p>
        </p:txBody>
      </p:sp>
      <p:sp>
        <p:nvSpPr>
          <p:cNvPr id="2" name="Date Placeholder 1"/>
          <p:cNvSpPr>
            <a:spLocks noGrp="1"/>
          </p:cNvSpPr>
          <p:nvPr>
            <p:ph type="dt" sz="half" idx="10"/>
          </p:nvPr>
        </p:nvSpPr>
        <p:spPr/>
        <p:txBody>
          <a:bodyPr/>
          <a:lstStyle/>
          <a:p>
            <a:pPr>
              <a:defRPr/>
            </a:pPr>
            <a:fld id="{BFC4E506-E600-4749-A29F-4ED1FFAAF911}"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670667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21375" y="704735"/>
                <a:ext cx="7499176"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It is known that when the populations are normal, </a:t>
                </a:r>
                <a14:m>
                  <m:oMath xmlns:m="http://schemas.openxmlformats.org/officeDocument/2006/math">
                    <m:f>
                      <m:fPr>
                        <m:type m:val="skw"/>
                        <m:ctrlPr>
                          <a:rPr lang="en-US" i="1">
                            <a:latin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den>
                    </m:f>
                  </m:oMath>
                </a14:m>
                <a:r>
                  <a:rPr lang="en-US" dirty="0">
                    <a:latin typeface="Times New Roman" panose="02020603050405020304" pitchFamily="18" charset="0"/>
                    <a:cs typeface="Times New Roman" panose="02020603050405020304" pitchFamily="18" charset="0"/>
                  </a:rPr>
                  <a:t> follows an F-distribution with degrees of freedom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1</m:t>
                        </m:r>
                      </m:sub>
                    </m:sSub>
                    <m:r>
                      <a:rPr lang="en-US" b="0" i="1" smtClean="0">
                        <a:latin typeface="Cambria Math" panose="02040503050406030204" pitchFamily="18" charset="0"/>
                        <a:cs typeface="Times New Roman" panose="02020603050405020304" pitchFamily="18" charset="0"/>
                      </a:rPr>
                      <m:t> −1</m:t>
                    </m:r>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b="0" i="1" smtClean="0">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−1</m:t>
                    </m:r>
                  </m:oMath>
                </a14:m>
                <a:r>
                  <a:rPr lang="en-US" dirty="0">
                    <a:latin typeface="Times New Roman" panose="02020603050405020304" pitchFamily="18" charset="0"/>
                    <a:cs typeface="Times New Roman" panose="02020603050405020304" pitchFamily="18" charset="0"/>
                  </a:rPr>
                  <a:t>  . The table for the F-distribution is given in the </a:t>
                </a:r>
                <a:r>
                  <a:rPr lang="en-US" dirty="0">
                    <a:latin typeface="Times New Roman" panose="02020603050405020304" pitchFamily="18" charset="0"/>
                    <a:cs typeface="Times New Roman" panose="02020603050405020304" pitchFamily="18" charset="0"/>
                    <a:hlinkClick r:id="rId2"/>
                  </a:rPr>
                  <a:t>Statistical Table</a:t>
                </a:r>
                <a:r>
                  <a:rPr lang="en-US"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21375" y="704735"/>
                <a:ext cx="7499176" cy="4525963"/>
              </a:xfrm>
              <a:blipFill>
                <a:blip r:embed="rId3"/>
                <a:stretch>
                  <a:fillRect l="-2031" t="-1887" r="-203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56</a:t>
            </a:fld>
            <a:endParaRPr lang="en-US" altLang="zh-CN"/>
          </a:p>
        </p:txBody>
      </p:sp>
      <p:pic>
        <p:nvPicPr>
          <p:cNvPr id="1026" name="Picture 2" descr="http://www.statistics4u.info/fundstat_eng/img/hl_fdistri.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3789040"/>
            <a:ext cx="4591050" cy="2209801"/>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pPr>
              <a:defRPr/>
            </a:pPr>
            <a:fld id="{59259FB2-A2B5-4DF5-8724-5EEA1B0B86E4}"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602400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88185" y="836712"/>
                <a:ext cx="7416824" cy="4267200"/>
              </a:xfrm>
            </p:spPr>
            <p:txBody>
              <a:bodyPr/>
              <a:lstStyle/>
              <a:p>
                <a:pPr marL="0" indent="0" algn="just">
                  <a:buNone/>
                </a:pPr>
                <a:r>
                  <a:rPr lang="en-IN" sz="2700" dirty="0">
                    <a:latin typeface="Times New Roman" panose="02020603050405020304" pitchFamily="18" charset="0"/>
                    <a:cs typeface="Times New Roman" panose="02020603050405020304" pitchFamily="18" charset="0"/>
                  </a:rPr>
                  <a:t>Then </a:t>
                </a:r>
                <a14:m>
                  <m:oMath xmlns:m="http://schemas.openxmlformats.org/officeDocument/2006/math">
                    <m:d>
                      <m:dPr>
                        <m:ctrlPr>
                          <a:rPr lang="en-IN" sz="2700" i="1">
                            <a:latin typeface="Cambria Math" panose="02040503050406030204" pitchFamily="18" charset="0"/>
                            <a:cs typeface="Times New Roman" panose="02020603050405020304" pitchFamily="18" charset="0"/>
                          </a:rPr>
                        </m:ctrlPr>
                      </m:dPr>
                      <m:e>
                        <m:r>
                          <a:rPr lang="en-GB" sz="2700" i="1">
                            <a:latin typeface="Cambria Math" panose="02040503050406030204" pitchFamily="18" charset="0"/>
                            <a:cs typeface="Times New Roman" panose="02020603050405020304" pitchFamily="18" charset="0"/>
                          </a:rPr>
                          <m:t>1−</m:t>
                        </m:r>
                        <m:r>
                          <a:rPr lang="en-GB" sz="2700" i="1">
                            <a:latin typeface="Cambria Math" panose="02040503050406030204" pitchFamily="18" charset="0"/>
                            <a:ea typeface="Cambria Math" panose="02040503050406030204" pitchFamily="18" charset="0"/>
                            <a:cs typeface="Times New Roman" panose="02020603050405020304" pitchFamily="18" charset="0"/>
                          </a:rPr>
                          <m:t>𝛼</m:t>
                        </m:r>
                      </m:e>
                    </m:d>
                    <m:r>
                      <a:rPr lang="en-GB" sz="2700" i="1">
                        <a:latin typeface="Cambria Math" panose="02040503050406030204" pitchFamily="18" charset="0"/>
                        <a:cs typeface="Times New Roman" panose="02020603050405020304" pitchFamily="18" charset="0"/>
                      </a:rPr>
                      <m:t>∗100</m:t>
                    </m:r>
                    <m:r>
                      <a:rPr lang="en-GB" sz="2700" i="1">
                        <a:latin typeface="Cambria Math" panose="02040503050406030204" pitchFamily="18" charset="0"/>
                        <a:ea typeface="Cambria Math" panose="02040503050406030204" pitchFamily="18" charset="0"/>
                        <a:cs typeface="Times New Roman" panose="02020603050405020304" pitchFamily="18" charset="0"/>
                      </a:rPr>
                      <m:t>%</m:t>
                    </m:r>
                  </m:oMath>
                </a14:m>
                <a:r>
                  <a:rPr lang="en-IN" sz="2700" dirty="0">
                    <a:latin typeface="Times New Roman" panose="02020603050405020304" pitchFamily="18" charset="0"/>
                    <a:cs typeface="Times New Roman" panose="02020603050405020304" pitchFamily="18" charset="0"/>
                  </a:rPr>
                  <a:t> confidence interval for the </a:t>
                </a:r>
                <a14:m>
                  <m:oMath xmlns:m="http://schemas.openxmlformats.org/officeDocument/2006/math">
                    <m:f>
                      <m:fPr>
                        <m:type m:val="skw"/>
                        <m:ctrlPr>
                          <a:rPr lang="en-US" sz="2700" i="1">
                            <a:latin typeface="Cambria Math" panose="02040503050406030204" pitchFamily="18" charset="0"/>
                            <a:cs typeface="Times New Roman" panose="02020603050405020304" pitchFamily="18" charset="0"/>
                          </a:rPr>
                        </m:ctrlPr>
                      </m:fPr>
                      <m:num>
                        <m:sSubSup>
                          <m:sSubSupPr>
                            <m:ctrlPr>
                              <a:rPr lang="en-US" sz="2700" i="1">
                                <a:latin typeface="Cambria Math" panose="02040503050406030204" pitchFamily="18" charset="0"/>
                                <a:cs typeface="Times New Roman" panose="02020603050405020304" pitchFamily="18" charset="0"/>
                              </a:rPr>
                            </m:ctrlPr>
                          </m:sSubSupPr>
                          <m:e>
                            <m:r>
                              <a:rPr lang="en-US" sz="27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700" i="1">
                                <a:latin typeface="Cambria Math" panose="02040503050406030204" pitchFamily="18" charset="0"/>
                                <a:cs typeface="Times New Roman" panose="02020603050405020304" pitchFamily="18" charset="0"/>
                              </a:rPr>
                              <m:t>1</m:t>
                            </m:r>
                          </m:sub>
                          <m:sup>
                            <m:r>
                              <a:rPr lang="en-US" sz="2700" i="1">
                                <a:latin typeface="Cambria Math" panose="02040503050406030204" pitchFamily="18" charset="0"/>
                                <a:cs typeface="Times New Roman" panose="02020603050405020304" pitchFamily="18" charset="0"/>
                              </a:rPr>
                              <m:t>2</m:t>
                            </m:r>
                          </m:sup>
                        </m:sSubSup>
                      </m:num>
                      <m:den>
                        <m:sSubSup>
                          <m:sSubSupPr>
                            <m:ctrlPr>
                              <a:rPr lang="en-US" sz="2700" i="1">
                                <a:latin typeface="Cambria Math" panose="02040503050406030204" pitchFamily="18" charset="0"/>
                                <a:cs typeface="Times New Roman" panose="02020603050405020304" pitchFamily="18" charset="0"/>
                              </a:rPr>
                            </m:ctrlPr>
                          </m:sSubSupPr>
                          <m:e>
                            <m:r>
                              <a:rPr lang="en-US" sz="27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700" i="1">
                                <a:latin typeface="Cambria Math" panose="02040503050406030204" pitchFamily="18" charset="0"/>
                                <a:cs typeface="Times New Roman" panose="02020603050405020304" pitchFamily="18" charset="0"/>
                              </a:rPr>
                              <m:t>2</m:t>
                            </m:r>
                          </m:sub>
                          <m:sup>
                            <m:r>
                              <a:rPr lang="en-US" sz="2700" i="1">
                                <a:latin typeface="Cambria Math" panose="02040503050406030204" pitchFamily="18" charset="0"/>
                                <a:cs typeface="Times New Roman" panose="02020603050405020304" pitchFamily="18" charset="0"/>
                              </a:rPr>
                              <m:t>2</m:t>
                            </m:r>
                          </m:sup>
                        </m:sSubSup>
                      </m:den>
                    </m:f>
                  </m:oMath>
                </a14:m>
                <a:r>
                  <a:rPr lang="en-IN" sz="2700" dirty="0">
                    <a:latin typeface="Times New Roman" panose="02020603050405020304" pitchFamily="18" charset="0"/>
                    <a:cs typeface="Times New Roman" panose="02020603050405020304" pitchFamily="18" charset="0"/>
                  </a:rPr>
                  <a:t> </a:t>
                </a:r>
                <a:r>
                  <a:rPr lang="en-US" sz="2700" dirty="0">
                    <a:latin typeface="Times New Roman" panose="02020603050405020304" pitchFamily="18" charset="0"/>
                    <a:cs typeface="Times New Roman" panose="02020603050405020304" pitchFamily="18" charset="0"/>
                  </a:rPr>
                  <a:t>is computed as,</a:t>
                </a:r>
              </a:p>
              <a:p>
                <a:pPr marL="0" indent="0" algn="ctr">
                  <a:buNone/>
                </a:pPr>
                <a14:m>
                  <m:oMathPara xmlns:m="http://schemas.openxmlformats.org/officeDocument/2006/math">
                    <m:oMathParaPr>
                      <m:jc m:val="centerGroup"/>
                    </m:oMathParaPr>
                    <m:oMath xmlns:m="http://schemas.openxmlformats.org/officeDocument/2006/math">
                      <m:f>
                        <m:fPr>
                          <m:ctrlPr>
                            <a:rPr lang="en-US" sz="2700" i="1" smtClean="0">
                              <a:solidFill>
                                <a:srgbClr val="0070C0"/>
                              </a:solidFill>
                              <a:latin typeface="Cambria Math" panose="02040503050406030204" pitchFamily="18" charset="0"/>
                              <a:cs typeface="Times New Roman" panose="02020603050405020304" pitchFamily="18" charset="0"/>
                            </a:rPr>
                          </m:ctrlPr>
                        </m:fPr>
                        <m:num>
                          <m:sSubSup>
                            <m:sSubSupPr>
                              <m:ctrlPr>
                                <a:rPr lang="en-US" sz="2700" i="1">
                                  <a:solidFill>
                                    <a:srgbClr val="0070C0"/>
                                  </a:solidFill>
                                  <a:latin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cs typeface="Times New Roman" panose="02020603050405020304" pitchFamily="18" charset="0"/>
                                </a:rPr>
                                <m:t>𝑆</m:t>
                              </m:r>
                            </m:e>
                            <m:sub>
                              <m:r>
                                <a:rPr lang="en-US" sz="2700" i="1">
                                  <a:solidFill>
                                    <a:srgbClr val="0070C0"/>
                                  </a:solidFill>
                                  <a:latin typeface="Cambria Math" panose="02040503050406030204" pitchFamily="18" charset="0"/>
                                  <a:cs typeface="Times New Roman" panose="02020603050405020304" pitchFamily="18" charset="0"/>
                                </a:rPr>
                                <m:t>1</m:t>
                              </m:r>
                            </m:sub>
                            <m:sup>
                              <m:r>
                                <a:rPr lang="en-US" sz="2700" i="1">
                                  <a:solidFill>
                                    <a:srgbClr val="0070C0"/>
                                  </a:solidFill>
                                  <a:latin typeface="Cambria Math" panose="02040503050406030204" pitchFamily="18" charset="0"/>
                                  <a:cs typeface="Times New Roman" panose="02020603050405020304" pitchFamily="18" charset="0"/>
                                </a:rPr>
                                <m:t>2</m:t>
                              </m:r>
                            </m:sup>
                          </m:sSubSup>
                        </m:num>
                        <m:den>
                          <m:sSubSup>
                            <m:sSubSupPr>
                              <m:ctrlPr>
                                <a:rPr lang="en-US" sz="2700" i="1">
                                  <a:solidFill>
                                    <a:srgbClr val="0070C0"/>
                                  </a:solidFill>
                                  <a:latin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cs typeface="Times New Roman" panose="02020603050405020304" pitchFamily="18" charset="0"/>
                                </a:rPr>
                                <m:t>𝑆</m:t>
                              </m:r>
                            </m:e>
                            <m:sub>
                              <m:r>
                                <a:rPr lang="en-US" sz="2700" i="1">
                                  <a:solidFill>
                                    <a:srgbClr val="0070C0"/>
                                  </a:solidFill>
                                  <a:latin typeface="Cambria Math" panose="02040503050406030204" pitchFamily="18" charset="0"/>
                                  <a:cs typeface="Times New Roman" panose="02020603050405020304" pitchFamily="18" charset="0"/>
                                </a:rPr>
                                <m:t>2</m:t>
                              </m:r>
                            </m:sub>
                            <m:sup>
                              <m:r>
                                <a:rPr lang="en-US" sz="2700" i="1">
                                  <a:solidFill>
                                    <a:srgbClr val="0070C0"/>
                                  </a:solidFill>
                                  <a:latin typeface="Cambria Math" panose="02040503050406030204" pitchFamily="18" charset="0"/>
                                  <a:cs typeface="Times New Roman" panose="02020603050405020304" pitchFamily="18" charset="0"/>
                                </a:rPr>
                                <m:t>2</m:t>
                              </m:r>
                            </m:sup>
                          </m:sSubSup>
                        </m:den>
                      </m:f>
                      <m:r>
                        <a:rPr lang="en-US" sz="2700" i="1">
                          <a:solidFill>
                            <a:srgbClr val="0070C0"/>
                          </a:solidFill>
                          <a:latin typeface="Cambria Math" panose="02040503050406030204" pitchFamily="18" charset="0"/>
                          <a:cs typeface="Times New Roman" panose="02020603050405020304" pitchFamily="18" charset="0"/>
                        </a:rPr>
                        <m:t>∗</m:t>
                      </m:r>
                      <m:f>
                        <m:fPr>
                          <m:ctrlPr>
                            <a:rPr lang="en-US" sz="2700" i="1">
                              <a:solidFill>
                                <a:srgbClr val="0070C0"/>
                              </a:solidFill>
                              <a:latin typeface="Cambria Math" panose="02040503050406030204" pitchFamily="18" charset="0"/>
                              <a:cs typeface="Times New Roman" panose="02020603050405020304" pitchFamily="18" charset="0"/>
                            </a:rPr>
                          </m:ctrlPr>
                        </m:fPr>
                        <m:num>
                          <m:r>
                            <a:rPr lang="en-US" sz="2700" i="1">
                              <a:solidFill>
                                <a:srgbClr val="0070C0"/>
                              </a:solidFill>
                              <a:latin typeface="Cambria Math" panose="02040503050406030204" pitchFamily="18" charset="0"/>
                              <a:cs typeface="Times New Roman" panose="02020603050405020304" pitchFamily="18" charset="0"/>
                            </a:rPr>
                            <m:t>1</m:t>
                          </m:r>
                        </m:num>
                        <m:den>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𝐹</m:t>
                              </m:r>
                            </m:e>
                            <m:sub>
                              <m:f>
                                <m:fPr>
                                  <m:type m:val="lin"/>
                                  <m:ctrlPr>
                                    <a:rPr lang="en-US" sz="2700" i="1">
                                      <a:solidFill>
                                        <a:srgbClr val="0070C0"/>
                                      </a:solidFill>
                                      <a:latin typeface="Cambria Math" panose="02040503050406030204" pitchFamily="18" charset="0"/>
                                      <a:cs typeface="Times New Roman" panose="02020603050405020304" pitchFamily="18" charset="0"/>
                                    </a:rPr>
                                  </m:ctrlPr>
                                </m:fPr>
                                <m:num>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700" i="1">
                                      <a:solidFill>
                                        <a:srgbClr val="0070C0"/>
                                      </a:solidFill>
                                      <a:latin typeface="Cambria Math" panose="02040503050406030204" pitchFamily="18" charset="0"/>
                                      <a:cs typeface="Times New Roman" panose="02020603050405020304" pitchFamily="18" charset="0"/>
                                    </a:rPr>
                                    <m:t>2</m:t>
                                  </m:r>
                                </m:den>
                              </m:f>
                              <m:r>
                                <a:rPr lang="en-US" sz="2700" i="1">
                                  <a:solidFill>
                                    <a:srgbClr val="0070C0"/>
                                  </a:solidFill>
                                  <a:latin typeface="Cambria Math" panose="02040503050406030204" pitchFamily="18" charset="0"/>
                                  <a:cs typeface="Times New Roman" panose="02020603050405020304" pitchFamily="18" charset="0"/>
                                </a:rPr>
                                <m:t>,</m:t>
                              </m:r>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𝑛</m:t>
                                  </m:r>
                                </m:e>
                                <m:sub>
                                  <m:r>
                                    <a:rPr lang="en-US" sz="2700" i="1">
                                      <a:solidFill>
                                        <a:srgbClr val="0070C0"/>
                                      </a:solidFill>
                                      <a:latin typeface="Cambria Math" panose="02040503050406030204" pitchFamily="18" charset="0"/>
                                      <a:cs typeface="Times New Roman" panose="02020603050405020304" pitchFamily="18" charset="0"/>
                                    </a:rPr>
                                    <m:t>1</m:t>
                                  </m:r>
                                </m:sub>
                              </m:sSub>
                              <m:r>
                                <a:rPr lang="en-US" sz="2700" i="1">
                                  <a:solidFill>
                                    <a:srgbClr val="0070C0"/>
                                  </a:solidFill>
                                  <a:latin typeface="Cambria Math" panose="02040503050406030204" pitchFamily="18" charset="0"/>
                                  <a:cs typeface="Times New Roman" panose="02020603050405020304" pitchFamily="18" charset="0"/>
                                </a:rPr>
                                <m:t> −1,</m:t>
                              </m:r>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𝑛</m:t>
                                  </m:r>
                                </m:e>
                                <m:sub>
                                  <m:r>
                                    <a:rPr lang="en-US" sz="2700" i="1">
                                      <a:solidFill>
                                        <a:srgbClr val="0070C0"/>
                                      </a:solidFill>
                                      <a:latin typeface="Cambria Math" panose="02040503050406030204" pitchFamily="18" charset="0"/>
                                      <a:cs typeface="Times New Roman" panose="02020603050405020304" pitchFamily="18" charset="0"/>
                                    </a:rPr>
                                    <m:t>2</m:t>
                                  </m:r>
                                </m:sub>
                              </m:sSub>
                              <m:r>
                                <a:rPr lang="en-US" sz="2700" i="1">
                                  <a:solidFill>
                                    <a:srgbClr val="0070C0"/>
                                  </a:solidFill>
                                  <a:latin typeface="Cambria Math" panose="02040503050406030204" pitchFamily="18" charset="0"/>
                                  <a:cs typeface="Times New Roman" panose="02020603050405020304" pitchFamily="18" charset="0"/>
                                </a:rPr>
                                <m:t> −1</m:t>
                              </m:r>
                            </m:sub>
                          </m:sSub>
                        </m:den>
                      </m:f>
                      <m:r>
                        <a:rPr lang="en-US" sz="2700" i="1">
                          <a:solidFill>
                            <a:srgbClr val="0070C0"/>
                          </a:solidFill>
                          <a:latin typeface="Cambria Math" panose="02040503050406030204" pitchFamily="18" charset="0"/>
                          <a:cs typeface="Times New Roman" panose="02020603050405020304" pitchFamily="18" charset="0"/>
                        </a:rPr>
                        <m:t> </m:t>
                      </m:r>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&lt;</m:t>
                      </m:r>
                      <m:f>
                        <m:fPr>
                          <m:ctrlP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𝜎</m:t>
                              </m:r>
                            </m:e>
                            <m:sub>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m:t>
                              </m:r>
                            </m:sub>
                            <m:sup>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2</m:t>
                              </m:r>
                            </m:sup>
                          </m:sSubSup>
                        </m:den>
                      </m:f>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 &lt;</m:t>
                      </m:r>
                      <m:f>
                        <m:fPr>
                          <m:ctrlPr>
                            <a:rPr lang="en-US" sz="2700" i="1">
                              <a:solidFill>
                                <a:srgbClr val="0070C0"/>
                              </a:solidFill>
                              <a:latin typeface="Cambria Math" panose="02040503050406030204" pitchFamily="18" charset="0"/>
                              <a:cs typeface="Times New Roman" panose="02020603050405020304" pitchFamily="18" charset="0"/>
                            </a:rPr>
                          </m:ctrlPr>
                        </m:fPr>
                        <m:num>
                          <m:sSubSup>
                            <m:sSubSupPr>
                              <m:ctrlPr>
                                <a:rPr lang="en-US" sz="2700" i="1">
                                  <a:solidFill>
                                    <a:srgbClr val="0070C0"/>
                                  </a:solidFill>
                                  <a:latin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cs typeface="Times New Roman" panose="02020603050405020304" pitchFamily="18" charset="0"/>
                                </a:rPr>
                                <m:t>𝑆</m:t>
                              </m:r>
                            </m:e>
                            <m:sub>
                              <m:r>
                                <a:rPr lang="en-US" sz="2700" i="1">
                                  <a:solidFill>
                                    <a:srgbClr val="0070C0"/>
                                  </a:solidFill>
                                  <a:latin typeface="Cambria Math" panose="02040503050406030204" pitchFamily="18" charset="0"/>
                                  <a:cs typeface="Times New Roman" panose="02020603050405020304" pitchFamily="18" charset="0"/>
                                </a:rPr>
                                <m:t>1</m:t>
                              </m:r>
                            </m:sub>
                            <m:sup>
                              <m:r>
                                <a:rPr lang="en-US" sz="2700" i="1">
                                  <a:solidFill>
                                    <a:srgbClr val="0070C0"/>
                                  </a:solidFill>
                                  <a:latin typeface="Cambria Math" panose="02040503050406030204" pitchFamily="18" charset="0"/>
                                  <a:cs typeface="Times New Roman" panose="02020603050405020304" pitchFamily="18" charset="0"/>
                                </a:rPr>
                                <m:t>2</m:t>
                              </m:r>
                            </m:sup>
                          </m:sSubSup>
                        </m:num>
                        <m:den>
                          <m:sSubSup>
                            <m:sSubSupPr>
                              <m:ctrlPr>
                                <a:rPr lang="en-US" sz="2700" i="1">
                                  <a:solidFill>
                                    <a:srgbClr val="0070C0"/>
                                  </a:solidFill>
                                  <a:latin typeface="Cambria Math" panose="02040503050406030204" pitchFamily="18" charset="0"/>
                                  <a:cs typeface="Times New Roman" panose="02020603050405020304" pitchFamily="18" charset="0"/>
                                </a:rPr>
                              </m:ctrlPr>
                            </m:sSubSupPr>
                            <m:e>
                              <m:r>
                                <a:rPr lang="en-US" sz="2700" i="1">
                                  <a:solidFill>
                                    <a:srgbClr val="0070C0"/>
                                  </a:solidFill>
                                  <a:latin typeface="Cambria Math" panose="02040503050406030204" pitchFamily="18" charset="0"/>
                                  <a:cs typeface="Times New Roman" panose="02020603050405020304" pitchFamily="18" charset="0"/>
                                </a:rPr>
                                <m:t>𝑆</m:t>
                              </m:r>
                            </m:e>
                            <m:sub>
                              <m:r>
                                <a:rPr lang="en-US" sz="2700" i="1">
                                  <a:solidFill>
                                    <a:srgbClr val="0070C0"/>
                                  </a:solidFill>
                                  <a:latin typeface="Cambria Math" panose="02040503050406030204" pitchFamily="18" charset="0"/>
                                  <a:cs typeface="Times New Roman" panose="02020603050405020304" pitchFamily="18" charset="0"/>
                                </a:rPr>
                                <m:t>2</m:t>
                              </m:r>
                            </m:sub>
                            <m:sup>
                              <m:r>
                                <a:rPr lang="en-US" sz="2700" i="1">
                                  <a:solidFill>
                                    <a:srgbClr val="0070C0"/>
                                  </a:solidFill>
                                  <a:latin typeface="Cambria Math" panose="02040503050406030204" pitchFamily="18" charset="0"/>
                                  <a:cs typeface="Times New Roman" panose="02020603050405020304" pitchFamily="18" charset="0"/>
                                </a:rPr>
                                <m:t>2</m:t>
                              </m:r>
                            </m:sup>
                          </m:sSubSup>
                        </m:den>
                      </m:f>
                      <m:r>
                        <a:rPr lang="en-US" sz="2700" i="1">
                          <a:solidFill>
                            <a:srgbClr val="0070C0"/>
                          </a:solidFill>
                          <a:latin typeface="Cambria Math" panose="02040503050406030204" pitchFamily="18" charset="0"/>
                          <a:cs typeface="Times New Roman" panose="02020603050405020304" pitchFamily="18" charset="0"/>
                        </a:rPr>
                        <m:t>∗</m:t>
                      </m:r>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𝐹</m:t>
                          </m:r>
                        </m:e>
                        <m:sub>
                          <m:f>
                            <m:fPr>
                              <m:type m:val="lin"/>
                              <m:ctrlPr>
                                <a:rPr lang="en-US" sz="2700" i="1">
                                  <a:solidFill>
                                    <a:srgbClr val="0070C0"/>
                                  </a:solidFill>
                                  <a:latin typeface="Cambria Math" panose="02040503050406030204" pitchFamily="18" charset="0"/>
                                  <a:cs typeface="Times New Roman" panose="02020603050405020304" pitchFamily="18" charset="0"/>
                                </a:rPr>
                              </m:ctrlPr>
                            </m:fPr>
                            <m:num>
                              <m:r>
                                <a:rPr lang="en-US" sz="27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n-US" sz="2700" i="1">
                                  <a:solidFill>
                                    <a:srgbClr val="0070C0"/>
                                  </a:solidFill>
                                  <a:latin typeface="Cambria Math" panose="02040503050406030204" pitchFamily="18" charset="0"/>
                                  <a:cs typeface="Times New Roman" panose="02020603050405020304" pitchFamily="18" charset="0"/>
                                </a:rPr>
                                <m:t>2</m:t>
                              </m:r>
                            </m:den>
                          </m:f>
                          <m:r>
                            <a:rPr lang="en-US" sz="2700" i="1">
                              <a:solidFill>
                                <a:srgbClr val="0070C0"/>
                              </a:solidFill>
                              <a:latin typeface="Cambria Math" panose="02040503050406030204" pitchFamily="18" charset="0"/>
                              <a:cs typeface="Times New Roman" panose="02020603050405020304" pitchFamily="18" charset="0"/>
                            </a:rPr>
                            <m:t>,</m:t>
                          </m:r>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𝑛</m:t>
                              </m:r>
                            </m:e>
                            <m:sub>
                              <m:r>
                                <a:rPr lang="en-US" sz="2700" i="1">
                                  <a:solidFill>
                                    <a:srgbClr val="0070C0"/>
                                  </a:solidFill>
                                  <a:latin typeface="Cambria Math" panose="02040503050406030204" pitchFamily="18" charset="0"/>
                                  <a:cs typeface="Times New Roman" panose="02020603050405020304" pitchFamily="18" charset="0"/>
                                </a:rPr>
                                <m:t>2</m:t>
                              </m:r>
                            </m:sub>
                          </m:sSub>
                          <m:r>
                            <a:rPr lang="en-US" sz="2700" i="1">
                              <a:solidFill>
                                <a:srgbClr val="0070C0"/>
                              </a:solidFill>
                              <a:latin typeface="Cambria Math" panose="02040503050406030204" pitchFamily="18" charset="0"/>
                              <a:cs typeface="Times New Roman" panose="02020603050405020304" pitchFamily="18" charset="0"/>
                            </a:rPr>
                            <m:t> −1,</m:t>
                          </m:r>
                          <m:sSub>
                            <m:sSubPr>
                              <m:ctrlPr>
                                <a:rPr lang="en-US" sz="2700" i="1">
                                  <a:solidFill>
                                    <a:srgbClr val="0070C0"/>
                                  </a:solidFill>
                                  <a:latin typeface="Cambria Math" panose="02040503050406030204" pitchFamily="18" charset="0"/>
                                  <a:cs typeface="Times New Roman" panose="02020603050405020304" pitchFamily="18" charset="0"/>
                                </a:rPr>
                              </m:ctrlPr>
                            </m:sSubPr>
                            <m:e>
                              <m:r>
                                <a:rPr lang="en-US" sz="2700" i="1">
                                  <a:solidFill>
                                    <a:srgbClr val="0070C0"/>
                                  </a:solidFill>
                                  <a:latin typeface="Cambria Math" panose="02040503050406030204" pitchFamily="18" charset="0"/>
                                  <a:cs typeface="Times New Roman" panose="02020603050405020304" pitchFamily="18" charset="0"/>
                                </a:rPr>
                                <m:t>𝑛</m:t>
                              </m:r>
                            </m:e>
                            <m:sub>
                              <m:r>
                                <a:rPr lang="en-US" sz="2700" i="1">
                                  <a:solidFill>
                                    <a:srgbClr val="0070C0"/>
                                  </a:solidFill>
                                  <a:latin typeface="Cambria Math" panose="02040503050406030204" pitchFamily="18" charset="0"/>
                                  <a:cs typeface="Times New Roman" panose="02020603050405020304" pitchFamily="18" charset="0"/>
                                </a:rPr>
                                <m:t>1</m:t>
                              </m:r>
                            </m:sub>
                          </m:sSub>
                          <m:r>
                            <a:rPr lang="en-US" sz="2700" i="1">
                              <a:solidFill>
                                <a:srgbClr val="0070C0"/>
                              </a:solidFill>
                              <a:latin typeface="Cambria Math" panose="02040503050406030204" pitchFamily="18" charset="0"/>
                              <a:cs typeface="Times New Roman" panose="02020603050405020304" pitchFamily="18" charset="0"/>
                            </a:rPr>
                            <m:t> −1</m:t>
                          </m:r>
                        </m:sub>
                      </m:sSub>
                    </m:oMath>
                  </m:oMathPara>
                </a14:m>
                <a:endParaRPr lang="en-US" sz="27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sz="27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𝐹</m:t>
                        </m:r>
                      </m:e>
                      <m:sub>
                        <m:f>
                          <m:fPr>
                            <m:type m:val="lin"/>
                            <m:ctrlPr>
                              <a:rPr lang="en-US" sz="2700" i="1">
                                <a:latin typeface="Cambria Math" panose="02040503050406030204" pitchFamily="18" charset="0"/>
                                <a:cs typeface="Times New Roman" panose="02020603050405020304" pitchFamily="18" charset="0"/>
                              </a:rPr>
                            </m:ctrlPr>
                          </m:fPr>
                          <m:num>
                            <m:r>
                              <a:rPr lang="en-US" sz="2700" i="1">
                                <a:latin typeface="Cambria Math" panose="02040503050406030204" pitchFamily="18" charset="0"/>
                                <a:ea typeface="Cambria Math" panose="02040503050406030204" pitchFamily="18" charset="0"/>
                                <a:cs typeface="Times New Roman" panose="02020603050405020304" pitchFamily="18" charset="0"/>
                              </a:rPr>
                              <m:t>𝛼</m:t>
                            </m:r>
                          </m:num>
                          <m:den>
                            <m:r>
                              <a:rPr lang="en-US" sz="2700" i="1">
                                <a:latin typeface="Cambria Math" panose="02040503050406030204" pitchFamily="18" charset="0"/>
                                <a:cs typeface="Times New Roman" panose="02020603050405020304" pitchFamily="18" charset="0"/>
                              </a:rPr>
                              <m:t>2</m:t>
                            </m:r>
                          </m:den>
                        </m:f>
                        <m:r>
                          <a:rPr lang="en-US" sz="2700" i="1">
                            <a:latin typeface="Cambria Math" panose="02040503050406030204" pitchFamily="18" charset="0"/>
                            <a:cs typeface="Times New Roman" panose="02020603050405020304" pitchFamily="18" charset="0"/>
                          </a:rPr>
                          <m:t>,</m:t>
                        </m:r>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2</m:t>
                            </m:r>
                          </m:sub>
                        </m:sSub>
                        <m:r>
                          <a:rPr lang="en-US" sz="2700" i="1">
                            <a:latin typeface="Cambria Math" panose="02040503050406030204" pitchFamily="18" charset="0"/>
                            <a:cs typeface="Times New Roman" panose="02020603050405020304" pitchFamily="18" charset="0"/>
                          </a:rPr>
                          <m:t> −1,</m:t>
                        </m:r>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1</m:t>
                            </m:r>
                          </m:sub>
                        </m:sSub>
                        <m:r>
                          <a:rPr lang="en-US" sz="2700" i="1">
                            <a:latin typeface="Cambria Math" panose="02040503050406030204" pitchFamily="18" charset="0"/>
                            <a:cs typeface="Times New Roman" panose="02020603050405020304" pitchFamily="18" charset="0"/>
                          </a:rPr>
                          <m:t> −1</m:t>
                        </m:r>
                      </m:sub>
                    </m:sSub>
                  </m:oMath>
                </a14:m>
                <a:r>
                  <a:rPr lang="en-US" sz="2700" dirty="0">
                    <a:latin typeface="Times New Roman" panose="02020603050405020304" pitchFamily="18" charset="0"/>
                    <a:cs typeface="Times New Roman" panose="02020603050405020304" pitchFamily="18" charset="0"/>
                  </a:rPr>
                  <a:t> is the percentile value in the F-distribution such that the right side area is for degrees of freedom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2</m:t>
                        </m:r>
                      </m:sub>
                    </m:sSub>
                    <m:r>
                      <a:rPr lang="en-US" sz="2700" i="1">
                        <a:latin typeface="Cambria Math" panose="02040503050406030204" pitchFamily="18" charset="0"/>
                        <a:cs typeface="Times New Roman" panose="02020603050405020304" pitchFamily="18" charset="0"/>
                      </a:rPr>
                      <m:t> −1</m:t>
                    </m:r>
                  </m:oMath>
                </a14:m>
                <a:r>
                  <a:rPr lang="en-US" sz="27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1</m:t>
                        </m:r>
                      </m:sub>
                    </m:sSub>
                    <m:r>
                      <a:rPr lang="en-US" sz="2700" i="1">
                        <a:latin typeface="Cambria Math" panose="02040503050406030204" pitchFamily="18" charset="0"/>
                        <a:cs typeface="Times New Roman" panose="02020603050405020304" pitchFamily="18" charset="0"/>
                      </a:rPr>
                      <m:t> −1</m:t>
                    </m:r>
                  </m:oMath>
                </a14:m>
                <a:r>
                  <a:rPr lang="en-US" sz="27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𝐹</m:t>
                        </m:r>
                      </m:e>
                      <m:sub>
                        <m:f>
                          <m:fPr>
                            <m:type m:val="lin"/>
                            <m:ctrlPr>
                              <a:rPr lang="en-US" sz="2700" i="1">
                                <a:latin typeface="Cambria Math" panose="02040503050406030204" pitchFamily="18" charset="0"/>
                                <a:cs typeface="Times New Roman" panose="02020603050405020304" pitchFamily="18" charset="0"/>
                              </a:rPr>
                            </m:ctrlPr>
                          </m:fPr>
                          <m:num>
                            <m:r>
                              <a:rPr lang="en-US" sz="2700" i="1">
                                <a:latin typeface="Cambria Math" panose="02040503050406030204" pitchFamily="18" charset="0"/>
                                <a:ea typeface="Cambria Math" panose="02040503050406030204" pitchFamily="18" charset="0"/>
                                <a:cs typeface="Times New Roman" panose="02020603050405020304" pitchFamily="18" charset="0"/>
                              </a:rPr>
                              <m:t>𝛼</m:t>
                            </m:r>
                          </m:num>
                          <m:den>
                            <m:r>
                              <a:rPr lang="en-US" sz="2700" i="1">
                                <a:latin typeface="Cambria Math" panose="02040503050406030204" pitchFamily="18" charset="0"/>
                                <a:cs typeface="Times New Roman" panose="02020603050405020304" pitchFamily="18" charset="0"/>
                              </a:rPr>
                              <m:t>2</m:t>
                            </m:r>
                          </m:den>
                        </m:f>
                        <m:r>
                          <a:rPr lang="en-US" sz="2700" i="1">
                            <a:latin typeface="Cambria Math" panose="02040503050406030204" pitchFamily="18" charset="0"/>
                            <a:cs typeface="Times New Roman" panose="02020603050405020304" pitchFamily="18" charset="0"/>
                          </a:rPr>
                          <m:t>,</m:t>
                        </m:r>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1</m:t>
                            </m:r>
                          </m:sub>
                        </m:sSub>
                        <m:r>
                          <a:rPr lang="en-US" sz="2700" i="1">
                            <a:latin typeface="Cambria Math" panose="02040503050406030204" pitchFamily="18" charset="0"/>
                            <a:cs typeface="Times New Roman" panose="02020603050405020304" pitchFamily="18" charset="0"/>
                          </a:rPr>
                          <m:t> −1,</m:t>
                        </m:r>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2</m:t>
                            </m:r>
                          </m:sub>
                        </m:sSub>
                        <m:r>
                          <a:rPr lang="en-US" sz="2700" i="1">
                            <a:latin typeface="Cambria Math" panose="02040503050406030204" pitchFamily="18" charset="0"/>
                            <a:cs typeface="Times New Roman" panose="02020603050405020304" pitchFamily="18" charset="0"/>
                          </a:rPr>
                          <m:t> −1</m:t>
                        </m:r>
                      </m:sub>
                    </m:sSub>
                  </m:oMath>
                </a14:m>
                <a:r>
                  <a:rPr lang="en-US" sz="2700" dirty="0">
                    <a:latin typeface="Times New Roman" panose="02020603050405020304" pitchFamily="18" charset="0"/>
                    <a:cs typeface="Times New Roman" panose="02020603050405020304" pitchFamily="18" charset="0"/>
                  </a:rPr>
                  <a:t> is the percentile value in the F distribution such that the right side area is </a:t>
                </a:r>
                <a14:m>
                  <m:oMath xmlns:m="http://schemas.openxmlformats.org/officeDocument/2006/math">
                    <m:f>
                      <m:fPr>
                        <m:type m:val="lin"/>
                        <m:ctrlPr>
                          <a:rPr lang="en-US" sz="2700" i="1">
                            <a:latin typeface="Cambria Math" panose="02040503050406030204" pitchFamily="18" charset="0"/>
                            <a:cs typeface="Times New Roman" panose="02020603050405020304" pitchFamily="18" charset="0"/>
                          </a:rPr>
                        </m:ctrlPr>
                      </m:fPr>
                      <m:num>
                        <m:r>
                          <a:rPr lang="en-US" sz="2700" i="1">
                            <a:latin typeface="Cambria Math" panose="02040503050406030204" pitchFamily="18" charset="0"/>
                            <a:ea typeface="Cambria Math" panose="02040503050406030204" pitchFamily="18" charset="0"/>
                            <a:cs typeface="Times New Roman" panose="02020603050405020304" pitchFamily="18" charset="0"/>
                          </a:rPr>
                          <m:t>𝛼</m:t>
                        </m:r>
                      </m:num>
                      <m:den>
                        <m:r>
                          <a:rPr lang="en-US" sz="2700" i="1">
                            <a:latin typeface="Cambria Math" panose="02040503050406030204" pitchFamily="18" charset="0"/>
                            <a:cs typeface="Times New Roman" panose="02020603050405020304" pitchFamily="18" charset="0"/>
                          </a:rPr>
                          <m:t>2</m:t>
                        </m:r>
                      </m:den>
                    </m:f>
                  </m:oMath>
                </a14:m>
                <a:r>
                  <a:rPr lang="en-US" sz="2700" dirty="0">
                    <a:latin typeface="Times New Roman" panose="02020603050405020304" pitchFamily="18" charset="0"/>
                    <a:cs typeface="Times New Roman" panose="02020603050405020304" pitchFamily="18" charset="0"/>
                  </a:rPr>
                  <a:t> for degrees of freedom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1</m:t>
                        </m:r>
                      </m:sub>
                    </m:sSub>
                    <m:r>
                      <a:rPr lang="en-US" sz="2700" i="1">
                        <a:latin typeface="Cambria Math" panose="02040503050406030204" pitchFamily="18" charset="0"/>
                        <a:cs typeface="Times New Roman" panose="02020603050405020304" pitchFamily="18" charset="0"/>
                      </a:rPr>
                      <m:t> −1</m:t>
                    </m:r>
                  </m:oMath>
                </a14:m>
                <a:r>
                  <a:rPr lang="en-US" sz="27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700" i="1">
                            <a:latin typeface="Cambria Math" panose="02040503050406030204" pitchFamily="18" charset="0"/>
                            <a:cs typeface="Times New Roman" panose="02020603050405020304" pitchFamily="18" charset="0"/>
                          </a:rPr>
                        </m:ctrlPr>
                      </m:sSubPr>
                      <m:e>
                        <m:r>
                          <a:rPr lang="en-US" sz="2700" i="1">
                            <a:latin typeface="Cambria Math" panose="02040503050406030204" pitchFamily="18" charset="0"/>
                            <a:cs typeface="Times New Roman" panose="02020603050405020304" pitchFamily="18" charset="0"/>
                          </a:rPr>
                          <m:t>𝑛</m:t>
                        </m:r>
                      </m:e>
                      <m:sub>
                        <m:r>
                          <a:rPr lang="en-US" sz="2700" i="1">
                            <a:latin typeface="Cambria Math" panose="02040503050406030204" pitchFamily="18" charset="0"/>
                            <a:cs typeface="Times New Roman" panose="02020603050405020304" pitchFamily="18" charset="0"/>
                          </a:rPr>
                          <m:t>2</m:t>
                        </m:r>
                      </m:sub>
                    </m:sSub>
                    <m:r>
                      <a:rPr lang="en-US" sz="2700" i="1">
                        <a:latin typeface="Cambria Math" panose="02040503050406030204" pitchFamily="18" charset="0"/>
                        <a:cs typeface="Times New Roman" panose="02020603050405020304" pitchFamily="18" charset="0"/>
                      </a:rPr>
                      <m:t> −1</m:t>
                    </m:r>
                  </m:oMath>
                </a14:m>
                <a:r>
                  <a:rPr lang="en-US" sz="2700" dirty="0">
                    <a:latin typeface="Times New Roman" panose="02020603050405020304" pitchFamily="18" charset="0"/>
                    <a:cs typeface="Times New Roman" panose="02020603050405020304" pitchFamily="18" charset="0"/>
                  </a:rPr>
                  <a:t>. </a:t>
                </a:r>
              </a:p>
              <a:p>
                <a:pPr marL="0" indent="0" algn="just">
                  <a:buNone/>
                </a:pPr>
                <a:endParaRPr lang="en-US" sz="27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88185" y="836712"/>
                <a:ext cx="7416824" cy="4267200"/>
              </a:xfrm>
              <a:blipFill>
                <a:blip r:embed="rId2"/>
                <a:stretch>
                  <a:fillRect l="-1561" t="-1286" r="-1479" b="-14571"/>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57</a:t>
            </a:fld>
            <a:endParaRPr lang="en-US" altLang="zh-CN"/>
          </a:p>
        </p:txBody>
      </p:sp>
      <p:sp>
        <p:nvSpPr>
          <p:cNvPr id="2" name="Date Placeholder 1"/>
          <p:cNvSpPr>
            <a:spLocks noGrp="1"/>
          </p:cNvSpPr>
          <p:nvPr>
            <p:ph type="dt" sz="half" idx="10"/>
          </p:nvPr>
        </p:nvSpPr>
        <p:spPr/>
        <p:txBody>
          <a:bodyPr/>
          <a:lstStyle/>
          <a:p>
            <a:pPr>
              <a:defRPr/>
            </a:pPr>
            <a:fld id="{50DD7A57-2133-4F02-B479-3752D0842476}"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5449512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26852"/>
            <a:ext cx="8229600" cy="1143000"/>
          </a:xfrm>
        </p:spPr>
        <p:txBody>
          <a:bodyPr/>
          <a:lstStyle/>
          <a:p>
            <a:pPr algn="ctr"/>
            <a:r>
              <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Testing for difference between two independent population variances,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03648" y="1600202"/>
                <a:ext cx="7283152" cy="4525963"/>
              </a:xfrm>
            </p:spPr>
            <p:txBody>
              <a:bodyPr/>
              <a:lstStyle/>
              <a:p>
                <a:pPr marL="0" indent="0" algn="just">
                  <a:buNone/>
                </a:pPr>
                <a:r>
                  <a:rPr lang="en-US" dirty="0">
                    <a:solidFill>
                      <a:srgbClr val="FF0000"/>
                    </a:solidFill>
                    <a:latin typeface="Times New Roman" panose="02020603050405020304" pitchFamily="18" charset="0"/>
                    <a:cs typeface="Times New Roman" panose="02020603050405020304" pitchFamily="18" charset="0"/>
                  </a:rPr>
                  <a:t>Case 1:</a:t>
                </a:r>
                <a:endParaRPr lang="en-US" i="1"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&lt;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solidFill>
                      <a:srgbClr val="FF0000"/>
                    </a:solidFill>
                    <a:latin typeface="Times New Roman" panose="02020603050405020304" pitchFamily="18" charset="0"/>
                    <a:cs typeface="Times New Roman" panose="02020603050405020304" pitchFamily="18" charset="0"/>
                  </a:rPr>
                  <a:t>Case 2:</a:t>
                </a: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&gt;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oMath>
                  </m:oMathPara>
                </a14:m>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solidFill>
                      <a:srgbClr val="FF0000"/>
                    </a:solidFill>
                    <a:latin typeface="Times New Roman" panose="02020603050405020304" pitchFamily="18" charset="0"/>
                    <a:cs typeface="Times New Roman" panose="02020603050405020304" pitchFamily="18" charset="0"/>
                  </a:rPr>
                  <a:t>Case 3: </a:t>
                </a:r>
                <a:endParaRPr lang="en-US" i="1"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cs typeface="Times New Roman" panose="02020603050405020304" pitchFamily="18" charset="0"/>
                        </a:rPr>
                        <m:t>    </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cs typeface="Times New Roman" panose="02020603050405020304" pitchFamily="18" charset="0"/>
                  </a:rPr>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03648" y="1600202"/>
                <a:ext cx="7283152" cy="4525963"/>
              </a:xfrm>
              <a:blipFill>
                <a:blip r:embed="rId2"/>
                <a:stretch>
                  <a:fillRect l="-2092" t="-188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58</a:t>
            </a:fld>
            <a:endParaRPr lang="en-US" altLang="zh-CN"/>
          </a:p>
        </p:txBody>
      </p:sp>
      <p:sp>
        <p:nvSpPr>
          <p:cNvPr id="5" name="Date Placeholder 4"/>
          <p:cNvSpPr>
            <a:spLocks noGrp="1"/>
          </p:cNvSpPr>
          <p:nvPr>
            <p:ph type="dt" sz="half" idx="10"/>
          </p:nvPr>
        </p:nvSpPr>
        <p:spPr/>
        <p:txBody>
          <a:bodyPr/>
          <a:lstStyle/>
          <a:p>
            <a:pPr>
              <a:defRPr/>
            </a:pPr>
            <a:fld id="{E59CD7E3-422D-44F2-83FC-6E7ABA3F2130}"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42735117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92696"/>
                <a:ext cx="7427168"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Under the assumption that the null hypothesis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oMath>
                </a14:m>
                <a:r>
                  <a:rPr lang="en-US" dirty="0">
                    <a:latin typeface="Times New Roman" panose="02020603050405020304" pitchFamily="18" charset="0"/>
                    <a:cs typeface="Times New Roman" panose="02020603050405020304" pitchFamily="18" charset="0"/>
                  </a:rPr>
                  <a:t> is true, the test statistic </a:t>
                </a:r>
              </a:p>
              <a:p>
                <a:pPr marL="0" indent="0" algn="just">
                  <a:buNone/>
                </a:pPr>
                <a14:m>
                  <m:oMathPara xmlns:m="http://schemas.openxmlformats.org/officeDocument/2006/math">
                    <m:oMathParaPr>
                      <m:jc m:val="centerGroup"/>
                    </m:oMathParaPr>
                    <m:oMath xmlns:m="http://schemas.openxmlformats.org/officeDocument/2006/math">
                      <m:r>
                        <a:rPr lang="en-US" i="1">
                          <a:solidFill>
                            <a:srgbClr val="00B0F0"/>
                          </a:solidFill>
                          <a:latin typeface="Cambria Math" panose="02040503050406030204" pitchFamily="18" charset="0"/>
                          <a:cs typeface="Times New Roman" panose="02020603050405020304" pitchFamily="18" charset="0"/>
                        </a:rPr>
                        <m:t>𝐹</m:t>
                      </m:r>
                      <m:r>
                        <a:rPr lang="en-US" i="1">
                          <a:solidFill>
                            <a:srgbClr val="00B0F0"/>
                          </a:solidFill>
                          <a:latin typeface="Cambria Math" panose="02040503050406030204" pitchFamily="18" charset="0"/>
                          <a:cs typeface="Times New Roman" panose="02020603050405020304" pitchFamily="18" charset="0"/>
                        </a:rPr>
                        <m:t>=</m:t>
                      </m:r>
                      <m:f>
                        <m:fPr>
                          <m:ctrlPr>
                            <a:rPr lang="en-US" i="1">
                              <a:solidFill>
                                <a:srgbClr val="00B0F0"/>
                              </a:solidFill>
                              <a:latin typeface="Cambria Math" panose="02040503050406030204" pitchFamily="18" charset="0"/>
                              <a:cs typeface="Times New Roman" panose="02020603050405020304" pitchFamily="18" charset="0"/>
                            </a:rPr>
                          </m:ctrlPr>
                        </m:fPr>
                        <m:num>
                          <m:sSubSup>
                            <m:sSubSupPr>
                              <m:ctrlPr>
                                <a:rPr lang="en-US" i="1">
                                  <a:solidFill>
                                    <a:srgbClr val="00B0F0"/>
                                  </a:solidFill>
                                  <a:latin typeface="Cambria Math" panose="02040503050406030204" pitchFamily="18" charset="0"/>
                                  <a:cs typeface="Times New Roman" panose="02020603050405020304" pitchFamily="18" charset="0"/>
                                </a:rPr>
                              </m:ctrlPr>
                            </m:sSubSupPr>
                            <m:e>
                              <m:r>
                                <a:rPr lang="en-US" i="1">
                                  <a:solidFill>
                                    <a:srgbClr val="00B0F0"/>
                                  </a:solidFill>
                                  <a:latin typeface="Cambria Math" panose="02040503050406030204" pitchFamily="18" charset="0"/>
                                  <a:cs typeface="Times New Roman" panose="02020603050405020304" pitchFamily="18" charset="0"/>
                                </a:rPr>
                                <m:t>𝑆</m:t>
                              </m:r>
                            </m:e>
                            <m:sub>
                              <m:r>
                                <a:rPr lang="en-US" i="1">
                                  <a:solidFill>
                                    <a:srgbClr val="00B0F0"/>
                                  </a:solidFill>
                                  <a:latin typeface="Cambria Math" panose="02040503050406030204" pitchFamily="18" charset="0"/>
                                  <a:cs typeface="Times New Roman" panose="02020603050405020304" pitchFamily="18" charset="0"/>
                                </a:rPr>
                                <m:t>1</m:t>
                              </m:r>
                            </m:sub>
                            <m:sup>
                              <m:r>
                                <a:rPr lang="en-US" i="1">
                                  <a:solidFill>
                                    <a:srgbClr val="00B0F0"/>
                                  </a:solidFill>
                                  <a:latin typeface="Cambria Math" panose="02040503050406030204" pitchFamily="18" charset="0"/>
                                  <a:cs typeface="Times New Roman" panose="02020603050405020304" pitchFamily="18" charset="0"/>
                                </a:rPr>
                                <m:t>2</m:t>
                              </m:r>
                            </m:sup>
                          </m:sSubSup>
                        </m:num>
                        <m:den>
                          <m:sSubSup>
                            <m:sSubSupPr>
                              <m:ctrlPr>
                                <a:rPr lang="en-US" i="1">
                                  <a:solidFill>
                                    <a:srgbClr val="00B0F0"/>
                                  </a:solidFill>
                                  <a:latin typeface="Cambria Math" panose="02040503050406030204" pitchFamily="18" charset="0"/>
                                  <a:cs typeface="Times New Roman" panose="02020603050405020304" pitchFamily="18" charset="0"/>
                                </a:rPr>
                              </m:ctrlPr>
                            </m:sSubSupPr>
                            <m:e>
                              <m:r>
                                <a:rPr lang="en-US" i="1">
                                  <a:solidFill>
                                    <a:srgbClr val="00B0F0"/>
                                  </a:solidFill>
                                  <a:latin typeface="Cambria Math" panose="02040503050406030204" pitchFamily="18" charset="0"/>
                                  <a:cs typeface="Times New Roman" panose="02020603050405020304" pitchFamily="18" charset="0"/>
                                </a:rPr>
                                <m:t>𝑆</m:t>
                              </m:r>
                            </m:e>
                            <m:sub>
                              <m:r>
                                <a:rPr lang="en-US" i="1">
                                  <a:solidFill>
                                    <a:srgbClr val="00B0F0"/>
                                  </a:solidFill>
                                  <a:latin typeface="Cambria Math" panose="02040503050406030204" pitchFamily="18" charset="0"/>
                                  <a:cs typeface="Times New Roman" panose="02020603050405020304" pitchFamily="18" charset="0"/>
                                </a:rPr>
                                <m:t>2</m:t>
                              </m:r>
                            </m:sub>
                            <m:sup>
                              <m:r>
                                <a:rPr lang="en-US" i="1">
                                  <a:solidFill>
                                    <a:srgbClr val="00B0F0"/>
                                  </a:solidFill>
                                  <a:latin typeface="Cambria Math" panose="02040503050406030204" pitchFamily="18" charset="0"/>
                                  <a:cs typeface="Times New Roman" panose="02020603050405020304" pitchFamily="18" charset="0"/>
                                </a:rPr>
                                <m:t>2</m:t>
                              </m:r>
                            </m:sup>
                          </m:sSubSup>
                        </m:den>
                      </m:f>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has F-distribution with degrees of freedom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−1</m:t>
                    </m:r>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−1</m:t>
                    </m:r>
                  </m:oMath>
                </a14:m>
                <a:r>
                  <a:rPr lang="en-US" dirty="0">
                    <a:latin typeface="Times New Roman" panose="02020603050405020304" pitchFamily="18" charset="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92696"/>
                <a:ext cx="7427168" cy="4525963"/>
              </a:xfrm>
              <a:blipFill>
                <a:blip r:embed="rId2"/>
                <a:stretch>
                  <a:fillRect l="-2135" t="-1887" r="-2053"/>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59</a:t>
            </a:fld>
            <a:endParaRPr lang="en-US" altLang="zh-CN"/>
          </a:p>
        </p:txBody>
      </p:sp>
      <p:sp>
        <p:nvSpPr>
          <p:cNvPr id="2" name="Date Placeholder 1"/>
          <p:cNvSpPr>
            <a:spLocks noGrp="1"/>
          </p:cNvSpPr>
          <p:nvPr>
            <p:ph type="dt" sz="half" idx="10"/>
          </p:nvPr>
        </p:nvSpPr>
        <p:spPr/>
        <p:txBody>
          <a:bodyPr/>
          <a:lstStyle/>
          <a:p>
            <a:pPr>
              <a:defRPr/>
            </a:pPr>
            <a:fld id="{4DAAED31-07AC-4834-A5D5-B66F653E9054}"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22198653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274638"/>
            <a:ext cx="7427168" cy="1143000"/>
          </a:xfrm>
        </p:spPr>
        <p:txBody>
          <a:bodyPr/>
          <a:lstStyle/>
          <a:p>
            <a:pPr algn="l"/>
            <a:r>
              <a:rPr lang="en-US" sz="4000" dirty="0">
                <a:solidFill>
                  <a:srgbClr val="C00000"/>
                </a:solidFill>
                <a:latin typeface="Times New Roman" panose="02020603050405020304" pitchFamily="18" charset="0"/>
                <a:cs typeface="Times New Roman" panose="02020603050405020304" pitchFamily="18" charset="0"/>
              </a:rPr>
              <a:t>Example </a:t>
            </a:r>
            <a:endParaRPr lang="en-US" dirty="0">
              <a:solidFill>
                <a:srgbClr val="C00000"/>
              </a:solidFill>
            </a:endParaRPr>
          </a:p>
        </p:txBody>
      </p:sp>
      <p:sp>
        <p:nvSpPr>
          <p:cNvPr id="3" name="Content Placeholder 2"/>
          <p:cNvSpPr>
            <a:spLocks noGrp="1"/>
          </p:cNvSpPr>
          <p:nvPr>
            <p:ph idx="1"/>
          </p:nvPr>
        </p:nvSpPr>
        <p:spPr>
          <a:xfrm>
            <a:off x="1259632" y="1166018"/>
            <a:ext cx="7632848" cy="4525963"/>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Let us consider the final scores of the Author’s two different sections of the elementary statistics courses:</a:t>
            </a:r>
          </a:p>
          <a:p>
            <a:pPr marL="0" indent="0" algn="just">
              <a:buNone/>
            </a:pPr>
            <a:r>
              <a:rPr lang="en-US" sz="2800" dirty="0">
                <a:latin typeface="Times New Roman" panose="02020603050405020304" pitchFamily="18" charset="0"/>
                <a:cs typeface="Times New Roman" panose="02020603050405020304" pitchFamily="18" charset="0"/>
              </a:rPr>
              <a:t>Section 1: 38, 88, 91, 84, 97, 78, 51, 90, 72, 73, 73, 55, 83, 72, 97, 33, 78, 91, 93, 65, 86, 81, 87, 81, 28, 74</a:t>
            </a:r>
          </a:p>
          <a:p>
            <a:pPr marL="0" indent="0" algn="just">
              <a:buNone/>
            </a:pPr>
            <a:r>
              <a:rPr lang="en-US" sz="2800" dirty="0">
                <a:latin typeface="Times New Roman" panose="02020603050405020304" pitchFamily="18" charset="0"/>
                <a:cs typeface="Times New Roman" panose="02020603050405020304" pitchFamily="18" charset="0"/>
              </a:rPr>
              <a:t>Section 2: 64, 36, 87, 73, 72, 43, 90, 81, 79, 43, 77, 89, 91, 72, 75, 68, 78, 72, 81, 72, 35, 72, 93, 74, 85.</a:t>
            </a:r>
          </a:p>
          <a:p>
            <a:pPr marL="0" indent="0" algn="just">
              <a:buNone/>
            </a:pPr>
            <a:r>
              <a:rPr lang="en-US" sz="2800" dirty="0">
                <a:latin typeface="Times New Roman" panose="02020603050405020304" pitchFamily="18" charset="0"/>
                <a:cs typeface="Times New Roman" panose="02020603050405020304" pitchFamily="18" charset="0"/>
              </a:rPr>
              <a:t>Assume that the samples are from independent normal populations.</a:t>
            </a:r>
          </a:p>
        </p:txBody>
      </p:sp>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60</a:t>
            </a:fld>
            <a:endParaRPr lang="en-US" altLang="zh-CN"/>
          </a:p>
        </p:txBody>
      </p:sp>
      <p:sp>
        <p:nvSpPr>
          <p:cNvPr id="5" name="Date Placeholder 4"/>
          <p:cNvSpPr>
            <a:spLocks noGrp="1"/>
          </p:cNvSpPr>
          <p:nvPr>
            <p:ph type="dt" sz="half" idx="10"/>
          </p:nvPr>
        </p:nvSpPr>
        <p:spPr/>
        <p:txBody>
          <a:bodyPr/>
          <a:lstStyle/>
          <a:p>
            <a:pPr>
              <a:defRPr/>
            </a:pPr>
            <a:fld id="{CF5CAF64-DBE3-413C-B8CE-1EE293B3B9C3}" type="datetime1">
              <a:rPr lang="en-US" altLang="zh-CN" smtClean="0"/>
              <a:t>7/17/2025</a:t>
            </a:fld>
            <a:endParaRPr lang="en-US" altLang="zh-CN"/>
          </a:p>
        </p:txBody>
      </p:sp>
      <p:sp>
        <p:nvSpPr>
          <p:cNvPr id="6" name="Footer Placeholder 5"/>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1210509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97162" y="404664"/>
                <a:ext cx="7389638" cy="4267200"/>
              </a:xfrm>
            </p:spPr>
            <p:txBody>
              <a:bodyPr/>
              <a:lstStyle/>
              <a:p>
                <a:pPr marL="0" indent="0" algn="just">
                  <a:buNone/>
                </a:pPr>
                <a:r>
                  <a:rPr lang="en-US" dirty="0">
                    <a:solidFill>
                      <a:srgbClr val="FF0000"/>
                    </a:solidFill>
                    <a:latin typeface="Times New Roman" panose="02020603050405020304" pitchFamily="18" charset="0"/>
                    <a:cs typeface="Times New Roman" panose="02020603050405020304" pitchFamily="18" charset="0"/>
                  </a:rPr>
                  <a:t>Solution: </a:t>
                </a:r>
                <a:r>
                  <a:rPr lang="en-US" dirty="0">
                    <a:latin typeface="Times New Roman" panose="02020603050405020304" pitchFamily="18" charset="0"/>
                    <a:cs typeface="Times New Roman" panose="02020603050405020304" pitchFamily="18" charset="0"/>
                  </a:rPr>
                  <a:t>To construct a 90% confidence interval for </a:t>
                </a:r>
                <a14:m>
                  <m:oMath xmlns:m="http://schemas.openxmlformats.org/officeDocument/2006/math">
                    <m:f>
                      <m:fPr>
                        <m:ctrlPr>
                          <a:rPr lang="en-US" i="1">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2</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den>
                    </m:f>
                  </m:oMath>
                </a14:m>
                <a:r>
                  <a:rPr lang="en-US" dirty="0">
                    <a:latin typeface="Times New Roman" panose="02020603050405020304" pitchFamily="18" charset="0"/>
                    <a:cs typeface="Times New Roman" panose="02020603050405020304" pitchFamily="18" charset="0"/>
                  </a:rPr>
                  <a:t> , we obtain </a:t>
                </a: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1</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m:t>
                            </m:r>
                          </m:e>
                          <m:sub>
                            <m:f>
                              <m:fPr>
                                <m:type m:val="lin"/>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Cambria Math" panose="02040503050406030204" pitchFamily="18" charset="0"/>
                                    <a:cs typeface="Times New Roman" panose="02020603050405020304" pitchFamily="18" charset="0"/>
                                  </a:rPr>
                                  <m:t>𝛼</m:t>
                                </m:r>
                              </m:num>
                              <m:den>
                                <m:r>
                                  <a:rPr lang="en-US" i="1">
                                    <a:latin typeface="Cambria Math" panose="02040503050406030204" pitchFamily="18" charset="0"/>
                                    <a:cs typeface="Times New Roman" panose="02020603050405020304" pitchFamily="18" charset="0"/>
                                  </a:rPr>
                                  <m:t>2</m:t>
                                </m:r>
                              </m:den>
                            </m:f>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−1</m:t>
                            </m:r>
                          </m:sub>
                        </m:sSub>
                      </m:den>
                    </m:f>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i="1">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2</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ea typeface="Cambria Math" panose="02040503050406030204" pitchFamily="18" charset="0"/>
                        <a:cs typeface="Times New Roman" panose="02020603050405020304" pitchFamily="18" charset="0"/>
                      </a:rPr>
                      <m:t> &lt;</m:t>
                    </m:r>
                    <m:f>
                      <m:fPr>
                        <m:ctrlPr>
                          <a:rPr lang="en-US" i="1">
                            <a:latin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m:t>
                        </m:r>
                      </m:e>
                      <m:sub>
                        <m:f>
                          <m:fPr>
                            <m:type m:val="lin"/>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Cambria Math" panose="02040503050406030204" pitchFamily="18" charset="0"/>
                                <a:cs typeface="Times New Roman" panose="02020603050405020304" pitchFamily="18" charset="0"/>
                              </a:rPr>
                              <m:t>𝛼</m:t>
                            </m:r>
                          </m:num>
                          <m:den>
                            <m:r>
                              <a:rPr lang="en-US" i="1">
                                <a:latin typeface="Cambria Math" panose="02040503050406030204" pitchFamily="18" charset="0"/>
                                <a:cs typeface="Times New Roman" panose="02020603050405020304" pitchFamily="18" charset="0"/>
                              </a:rPr>
                              <m:t>2</m:t>
                            </m:r>
                          </m:den>
                        </m:f>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2</m:t>
                            </m:r>
                          </m:sub>
                        </m:sSub>
                        <m:r>
                          <a:rPr lang="en-US" i="1">
                            <a:latin typeface="Cambria Math" panose="02040503050406030204" pitchFamily="18" charset="0"/>
                            <a:cs typeface="Times New Roman" panose="02020603050405020304" pitchFamily="18" charset="0"/>
                          </a:rPr>
                          <m:t> −1,</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𝑛</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−1</m:t>
                        </m:r>
                      </m:sub>
                    </m:sSub>
                  </m:oMath>
                </a14:m>
                <a:r>
                  <a:rPr lang="en-US" dirty="0">
                    <a:latin typeface="Times New Roman" panose="02020603050405020304" pitchFamily="18" charset="0"/>
                    <a:cs typeface="Times New Roman" panose="02020603050405020304" pitchFamily="18" charset="0"/>
                  </a:rPr>
                  <a:t> </a:t>
                </a:r>
              </a:p>
              <a:p>
                <a:pPr marL="0" indent="0" algn="just">
                  <a:buNone/>
                </a:pP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19.12</m:t>
                            </m:r>
                          </m:e>
                          <m:sup>
                            <m:r>
                              <a:rPr lang="en-US" i="1">
                                <a:latin typeface="Cambria Math" panose="02040503050406030204" pitchFamily="18" charset="0"/>
                                <a:cs typeface="Times New Roman" panose="02020603050405020304" pitchFamily="18" charset="0"/>
                              </a:rPr>
                              <m:t>2</m:t>
                            </m:r>
                          </m:sup>
                        </m:sSup>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16.48</m:t>
                            </m:r>
                          </m:e>
                          <m:sup>
                            <m:r>
                              <a:rPr lang="en-US" i="1">
                                <a:latin typeface="Cambria Math" panose="02040503050406030204" pitchFamily="18" charset="0"/>
                                <a:cs typeface="Times New Roman" panose="02020603050405020304" pitchFamily="18" charset="0"/>
                              </a:rPr>
                              <m:t>2</m:t>
                            </m:r>
                          </m:sup>
                        </m:sSup>
                      </m:den>
                    </m:f>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1</m:t>
                        </m:r>
                      </m:num>
                      <m:den>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m:t>
                            </m:r>
                          </m:e>
                          <m:sub>
                            <m:r>
                              <a:rPr lang="en-US" i="1">
                                <a:latin typeface="Cambria Math" panose="02040503050406030204" pitchFamily="18" charset="0"/>
                                <a:cs typeface="Times New Roman" panose="02020603050405020304" pitchFamily="18" charset="0"/>
                              </a:rPr>
                              <m:t>0.05,26 −1,25 −1</m:t>
                            </m:r>
                          </m:sub>
                        </m:sSub>
                      </m:den>
                    </m:f>
                    <m:r>
                      <a:rPr lang="en-US"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i="1">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2</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19.12</m:t>
                            </m:r>
                          </m:e>
                          <m:sup>
                            <m:r>
                              <a:rPr lang="en-US" i="1">
                                <a:latin typeface="Cambria Math" panose="02040503050406030204" pitchFamily="18" charset="0"/>
                                <a:cs typeface="Times New Roman" panose="02020603050405020304" pitchFamily="18" charset="0"/>
                              </a:rPr>
                              <m:t>2</m:t>
                            </m:r>
                          </m:sup>
                        </m:sSup>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16.48</m:t>
                            </m:r>
                          </m:e>
                          <m:sup>
                            <m:r>
                              <a:rPr lang="en-US" i="1">
                                <a:latin typeface="Cambria Math" panose="02040503050406030204" pitchFamily="18" charset="0"/>
                                <a:cs typeface="Times New Roman" panose="02020603050405020304" pitchFamily="18" charset="0"/>
                              </a:rPr>
                              <m:t>2</m:t>
                            </m:r>
                          </m:sup>
                        </m:sSup>
                      </m:den>
                    </m:f>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m:t>
                        </m:r>
                      </m:e>
                      <m:sub>
                        <m:r>
                          <a:rPr lang="en-US" i="1">
                            <a:latin typeface="Cambria Math" panose="02040503050406030204" pitchFamily="18" charset="0"/>
                            <a:cs typeface="Times New Roman" panose="02020603050405020304" pitchFamily="18" charset="0"/>
                          </a:rPr>
                          <m:t>0.05,25 −1,26 −1</m:t>
                        </m:r>
                      </m:sub>
                    </m:sSub>
                    <m:r>
                      <m:rPr>
                        <m:nor/>
                      </m:rPr>
                      <a:rPr lang="en-US" dirty="0">
                        <a:latin typeface="Times New Roman" panose="02020603050405020304" pitchFamily="18" charset="0"/>
                        <a:cs typeface="Times New Roman" panose="02020603050405020304" pitchFamily="18" charset="0"/>
                      </a:rPr>
                      <m:t> </m:t>
                    </m:r>
                  </m:oMath>
                </a14:m>
                <a:r>
                  <a:rPr lang="en-US" dirty="0">
                    <a:latin typeface="Times New Roman" panose="02020603050405020304" pitchFamily="18" charset="0"/>
                    <a:cs typeface="Times New Roman" panose="02020603050405020304" pitchFamily="18" charset="0"/>
                  </a:rPr>
                  <a:t> </a:t>
                </a:r>
              </a:p>
              <a:p>
                <a:pPr marL="0" indent="0" algn="just">
                  <a:buNone/>
                </a:pP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19.12</m:t>
                            </m:r>
                          </m:e>
                          <m:sup>
                            <m:r>
                              <a:rPr lang="en-US" i="1">
                                <a:latin typeface="Cambria Math" panose="02040503050406030204" pitchFamily="18" charset="0"/>
                                <a:cs typeface="Times New Roman" panose="02020603050405020304" pitchFamily="18" charset="0"/>
                              </a:rPr>
                              <m:t>2</m:t>
                            </m:r>
                          </m:sup>
                        </m:sSup>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16.48</m:t>
                            </m:r>
                          </m:e>
                          <m:sup>
                            <m:r>
                              <a:rPr lang="en-US" i="1">
                                <a:latin typeface="Cambria Math" panose="02040503050406030204" pitchFamily="18" charset="0"/>
                                <a:cs typeface="Times New Roman" panose="02020603050405020304" pitchFamily="18" charset="0"/>
                              </a:rPr>
                              <m:t>2</m:t>
                            </m:r>
                          </m:sup>
                        </m:sSup>
                      </m:den>
                    </m:f>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1</m:t>
                        </m:r>
                      </m:num>
                      <m:den>
                        <m:r>
                          <a:rPr lang="en-US" i="1">
                            <a:latin typeface="Cambria Math" panose="02040503050406030204" pitchFamily="18" charset="0"/>
                            <a:cs typeface="Times New Roman" panose="02020603050405020304" pitchFamily="18" charset="0"/>
                          </a:rPr>
                          <m:t>1.9750</m:t>
                        </m:r>
                      </m:den>
                    </m:f>
                    <m:r>
                      <a:rPr lang="en-US"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i="1">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ea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ea typeface="Cambria Math" panose="02040503050406030204" pitchFamily="18" charset="0"/>
                                <a:cs typeface="Times New Roman" panose="02020603050405020304" pitchFamily="18" charset="0"/>
                              </a:rPr>
                              <m:t>2</m:t>
                            </m:r>
                          </m:sub>
                          <m:sup>
                            <m:r>
                              <a:rPr lang="en-US" i="1">
                                <a:latin typeface="Cambria Math" panose="02040503050406030204" pitchFamily="18" charset="0"/>
                                <a:ea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19.12</m:t>
                            </m:r>
                          </m:e>
                          <m:sup>
                            <m:r>
                              <a:rPr lang="en-US" i="1">
                                <a:latin typeface="Cambria Math" panose="02040503050406030204" pitchFamily="18" charset="0"/>
                                <a:cs typeface="Times New Roman" panose="02020603050405020304" pitchFamily="18" charset="0"/>
                              </a:rPr>
                              <m:t>2</m:t>
                            </m:r>
                          </m:sup>
                        </m:sSup>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16.48</m:t>
                            </m:r>
                          </m:e>
                          <m:sup>
                            <m:r>
                              <a:rPr lang="en-US" i="1">
                                <a:latin typeface="Cambria Math" panose="02040503050406030204" pitchFamily="18" charset="0"/>
                                <a:cs typeface="Times New Roman" panose="02020603050405020304" pitchFamily="18" charset="0"/>
                              </a:rPr>
                              <m:t>2</m:t>
                            </m:r>
                          </m:sup>
                        </m:sSup>
                      </m:den>
                    </m:f>
                    <m:r>
                      <a:rPr lang="en-US" i="1">
                        <a:latin typeface="Cambria Math" panose="02040503050406030204" pitchFamily="18" charset="0"/>
                        <a:cs typeface="Times New Roman" panose="02020603050405020304" pitchFamily="18" charset="0"/>
                      </a:rPr>
                      <m:t>∗1.9643</m:t>
                    </m:r>
                  </m:oMath>
                </a14:m>
                <a:r>
                  <a:rPr lang="en-US" dirty="0">
                    <a:latin typeface="Times New Roman" panose="02020603050405020304" pitchFamily="18" charset="0"/>
                    <a:cs typeface="Times New Roman" panose="02020603050405020304" pitchFamily="18" charset="0"/>
                  </a:rPr>
                  <a:t> </a:t>
                </a:r>
              </a:p>
              <a:p>
                <a:pPr marL="0" indent="0" algn="just">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Times New Roman" panose="02020603050405020304" pitchFamily="18" charset="0"/>
                        </a:rPr>
                        <m:t>0.6815</m:t>
                      </m:r>
                      <m:r>
                        <a:rPr lang="en-US" sz="2400" i="1">
                          <a:latin typeface="Cambria Math" panose="02040503050406030204" pitchFamily="18" charset="0"/>
                          <a:ea typeface="Cambria Math" panose="02040503050406030204" pitchFamily="18" charset="0"/>
                          <a:cs typeface="Times New Roman" panose="02020603050405020304" pitchFamily="18" charset="0"/>
                        </a:rPr>
                        <m:t>&lt;</m:t>
                      </m:r>
                      <m:f>
                        <m:f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1</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num>
                        <m:den>
                          <m:sSubSup>
                            <m:sSub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ea typeface="Cambria Math" panose="02040503050406030204" pitchFamily="18" charset="0"/>
                                  <a:cs typeface="Times New Roman" panose="02020603050405020304" pitchFamily="18" charset="0"/>
                                </a:rPr>
                                <m:t>2</m:t>
                              </m:r>
                            </m:sub>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bSup>
                        </m:den>
                      </m:f>
                      <m:r>
                        <a:rPr lang="en-US" sz="2400" i="1">
                          <a:latin typeface="Cambria Math" panose="02040503050406030204" pitchFamily="18" charset="0"/>
                          <a:ea typeface="Cambria Math" panose="02040503050406030204" pitchFamily="18" charset="0"/>
                          <a:cs typeface="Times New Roman" panose="02020603050405020304" pitchFamily="18" charset="0"/>
                        </a:rPr>
                        <m:t>&lt;</m:t>
                      </m:r>
                      <m:r>
                        <a:rPr lang="en-US" sz="2400" i="1">
                          <a:latin typeface="Cambria Math" panose="02040503050406030204" pitchFamily="18" charset="0"/>
                          <a:cs typeface="Times New Roman" panose="02020603050405020304" pitchFamily="18" charset="0"/>
                        </a:rPr>
                        <m:t>2.6440 </m:t>
                      </m:r>
                    </m:oMath>
                  </m:oMathPara>
                </a14:m>
                <a:endParaRPr lang="en-US" sz="2400"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97162" y="404664"/>
                <a:ext cx="7389638" cy="4267200"/>
              </a:xfrm>
              <a:blipFill>
                <a:blip r:embed="rId2"/>
                <a:stretch>
                  <a:fillRect l="-2145" t="-2000" r="-2063" b="-3285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61</a:t>
            </a:fld>
            <a:endParaRPr lang="en-US" altLang="zh-CN"/>
          </a:p>
        </p:txBody>
      </p:sp>
      <p:sp>
        <p:nvSpPr>
          <p:cNvPr id="2" name="Date Placeholder 1"/>
          <p:cNvSpPr>
            <a:spLocks noGrp="1"/>
          </p:cNvSpPr>
          <p:nvPr>
            <p:ph type="dt" sz="half" idx="10"/>
          </p:nvPr>
        </p:nvSpPr>
        <p:spPr/>
        <p:txBody>
          <a:bodyPr/>
          <a:lstStyle/>
          <a:p>
            <a:pPr>
              <a:defRPr/>
            </a:pPr>
            <a:fld id="{05E8F347-ABDF-4A2D-870C-6461048D6D24}"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923417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92696"/>
                <a:ext cx="7280920" cy="4267200"/>
              </a:xfrm>
            </p:spPr>
            <p:txBody>
              <a:bodyPr/>
              <a:lstStyle/>
              <a:p>
                <a:pPr marL="0" indent="0" algn="just">
                  <a:buNone/>
                </a:pPr>
                <a:r>
                  <a:rPr lang="en-US" dirty="0">
                    <a:latin typeface="Times New Roman" panose="02020603050405020304" pitchFamily="18" charset="0"/>
                    <a:cs typeface="Times New Roman" panose="02020603050405020304" pitchFamily="18" charset="0"/>
                  </a:rPr>
                  <a:t>To test the claim that the first section has higher variance compared to the second section using 5% level of significance, the hypotheses can be written as </a:t>
                </a:r>
              </a:p>
              <a:p>
                <a:pPr marL="0"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1</m:t>
                          </m:r>
                        </m:sub>
                      </m:sSub>
                      <m:r>
                        <a:rPr lang="en-US" i="1">
                          <a:latin typeface="Cambria Math" panose="02040503050406030204" pitchFamily="18" charset="0"/>
                          <a:cs typeface="Times New Roman" panose="02020603050405020304" pitchFamily="18" charset="0"/>
                        </a:rPr>
                        <m:t> :</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r>
                        <a:rPr lang="en-US" i="1">
                          <a:latin typeface="Cambria Math" panose="02040503050406030204" pitchFamily="18" charset="0"/>
                          <a:ea typeface="Cambria Math" panose="02040503050406030204" pitchFamily="18" charset="0"/>
                          <a:cs typeface="Times New Roman" panose="02020603050405020304" pitchFamily="18" charset="0"/>
                        </a:rPr>
                        <m:t>&gt;</m:t>
                      </m:r>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ea typeface="Cambria Math" panose="02040503050406030204" pitchFamily="18" charset="0"/>
                              <a:cs typeface="Times New Roman" panose="02020603050405020304" pitchFamily="18" charset="0"/>
                            </a:rPr>
                            <m:t>𝜎</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oMath>
                  </m:oMathPara>
                </a14:m>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test statistic </a:t>
                </a:r>
              </a:p>
              <a:p>
                <a:pPr marL="0" indent="0"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cs typeface="Times New Roman" panose="02020603050405020304" pitchFamily="18" charset="0"/>
                        </a:rPr>
                        <m:t>𝐹</m:t>
                      </m:r>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1</m:t>
                              </m:r>
                            </m:sub>
                            <m:sup>
                              <m:r>
                                <a:rPr lang="en-US" i="1">
                                  <a:latin typeface="Cambria Math" panose="02040503050406030204" pitchFamily="18" charset="0"/>
                                  <a:cs typeface="Times New Roman" panose="02020603050405020304" pitchFamily="18" charset="0"/>
                                </a:rPr>
                                <m:t>2</m:t>
                              </m:r>
                            </m:sup>
                          </m:sSubSup>
                        </m:num>
                        <m:den>
                          <m:sSubSup>
                            <m:sSubSupPr>
                              <m:ctrlPr>
                                <a:rPr lang="en-US" i="1">
                                  <a:latin typeface="Cambria Math" panose="02040503050406030204" pitchFamily="18" charset="0"/>
                                  <a:cs typeface="Times New Roman" panose="02020603050405020304" pitchFamily="18" charset="0"/>
                                </a:rPr>
                              </m:ctrlPr>
                            </m:sSubSupPr>
                            <m:e>
                              <m:r>
                                <a:rPr lang="en-US" i="1">
                                  <a:latin typeface="Cambria Math" panose="02040503050406030204" pitchFamily="18" charset="0"/>
                                  <a:cs typeface="Times New Roman" panose="02020603050405020304" pitchFamily="18" charset="0"/>
                                </a:rPr>
                                <m:t>𝑆</m:t>
                              </m:r>
                            </m:e>
                            <m:sub>
                              <m:r>
                                <a:rPr lang="en-US" i="1">
                                  <a:latin typeface="Cambria Math" panose="02040503050406030204" pitchFamily="18" charset="0"/>
                                  <a:cs typeface="Times New Roman" panose="02020603050405020304" pitchFamily="18" charset="0"/>
                                </a:rPr>
                                <m:t>2</m:t>
                              </m:r>
                            </m:sub>
                            <m:sup>
                              <m:r>
                                <a:rPr lang="en-US" i="1">
                                  <a:latin typeface="Cambria Math" panose="02040503050406030204" pitchFamily="18" charset="0"/>
                                  <a:cs typeface="Times New Roman" panose="02020603050405020304" pitchFamily="18" charset="0"/>
                                </a:rPr>
                                <m:t>2</m:t>
                              </m:r>
                            </m:sup>
                          </m:sSubSup>
                        </m:den>
                      </m:f>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19.12</m:t>
                              </m:r>
                            </m:e>
                            <m:sup>
                              <m:r>
                                <a:rPr lang="en-US" i="1">
                                  <a:latin typeface="Cambria Math" panose="02040503050406030204" pitchFamily="18" charset="0"/>
                                  <a:cs typeface="Times New Roman" panose="02020603050405020304" pitchFamily="18" charset="0"/>
                                </a:rPr>
                                <m:t>2</m:t>
                              </m:r>
                            </m:sup>
                          </m:sSup>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16.48</m:t>
                              </m:r>
                            </m:e>
                            <m:sup>
                              <m:r>
                                <a:rPr lang="en-US" i="1">
                                  <a:latin typeface="Cambria Math" panose="02040503050406030204" pitchFamily="18" charset="0"/>
                                  <a:cs typeface="Times New Roman" panose="02020603050405020304" pitchFamily="18" charset="0"/>
                                </a:rPr>
                                <m:t>2</m:t>
                              </m:r>
                            </m:sup>
                          </m:sSup>
                        </m:den>
                      </m:f>
                      <m:r>
                        <a:rPr lang="en-US" i="1">
                          <a:latin typeface="Cambria Math" panose="02040503050406030204" pitchFamily="18" charset="0"/>
                          <a:cs typeface="Times New Roman" panose="02020603050405020304" pitchFamily="18" charset="0"/>
                        </a:rPr>
                        <m:t>=1.3461</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92696"/>
                <a:ext cx="7280920" cy="4267200"/>
              </a:xfrm>
              <a:blipFill>
                <a:blip r:embed="rId2"/>
                <a:stretch>
                  <a:fillRect l="-2178" t="-2000" r="-2094" b="-1185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62</a:t>
            </a:fld>
            <a:endParaRPr lang="en-US" altLang="zh-CN"/>
          </a:p>
        </p:txBody>
      </p:sp>
      <p:sp>
        <p:nvSpPr>
          <p:cNvPr id="2" name="Date Placeholder 1"/>
          <p:cNvSpPr>
            <a:spLocks noGrp="1"/>
          </p:cNvSpPr>
          <p:nvPr>
            <p:ph type="dt" sz="half" idx="10"/>
          </p:nvPr>
        </p:nvSpPr>
        <p:spPr/>
        <p:txBody>
          <a:bodyPr/>
          <a:lstStyle/>
          <a:p>
            <a:pPr>
              <a:defRPr/>
            </a:pPr>
            <a:fld id="{00918BEE-2670-40DB-A1BB-85C0599C9DAC}"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13264083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59632" y="620688"/>
                <a:ext cx="7427168"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The 5% critical value for degrees of freedom 25 and 24 is 1.975. </a:t>
                </a:r>
              </a:p>
              <a:p>
                <a:pPr marL="0" indent="0" algn="just">
                  <a:buNone/>
                </a:pPr>
                <a:r>
                  <a:rPr lang="en-US" dirty="0">
                    <a:latin typeface="Times New Roman" panose="02020603050405020304" pitchFamily="18" charset="0"/>
                    <a:cs typeface="Times New Roman" panose="02020603050405020304" pitchFamily="18" charset="0"/>
                  </a:rPr>
                  <a:t>So, we fail to reject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𝐻</m:t>
                        </m:r>
                      </m:e>
                      <m:sub>
                        <m:r>
                          <a:rPr lang="en-US" i="1">
                            <a:latin typeface="Cambria Math" panose="02040503050406030204" pitchFamily="18" charset="0"/>
                            <a:cs typeface="Times New Roman" panose="02020603050405020304" pitchFamily="18" charset="0"/>
                          </a:rPr>
                          <m:t>0</m:t>
                        </m:r>
                      </m:sub>
                    </m:sSub>
                  </m:oMath>
                </a14:m>
                <a:r>
                  <a:rPr lang="en-US" dirty="0">
                    <a:latin typeface="Times New Roman" panose="02020603050405020304" pitchFamily="18" charset="0"/>
                    <a:cs typeface="Times New Roman" panose="02020603050405020304" pitchFamily="18" charset="0"/>
                  </a:rPr>
                  <a:t> at 0.05 level and conclude that the Section 1 variance is not significantly higher than the Section 2 variance.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Similarly, p-value</a:t>
                </a:r>
                <a14:m>
                  <m:oMath xmlns:m="http://schemas.openxmlformats.org/officeDocument/2006/math">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𝑃</m:t>
                    </m:r>
                    <m:d>
                      <m:dPr>
                        <m:ctrlPr>
                          <a:rPr lang="en-US" i="1" dirty="0">
                            <a:latin typeface="Cambria Math" panose="02040503050406030204" pitchFamily="18" charset="0"/>
                            <a:cs typeface="Times New Roman" panose="02020603050405020304" pitchFamily="18" charset="0"/>
                          </a:rPr>
                        </m:ctrlPr>
                      </m:dPr>
                      <m:e>
                        <m:r>
                          <a:rPr lang="en-US" i="1" dirty="0">
                            <a:latin typeface="Cambria Math" panose="02040503050406030204" pitchFamily="18" charset="0"/>
                            <a:cs typeface="Times New Roman" panose="02020603050405020304" pitchFamily="18" charset="0"/>
                          </a:rPr>
                          <m:t>𝐹</m:t>
                        </m:r>
                        <m:r>
                          <a:rPr lang="en-US" i="1" dirty="0">
                            <a:latin typeface="Cambria Math" panose="02040503050406030204" pitchFamily="18" charset="0"/>
                            <a:cs typeface="Times New Roman" panose="02020603050405020304" pitchFamily="18" charset="0"/>
                          </a:rPr>
                          <m:t>&gt;1.3461</m:t>
                        </m:r>
                      </m:e>
                    </m:d>
                    <m:r>
                      <a:rPr lang="en-US" i="1" dirty="0">
                        <a:latin typeface="Cambria Math" panose="02040503050406030204" pitchFamily="18" charset="0"/>
                        <a:cs typeface="Times New Roman" panose="02020603050405020304" pitchFamily="18" charset="0"/>
                      </a:rPr>
                      <m:t>&gt;0.05</m:t>
                    </m:r>
                  </m:oMath>
                </a14:m>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So we fail to reject at 0.05 level. Same conclusion!</a:t>
                </a:r>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59632" y="620688"/>
                <a:ext cx="7427168" cy="4525963"/>
              </a:xfrm>
              <a:blipFill>
                <a:blip r:embed="rId2"/>
                <a:stretch>
                  <a:fillRect l="-2135" t="-1887" r="-2053" b="-22776"/>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22B24E0E-3D45-46C5-9A6B-C669808AED5A}" type="slidenum">
              <a:rPr lang="en-US" altLang="zh-CN" smtClean="0"/>
              <a:pPr>
                <a:defRPr/>
              </a:pPr>
              <a:t>63</a:t>
            </a:fld>
            <a:endParaRPr lang="en-US" altLang="zh-CN"/>
          </a:p>
        </p:txBody>
      </p:sp>
      <p:sp>
        <p:nvSpPr>
          <p:cNvPr id="2" name="Date Placeholder 1"/>
          <p:cNvSpPr>
            <a:spLocks noGrp="1"/>
          </p:cNvSpPr>
          <p:nvPr>
            <p:ph type="dt" sz="half" idx="10"/>
          </p:nvPr>
        </p:nvSpPr>
        <p:spPr/>
        <p:txBody>
          <a:bodyPr/>
          <a:lstStyle/>
          <a:p>
            <a:pPr>
              <a:defRPr/>
            </a:pPr>
            <a:fld id="{E0F8931E-4511-4272-8D64-939FB5EE32C3}" type="datetime1">
              <a:rPr lang="en-US" altLang="zh-CN" smtClean="0"/>
              <a:t>7/17/2025</a:t>
            </a:fld>
            <a:endParaRPr lang="en-US" altLang="zh-CN"/>
          </a:p>
        </p:txBody>
      </p:sp>
      <p:sp>
        <p:nvSpPr>
          <p:cNvPr id="5" name="Footer Placeholder 4"/>
          <p:cNvSpPr>
            <a:spLocks noGrp="1"/>
          </p:cNvSpPr>
          <p:nvPr>
            <p:ph type="ftr" sz="quarter" idx="11"/>
          </p:nvPr>
        </p:nvSpPr>
        <p:spPr/>
        <p:txBody>
          <a:bodyPr/>
          <a:lstStyle/>
          <a:p>
            <a:pPr>
              <a:defRPr/>
            </a:pPr>
            <a:r>
              <a:rPr lang="en-US" altLang="zh-CN"/>
              <a:t>MC3020</a:t>
            </a:r>
          </a:p>
        </p:txBody>
      </p:sp>
    </p:spTree>
    <p:extLst>
      <p:ext uri="{BB962C8B-B14F-4D97-AF65-F5344CB8AC3E}">
        <p14:creationId xmlns:p14="http://schemas.microsoft.com/office/powerpoint/2010/main" val="34205752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7904" y="2852936"/>
            <a:ext cx="2732351" cy="1371600"/>
          </a:xfrm>
        </p:spPr>
        <p:txBody>
          <a:bodyPr/>
          <a:lstStyle/>
          <a:p>
            <a:pPr algn="l"/>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Exercises</a:t>
            </a:r>
          </a:p>
        </p:txBody>
      </p:sp>
      <p:sp>
        <p:nvSpPr>
          <p:cNvPr id="6" name="Footer Placeholder 5">
            <a:extLst>
              <a:ext uri="{FF2B5EF4-FFF2-40B4-BE49-F238E27FC236}">
                <a16:creationId xmlns:a16="http://schemas.microsoft.com/office/drawing/2014/main" id="{35AF7A5D-2C76-4A78-84AF-D1CB0EDFA2D8}"/>
              </a:ext>
            </a:extLst>
          </p:cNvPr>
          <p:cNvSpPr>
            <a:spLocks noGrp="1"/>
          </p:cNvSpPr>
          <p:nvPr>
            <p:ph type="ftr" sz="quarter" idx="10"/>
          </p:nvPr>
        </p:nvSpPr>
        <p:spPr/>
        <p:txBody>
          <a:bodyPr/>
          <a:lstStyle/>
          <a:p>
            <a:r>
              <a:rPr lang="en-US" altLang="en-US"/>
              <a:t>MC3020-2023</a:t>
            </a:r>
          </a:p>
        </p:txBody>
      </p:sp>
      <p:sp>
        <p:nvSpPr>
          <p:cNvPr id="7" name="Date Placeholder 6">
            <a:extLst>
              <a:ext uri="{FF2B5EF4-FFF2-40B4-BE49-F238E27FC236}">
                <a16:creationId xmlns:a16="http://schemas.microsoft.com/office/drawing/2014/main" id="{6E5D8BE3-C880-4DA8-8D98-2C328B27CE49}"/>
              </a:ext>
            </a:extLst>
          </p:cNvPr>
          <p:cNvSpPr>
            <a:spLocks noGrp="1"/>
          </p:cNvSpPr>
          <p:nvPr>
            <p:ph type="dt" sz="half" idx="12"/>
          </p:nvPr>
        </p:nvSpPr>
        <p:spPr/>
        <p:txBody>
          <a:bodyPr/>
          <a:lstStyle/>
          <a:p>
            <a:fld id="{098300A1-B069-4EC9-875E-3851D26E59BB}" type="datetime5">
              <a:rPr lang="en-NZ" altLang="en-US" smtClean="0"/>
              <a:t>17-Jul-25</a:t>
            </a:fld>
            <a:endParaRPr lang="en-US" altLang="en-US"/>
          </a:p>
        </p:txBody>
      </p:sp>
      <p:sp>
        <p:nvSpPr>
          <p:cNvPr id="8" name="Slide Number Placeholder 7">
            <a:extLst>
              <a:ext uri="{FF2B5EF4-FFF2-40B4-BE49-F238E27FC236}">
                <a16:creationId xmlns:a16="http://schemas.microsoft.com/office/drawing/2014/main" id="{96A63AC2-729F-40ED-A607-B8F832349C12}"/>
              </a:ext>
            </a:extLst>
          </p:cNvPr>
          <p:cNvSpPr>
            <a:spLocks noGrp="1"/>
          </p:cNvSpPr>
          <p:nvPr>
            <p:ph type="sldNum" sz="quarter" idx="11"/>
          </p:nvPr>
        </p:nvSpPr>
        <p:spPr/>
        <p:txBody>
          <a:bodyPr/>
          <a:lstStyle/>
          <a:p>
            <a:fld id="{E6D38F6D-B68C-43EA-8D93-D9BC679B8240}" type="slidenum">
              <a:rPr lang="en-US" altLang="en-US" smtClean="0"/>
              <a:pPr/>
              <a:t>64</a:t>
            </a:fld>
            <a:endParaRPr lang="en-US" altLang="en-US"/>
          </a:p>
        </p:txBody>
      </p:sp>
    </p:spTree>
    <p:extLst>
      <p:ext uri="{BB962C8B-B14F-4D97-AF65-F5344CB8AC3E}">
        <p14:creationId xmlns:p14="http://schemas.microsoft.com/office/powerpoint/2010/main" val="24285877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9FE52E4-67BE-422B-A965-A2806A2FDDF7}" type="datetime5">
              <a:rPr lang="en-NZ" altLang="en-US" sz="1400" smtClean="0">
                <a:solidFill>
                  <a:srgbClr val="FFFFFF"/>
                </a:solidFill>
              </a:rPr>
              <a:t>17-Jul-25</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65</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MC3020-2023</a:t>
            </a:r>
          </a:p>
        </p:txBody>
      </p:sp>
      <p:sp>
        <p:nvSpPr>
          <p:cNvPr id="3" name="TextBox 2">
            <a:extLst>
              <a:ext uri="{FF2B5EF4-FFF2-40B4-BE49-F238E27FC236}">
                <a16:creationId xmlns:a16="http://schemas.microsoft.com/office/drawing/2014/main" id="{5C86C50B-7B7B-66D7-95BB-6222A8749EE0}"/>
              </a:ext>
            </a:extLst>
          </p:cNvPr>
          <p:cNvSpPr txBox="1"/>
          <p:nvPr/>
        </p:nvSpPr>
        <p:spPr>
          <a:xfrm>
            <a:off x="1187624" y="213331"/>
            <a:ext cx="7651576" cy="3970318"/>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cs typeface="Times New Roman" panose="02020603050405020304" pitchFamily="18" charset="0"/>
              </a:rPr>
              <a:t>Don’t hesitate to contact us if you have any questions about this course’s teaching content. Also, don’t forget to check out the course page and the Microsoft Teams folder,</a:t>
            </a:r>
          </a:p>
          <a:p>
            <a:pPr marL="457200" indent="-457200">
              <a:buFont typeface="Arial" panose="020B0604020202020204" pitchFamily="34" charset="0"/>
              <a:buChar char="•"/>
            </a:pP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Course page Link: </a:t>
            </a:r>
            <a:r>
              <a:rPr lang="fr-FR" sz="2800" dirty="0">
                <a:solidFill>
                  <a:srgbClr val="0000FF"/>
                </a:solidFill>
                <a:latin typeface="Times New Roman" panose="02020603050405020304" pitchFamily="18" charset="0"/>
                <a:cs typeface="Times New Roman" panose="02020603050405020304" pitchFamily="18" charset="0"/>
                <a:hlinkClick r:id="rId2"/>
              </a:rPr>
              <a:t>https://mayooran1987.github.io/MC3020-E23/</a:t>
            </a:r>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Microsoft Teams folder</a:t>
            </a:r>
            <a:endParaRPr lang="en-US" sz="280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6CBF706D-6077-BF0D-1F47-01E87F9E2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681161"/>
            <a:ext cx="2394452" cy="179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396</TotalTime>
  <Words>3515</Words>
  <Application>Microsoft Office PowerPoint</Application>
  <PresentationFormat>On-screen Show (4:3)</PresentationFormat>
  <Paragraphs>445</Paragraphs>
  <Slides>65</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3" baseType="lpstr">
      <vt:lpstr>Arial</vt:lpstr>
      <vt:lpstr>Bookman Old Style</vt:lpstr>
      <vt:lpstr>Calibri</vt:lpstr>
      <vt:lpstr>Cambria Math</vt:lpstr>
      <vt:lpstr>Times New Roman</vt:lpstr>
      <vt:lpstr>Wingdings</vt:lpstr>
      <vt:lpstr>Diseño predeterminado</vt:lpstr>
      <vt:lpstr>Document</vt:lpstr>
      <vt:lpstr>MC3020 - Comparing Two Population Parameters</vt:lpstr>
      <vt:lpstr>Comparing two population parameters</vt:lpstr>
      <vt:lpstr>PowerPoint Presentation</vt:lpstr>
      <vt:lpstr>Confidence interval for p_1-p_2</vt:lpstr>
      <vt:lpstr>PowerPoint Presentation</vt:lpstr>
      <vt:lpstr>PowerPoint Presentation</vt:lpstr>
      <vt:lpstr>Example 1:</vt:lpstr>
      <vt:lpstr>Testing for the difference between two independent population proportions</vt:lpstr>
      <vt:lpstr>PowerPoint Presentation</vt:lpstr>
      <vt:lpstr>Example 2:</vt:lpstr>
      <vt:lpstr>Exercises</vt:lpstr>
      <vt:lpstr>Comparing Two Independent Population Means</vt:lpstr>
      <vt:lpstr>PowerPoint Presentation</vt:lpstr>
      <vt:lpstr>PowerPoint Presentation</vt:lpstr>
      <vt:lpstr>The confidence interval for the difference between the two-population means is computed as follows:</vt:lpstr>
      <vt:lpstr>PowerPoint Presentation</vt:lpstr>
      <vt:lpstr>PowerPoint Presentation</vt:lpstr>
      <vt:lpstr>PowerPoint Presentation</vt:lpstr>
      <vt:lpstr>PowerPoint Presentation</vt:lpstr>
      <vt:lpstr>PowerPoint Presentation</vt:lpstr>
      <vt:lpstr>Example 3:</vt:lpstr>
      <vt:lpstr>Example 4:</vt:lpstr>
      <vt:lpstr>Testing for the difference between two independent population means</vt:lpstr>
      <vt:lpstr>PowerPoint Presentation</vt:lpstr>
      <vt:lpstr>PowerPoint Presentation</vt:lpstr>
      <vt:lpstr>PowerPoint Presentation</vt:lpstr>
      <vt:lpstr>PowerPoint Presentation</vt:lpstr>
      <vt:lpstr>PowerPoint Presentation</vt:lpstr>
      <vt:lpstr>PowerPoint Presentation</vt:lpstr>
      <vt:lpstr>Example 5:</vt:lpstr>
      <vt:lpstr>Example 6: </vt:lpstr>
      <vt:lpstr>Example : </vt:lpstr>
      <vt:lpstr>Exercises</vt:lpstr>
      <vt:lpstr>Comparing Two Dependent or Matched Population Means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Testing for the difference between two dependent population means</vt:lpstr>
      <vt:lpstr>PowerPoint Presentation</vt:lpstr>
      <vt:lpstr>PowerPoint Presentation</vt:lpstr>
      <vt:lpstr>PowerPoint Presentation</vt:lpstr>
      <vt:lpstr>PowerPoint Presentation</vt:lpstr>
      <vt:lpstr>PowerPoint Presentation</vt:lpstr>
      <vt:lpstr>Example 7:</vt:lpstr>
      <vt:lpstr>PowerPoint Presentation</vt:lpstr>
      <vt:lpstr>Example:</vt:lpstr>
      <vt:lpstr>Exercises</vt:lpstr>
      <vt:lpstr>Comparing Two Independent Population Variances</vt:lpstr>
      <vt:lpstr>PowerPoint Presentation</vt:lpstr>
      <vt:lpstr>PowerPoint Presentation</vt:lpstr>
      <vt:lpstr>PowerPoint Presentation</vt:lpstr>
      <vt:lpstr>PowerPoint Presentation</vt:lpstr>
      <vt:lpstr>Testing for difference between two independent population variances,</vt:lpstr>
      <vt:lpstr>PowerPoint Presentation</vt:lpstr>
      <vt:lpstr>Example </vt:lpstr>
      <vt:lpstr>PowerPoint Presentation</vt:lpstr>
      <vt:lpstr>PowerPoint Presentation</vt:lpstr>
      <vt:lpstr>PowerPoint Presentation</vt:lpstr>
      <vt:lpstr>Exercises</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Thevaraja Mayooran</dc:creator>
  <cp:lastModifiedBy>Thevarajah Mayooran</cp:lastModifiedBy>
  <cp:revision>19</cp:revision>
  <dcterms:created xsi:type="dcterms:W3CDTF">2009-09-22T20:21:09Z</dcterms:created>
  <dcterms:modified xsi:type="dcterms:W3CDTF">2025-07-17T01:20:17Z</dcterms:modified>
</cp:coreProperties>
</file>